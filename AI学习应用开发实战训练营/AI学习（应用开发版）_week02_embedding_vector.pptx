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72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10287000" cy="18288000"/>
  <p:embeddedFontLst>
    <p:embeddedFont>
      <p:font typeface="GT Standard L Extended" pitchFamily="2" charset="0"/>
      <p:bold r:id="rId17"/>
    </p:embeddedFont>
    <p:embeddedFont>
      <p:font typeface="Inter" panose="02000503000000020004" pitchFamily="50" charset="0"/>
      <p:regular r:id="rId18"/>
      <p:bold r:id="rId19"/>
      <p:italic r:id="rId20"/>
      <p:boldItalic r:id="rId21"/>
    </p:embeddedFont>
    <p:embeddedFont>
      <p:font typeface="Inter Bold" panose="020B0604020202020204" charset="0"/>
      <p:regular r:id="rId22"/>
      <p:bold r:id="rId23"/>
      <p:italic r:id="rId24"/>
      <p:boldItalic r:id="rId25"/>
    </p:embeddedFont>
    <p:embeddedFont>
      <p:font typeface="Inter Light" panose="02000403000000020004" pitchFamily="50" charset="0"/>
      <p:regular r:id="rId26"/>
      <p:italic r:id="rId27"/>
    </p:embeddedFont>
    <p:embeddedFont>
      <p:font typeface="Inter Medium" panose="02000603000000020004" pitchFamily="50" charset="0"/>
      <p:regular r:id="rId28"/>
      <p:italic r:id="rId29"/>
    </p:embeddedFont>
    <p:embeddedFont>
      <p:font typeface="Inter Regular" panose="020B0604020202020204" charset="0"/>
      <p:regular r:id="rId30"/>
      <p:bold r:id="rId31"/>
      <p:italic r:id="rId32"/>
      <p:boldItalic r:id="rId33"/>
    </p:embeddedFont>
    <p:embeddedFont>
      <p:font typeface="Inter SemiBold" panose="02000703000000020004" pitchFamily="50" charset="0"/>
      <p:regular r:id="rId34"/>
      <p:bold r:id="rId35"/>
      <p:boldItalic r:id="rId3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6D6D"/>
    <a:srgbClr val="B4B0AC"/>
    <a:srgbClr val="545454"/>
    <a:srgbClr val="F6F3F0"/>
    <a:srgbClr val="E4E4E4"/>
    <a:srgbClr val="0052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2" autoAdjust="0"/>
    <p:restoredTop sz="95822" autoAdjust="0"/>
  </p:normalViewPr>
  <p:slideViewPr>
    <p:cSldViewPr snapToGrid="0">
      <p:cViewPr varScale="1">
        <p:scale>
          <a:sx n="95" d="100"/>
          <a:sy n="95" d="100"/>
        </p:scale>
        <p:origin x="2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theme" Target="theme/theme1.xml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41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font" Target="fonts/font20.fntdata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font" Target="fonts/font19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2657DA5-5C22-A353-A65D-369446F87F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Inter" panose="02000503000000020004" pitchFamily="50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32189D-F3FF-A988-769A-E7A3CB3608D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827713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8A25DE-A063-4378-A640-4BC83FB26CA8}" type="datetimeFigureOut">
              <a:rPr lang="en-US" smtClean="0">
                <a:latin typeface="Inter" panose="02000503000000020004" pitchFamily="50" charset="0"/>
              </a:rPr>
              <a:t>5/26/2026</a:t>
            </a:fld>
            <a:endParaRPr lang="en-US">
              <a:latin typeface="Inter" panose="02000503000000020004" pitchFamily="50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632170-6562-13C1-D1D5-286367C3213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Inter" panose="02000503000000020004" pitchFamily="50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FCDAC3-E48C-8609-85D2-09985FEF569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827713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269C77-B4AD-470F-9F54-5C3D80FAC420}" type="slidenum">
              <a:rPr lang="en-US" smtClean="0">
                <a:latin typeface="Inter" panose="02000503000000020004" pitchFamily="50" charset="0"/>
              </a:rPr>
              <a:t>‹#›</a:t>
            </a:fld>
            <a:endParaRPr lang="en-US">
              <a:latin typeface="Inter" panose="0200050300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361151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5760" userDrawn="1">
          <p15:clr>
            <a:srgbClr val="F26B43"/>
          </p15:clr>
        </p15:guide>
        <p15:guide id="2" pos="324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Inter Medium" panose="02000603000000020004" pitchFamily="50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827713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Inter Medium" panose="02000603000000020004" pitchFamily="50" charset="0"/>
              </a:defRPr>
            </a:lvl1pPr>
          </a:lstStyle>
          <a:p>
            <a:fld id="{4368073D-F6CD-433D-989C-9BCED54B3B21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Inter Medium" panose="02000603000000020004" pitchFamily="50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827713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Inter Medium" panose="02000603000000020004" pitchFamily="50" charset="0"/>
              </a:defRPr>
            </a:lvl1pPr>
          </a:lstStyle>
          <a:p>
            <a:fld id="{3EA93470-45FA-43A3-A94A-764F2952A3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265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31520" rtl="0" eaLnBrk="1" latinLnBrk="0" hangingPunct="1">
      <a:defRPr sz="960" kern="1200">
        <a:solidFill>
          <a:schemeClr val="tx1"/>
        </a:solidFill>
        <a:latin typeface="Inter Medium" panose="02000603000000020004" pitchFamily="50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 2 讲开始正式进入 RAG 的底盘部分。上一讲解决的是任务怎么定义，这一讲解决的是知识怎么进入系统、怎么被表示、以及怎么被找回来。后面所有检索增强、评估和调优，都会用到今天这条链路。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这一页要帮学员建立一个非常重要的判断：Prompt 不能替代检索。没有表示和检索，模型只能在已有参数空间里回答，无法稳定把外部知识拉进来。RAG 真正的起点，不是调用接口，而是表示、索引和取回。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 Embedding 不要讲成抽象名词，而要讲成工程对象。文本先被编码成向量，向量之间才可以比较距离。距离近不是字面一样，而是语义接近。Embedding 的价值，在于它把检索前的表示问题变成了可计算的问题。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重点是直觉，不是公式。稀疏表示更像关键词命中，稠密表示更像语义接近，所以关键词不同但意思相近时，两种检索的表现会明显不同。相似度指标只需要知道它们是排序依据，不需要在这一讲里展开复杂数学推导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向量检索不是一个黑盒 API，它至少包含四步：先把查询编码成向量，再与候选片段做相似度比较，然后完成排序，最后取回 Top-K 结果进入后续生成或评估。学员如果能把这四步说清楚，就说明他已经不再把检索当成魔法。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模型选型的重点不是背榜单，而是会写出理由。看任务适配、看语言和长度、看维度和延迟，再参考榜单结果。真正的目标是形成一份能够被团队复核的选型记录，而不是只会说哪个模型最近更火。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向量库的选择同样不能脱离场景。本地实验往往优先易用和理解成本，企业项目则还要考虑过滤、扩展、混合检索和运维。这里要让学员意识到，模型选型和库选型是一套联动决策，不是两张互相独立的清单。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课堂 Demo 和实验的重点都不是只看程序跑没跑通，而是记录不同查询在 Top-K 中的差异。只有保留这些样本，后面第 4 讲才有条件做评估和调优。这里要开始训练学员留下判断依据，而不是只留下成功截图。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把检索学习中最容易跑偏的三个问题收束起来。第一，只会调库，不理解检索逻辑；第二，只看单次命中，不记录查询样本和排序质量；第三，只追热点框架，不做选型说明。真正的工程训练，是让每个判断都能被解释、被复盘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 2 讲真正建立的是表示和检索的基础认知，以及最初的选型判断框架。课后作业要求学员把实验记录和选型说明保留下来，因为下一讲开始讨论 Chunking，后面第 4 讲还会回收这些记录做评估。今天不是独立一课，而是 RAG 主线的底盘搭建。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573B2DF-BAF2-C420-FD86-86240D16DD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2">
              <a:latin typeface="Inter Medium" panose="02000603000000020004" pitchFamily="50" charset="0"/>
            </a:endParaRPr>
          </a:p>
        </p:txBody>
      </p:sp>
      <p:pic>
        <p:nvPicPr>
          <p:cNvPr id="2" name="Frame 15529" descr="preencoded.png">
            <a:extLst>
              <a:ext uri="{FF2B5EF4-FFF2-40B4-BE49-F238E27FC236}">
                <a16:creationId xmlns:a16="http://schemas.microsoft.com/office/drawing/2014/main" id="{1EF2DDB8-8571-93E4-C67A-35640A82F9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3200" y="203200"/>
            <a:ext cx="11785600" cy="39497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03F9C0B-0317-E2A6-8F23-EFFBE864DCA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2">
              <a:latin typeface="Inter Medium" panose="02000603000000020004" pitchFamily="50" charset="0"/>
            </a:endParaRPr>
          </a:p>
        </p:txBody>
      </p:sp>
      <p:pic>
        <p:nvPicPr>
          <p:cNvPr id="15" name="lookmomnoagency_httpss.mj.runJIcAb0P4040_Ultra-real_cinematic_p_638bfe43-65b2-4354-845b-4351f8df7907" descr="preencoded.png">
            <a:extLst>
              <a:ext uri="{FF2B5EF4-FFF2-40B4-BE49-F238E27FC236}">
                <a16:creationId xmlns:a16="http://schemas.microsoft.com/office/drawing/2014/main" id="{75169228-DC09-412D-D6F7-167D9FF754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03200" y="203200"/>
            <a:ext cx="11785600" cy="4013200"/>
          </a:xfrm>
          <a:prstGeom prst="rect">
            <a:avLst/>
          </a:prstGeom>
        </p:spPr>
      </p:pic>
      <p:sp>
        <p:nvSpPr>
          <p:cNvPr id="17" name="Subtitle 2">
            <a:extLst>
              <a:ext uri="{FF2B5EF4-FFF2-40B4-BE49-F238E27FC236}">
                <a16:creationId xmlns:a16="http://schemas.microsoft.com/office/drawing/2014/main" id="{0342C94D-B005-C627-CC70-486D6842AB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77278" y="4539455"/>
            <a:ext cx="6127859" cy="139701"/>
          </a:xfrm>
          <a:prstGeom prst="rect">
            <a:avLst/>
          </a:prstGeom>
        </p:spPr>
        <p:txBody>
          <a:bodyPr bIns="0" anchor="b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1" cap="all" spc="160" baseline="0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defRPr>
            </a:lvl1pPr>
            <a:lvl2pPr marL="5852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704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556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3408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5112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96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6817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pic>
        <p:nvPicPr>
          <p:cNvPr id="18" name="Union" descr="preencoded.png">
            <a:extLst>
              <a:ext uri="{FF2B5EF4-FFF2-40B4-BE49-F238E27FC236}">
                <a16:creationId xmlns:a16="http://schemas.microsoft.com/office/drawing/2014/main" id="{4B2C8058-2A52-FBD2-A88A-2B552585CED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2201" y="4580489"/>
            <a:ext cx="2235200" cy="361956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4B5FEA5F-CB2C-3FF5-0223-355E67B85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7278" y="4810124"/>
            <a:ext cx="6127859" cy="81491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3600" cap="all" baseline="0">
                <a:solidFill>
                  <a:schemeClr val="tx1"/>
                </a:solidFill>
                <a:latin typeface="GT Standard L Extended" pitchFamily="50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F264E8B-C17A-16FA-16AB-17DE70932CB7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74742" y="5779068"/>
            <a:ext cx="3015457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050" cap="all" spc="160" baseline="0">
                <a:solidFill>
                  <a:schemeClr val="tx1"/>
                </a:solidFill>
                <a:latin typeface="Inter SemiBold" panose="02000703000000020004" pitchFamily="50" charset="0"/>
                <a:ea typeface="Inter SemiBold" panose="02000703000000020004" pitchFamily="50" charset="0"/>
                <a:cs typeface="Inter SemiBold" panose="020007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Union" descr="preencoded.png">
            <a:extLst>
              <a:ext uri="{FF2B5EF4-FFF2-40B4-BE49-F238E27FC236}">
                <a16:creationId xmlns:a16="http://schemas.microsoft.com/office/drawing/2014/main" id="{6EFE4B1B-FBEC-0DBB-F10D-1A7A97DC17F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203200" y="622300"/>
            <a:ext cx="11785600" cy="31877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6006E1-F854-BAE6-A4A2-9D3947AA8039}"/>
              </a:ext>
            </a:extLst>
          </p:cNvPr>
          <p:cNvSpPr txBox="1"/>
          <p:nvPr userDrawn="1"/>
        </p:nvSpPr>
        <p:spPr>
          <a:xfrm>
            <a:off x="4973638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 b="0" dirty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4B61FB-43AA-F7C6-9DBE-87E8C3498914}"/>
              </a:ext>
            </a:extLst>
          </p:cNvPr>
          <p:cNvSpPr txBox="1">
            <a:spLocks/>
          </p:cNvSpPr>
          <p:nvPr userDrawn="1"/>
        </p:nvSpPr>
        <p:spPr>
          <a:xfrm>
            <a:off x="4973952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l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44029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pos="460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356C9E5-50FF-1198-36CE-8793878A64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24268" y="515342"/>
            <a:ext cx="5267732" cy="634265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C7BB518-013B-58B6-40AD-19FEB6083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637" y="2651125"/>
            <a:ext cx="9186863" cy="115887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4800" cap="all" baseline="0">
                <a:solidFill>
                  <a:schemeClr val="tx1"/>
                </a:solidFill>
                <a:latin typeface="GT Standard L Extended" pitchFamily="50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763D07A-81F1-36DC-EA6A-6467575356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78398" y="4053679"/>
            <a:ext cx="3133726" cy="1242221"/>
          </a:xfrm>
          <a:prstGeom prst="rect">
            <a:avLst/>
          </a:prstGeom>
        </p:spPr>
        <p:txBody>
          <a:bodyPr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 b="0" cap="none" spc="160" baseline="0">
                <a:solidFill>
                  <a:schemeClr val="tx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 marL="5852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704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556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3408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5112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96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6817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11D1B2-1DC3-890E-96BC-72E7F3451CCA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13050-BD33-7A00-EE49-7F6BC7D27001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54057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guide (No Descrip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75DE322-BB62-1F07-1CDA-135ED5F4EFD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2" b="1"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FD12025-2BD2-A09B-9EFB-A38829256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B7E8852-BD92-0355-4AE0-D8D8FAF44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490" y="2089150"/>
            <a:ext cx="4422510" cy="430212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84E7C-8DF7-9286-1F6A-E0EDDF612E0D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E9DC9-2842-272D-FE94-51D6897B7218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  <p:pic>
        <p:nvPicPr>
          <p:cNvPr id="6" name="Union" descr="preencoded.png">
            <a:extLst>
              <a:ext uri="{FF2B5EF4-FFF2-40B4-BE49-F238E27FC236}">
                <a16:creationId xmlns:a16="http://schemas.microsoft.com/office/drawing/2014/main" id="{2B2237AB-9675-5704-5381-9A5B56F644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09178" y="190696"/>
            <a:ext cx="781843" cy="126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771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55E00072-8177-8B6A-6A90-45F4AB9D73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8684DD0-26F1-1FC3-88D2-5B51E6136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351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rimar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107086DB-C6B2-0EAA-2AD5-9B3FF5BF83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27718AA-D45F-B35B-3E8D-9C19F3BD2724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2587625" y="2089149"/>
            <a:ext cx="9223375" cy="430212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1704F69-1FC3-DB7A-1D08-B981EE2B7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740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Left Align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107086DB-C6B2-0EAA-2AD5-9B3FF5BF83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27718AA-D45F-B35B-3E8D-9C19F3BD2724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03489" y="2089149"/>
            <a:ext cx="9185011" cy="430212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1704F69-1FC3-DB7A-1D08-B981EE2B7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78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107086DB-C6B2-0EAA-2AD5-9B3FF5BF83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B9C8783-1EE1-5F05-94F0-020AC127930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2594240" y="2089149"/>
            <a:ext cx="4402908" cy="430212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5C207ECF-D4C3-643D-CB6A-041FFB709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7C006B6-6F06-D002-5779-598B7A38284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380552" y="2089148"/>
            <a:ext cx="4221085" cy="430212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751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7625" y="2089148"/>
            <a:ext cx="9223373" cy="430212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>
              <a:buFont typeface="Arial" pitchFamily="34" charset="0"/>
              <a:buChar char="•"/>
              <a:defRPr sz="1600" b="0"/>
            </a:lvl1pPr>
            <a:lvl2pPr marL="457200" indent="-228600">
              <a:spcBef>
                <a:spcPts val="600"/>
              </a:spcBef>
              <a:buFont typeface="Arial" pitchFamily="34" charset="0"/>
              <a:buChar char="–"/>
              <a:defRPr sz="1600" b="0"/>
            </a:lvl2pPr>
            <a:lvl3pPr marL="685800" indent="-228600">
              <a:spcBef>
                <a:spcPts val="600"/>
              </a:spcBef>
              <a:buFont typeface="Arial" pitchFamily="34" charset="0"/>
              <a:buChar char="–"/>
              <a:defRPr sz="1400" b="0"/>
            </a:lvl3pPr>
            <a:lvl4pPr marL="914400" indent="-228600">
              <a:spcBef>
                <a:spcPts val="600"/>
              </a:spcBef>
              <a:buFont typeface="Arial" pitchFamily="34" charset="0"/>
              <a:buChar char="–"/>
              <a:defRPr sz="1400" b="0"/>
            </a:lvl4pPr>
            <a:lvl5pPr marL="1143000" indent="-228600">
              <a:spcBef>
                <a:spcPts val="600"/>
              </a:spcBef>
              <a:buFont typeface="Arial" pitchFamily="34" charset="0"/>
              <a:buChar char="–"/>
              <a:defRPr sz="1400" b="0"/>
            </a:lvl5pPr>
            <a:lvl6pPr marL="1371600" indent="-228600">
              <a:spcBef>
                <a:spcPts val="600"/>
              </a:spcBef>
              <a:buFont typeface="Arial" pitchFamily="34" charset="0"/>
              <a:buChar char="–"/>
              <a:defRPr baseline="0"/>
            </a:lvl6pPr>
            <a:lvl7pPr marL="1600200" indent="-228600">
              <a:spcBef>
                <a:spcPts val="600"/>
              </a:spcBef>
              <a:buFont typeface="Arial" pitchFamily="34" charset="0"/>
              <a:buChar char="–"/>
              <a:defRPr baseline="0"/>
            </a:lvl7pPr>
            <a:lvl8pPr marL="1828800" indent="-228600">
              <a:spcBef>
                <a:spcPts val="600"/>
              </a:spcBef>
              <a:buFont typeface="Arial" pitchFamily="34" charset="0"/>
              <a:buChar char="–"/>
              <a:defRPr baseline="0"/>
            </a:lvl8pPr>
            <a:lvl9pPr marL="2057400" indent="-228600">
              <a:spcBef>
                <a:spcPts val="600"/>
              </a:spcBef>
              <a:buFont typeface="Arial" pitchFamily="34" charset="0"/>
              <a:buChar char="–"/>
              <a:defRPr baseline="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6E9DCC20-00EA-22DD-2AE0-CB3AE03BE68F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673ADA15-B0A6-A9E1-1441-0E6F1682B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290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107086DB-C6B2-0EAA-2AD5-9B3FF5BF83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5717FA4-86CE-556E-68FB-95C761BEC1B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03490" y="2089149"/>
            <a:ext cx="5692510" cy="430212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3CCBB92-4E2E-CA56-141C-71DDE9C9C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102B511-3FEB-1B8B-7719-09807E1FF9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587"/>
          <a:stretch>
            <a:fillRect/>
          </a:stretch>
        </p:blipFill>
        <p:spPr>
          <a:xfrm>
            <a:off x="6953250" y="1711590"/>
            <a:ext cx="5238750" cy="4571229"/>
          </a:xfrm>
          <a:prstGeom prst="rect">
            <a:avLst/>
          </a:prstGeom>
        </p:spPr>
      </p:pic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E713CD5E-96D2-F3B4-7945-151C1A4F88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66000" y="2090822"/>
            <a:ext cx="4603750" cy="3613150"/>
          </a:xfrm>
          <a:prstGeom prst="roundRect">
            <a:avLst>
              <a:gd name="adj" fmla="val 2257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994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E655C0-EAC8-C1F6-4E1E-A95627EE0C2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587"/>
          <a:stretch>
            <a:fillRect/>
          </a:stretch>
        </p:blipFill>
        <p:spPr>
          <a:xfrm>
            <a:off x="6953250" y="1711590"/>
            <a:ext cx="5238750" cy="4571229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107086DB-C6B2-0EAA-2AD5-9B3FF5BF83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A965AE0-60E2-C612-1BE0-C47299670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35DE58E-558F-F5EC-1082-9B720020266F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889601" y="2089149"/>
            <a:ext cx="3322320" cy="430212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4B87AB6-AE03-F48C-7DF9-C5E130FC55E1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03490" y="2089149"/>
            <a:ext cx="3322320" cy="430212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F77A56BE-E30D-A604-6EC0-1BA1C7B58FB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0" y="2090822"/>
            <a:ext cx="4603750" cy="3613150"/>
          </a:xfrm>
          <a:prstGeom prst="roundRect">
            <a:avLst>
              <a:gd name="adj" fmla="val 2257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185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E3A8567-14EC-C957-B8D3-E24E11570B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062" b="4989"/>
          <a:stretch>
            <a:fillRect/>
          </a:stretch>
        </p:blipFill>
        <p:spPr>
          <a:xfrm>
            <a:off x="4357501" y="145058"/>
            <a:ext cx="7834500" cy="6712942"/>
          </a:xfrm>
          <a:prstGeom prst="rect">
            <a:avLst/>
          </a:prstGeom>
        </p:spPr>
      </p:pic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B7B1E6F2-2C2C-C9A9-5AB8-828355364A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84750" y="740247"/>
            <a:ext cx="6985000" cy="5651028"/>
          </a:xfrm>
          <a:prstGeom prst="roundRect">
            <a:avLst>
              <a:gd name="adj" fmla="val 2257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2AD280C-FC90-5C16-7F3E-4E787A928E0D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FFF1056-2A2E-EAB8-F36F-EBD7E5F8C0F1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03490" y="2434308"/>
            <a:ext cx="3617420" cy="3956968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540E6F3E-0F98-698F-5249-2672EA9AA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5"/>
            <a:ext cx="4422511" cy="134603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7472F4-F461-80E0-0FB3-EFCB9B5CC08D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27D6D-506A-74EA-66C7-80F4746277AA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9543386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3AD2B2-95E0-8691-E903-8A9026CF8261}"/>
              </a:ext>
            </a:extLst>
          </p:cNvPr>
          <p:cNvSpPr/>
          <p:nvPr userDrawn="1"/>
        </p:nvSpPr>
        <p:spPr>
          <a:xfrm>
            <a:off x="0" y="508000"/>
            <a:ext cx="12192000" cy="635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" panose="02000503000000020004" pitchFamily="50" charset="0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55E00072-8177-8B6A-6A90-45F4AB9D73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8684DD0-26F1-1FC3-88D2-5B51E6136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1E0455-28DA-FCFA-8ED8-A428ECF25B46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3053EBC-3E3E-5CCF-5A5C-C2B528F8E713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728137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hite (Left Align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AB2385-4042-07C0-6BA0-6E264BA5CB68}"/>
              </a:ext>
            </a:extLst>
          </p:cNvPr>
          <p:cNvSpPr/>
          <p:nvPr userDrawn="1"/>
        </p:nvSpPr>
        <p:spPr>
          <a:xfrm>
            <a:off x="0" y="496661"/>
            <a:ext cx="12192000" cy="63613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" panose="02000503000000020004" pitchFamily="50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07086DB-C6B2-0EAA-2AD5-9B3FF5BF83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27718AA-D45F-B35B-3E8D-9C19F3BD2724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03489" y="2089149"/>
            <a:ext cx="9185011" cy="430212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1704F69-1FC3-DB7A-1D08-B981EE2B7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3F00A7-BEB6-EC4D-515F-8796DA7764E1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021A3-0CD0-FAEA-5FA7-F851D1A40F17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4878351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C656793-F272-E05F-7FDB-6FC60AE78F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08000"/>
            <a:ext cx="12192000" cy="6350000"/>
          </a:xfrm>
          <a:prstGeom prst="rect">
            <a:avLst/>
          </a:prstGeom>
        </p:spPr>
      </p:pic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6740A865-2EAE-D2C5-9D67-0453F029A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25" y="2249663"/>
            <a:ext cx="9223373" cy="2786062"/>
          </a:xfrm>
          <a:prstGeom prst="rect">
            <a:avLst/>
          </a:prstGeom>
        </p:spPr>
        <p:txBody>
          <a:bodyPr vert="horz" lIns="0" tIns="45720" rIns="91440" bIns="45720" rtlCol="0" anchor="ctr" anchorCtr="0">
            <a:noAutofit/>
          </a:bodyPr>
          <a:lstStyle>
            <a:lvl1pPr algn="l">
              <a:defRPr lang="en-US" sz="5000" dirty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42CCEFD-F919-42FA-0DD8-3DB039A268F3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  <p:pic>
        <p:nvPicPr>
          <p:cNvPr id="13" name="HeaderMasthead" descr="preencoded.png">
            <a:extLst>
              <a:ext uri="{FF2B5EF4-FFF2-40B4-BE49-F238E27FC236}">
                <a16:creationId xmlns:a16="http://schemas.microsoft.com/office/drawing/2014/main" id="{93C7ACA0-9850-735F-DDA2-7E3D6AF178A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508000"/>
            <a:ext cx="12192000" cy="635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BBDAE8-E8F2-0C57-3991-61B5388D5967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</p:spTree>
    <p:extLst>
      <p:ext uri="{BB962C8B-B14F-4D97-AF65-F5344CB8AC3E}">
        <p14:creationId xmlns:p14="http://schemas.microsoft.com/office/powerpoint/2010/main" val="23642764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9D6C4FC-7347-DEA0-51A8-878E036B731C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84749" y="2047462"/>
            <a:ext cx="6173581" cy="424212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280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80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280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280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280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186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 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55E00072-8177-8B6A-6A90-45F4AB9D73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8684DD0-26F1-1FC3-88D2-5B51E6136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F082499-2B66-314C-1973-DB5EE025F0B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03488" y="5774200"/>
            <a:ext cx="3802062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GT Standard L Extended" pitchFamily="50" charset="0"/>
                <a:ea typeface="Inter SemiBold" panose="02000703000000020004" pitchFamily="50" charset="0"/>
                <a:cs typeface="Inter SemiBold" panose="020007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F5507-DAA8-A243-F8A6-84A409DE0F37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03489" y="6047589"/>
            <a:ext cx="3802062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7551BE5F-EB37-52BA-BF3C-7F77959E16F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03488" y="2089150"/>
            <a:ext cx="3276600" cy="3429000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8E15AC9-7292-3D13-6C73-282E69EE8FE5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4991365" y="2089150"/>
            <a:ext cx="4597135" cy="3429001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5698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 - 4 Prese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55E00072-8177-8B6A-6A90-45F4AB9D73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8684DD0-26F1-1FC3-88D2-5B51E6136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F082499-2B66-314C-1973-DB5EE025F0B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2119878" y="2488077"/>
            <a:ext cx="3802062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GT Standard L Extended" pitchFamily="50" charset="0"/>
                <a:ea typeface="Inter SemiBold" panose="02000703000000020004" pitchFamily="50" charset="0"/>
                <a:cs typeface="Inter SemiBold" panose="020007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F5507-DAA8-A243-F8A6-84A409DE0F37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2119879" y="2734252"/>
            <a:ext cx="3802062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7551BE5F-EB37-52BA-BF3C-7F77959E16F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03488" y="2380732"/>
            <a:ext cx="1524000" cy="1524000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DBD811A-C99D-3B7A-BCC3-66DA844F1C8B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2119878" y="4506307"/>
            <a:ext cx="3802062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GT Standard L Extended" pitchFamily="50" charset="0"/>
                <a:ea typeface="Inter SemiBold" panose="02000703000000020004" pitchFamily="50" charset="0"/>
                <a:cs typeface="Inter SemiBold" panose="020007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9A747F1-959A-3806-A11E-FFACEFB693EF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2119879" y="4752482"/>
            <a:ext cx="3802062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51B0D53B-7E9B-3DC3-BA87-003824F65D9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03488" y="4398962"/>
            <a:ext cx="1524000" cy="1524000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606E116-3C8D-CF15-BA0D-FE1D9DF8D865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8008937" y="2488077"/>
            <a:ext cx="3802062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GT Standard L Extended" pitchFamily="50" charset="0"/>
                <a:ea typeface="Inter SemiBold" panose="02000703000000020004" pitchFamily="50" charset="0"/>
                <a:cs typeface="Inter SemiBold" panose="020007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DEF596F-37D3-8C56-AEC3-A941B57F4B88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8008938" y="2734252"/>
            <a:ext cx="3802062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25D416AB-5AB8-3255-9B13-3BFE55B1067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92547" y="2380732"/>
            <a:ext cx="1524000" cy="1524000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BFEF732-87F6-4DAB-0C27-9A712527F2FB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8008937" y="4506307"/>
            <a:ext cx="3802062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GT Standard L Extended" pitchFamily="50" charset="0"/>
                <a:ea typeface="Inter SemiBold" panose="02000703000000020004" pitchFamily="50" charset="0"/>
                <a:cs typeface="Inter SemiBold" panose="020007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68E4127-A4BC-BD25-7D63-1979A3E79EF6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8008938" y="4752482"/>
            <a:ext cx="3802062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A5C05823-0C0C-A242-FF86-E466B32E921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292547" y="4398962"/>
            <a:ext cx="1524000" cy="1524000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1515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(Full Ble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22C44BC-E9BB-0137-5946-790004835E9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" panose="02000503000000020004" pitchFamily="50" charset="0"/>
            </a:endParaRPr>
          </a:p>
        </p:txBody>
      </p:sp>
      <p:pic>
        <p:nvPicPr>
          <p:cNvPr id="3" name="HeaderMasthead" descr="preencoded.png">
            <a:extLst>
              <a:ext uri="{FF2B5EF4-FFF2-40B4-BE49-F238E27FC236}">
                <a16:creationId xmlns:a16="http://schemas.microsoft.com/office/drawing/2014/main" id="{12ACD87B-8699-6D24-5A7E-A8063B91C4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C3C95B2-F331-1096-8717-06D4D9735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5D26464-8BF8-9643-D915-A91B6ECFC4E5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1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B14BDC-01CE-3431-C0CE-A241E39ACE58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>
                <a:solidFill>
                  <a:srgbClr val="6D6D6D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75C4041-222A-F69A-E9EC-1D6BBE6C387B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  <p:sp>
        <p:nvSpPr>
          <p:cNvPr id="8" name="Text Box 115">
            <a:extLst>
              <a:ext uri="{FF2B5EF4-FFF2-40B4-BE49-F238E27FC236}">
                <a16:creationId xmlns:a16="http://schemas.microsoft.com/office/drawing/2014/main" id="{966E7D02-A59E-D77B-34F9-177B59C8C7B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764114" y="174372"/>
            <a:ext cx="219456" cy="14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525272">
              <a:spcBef>
                <a:spcPts val="0"/>
              </a:spcBef>
            </a:pPr>
            <a:fld id="{18E29826-F105-4F77-B977-03F4A4723A21}" type="slidenum">
              <a:rPr lang="en-US" sz="900" b="1" smtClean="0">
                <a:solidFill>
                  <a:schemeClr val="bg1"/>
                </a:solidFill>
                <a:latin typeface="Inter Bold"/>
                <a:ea typeface="Inter Bold"/>
              </a:rPr>
              <a:pPr algn="r" defTabSz="525272">
                <a:spcBef>
                  <a:spcPts val="0"/>
                </a:spcBef>
              </a:pPr>
              <a:t>‹#›</a:t>
            </a:fld>
            <a:endParaRPr lang="en-US" sz="900" b="1">
              <a:solidFill>
                <a:schemeClr val="bg1"/>
              </a:solidFill>
              <a:latin typeface="Inter Bold"/>
              <a:ea typeface="Inter Bold"/>
            </a:endParaRPr>
          </a:p>
        </p:txBody>
      </p:sp>
      <p:sp>
        <p:nvSpPr>
          <p:cNvPr id="9" name="Text Box 115">
            <a:extLst>
              <a:ext uri="{FF2B5EF4-FFF2-40B4-BE49-F238E27FC236}">
                <a16:creationId xmlns:a16="http://schemas.microsoft.com/office/drawing/2014/main" id="{C625C1F0-127F-73C3-7ADA-A6081E5BFC5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764114" y="174372"/>
            <a:ext cx="219456" cy="14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525272">
              <a:spcBef>
                <a:spcPts val="0"/>
              </a:spcBef>
            </a:pPr>
            <a:fld id="{18E29826-F105-4F77-B977-03F4A4723A21}" type="slidenum">
              <a:rPr lang="en-US" sz="900" b="1" smtClean="0">
                <a:solidFill>
                  <a:schemeClr val="bg1"/>
                </a:solidFill>
                <a:latin typeface="Inter Bold"/>
                <a:ea typeface="Inter Bold"/>
              </a:rPr>
              <a:pPr algn="r" defTabSz="525272">
                <a:spcBef>
                  <a:spcPts val="0"/>
                </a:spcBef>
              </a:pPr>
              <a:t>‹#›</a:t>
            </a:fld>
            <a:endParaRPr lang="en-US" sz="900" b="1">
              <a:solidFill>
                <a:schemeClr val="bg1"/>
              </a:solidFill>
              <a:latin typeface="Inter Bold"/>
              <a:ea typeface="Inter Bold"/>
            </a:endParaRPr>
          </a:p>
        </p:txBody>
      </p:sp>
      <p:pic>
        <p:nvPicPr>
          <p:cNvPr id="10" name="Union" descr="preencoded.png">
            <a:extLst>
              <a:ext uri="{FF2B5EF4-FFF2-40B4-BE49-F238E27FC236}">
                <a16:creationId xmlns:a16="http://schemas.microsoft.com/office/drawing/2014/main" id="{2E0A7C26-1063-DA8C-412A-967875A0E23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09178" y="190696"/>
            <a:ext cx="781843" cy="126608"/>
          </a:xfrm>
          <a:prstGeom prst="rect">
            <a:avLst/>
          </a:prstGeom>
        </p:spPr>
      </p:pic>
      <p:sp>
        <p:nvSpPr>
          <p:cNvPr id="11" name="COMPANY OVERVIEW">
            <a:extLst>
              <a:ext uri="{FF2B5EF4-FFF2-40B4-BE49-F238E27FC236}">
                <a16:creationId xmlns:a16="http://schemas.microsoft.com/office/drawing/2014/main" id="{460D8598-B6F3-061C-1E91-55DD0B252539}"/>
              </a:ext>
            </a:extLst>
          </p:cNvPr>
          <p:cNvSpPr/>
          <p:nvPr userDrawn="1"/>
        </p:nvSpPr>
        <p:spPr>
          <a:xfrm>
            <a:off x="3950892" y="203200"/>
            <a:ext cx="4292203" cy="1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20"/>
              </a:lnSpc>
              <a:buNone/>
            </a:pPr>
            <a:endParaRPr lang="en-US" sz="900" b="1" cap="all" baseline="0" dirty="0">
              <a:solidFill>
                <a:schemeClr val="bg1"/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3183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(White Head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22C44BC-E9BB-0137-5946-790004835E99}"/>
              </a:ext>
            </a:extLst>
          </p:cNvPr>
          <p:cNvSpPr/>
          <p:nvPr userDrawn="1"/>
        </p:nvSpPr>
        <p:spPr>
          <a:xfrm>
            <a:off x="0" y="508000"/>
            <a:ext cx="12192000" cy="635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" panose="02000503000000020004" pitchFamily="50" charset="0"/>
            </a:endParaRPr>
          </a:p>
        </p:txBody>
      </p:sp>
      <p:pic>
        <p:nvPicPr>
          <p:cNvPr id="3" name="HeaderMasthead" descr="preencoded.png">
            <a:extLst>
              <a:ext uri="{FF2B5EF4-FFF2-40B4-BE49-F238E27FC236}">
                <a16:creationId xmlns:a16="http://schemas.microsoft.com/office/drawing/2014/main" id="{12ACD87B-8699-6D24-5A7E-A8063B91C4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C3C95B2-F331-1096-8717-06D4D9735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5D26464-8BF8-9643-D915-A91B6ECFC4E5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1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B14BDC-01CE-3431-C0CE-A241E39ACE58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6D6D6D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75C4041-222A-F69A-E9EC-1D6BBE6C387B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97010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22C44BC-E9BB-0137-5946-790004835E9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" panose="02000503000000020004" pitchFamily="50" charset="0"/>
            </a:endParaRPr>
          </a:p>
        </p:txBody>
      </p:sp>
      <p:pic>
        <p:nvPicPr>
          <p:cNvPr id="3" name="HeaderMasthead" descr="preencoded.png">
            <a:extLst>
              <a:ext uri="{FF2B5EF4-FFF2-40B4-BE49-F238E27FC236}">
                <a16:creationId xmlns:a16="http://schemas.microsoft.com/office/drawing/2014/main" id="{12ACD87B-8699-6D24-5A7E-A8063B91C4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2B14BDC-01CE-3431-C0CE-A241E39ACE58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6D6D6D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75C4041-222A-F69A-E9EC-1D6BBE6C387B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55F7739-5F3D-DF4D-BE90-E2362F48ACE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2587625" y="1874793"/>
            <a:ext cx="9223373" cy="221311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3600"/>
              </a:lnSpc>
              <a:spcBef>
                <a:spcPts val="600"/>
              </a:spcBef>
              <a:defRPr sz="2800">
                <a:solidFill>
                  <a:schemeClr val="bg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ts val="3600"/>
              </a:lnSpc>
              <a:spcBef>
                <a:spcPts val="600"/>
              </a:spcBef>
              <a:defRPr sz="2800">
                <a:solidFill>
                  <a:schemeClr val="bg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2pPr>
            <a:lvl3pPr marL="0" indent="0">
              <a:lnSpc>
                <a:spcPts val="3600"/>
              </a:lnSpc>
              <a:spcBef>
                <a:spcPts val="600"/>
              </a:spcBef>
              <a:buFont typeface="Arial" panose="020B0604020202020204" pitchFamily="34" charset="0"/>
              <a:buNone/>
              <a:defRPr sz="2800">
                <a:solidFill>
                  <a:schemeClr val="bg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2800">
                <a:solidFill>
                  <a:schemeClr val="bg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2800">
                <a:solidFill>
                  <a:schemeClr val="bg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C988E8C-D038-1253-4258-6D8D58C445F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3742530" y="4610791"/>
            <a:ext cx="6004719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bg1"/>
                </a:solidFill>
                <a:latin typeface="GT Standard L Extended" pitchFamily="50" charset="0"/>
                <a:ea typeface="Inter SemiBold" panose="02000703000000020004" pitchFamily="50" charset="0"/>
                <a:cs typeface="Inter SemiBold" panose="020007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C6F164B-E08C-29C0-7C1E-2FD6BCE1ADDA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742531" y="4905347"/>
            <a:ext cx="6004719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bg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7C4B69D7-624C-1666-EA6E-6FA241A2489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587624" y="4376447"/>
            <a:ext cx="928688" cy="928688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7" name="Graphic 14">
            <a:extLst>
              <a:ext uri="{FF2B5EF4-FFF2-40B4-BE49-F238E27FC236}">
                <a16:creationId xmlns:a16="http://schemas.microsoft.com/office/drawing/2014/main" id="{289971B2-6DA5-08CA-F7E5-1172BD30B562}"/>
              </a:ext>
            </a:extLst>
          </p:cNvPr>
          <p:cNvSpPr/>
          <p:nvPr/>
        </p:nvSpPr>
        <p:spPr>
          <a:xfrm>
            <a:off x="1107455" y="2004611"/>
            <a:ext cx="1010098" cy="804690"/>
          </a:xfrm>
          <a:custGeom>
            <a:avLst/>
            <a:gdLst>
              <a:gd name="csX0" fmla="*/ 436380 w 1212117"/>
              <a:gd name="csY0" fmla="*/ 528071 h 965628"/>
              <a:gd name="csX1" fmla="*/ 187312 w 1212117"/>
              <a:gd name="csY1" fmla="*/ 528071 h 965628"/>
              <a:gd name="csX2" fmla="*/ 187312 w 1212117"/>
              <a:gd name="csY2" fmla="*/ 409448 h 965628"/>
              <a:gd name="csX3" fmla="*/ 425638 w 1212117"/>
              <a:gd name="csY3" fmla="*/ 172264 h 965628"/>
              <a:gd name="csX4" fmla="*/ 433264 w 1212117"/>
              <a:gd name="csY4" fmla="*/ 172213 h 965628"/>
              <a:gd name="csX5" fmla="*/ 483088 w 1212117"/>
              <a:gd name="csY5" fmla="*/ 172213 h 965628"/>
              <a:gd name="csX6" fmla="*/ 483088 w 1212117"/>
              <a:gd name="csY6" fmla="*/ 13007 h 965628"/>
              <a:gd name="csX7" fmla="*/ 427044 w 1212117"/>
              <a:gd name="csY7" fmla="*/ 13007 h 965628"/>
              <a:gd name="csX8" fmla="*/ 427044 w 1212117"/>
              <a:gd name="csY8" fmla="*/ 0 h 965628"/>
              <a:gd name="csX9" fmla="*/ 496060 w 1212117"/>
              <a:gd name="csY9" fmla="*/ 0 h 965628"/>
              <a:gd name="csX10" fmla="*/ 496060 w 1212117"/>
              <a:gd name="csY10" fmla="*/ 185220 h 965628"/>
              <a:gd name="csX11" fmla="*/ 433264 w 1212117"/>
              <a:gd name="csY11" fmla="*/ 185220 h 965628"/>
              <a:gd name="csX12" fmla="*/ 257797 w 1212117"/>
              <a:gd name="csY12" fmla="*/ 240893 h 965628"/>
              <a:gd name="csX13" fmla="*/ 200284 w 1212117"/>
              <a:gd name="csY13" fmla="*/ 409448 h 965628"/>
              <a:gd name="csX14" fmla="*/ 200284 w 1212117"/>
              <a:gd name="csY14" fmla="*/ 515065 h 965628"/>
              <a:gd name="csX15" fmla="*/ 449352 w 1212117"/>
              <a:gd name="csY15" fmla="*/ 515065 h 965628"/>
              <a:gd name="csX16" fmla="*/ 449352 w 1212117"/>
              <a:gd name="csY16" fmla="*/ 965628 h 965628"/>
              <a:gd name="csX17" fmla="*/ 0 w 1212117"/>
              <a:gd name="csY17" fmla="*/ 965628 h 965628"/>
              <a:gd name="csX18" fmla="*/ 0 w 1212117"/>
              <a:gd name="csY18" fmla="*/ 418822 h 965628"/>
              <a:gd name="csX19" fmla="*/ 106273 w 1212117"/>
              <a:gd name="csY19" fmla="*/ 113340 h 965628"/>
              <a:gd name="csX20" fmla="*/ 106337 w 1212117"/>
              <a:gd name="csY20" fmla="*/ 113263 h 965628"/>
              <a:gd name="csX21" fmla="*/ 106400 w 1212117"/>
              <a:gd name="csY21" fmla="*/ 113200 h 965628"/>
              <a:gd name="csX22" fmla="*/ 427044 w 1212117"/>
              <a:gd name="csY22" fmla="*/ 0 h 965628"/>
              <a:gd name="csX23" fmla="*/ 427044 w 1212117"/>
              <a:gd name="csY23" fmla="*/ 13007 h 965628"/>
              <a:gd name="csX24" fmla="*/ 414300 w 1212117"/>
              <a:gd name="csY24" fmla="*/ 13108 h 965628"/>
              <a:gd name="csX25" fmla="*/ 115711 w 1212117"/>
              <a:gd name="csY25" fmla="*/ 122256 h 965628"/>
              <a:gd name="csX26" fmla="*/ 109390 w 1212117"/>
              <a:gd name="csY26" fmla="*/ 129166 h 965628"/>
              <a:gd name="csX27" fmla="*/ 12972 w 1212117"/>
              <a:gd name="csY27" fmla="*/ 418822 h 965628"/>
              <a:gd name="csX28" fmla="*/ 12972 w 1212117"/>
              <a:gd name="csY28" fmla="*/ 952622 h 965628"/>
              <a:gd name="csX29" fmla="*/ 436380 w 1212117"/>
              <a:gd name="csY29" fmla="*/ 952622 h 965628"/>
              <a:gd name="csX30" fmla="*/ 436380 w 1212117"/>
              <a:gd name="csY30" fmla="*/ 528071 h 965628"/>
              <a:gd name="csX31" fmla="*/ 1152449 w 1212117"/>
              <a:gd name="csY31" fmla="*/ 528071 h 965628"/>
              <a:gd name="csX32" fmla="*/ 903380 w 1212117"/>
              <a:gd name="csY32" fmla="*/ 528071 h 965628"/>
              <a:gd name="csX33" fmla="*/ 903380 w 1212117"/>
              <a:gd name="csY33" fmla="*/ 409448 h 965628"/>
              <a:gd name="csX34" fmla="*/ 1141707 w 1212117"/>
              <a:gd name="csY34" fmla="*/ 172264 h 965628"/>
              <a:gd name="csX35" fmla="*/ 1149333 w 1212117"/>
              <a:gd name="csY35" fmla="*/ 172213 h 965628"/>
              <a:gd name="csX36" fmla="*/ 1199145 w 1212117"/>
              <a:gd name="csY36" fmla="*/ 172213 h 965628"/>
              <a:gd name="csX37" fmla="*/ 1199145 w 1212117"/>
              <a:gd name="csY37" fmla="*/ 13007 h 965628"/>
              <a:gd name="csX38" fmla="*/ 1143113 w 1212117"/>
              <a:gd name="csY38" fmla="*/ 13007 h 965628"/>
              <a:gd name="csX39" fmla="*/ 1143113 w 1212117"/>
              <a:gd name="csY39" fmla="*/ 0 h 965628"/>
              <a:gd name="csX40" fmla="*/ 1212117 w 1212117"/>
              <a:gd name="csY40" fmla="*/ 0 h 965628"/>
              <a:gd name="csX41" fmla="*/ 1212117 w 1212117"/>
              <a:gd name="csY41" fmla="*/ 185220 h 965628"/>
              <a:gd name="csX42" fmla="*/ 1149333 w 1212117"/>
              <a:gd name="csY42" fmla="*/ 185220 h 965628"/>
              <a:gd name="csX43" fmla="*/ 973866 w 1212117"/>
              <a:gd name="csY43" fmla="*/ 240893 h 965628"/>
              <a:gd name="csX44" fmla="*/ 916352 w 1212117"/>
              <a:gd name="csY44" fmla="*/ 409448 h 965628"/>
              <a:gd name="csX45" fmla="*/ 916352 w 1212117"/>
              <a:gd name="csY45" fmla="*/ 515065 h 965628"/>
              <a:gd name="csX46" fmla="*/ 1165421 w 1212117"/>
              <a:gd name="csY46" fmla="*/ 515065 h 965628"/>
              <a:gd name="csX47" fmla="*/ 1165421 w 1212117"/>
              <a:gd name="csY47" fmla="*/ 965628 h 965628"/>
              <a:gd name="csX48" fmla="*/ 716069 w 1212117"/>
              <a:gd name="csY48" fmla="*/ 965628 h 965628"/>
              <a:gd name="csX49" fmla="*/ 716069 w 1212117"/>
              <a:gd name="csY49" fmla="*/ 418822 h 965628"/>
              <a:gd name="csX50" fmla="*/ 822342 w 1212117"/>
              <a:gd name="csY50" fmla="*/ 113340 h 965628"/>
              <a:gd name="csX51" fmla="*/ 822406 w 1212117"/>
              <a:gd name="csY51" fmla="*/ 113263 h 965628"/>
              <a:gd name="csX52" fmla="*/ 822468 w 1212117"/>
              <a:gd name="csY52" fmla="*/ 113200 h 965628"/>
              <a:gd name="csX53" fmla="*/ 1143113 w 1212117"/>
              <a:gd name="csY53" fmla="*/ 0 h 965628"/>
              <a:gd name="csX54" fmla="*/ 1143113 w 1212117"/>
              <a:gd name="csY54" fmla="*/ 13007 h 965628"/>
              <a:gd name="csX55" fmla="*/ 1130369 w 1212117"/>
              <a:gd name="csY55" fmla="*/ 13108 h 965628"/>
              <a:gd name="csX56" fmla="*/ 831780 w 1212117"/>
              <a:gd name="csY56" fmla="*/ 122256 h 965628"/>
              <a:gd name="csX57" fmla="*/ 825458 w 1212117"/>
              <a:gd name="csY57" fmla="*/ 129166 h 965628"/>
              <a:gd name="csX58" fmla="*/ 729041 w 1212117"/>
              <a:gd name="csY58" fmla="*/ 418822 h 965628"/>
              <a:gd name="csX59" fmla="*/ 729041 w 1212117"/>
              <a:gd name="csY59" fmla="*/ 952622 h 965628"/>
              <a:gd name="csX60" fmla="*/ 1152449 w 1212117"/>
              <a:gd name="csY60" fmla="*/ 952622 h 965628"/>
              <a:gd name="csX61" fmla="*/ 1152449 w 1212117"/>
              <a:gd name="csY61" fmla="*/ 528071 h 9656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</a:cxnLst>
            <a:rect l="l" t="t" r="r" b="b"/>
            <a:pathLst>
              <a:path w="1212117" h="965628">
                <a:moveTo>
                  <a:pt x="436380" y="528071"/>
                </a:moveTo>
                <a:lnTo>
                  <a:pt x="187312" y="528071"/>
                </a:lnTo>
                <a:lnTo>
                  <a:pt x="187312" y="409448"/>
                </a:lnTo>
                <a:cubicBezTo>
                  <a:pt x="187312" y="253760"/>
                  <a:pt x="266758" y="174698"/>
                  <a:pt x="425638" y="172264"/>
                </a:cubicBezTo>
                <a:lnTo>
                  <a:pt x="433264" y="172213"/>
                </a:lnTo>
                <a:lnTo>
                  <a:pt x="483088" y="172213"/>
                </a:lnTo>
                <a:lnTo>
                  <a:pt x="483088" y="13007"/>
                </a:lnTo>
                <a:lnTo>
                  <a:pt x="427044" y="13007"/>
                </a:lnTo>
                <a:lnTo>
                  <a:pt x="427044" y="0"/>
                </a:lnTo>
                <a:lnTo>
                  <a:pt x="496060" y="0"/>
                </a:lnTo>
                <a:lnTo>
                  <a:pt x="496060" y="185220"/>
                </a:lnTo>
                <a:lnTo>
                  <a:pt x="433264" y="185220"/>
                </a:lnTo>
                <a:cubicBezTo>
                  <a:pt x="353159" y="185221"/>
                  <a:pt x="295484" y="204541"/>
                  <a:pt x="257797" y="240893"/>
                </a:cubicBezTo>
                <a:cubicBezTo>
                  <a:pt x="220205" y="277154"/>
                  <a:pt x="200284" y="332505"/>
                  <a:pt x="200284" y="409448"/>
                </a:cubicBezTo>
                <a:lnTo>
                  <a:pt x="200284" y="515065"/>
                </a:lnTo>
                <a:lnTo>
                  <a:pt x="449352" y="515065"/>
                </a:lnTo>
                <a:lnTo>
                  <a:pt x="449352" y="965628"/>
                </a:lnTo>
                <a:lnTo>
                  <a:pt x="0" y="965628"/>
                </a:lnTo>
                <a:lnTo>
                  <a:pt x="0" y="418822"/>
                </a:lnTo>
                <a:cubicBezTo>
                  <a:pt x="0" y="291498"/>
                  <a:pt x="34984" y="189152"/>
                  <a:pt x="106273" y="113340"/>
                </a:cubicBezTo>
                <a:lnTo>
                  <a:pt x="106337" y="113263"/>
                </a:lnTo>
                <a:lnTo>
                  <a:pt x="106400" y="113200"/>
                </a:lnTo>
                <a:cubicBezTo>
                  <a:pt x="180176" y="37051"/>
                  <a:pt x="287829" y="0"/>
                  <a:pt x="427044" y="0"/>
                </a:cubicBezTo>
                <a:lnTo>
                  <a:pt x="427044" y="13007"/>
                </a:lnTo>
                <a:lnTo>
                  <a:pt x="414300" y="13108"/>
                </a:lnTo>
                <a:cubicBezTo>
                  <a:pt x="283605" y="15313"/>
                  <a:pt x="184076" y="51696"/>
                  <a:pt x="115711" y="122256"/>
                </a:cubicBezTo>
                <a:lnTo>
                  <a:pt x="109390" y="129166"/>
                </a:lnTo>
                <a:cubicBezTo>
                  <a:pt x="45110" y="201304"/>
                  <a:pt x="12972" y="297859"/>
                  <a:pt x="12972" y="418822"/>
                </a:cubicBezTo>
                <a:lnTo>
                  <a:pt x="12972" y="952622"/>
                </a:lnTo>
                <a:lnTo>
                  <a:pt x="436380" y="952622"/>
                </a:lnTo>
                <a:lnTo>
                  <a:pt x="436380" y="528071"/>
                </a:lnTo>
                <a:close/>
                <a:moveTo>
                  <a:pt x="1152449" y="528071"/>
                </a:moveTo>
                <a:lnTo>
                  <a:pt x="903380" y="528071"/>
                </a:lnTo>
                <a:lnTo>
                  <a:pt x="903380" y="409448"/>
                </a:lnTo>
                <a:cubicBezTo>
                  <a:pt x="903381" y="253759"/>
                  <a:pt x="982824" y="174697"/>
                  <a:pt x="1141707" y="172264"/>
                </a:cubicBezTo>
                <a:lnTo>
                  <a:pt x="1149333" y="172213"/>
                </a:lnTo>
                <a:lnTo>
                  <a:pt x="1199145" y="172213"/>
                </a:lnTo>
                <a:lnTo>
                  <a:pt x="1199145" y="13007"/>
                </a:lnTo>
                <a:lnTo>
                  <a:pt x="1143113" y="13007"/>
                </a:lnTo>
                <a:lnTo>
                  <a:pt x="1143113" y="0"/>
                </a:lnTo>
                <a:lnTo>
                  <a:pt x="1212117" y="0"/>
                </a:lnTo>
                <a:lnTo>
                  <a:pt x="1212117" y="185220"/>
                </a:lnTo>
                <a:lnTo>
                  <a:pt x="1149333" y="185220"/>
                </a:lnTo>
                <a:cubicBezTo>
                  <a:pt x="1069227" y="185221"/>
                  <a:pt x="1011554" y="204541"/>
                  <a:pt x="973866" y="240893"/>
                </a:cubicBezTo>
                <a:cubicBezTo>
                  <a:pt x="936273" y="277154"/>
                  <a:pt x="916353" y="332504"/>
                  <a:pt x="916352" y="409448"/>
                </a:cubicBezTo>
                <a:lnTo>
                  <a:pt x="916352" y="515065"/>
                </a:lnTo>
                <a:lnTo>
                  <a:pt x="1165421" y="515065"/>
                </a:lnTo>
                <a:lnTo>
                  <a:pt x="1165421" y="965628"/>
                </a:lnTo>
                <a:lnTo>
                  <a:pt x="716069" y="965628"/>
                </a:lnTo>
                <a:lnTo>
                  <a:pt x="716069" y="418822"/>
                </a:lnTo>
                <a:cubicBezTo>
                  <a:pt x="716069" y="291498"/>
                  <a:pt x="751052" y="189152"/>
                  <a:pt x="822342" y="113340"/>
                </a:cubicBezTo>
                <a:lnTo>
                  <a:pt x="822406" y="113263"/>
                </a:lnTo>
                <a:lnTo>
                  <a:pt x="822468" y="113200"/>
                </a:lnTo>
                <a:cubicBezTo>
                  <a:pt x="896245" y="37051"/>
                  <a:pt x="1003897" y="0"/>
                  <a:pt x="1143113" y="0"/>
                </a:cubicBezTo>
                <a:lnTo>
                  <a:pt x="1143113" y="13007"/>
                </a:lnTo>
                <a:lnTo>
                  <a:pt x="1130369" y="13108"/>
                </a:lnTo>
                <a:cubicBezTo>
                  <a:pt x="999674" y="15313"/>
                  <a:pt x="900144" y="51696"/>
                  <a:pt x="831780" y="122256"/>
                </a:cubicBezTo>
                <a:lnTo>
                  <a:pt x="825458" y="129166"/>
                </a:lnTo>
                <a:cubicBezTo>
                  <a:pt x="761178" y="201304"/>
                  <a:pt x="729041" y="297857"/>
                  <a:pt x="729041" y="418822"/>
                </a:cubicBezTo>
                <a:lnTo>
                  <a:pt x="729041" y="952622"/>
                </a:lnTo>
                <a:lnTo>
                  <a:pt x="1152449" y="952622"/>
                </a:lnTo>
                <a:lnTo>
                  <a:pt x="1152449" y="528071"/>
                </a:lnTo>
                <a:close/>
              </a:path>
            </a:pathLst>
          </a:custGeom>
          <a:solidFill>
            <a:schemeClr val="accent5"/>
          </a:solidFill>
          <a:ln w="12970" cap="flat">
            <a:noFill/>
            <a:prstDash val="solid"/>
            <a:miter/>
          </a:ln>
        </p:spPr>
        <p:txBody>
          <a:bodyPr/>
          <a:lstStyle/>
          <a:p>
            <a:endParaRPr lang="en-DE" dirty="0">
              <a:solidFill>
                <a:schemeClr val="accent4"/>
              </a:solidFill>
              <a:latin typeface="Inter" panose="02000503000000020004" pitchFamily="50" charset="0"/>
            </a:endParaRPr>
          </a:p>
        </p:txBody>
      </p:sp>
      <p:sp>
        <p:nvSpPr>
          <p:cNvPr id="6" name="Text Box 115">
            <a:extLst>
              <a:ext uri="{FF2B5EF4-FFF2-40B4-BE49-F238E27FC236}">
                <a16:creationId xmlns:a16="http://schemas.microsoft.com/office/drawing/2014/main" id="{A048D12D-29DD-D8DF-D0A4-9A36FD29DDF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764114" y="174372"/>
            <a:ext cx="219456" cy="14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525272">
              <a:spcBef>
                <a:spcPts val="0"/>
              </a:spcBef>
            </a:pPr>
            <a:fld id="{18E29826-F105-4F77-B977-03F4A4723A21}" type="slidenum">
              <a:rPr lang="en-US" sz="900" b="1" smtClean="0">
                <a:solidFill>
                  <a:schemeClr val="bg1"/>
                </a:solidFill>
                <a:latin typeface="Inter Bold"/>
                <a:ea typeface="Inter Bold"/>
              </a:rPr>
              <a:pPr algn="r" defTabSz="525272">
                <a:spcBef>
                  <a:spcPts val="0"/>
                </a:spcBef>
              </a:pPr>
              <a:t>‹#›</a:t>
            </a:fld>
            <a:endParaRPr lang="en-US" sz="900" b="1">
              <a:solidFill>
                <a:schemeClr val="bg1"/>
              </a:solidFill>
              <a:latin typeface="Inter Bold"/>
              <a:ea typeface="Inter Bold"/>
            </a:endParaRPr>
          </a:p>
        </p:txBody>
      </p:sp>
      <p:sp>
        <p:nvSpPr>
          <p:cNvPr id="7" name="Text Box 115">
            <a:extLst>
              <a:ext uri="{FF2B5EF4-FFF2-40B4-BE49-F238E27FC236}">
                <a16:creationId xmlns:a16="http://schemas.microsoft.com/office/drawing/2014/main" id="{E3E80215-1A0C-AEE9-21D0-C1DFF761BE4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764114" y="174372"/>
            <a:ext cx="219456" cy="14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525272">
              <a:spcBef>
                <a:spcPts val="0"/>
              </a:spcBef>
            </a:pPr>
            <a:fld id="{18E29826-F105-4F77-B977-03F4A4723A21}" type="slidenum">
              <a:rPr lang="en-US" sz="900" b="1" smtClean="0">
                <a:solidFill>
                  <a:schemeClr val="bg1"/>
                </a:solidFill>
                <a:latin typeface="Inter Bold"/>
                <a:ea typeface="Inter Bold"/>
              </a:rPr>
              <a:pPr algn="r" defTabSz="525272">
                <a:spcBef>
                  <a:spcPts val="0"/>
                </a:spcBef>
              </a:pPr>
              <a:t>‹#›</a:t>
            </a:fld>
            <a:endParaRPr lang="en-US" sz="900" b="1">
              <a:solidFill>
                <a:schemeClr val="bg1"/>
              </a:solidFill>
              <a:latin typeface="Inter Bold"/>
              <a:ea typeface="Inter Bold"/>
            </a:endParaRPr>
          </a:p>
        </p:txBody>
      </p:sp>
      <p:pic>
        <p:nvPicPr>
          <p:cNvPr id="9" name="Union" descr="preencoded.png">
            <a:extLst>
              <a:ext uri="{FF2B5EF4-FFF2-40B4-BE49-F238E27FC236}">
                <a16:creationId xmlns:a16="http://schemas.microsoft.com/office/drawing/2014/main" id="{84A28516-F244-E772-2F22-00C058D757C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09178" y="190696"/>
            <a:ext cx="781843" cy="126608"/>
          </a:xfrm>
          <a:prstGeom prst="rect">
            <a:avLst/>
          </a:prstGeom>
        </p:spPr>
      </p:pic>
      <p:sp>
        <p:nvSpPr>
          <p:cNvPr id="10" name="COMPANY OVERVIEW">
            <a:extLst>
              <a:ext uri="{FF2B5EF4-FFF2-40B4-BE49-F238E27FC236}">
                <a16:creationId xmlns:a16="http://schemas.microsoft.com/office/drawing/2014/main" id="{73581848-D525-1749-FBFB-E0E176CEEBC1}"/>
              </a:ext>
            </a:extLst>
          </p:cNvPr>
          <p:cNvSpPr/>
          <p:nvPr userDrawn="1"/>
        </p:nvSpPr>
        <p:spPr>
          <a:xfrm>
            <a:off x="3950892" y="203200"/>
            <a:ext cx="4292203" cy="1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20"/>
              </a:lnSpc>
              <a:buNone/>
            </a:pPr>
            <a:endParaRPr lang="en-US" sz="900" b="1" cap="all" baseline="0" dirty="0">
              <a:solidFill>
                <a:schemeClr val="bg1"/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3465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F28104F-AAE6-B720-6AA2-9965E47FA0B2}"/>
              </a:ext>
            </a:extLst>
          </p:cNvPr>
          <p:cNvSpPr/>
          <p:nvPr userDrawn="1"/>
        </p:nvSpPr>
        <p:spPr>
          <a:xfrm>
            <a:off x="0" y="401411"/>
            <a:ext cx="12192000" cy="6456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" panose="02000503000000020004" pitchFamily="50" charset="0"/>
            </a:endParaRP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542B0A81-49C8-FCE9-4620-D42F33FDA28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30082" y="516443"/>
            <a:ext cx="2208318" cy="2841118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21B71CE-FC70-2F19-3188-ACCD0DB193B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17682" y="516444"/>
            <a:ext cx="2208318" cy="2841118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29D4AFB4-FC0D-A2B9-7EC1-DD4D7717C96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30082" y="3540124"/>
            <a:ext cx="2208318" cy="2863298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DEF1DFB8-BC9A-B59F-8B8A-BC5D1016A38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617682" y="3540125"/>
            <a:ext cx="2208318" cy="2863298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6C11F13A-F960-0FFA-2F9F-71D30C7E6C9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984751" y="516443"/>
            <a:ext cx="4603750" cy="5886979"/>
          </a:xfrm>
          <a:prstGeom prst="roundRect">
            <a:avLst>
              <a:gd name="adj" fmla="val 2349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C9AEF74C-2790-BA06-A268-BE5922DA362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747250" y="516444"/>
            <a:ext cx="2208318" cy="2841118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72D46F34-3342-C2E2-018B-2A1814EC730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50" y="3540124"/>
            <a:ext cx="2208318" cy="2863299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C06C4B-AD0F-177E-920A-CFF3206E0714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9879712-D34B-145B-F968-944F6414925F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196654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(Canva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F08022F-70F3-0023-FA21-49EBA8DE9FA0}"/>
              </a:ext>
            </a:extLst>
          </p:cNvPr>
          <p:cNvSpPr/>
          <p:nvPr userDrawn="1"/>
        </p:nvSpPr>
        <p:spPr>
          <a:xfrm>
            <a:off x="0" y="0"/>
            <a:ext cx="12192000" cy="4830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" panose="0200050300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71540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F08022F-70F3-0023-FA21-49EBA8DE9FA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" panose="02000503000000020004" pitchFamily="50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24D140-B4EA-E7E0-18A8-B7D83155FBFC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58E8F88-DA2A-1D8C-C16A-A27EE17F1733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186300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501907-F4B6-0B68-11B4-BFBE267DA6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02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 panose="02000503000000020004" pitchFamily="50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A1C404-616A-0398-E1D5-7C700233805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 panose="02000503000000020004" pitchFamily="50" charset="0"/>
              <a:ea typeface="+mn-ea"/>
              <a:cs typeface="+mn-cs"/>
            </a:endParaRPr>
          </a:p>
        </p:txBody>
      </p:sp>
      <p:pic>
        <p:nvPicPr>
          <p:cNvPr id="14" name="Union" descr="preencoded.png">
            <a:extLst>
              <a:ext uri="{FF2B5EF4-FFF2-40B4-BE49-F238E27FC236}">
                <a16:creationId xmlns:a16="http://schemas.microsoft.com/office/drawing/2014/main" id="{EA16ED0D-CB25-EA45-6EB2-9A86149AB4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435225"/>
            <a:ext cx="12192000" cy="1987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589ECB-9023-389E-E7EE-1285853BDEB5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6D6D6D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46D9-B686-7E94-2205-17D8ADEA3502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11374D-BA4A-0EF5-3894-069B57DF8D2A}"/>
              </a:ext>
            </a:extLst>
          </p:cNvPr>
          <p:cNvSpPr txBox="1"/>
          <p:nvPr userDrawn="1"/>
        </p:nvSpPr>
        <p:spPr>
          <a:xfrm>
            <a:off x="222692" y="6657597"/>
            <a:ext cx="247604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 b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50" charset="0"/>
                <a:cs typeface="Inter" panose="02000503000000020004" pitchFamily="50" charset="0"/>
              </a:rPr>
              <a:t>v01 </a:t>
            </a:r>
          </a:p>
        </p:txBody>
      </p:sp>
    </p:spTree>
    <p:extLst>
      <p:ext uri="{BB962C8B-B14F-4D97-AF65-F5344CB8AC3E}">
        <p14:creationId xmlns:p14="http://schemas.microsoft.com/office/powerpoint/2010/main" val="30571971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501907-F4B6-0B68-11B4-BFBE267DA6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02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 panose="02000503000000020004" pitchFamily="50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A1C404-616A-0398-E1D5-7C700233805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 panose="02000503000000020004" pitchFamily="50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589ECB-9023-389E-E7EE-1285853BDEB5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>
                <a:solidFill>
                  <a:srgbClr val="6D6D6D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46D9-B686-7E94-2205-17D8ADEA3502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3CF4D50-45C8-DA6C-C9B8-13ED37CF32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7500" y="2231508"/>
            <a:ext cx="6477000" cy="23949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CDDA3C-197F-4DFB-CFBA-4D8F92B01B89}"/>
              </a:ext>
            </a:extLst>
          </p:cNvPr>
          <p:cNvSpPr txBox="1"/>
          <p:nvPr userDrawn="1"/>
        </p:nvSpPr>
        <p:spPr>
          <a:xfrm>
            <a:off x="222692" y="6657597"/>
            <a:ext cx="247604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50" charset="0"/>
                <a:cs typeface="Inter" panose="02000503000000020004" pitchFamily="50" charset="0"/>
              </a:rPr>
              <a:t>v01 </a:t>
            </a:r>
          </a:p>
        </p:txBody>
      </p:sp>
    </p:spTree>
    <p:extLst>
      <p:ext uri="{BB962C8B-B14F-4D97-AF65-F5344CB8AC3E}">
        <p14:creationId xmlns:p14="http://schemas.microsoft.com/office/powerpoint/2010/main" val="3370627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69B77A6-51DB-A275-1E8D-9C0DB96B9B2E}"/>
              </a:ext>
            </a:extLst>
          </p:cNvPr>
          <p:cNvSpPr/>
          <p:nvPr userDrawn="1"/>
        </p:nvSpPr>
        <p:spPr>
          <a:xfrm>
            <a:off x="0" y="508000"/>
            <a:ext cx="12192000" cy="635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" panose="02000503000000020004" pitchFamily="50" charset="0"/>
            </a:endParaRPr>
          </a:p>
        </p:txBody>
      </p:sp>
      <p:pic>
        <p:nvPicPr>
          <p:cNvPr id="11" name="HeaderMasthead" descr="preencoded.png">
            <a:extLst>
              <a:ext uri="{FF2B5EF4-FFF2-40B4-BE49-F238E27FC236}">
                <a16:creationId xmlns:a16="http://schemas.microsoft.com/office/drawing/2014/main" id="{7AD18B85-66FF-545C-62C1-1AA3E2F607F2}"/>
              </a:ext>
            </a:extLst>
          </p:cNvPr>
          <p:cNvPicPr>
            <a:picLocks noChangeAspect="1"/>
          </p:cNvPicPr>
          <p:nvPr userDrawn="1"/>
        </p:nvPicPr>
        <p:blipFill>
          <a:blip r:embed="rId27"/>
          <a:srcRect t="7407"/>
          <a:stretch>
            <a:fillRect/>
          </a:stretch>
        </p:blipFill>
        <p:spPr>
          <a:xfrm>
            <a:off x="0" y="508000"/>
            <a:ext cx="12192000" cy="6350000"/>
          </a:xfrm>
          <a:prstGeom prst="rect">
            <a:avLst/>
          </a:prstGeom>
          <a:solidFill>
            <a:srgbClr val="F6F3F0"/>
          </a:solidFill>
        </p:spPr>
      </p:pic>
      <p:sp>
        <p:nvSpPr>
          <p:cNvPr id="8" name="Text Box 115">
            <a:extLst>
              <a:ext uri="{FF2B5EF4-FFF2-40B4-BE49-F238E27FC236}">
                <a16:creationId xmlns:a16="http://schemas.microsoft.com/office/drawing/2014/main" id="{E509171D-D1E5-AC55-9CA5-72DEBB670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64114" y="174372"/>
            <a:ext cx="219456" cy="14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525272">
              <a:spcBef>
                <a:spcPts val="0"/>
              </a:spcBef>
            </a:pPr>
            <a:fld id="{18E29826-F105-4F77-B977-03F4A4723A21}" type="slidenum">
              <a:rPr lang="en-US" sz="900" b="1" smtClean="0">
                <a:solidFill>
                  <a:schemeClr val="tx1"/>
                </a:solidFill>
                <a:latin typeface="Inter Bold"/>
                <a:ea typeface="Inter Bold"/>
              </a:rPr>
              <a:pPr algn="r" defTabSz="525272">
                <a:spcBef>
                  <a:spcPts val="0"/>
                </a:spcBef>
              </a:pPr>
              <a:t>‹#›</a:t>
            </a:fld>
            <a:endParaRPr lang="en-US" sz="900" b="1">
              <a:solidFill>
                <a:schemeClr val="tx1"/>
              </a:solidFill>
              <a:latin typeface="Inter Bold"/>
              <a:ea typeface="Inter Bold"/>
            </a:endParaRPr>
          </a:p>
        </p:txBody>
      </p:sp>
      <p:sp>
        <p:nvSpPr>
          <p:cNvPr id="6" name="Text Box 115">
            <a:extLst>
              <a:ext uri="{FF2B5EF4-FFF2-40B4-BE49-F238E27FC236}">
                <a16:creationId xmlns:a16="http://schemas.microsoft.com/office/drawing/2014/main" id="{57FED08E-39F8-715B-3405-179C34F6495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764114" y="174372"/>
            <a:ext cx="219456" cy="14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525272">
              <a:spcBef>
                <a:spcPts val="0"/>
              </a:spcBef>
            </a:pPr>
            <a:fld id="{18E29826-F105-4F77-B977-03F4A4723A21}" type="slidenum">
              <a:rPr lang="en-US" sz="900" b="1" smtClean="0">
                <a:solidFill>
                  <a:schemeClr val="tx1"/>
                </a:solidFill>
                <a:latin typeface="Inter Bold"/>
                <a:ea typeface="Inter Bold"/>
              </a:rPr>
              <a:pPr algn="r" defTabSz="525272">
                <a:spcBef>
                  <a:spcPts val="0"/>
                </a:spcBef>
              </a:pPr>
              <a:t>‹#›</a:t>
            </a:fld>
            <a:endParaRPr lang="en-US" sz="900" b="1">
              <a:solidFill>
                <a:schemeClr val="tx1"/>
              </a:solidFill>
              <a:latin typeface="Inter Bold"/>
              <a:ea typeface="Inter Bold"/>
            </a:endParaRPr>
          </a:p>
        </p:txBody>
      </p:sp>
      <p:pic>
        <p:nvPicPr>
          <p:cNvPr id="12" name="Union" descr="preencoded.png">
            <a:extLst>
              <a:ext uri="{FF2B5EF4-FFF2-40B4-BE49-F238E27FC236}">
                <a16:creationId xmlns:a16="http://schemas.microsoft.com/office/drawing/2014/main" id="{4FB38D83-98DA-D85F-B63C-1565BED26FC5}"/>
              </a:ext>
            </a:extLst>
          </p:cNvPr>
          <p:cNvPicPr>
            <a:picLocks noChangeAspect="1"/>
          </p:cNvPicPr>
          <p:nvPr userDrawn="1"/>
        </p:nvPicPr>
        <p:blipFill>
          <a:blip r:embed="rId28"/>
          <a:srcRect/>
          <a:stretch/>
        </p:blipFill>
        <p:spPr>
          <a:xfrm>
            <a:off x="409178" y="190696"/>
            <a:ext cx="781843" cy="126608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54F591-DD1D-779B-F521-4357971A4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5" name="COMPANY OVERVIEW">
            <a:extLst>
              <a:ext uri="{FF2B5EF4-FFF2-40B4-BE49-F238E27FC236}">
                <a16:creationId xmlns:a16="http://schemas.microsoft.com/office/drawing/2014/main" id="{7B162524-8505-A661-2881-71985958524A}"/>
              </a:ext>
            </a:extLst>
          </p:cNvPr>
          <p:cNvSpPr/>
          <p:nvPr userDrawn="1"/>
        </p:nvSpPr>
        <p:spPr>
          <a:xfrm>
            <a:off x="3950892" y="203200"/>
            <a:ext cx="4292203" cy="1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20"/>
              </a:lnSpc>
              <a:buNone/>
            </a:pPr>
            <a:endParaRPr lang="en-US" sz="900" b="1" cap="all" baseline="0" dirty="0">
              <a:solidFill>
                <a:schemeClr val="tx1"/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78D71ED-9D19-C6F9-2CB5-DED660B9B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3490" y="2089150"/>
            <a:ext cx="11407510" cy="430212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1740BB-194C-8CB0-E91C-E0A8396C52B4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DD39F452-F205-21C0-5578-B7519A84CA15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33455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721" r:id="rId2"/>
    <p:sldLayoutId id="2147483739" r:id="rId3"/>
    <p:sldLayoutId id="2147483674" r:id="rId4"/>
    <p:sldLayoutId id="2147483697" r:id="rId5"/>
    <p:sldLayoutId id="2147483734" r:id="rId6"/>
    <p:sldLayoutId id="2147483714" r:id="rId7"/>
    <p:sldLayoutId id="2147483696" r:id="rId8"/>
    <p:sldLayoutId id="2147483705" r:id="rId9"/>
    <p:sldLayoutId id="2147483718" r:id="rId10"/>
    <p:sldLayoutId id="2147483694" r:id="rId11"/>
    <p:sldLayoutId id="2147483738" r:id="rId12"/>
    <p:sldLayoutId id="2147483740" r:id="rId13"/>
    <p:sldLayoutId id="2147483746" r:id="rId14"/>
    <p:sldLayoutId id="2147483701" r:id="rId15"/>
    <p:sldLayoutId id="2147483744" r:id="rId16"/>
    <p:sldLayoutId id="2147483745" r:id="rId17"/>
    <p:sldLayoutId id="2147483743" r:id="rId18"/>
    <p:sldLayoutId id="2147483711" r:id="rId19"/>
    <p:sldLayoutId id="2147483742" r:id="rId20"/>
    <p:sldLayoutId id="2147483719" r:id="rId21"/>
    <p:sldLayoutId id="2147483677" r:id="rId22"/>
    <p:sldLayoutId id="2147483720" r:id="rId23"/>
    <p:sldLayoutId id="2147483678" r:id="rId24"/>
    <p:sldLayoutId id="2147483737" r:id="rId25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GT Standard L Extended" pitchFamily="50" charset="0"/>
          <a:ea typeface="Inter Medium" panose="02000603000000020004" pitchFamily="50" charset="0"/>
          <a:cs typeface="Inter Medium" panose="02000603000000020004" pitchFamily="50" charset="0"/>
        </a:defRPr>
      </a:lvl1pPr>
    </p:titleStyle>
    <p:bodyStyle>
      <a:lvl1pPr marL="0" indent="0" algn="l" defTabSz="109728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Inter Light" panose="02000403000000020004" pitchFamily="50" charset="0"/>
          <a:ea typeface="Inter Light" panose="02000403000000020004" pitchFamily="50" charset="0"/>
          <a:cs typeface="Inter Light" panose="02000403000000020004" pitchFamily="50" charset="0"/>
        </a:defRPr>
      </a:lvl1pPr>
      <a:lvl2pPr marL="0" indent="0" algn="l" defTabSz="109728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Inter Light" panose="02000403000000020004" pitchFamily="50" charset="0"/>
          <a:ea typeface="Inter Light" panose="02000403000000020004" pitchFamily="50" charset="0"/>
          <a:cs typeface="Inter Light" panose="02000403000000020004" pitchFamily="50" charset="0"/>
        </a:defRPr>
      </a:lvl2pPr>
      <a:lvl3pPr marL="228600" indent="-228600" algn="l" defTabSz="109728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Inter Light" panose="02000403000000020004" pitchFamily="50" charset="0"/>
          <a:ea typeface="Inter Light" panose="02000403000000020004" pitchFamily="50" charset="0"/>
          <a:cs typeface="Inter Light" panose="02000403000000020004" pitchFamily="50" charset="0"/>
        </a:defRPr>
      </a:lvl3pPr>
      <a:lvl4pPr marL="517525" indent="-288925" algn="l" defTabSz="109728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Inter Light" panose="02000403000000020004" pitchFamily="50" charset="0"/>
          <a:ea typeface="Inter Light" panose="02000403000000020004" pitchFamily="50" charset="0"/>
          <a:cs typeface="Inter Light" panose="02000403000000020004" pitchFamily="50" charset="0"/>
        </a:defRPr>
      </a:lvl4pPr>
      <a:lvl5pPr marL="800100" indent="-273050" algn="l" defTabSz="109728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Inter Light" panose="02000403000000020004" pitchFamily="50" charset="0"/>
          <a:ea typeface="Inter Light" panose="02000403000000020004" pitchFamily="50" charset="0"/>
          <a:cs typeface="Inter Light" panose="02000403000000020004" pitchFamily="50" charset="0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>
          <p15:clr>
            <a:srgbClr val="F26B43"/>
          </p15:clr>
        </p15:guide>
        <p15:guide id="2" pos="4608">
          <p15:clr>
            <a:srgbClr val="F26B43"/>
          </p15:clr>
        </p15:guide>
        <p15:guide id="4" pos="8928">
          <p15:clr>
            <a:srgbClr val="F26B43"/>
          </p15:clr>
        </p15:guide>
        <p15:guide id="5" orient="horz" pos="384">
          <p15:clr>
            <a:srgbClr val="F26B43"/>
          </p15:clr>
        </p15:guide>
        <p15:guide id="6" orient="horz" pos="5034" userDrawn="1">
          <p15:clr>
            <a:srgbClr val="F26B43"/>
          </p15:clr>
        </p15:guide>
        <p15:guide id="7" pos="288">
          <p15:clr>
            <a:srgbClr val="F26B43"/>
          </p15:clr>
        </p15:guide>
        <p15:guide id="8" pos="1836" userDrawn="1">
          <p15:clr>
            <a:srgbClr val="F26B43"/>
          </p15:clr>
        </p15:guide>
        <p15:guide id="9" pos="1956" userDrawn="1">
          <p15:clr>
            <a:srgbClr val="F26B43"/>
          </p15:clr>
        </p15:guide>
        <p15:guide id="10" pos="3648" userDrawn="1">
          <p15:clr>
            <a:srgbClr val="F26B43"/>
          </p15:clr>
        </p15:guide>
        <p15:guide id="11" pos="3768" userDrawn="1">
          <p15:clr>
            <a:srgbClr val="F26B43"/>
          </p15:clr>
        </p15:guide>
        <p15:guide id="12" pos="5448" userDrawn="1">
          <p15:clr>
            <a:srgbClr val="F26B43"/>
          </p15:clr>
        </p15:guide>
        <p15:guide id="13" pos="5568" userDrawn="1">
          <p15:clr>
            <a:srgbClr val="F26B43"/>
          </p15:clr>
        </p15:guide>
        <p15:guide id="14" pos="7248" userDrawn="1">
          <p15:clr>
            <a:srgbClr val="F26B43"/>
          </p15:clr>
        </p15:guide>
        <p15:guide id="15" pos="7368" userDrawn="1">
          <p15:clr>
            <a:srgbClr val="F26B43"/>
          </p15:clr>
        </p15:guide>
        <p15:guide id="16" pos="168" userDrawn="1">
          <p15:clr>
            <a:srgbClr val="F26B43"/>
          </p15:clr>
        </p15:guide>
        <p15:guide id="17" pos="9048" userDrawn="1">
          <p15:clr>
            <a:srgbClr val="F26B43"/>
          </p15:clr>
        </p15:guide>
        <p15:guide id="18" orient="horz" pos="48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E1020">
                <a:alpha val="62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210502"/>
            <a:ext cx="12192000" cy="6647498"/>
            <a:chOff x="0" y="210502"/>
            <a:chExt cx="12192000" cy="6647498"/>
          </a:xfrm>
        </p:grpSpPr>
        <p:sp>
          <p:nvSpPr>
            <p:cNvPr id="6" name="Rectangle 6"/>
            <p:cNvSpPr/>
            <p:nvPr/>
          </p:nvSpPr>
          <p:spPr>
            <a:xfrm>
              <a:off x="0" y="504825"/>
              <a:ext cx="12192000" cy="38100"/>
            </a:xfrm>
            <a:prstGeom prst="rect">
              <a:avLst/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Rectangle 7"/>
            <p:cNvSpPr/>
            <p:nvPr/>
          </p:nvSpPr>
          <p:spPr>
            <a:xfrm>
              <a:off x="0" y="6438900"/>
              <a:ext cx="12192000" cy="419100"/>
            </a:xfrm>
            <a:prstGeom prst="rect">
              <a:avLst/>
            </a:prstGeom>
            <a:solidFill>
              <a:srgbClr val="E8E4E0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475625" y="21050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1 / 10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7200" y="1714500"/>
            <a:ext cx="6972300" cy="2400300"/>
            <a:chOff x="457200" y="1714500"/>
            <a:chExt cx="6972300" cy="2400300"/>
          </a:xfrm>
        </p:grpSpPr>
        <p:sp>
          <p:nvSpPr>
            <p:cNvPr id="10" name="Rectangle 10"/>
            <p:cNvSpPr/>
            <p:nvPr/>
          </p:nvSpPr>
          <p:spPr>
            <a:xfrm>
              <a:off x="457200" y="1714500"/>
              <a:ext cx="57150" cy="2400300"/>
            </a:xfrm>
            <a:prstGeom prst="roundRect">
              <a:avLst>
                <a:gd name="adj" fmla="val 50000"/>
              </a:avLst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1"/>
            <p:cNvSpPr/>
            <p:nvPr/>
          </p:nvSpPr>
          <p:spPr>
            <a:xfrm>
              <a:off x="704850" y="3429000"/>
              <a:ext cx="6724650" cy="9525"/>
            </a:xfrm>
            <a:custGeom>
              <a:avLst/>
              <a:gdLst/>
              <a:ahLst/>
              <a:cxnLst/>
              <a:rect l="l" t="t" r="r" b="b"/>
              <a:pathLst>
                <a:path w="6724650" h="9525">
                  <a:moveTo>
                    <a:pt x="0" y="0"/>
                  </a:moveTo>
                  <a:lnTo>
                    <a:pt x="6724650" y="0"/>
                  </a:lnTo>
                </a:path>
              </a:pathLst>
            </a:custGeom>
            <a:noFill/>
            <a:ln w="14288">
              <a:solidFill>
                <a:srgbClr val="FFAE41">
                  <a:alpha val="72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59130" y="1935480"/>
            <a:ext cx="4435983" cy="1974532"/>
            <a:chOff x="659130" y="1935480"/>
            <a:chExt cx="4435983" cy="1974532"/>
          </a:xfrm>
        </p:grpSpPr>
        <p:sp>
          <p:nvSpPr>
            <p:cNvPr id="13" name="TextBox 13"/>
            <p:cNvSpPr txBox="1"/>
            <p:nvPr/>
          </p:nvSpPr>
          <p:spPr>
            <a:xfrm>
              <a:off x="659130" y="1935480"/>
              <a:ext cx="4435983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第 2 讲：Embedding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59130" y="2487930"/>
              <a:ext cx="2491740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与向量检索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83895" y="3022282"/>
              <a:ext cx="405026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AE41"/>
                  </a:solidFill>
                  <a:latin typeface="Calibri"/>
                  <a:ea typeface="Microsoft YaHei"/>
                  <a:cs typeface="Calibri"/>
                </a:rPr>
                <a:t>从语义表示到 Top-K 检索的第一性原理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83895" y="3574732"/>
              <a:ext cx="35623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6F3F0"/>
                  </a:solidFill>
                  <a:latin typeface="Calibri"/>
                  <a:ea typeface="Microsoft YaHei"/>
                  <a:cs typeface="Calibri"/>
                </a:rPr>
                <a:t>知识如何进入系统，并被稳定找回来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04850" y="4171950"/>
            <a:ext cx="5404485" cy="742950"/>
            <a:chOff x="704850" y="4171950"/>
            <a:chExt cx="5404485" cy="742950"/>
          </a:xfrm>
        </p:grpSpPr>
        <p:sp>
          <p:nvSpPr>
            <p:cNvPr id="18" name="Rectangle 18"/>
            <p:cNvSpPr/>
            <p:nvPr/>
          </p:nvSpPr>
          <p:spPr>
            <a:xfrm>
              <a:off x="704850" y="4171950"/>
              <a:ext cx="4953000" cy="742950"/>
            </a:xfrm>
            <a:prstGeom prst="roundRect">
              <a:avLst>
                <a:gd name="adj" fmla="val 15385"/>
              </a:avLst>
            </a:prstGeom>
            <a:solidFill>
              <a:srgbClr val="FFFFFF">
                <a:alpha val="8000"/>
              </a:srgbClr>
            </a:solidFill>
            <a:ln w="9525">
              <a:solidFill>
                <a:srgbClr val="FFFFFF">
                  <a:alpha val="16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18210" y="4347210"/>
              <a:ext cx="519112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第 1 讲解决“怎么定义任务”，第 2 讲开始解决“知识怎么被表示和检索”。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18210" y="4575810"/>
              <a:ext cx="231076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这是 RAG 主线真正起步的一讲。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306050" y="5886450"/>
            <a:ext cx="1504950" cy="361950"/>
            <a:chOff x="10306050" y="5886450"/>
            <a:chExt cx="1504950" cy="361950"/>
          </a:xfrm>
        </p:grpSpPr>
        <p:sp>
          <p:nvSpPr>
            <p:cNvPr id="22" name="Rectangle 22"/>
            <p:cNvSpPr/>
            <p:nvPr/>
          </p:nvSpPr>
          <p:spPr>
            <a:xfrm>
              <a:off x="10306050" y="5886450"/>
              <a:ext cx="1504950" cy="361950"/>
            </a:xfrm>
            <a:prstGeom prst="roundRect">
              <a:avLst>
                <a:gd name="adj" fmla="val 50000"/>
              </a:avLst>
            </a:prstGeom>
            <a:solidFill>
              <a:srgbClr val="004AAC">
                <a:alpha val="84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431388" y="6011228"/>
              <a:ext cx="12542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DXC Training Deck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  <p:bldP spid="21" grpId="0"/>
      <p:bldP spid="2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210502"/>
            <a:ext cx="12192000" cy="6647498"/>
            <a:chOff x="0" y="210502"/>
            <a:chExt cx="12192000" cy="6647498"/>
          </a:xfrm>
        </p:grpSpPr>
        <p:sp>
          <p:nvSpPr>
            <p:cNvPr id="3" name="Rectangle 3"/>
            <p:cNvSpPr/>
            <p:nvPr/>
          </p:nvSpPr>
          <p:spPr>
            <a:xfrm>
              <a:off x="0" y="504825"/>
              <a:ext cx="12192000" cy="38100"/>
            </a:xfrm>
            <a:prstGeom prst="rect">
              <a:avLst/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Rectangle 4"/>
            <p:cNvSpPr/>
            <p:nvPr/>
          </p:nvSpPr>
          <p:spPr>
            <a:xfrm>
              <a:off x="0" y="542925"/>
              <a:ext cx="12192000" cy="5895975"/>
            </a:xfrm>
            <a:prstGeom prst="rect">
              <a:avLst/>
            </a:prstGeom>
            <a:solidFill>
              <a:srgbClr val="F6F3F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Rectangle 5"/>
            <p:cNvSpPr/>
            <p:nvPr/>
          </p:nvSpPr>
          <p:spPr>
            <a:xfrm>
              <a:off x="0" y="6438900"/>
              <a:ext cx="12192000" cy="419100"/>
            </a:xfrm>
            <a:prstGeom prst="rect">
              <a:avLst/>
            </a:prstGeom>
            <a:solidFill>
              <a:srgbClr val="E8E4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440620" y="210502"/>
              <a:ext cx="3837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2 / 10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5770" y="6570345"/>
              <a:ext cx="1397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70"/>
                  </a:solidFill>
                  <a:latin typeface="Calibri"/>
                  <a:ea typeface="Microsoft YaHei"/>
                  <a:cs typeface="Calibri"/>
                </a:rPr>
                <a:t>应用开发版 12 周冲刺课程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7200" y="647700"/>
            <a:ext cx="6343650" cy="716756"/>
            <a:chOff x="457200" y="647700"/>
            <a:chExt cx="6343650" cy="716756"/>
          </a:xfrm>
        </p:grpSpPr>
        <p:sp>
          <p:nvSpPr>
            <p:cNvPr id="9" name="Rectangle 9"/>
            <p:cNvSpPr/>
            <p:nvPr/>
          </p:nvSpPr>
          <p:spPr>
            <a:xfrm>
              <a:off x="457200" y="647700"/>
              <a:ext cx="57150" cy="457200"/>
            </a:xfrm>
            <a:prstGeom prst="roundRect">
              <a:avLst>
                <a:gd name="adj" fmla="val 33333"/>
              </a:avLst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15315" y="715328"/>
              <a:ext cx="6185535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0E1020"/>
                  </a:solidFill>
                  <a:latin typeface="Calibri Light"/>
                  <a:ea typeface="Microsoft YaHei"/>
                  <a:cs typeface="Calibri Light"/>
                </a:rPr>
                <a:t>没有表示和检索，就没有后面的知识增强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1135856"/>
              <a:ext cx="54217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Calibri"/>
                  <a:ea typeface="Microsoft YaHei"/>
                  <a:cs typeface="Calibri"/>
                </a:rPr>
                <a:t>RAG 的工程起点不是调用接口，而是把知识变成可索引、可比较、可取回的对象。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57200" y="1771650"/>
            <a:ext cx="3619500" cy="3352800"/>
            <a:chOff x="457200" y="1771650"/>
            <a:chExt cx="3619500" cy="3352800"/>
          </a:xfrm>
        </p:grpSpPr>
        <p:sp>
          <p:nvSpPr>
            <p:cNvPr id="13" name="Rectangle 13"/>
            <p:cNvSpPr/>
            <p:nvPr/>
          </p:nvSpPr>
          <p:spPr>
            <a:xfrm>
              <a:off x="457200" y="1771650"/>
              <a:ext cx="3619500" cy="3352800"/>
            </a:xfrm>
            <a:prstGeom prst="roundRect">
              <a:avLst>
                <a:gd name="adj" fmla="val 3977"/>
              </a:avLst>
            </a:prstGeom>
            <a:solidFill>
              <a:srgbClr val="0E102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759619" y="2074069"/>
              <a:ext cx="214312" cy="214312"/>
              <a:chOff x="759619" y="2074069"/>
              <a:chExt cx="214312" cy="21431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866775" y="2193131"/>
                <a:ext cx="83344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95250">
                    <a:moveTo>
                      <a:pt x="41672" y="0"/>
                    </a:moveTo>
                    <a:cubicBezTo>
                      <a:pt x="18657" y="0"/>
                      <a:pt x="0" y="18657"/>
                      <a:pt x="0" y="41672"/>
                    </a:cubicBezTo>
                    <a:lnTo>
                      <a:pt x="0" y="53578"/>
                    </a:lnTo>
                    <a:cubicBezTo>
                      <a:pt x="0" y="76593"/>
                      <a:pt x="18657" y="95250"/>
                      <a:pt x="41672" y="95250"/>
                    </a:cubicBezTo>
                    <a:cubicBezTo>
                      <a:pt x="64687" y="95250"/>
                      <a:pt x="83344" y="76593"/>
                      <a:pt x="83344" y="53578"/>
                    </a:cubicBezTo>
                    <a:lnTo>
                      <a:pt x="83344" y="32147"/>
                    </a:lnTo>
                  </a:path>
                </a:pathLst>
              </a:custGeom>
              <a:noFill/>
              <a:ln w="19050">
                <a:solidFill>
                  <a:srgbClr val="FFAE4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Freeform 15"/>
              <p:cNvSpPr/>
              <p:nvPr/>
            </p:nvSpPr>
            <p:spPr>
              <a:xfrm>
                <a:off x="783431" y="2193131"/>
                <a:ext cx="83344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95250">
                    <a:moveTo>
                      <a:pt x="41672" y="0"/>
                    </a:moveTo>
                    <a:cubicBezTo>
                      <a:pt x="64687" y="0"/>
                      <a:pt x="83344" y="18657"/>
                      <a:pt x="83344" y="41672"/>
                    </a:cubicBezTo>
                    <a:lnTo>
                      <a:pt x="83344" y="53578"/>
                    </a:lnTo>
                    <a:cubicBezTo>
                      <a:pt x="83344" y="76593"/>
                      <a:pt x="64687" y="95250"/>
                      <a:pt x="41672" y="95250"/>
                    </a:cubicBezTo>
                    <a:cubicBezTo>
                      <a:pt x="18657" y="95250"/>
                      <a:pt x="0" y="76593"/>
                      <a:pt x="0" y="53578"/>
                    </a:cubicBezTo>
                    <a:lnTo>
                      <a:pt x="0" y="32147"/>
                    </a:lnTo>
                  </a:path>
                </a:pathLst>
              </a:custGeom>
              <a:noFill/>
              <a:ln w="19050">
                <a:solidFill>
                  <a:srgbClr val="FFAE4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Freeform 16"/>
              <p:cNvSpPr/>
              <p:nvPr/>
            </p:nvSpPr>
            <p:spPr>
              <a:xfrm>
                <a:off x="926306" y="2145506"/>
                <a:ext cx="47625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83344">
                    <a:moveTo>
                      <a:pt x="5953" y="83344"/>
                    </a:moveTo>
                    <a:cubicBezTo>
                      <a:pt x="28968" y="83344"/>
                      <a:pt x="47625" y="64687"/>
                      <a:pt x="47625" y="41672"/>
                    </a:cubicBezTo>
                    <a:cubicBezTo>
                      <a:pt x="47625" y="18657"/>
                      <a:pt x="28968" y="0"/>
                      <a:pt x="5953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AE4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Freeform 17"/>
              <p:cNvSpPr/>
              <p:nvPr/>
            </p:nvSpPr>
            <p:spPr>
              <a:xfrm>
                <a:off x="866775" y="2074069"/>
                <a:ext cx="83344" cy="75009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75009">
                    <a:moveTo>
                      <a:pt x="83344" y="75009"/>
                    </a:moveTo>
                    <a:lnTo>
                      <a:pt x="83344" y="41672"/>
                    </a:lnTo>
                    <a:cubicBezTo>
                      <a:pt x="83344" y="18657"/>
                      <a:pt x="64687" y="0"/>
                      <a:pt x="41672" y="0"/>
                    </a:cubicBezTo>
                    <a:cubicBezTo>
                      <a:pt x="18657" y="0"/>
                      <a:pt x="0" y="18657"/>
                      <a:pt x="0" y="41672"/>
                    </a:cubicBezTo>
                  </a:path>
                </a:pathLst>
              </a:custGeom>
              <a:noFill/>
              <a:ln w="19050">
                <a:solidFill>
                  <a:srgbClr val="FFAE4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Freeform 18"/>
              <p:cNvSpPr/>
              <p:nvPr/>
            </p:nvSpPr>
            <p:spPr>
              <a:xfrm>
                <a:off x="759619" y="2145506"/>
                <a:ext cx="47625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83344">
                    <a:moveTo>
                      <a:pt x="41672" y="83344"/>
                    </a:moveTo>
                    <a:cubicBezTo>
                      <a:pt x="18657" y="83344"/>
                      <a:pt x="0" y="64687"/>
                      <a:pt x="0" y="41672"/>
                    </a:cubicBezTo>
                    <a:cubicBezTo>
                      <a:pt x="0" y="18657"/>
                      <a:pt x="18657" y="0"/>
                      <a:pt x="41672" y="0"/>
                    </a:cubicBez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FFAE4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Freeform 19"/>
              <p:cNvSpPr/>
              <p:nvPr/>
            </p:nvSpPr>
            <p:spPr>
              <a:xfrm>
                <a:off x="783431" y="2074069"/>
                <a:ext cx="83344" cy="160734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160734">
                    <a:moveTo>
                      <a:pt x="0" y="75009"/>
                    </a:moveTo>
                    <a:lnTo>
                      <a:pt x="0" y="41672"/>
                    </a:lnTo>
                    <a:cubicBezTo>
                      <a:pt x="0" y="18657"/>
                      <a:pt x="18657" y="0"/>
                      <a:pt x="41672" y="0"/>
                    </a:cubicBezTo>
                    <a:cubicBezTo>
                      <a:pt x="64687" y="0"/>
                      <a:pt x="83344" y="18657"/>
                      <a:pt x="83344" y="41672"/>
                    </a:cubicBezTo>
                    <a:lnTo>
                      <a:pt x="83344" y="160734"/>
                    </a:lnTo>
                  </a:path>
                </a:pathLst>
              </a:custGeom>
              <a:noFill/>
              <a:ln w="19050">
                <a:solidFill>
                  <a:srgbClr val="FFAE4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1144905" y="2102168"/>
              <a:ext cx="17544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为什么 Prompt 不够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8660" y="2670810"/>
              <a:ext cx="20707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6F3F0"/>
                  </a:solidFill>
                  <a:latin typeface="Calibri"/>
                  <a:ea typeface="Microsoft YaHei"/>
                  <a:cs typeface="Calibri"/>
                </a:rPr>
                <a:t>• Prompt 只能定义“问什么”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8660" y="2937510"/>
              <a:ext cx="194271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6F3F0"/>
                  </a:solidFill>
                  <a:latin typeface="Calibri"/>
                  <a:ea typeface="Microsoft YaHei"/>
                  <a:cs typeface="Calibri"/>
                </a:rPr>
                <a:t>• 不能替代“到哪里找知识”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8660" y="3204210"/>
              <a:ext cx="30468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6F3F0"/>
                  </a:solidFill>
                  <a:latin typeface="Calibri"/>
                  <a:ea typeface="Microsoft YaHei"/>
                  <a:cs typeface="Calibri"/>
                </a:rPr>
                <a:t>• 没有检索，回答只能受限于模型已有参数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8660" y="3470910"/>
              <a:ext cx="28868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6F3F0"/>
                  </a:solidFill>
                  <a:latin typeface="Calibri"/>
                  <a:ea typeface="Microsoft YaHei"/>
                  <a:cs typeface="Calibri"/>
                </a:rPr>
                <a:t>• 企业场景需要把外部知识稳定接入系统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23900" y="4210050"/>
              <a:ext cx="3086100" cy="609600"/>
            </a:xfrm>
            <a:prstGeom prst="roundRect">
              <a:avLst>
                <a:gd name="adj" fmla="val 15625"/>
              </a:avLst>
            </a:prstGeom>
            <a:solidFill>
              <a:srgbClr val="FFFFFF">
                <a:alpha val="8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20115" y="4363402"/>
              <a:ext cx="21409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真正关键的问题不是“能不能问”，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20115" y="4592002"/>
              <a:ext cx="24209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而是“系统能不能把相关知识找回来”。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4400550" y="1771650"/>
            <a:ext cx="7334250" cy="3352800"/>
            <a:chOff x="4400550" y="1771650"/>
            <a:chExt cx="7334250" cy="3352800"/>
          </a:xfrm>
        </p:grpSpPr>
        <p:sp>
          <p:nvSpPr>
            <p:cNvPr id="30" name="Rectangle 30"/>
            <p:cNvSpPr/>
            <p:nvPr/>
          </p:nvSpPr>
          <p:spPr>
            <a:xfrm>
              <a:off x="4400550" y="1771650"/>
              <a:ext cx="7334250" cy="3352800"/>
            </a:xfrm>
            <a:prstGeom prst="roundRect">
              <a:avLst>
                <a:gd name="adj" fmla="val 3977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69155" y="1968818"/>
              <a:ext cx="172605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RAG 底盘的三段链路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686300" y="2533650"/>
              <a:ext cx="1905000" cy="1676400"/>
            </a:xfrm>
            <a:prstGeom prst="roundRect">
              <a:avLst>
                <a:gd name="adj" fmla="val 6818"/>
              </a:avLst>
            </a:prstGeom>
            <a:solidFill>
              <a:srgbClr val="F6F3F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4967288" y="2768600"/>
              <a:ext cx="211137" cy="188912"/>
              <a:chOff x="4967288" y="2768600"/>
              <a:chExt cx="211137" cy="188912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5022850" y="2824162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004AAC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5022850" y="2868612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004AAC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Freeform 35"/>
              <p:cNvSpPr/>
              <p:nvPr/>
            </p:nvSpPr>
            <p:spPr>
              <a:xfrm>
                <a:off x="4967288" y="2768600"/>
                <a:ext cx="200025" cy="188912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88912">
                    <a:moveTo>
                      <a:pt x="100012" y="188912"/>
                    </a:moveTo>
                    <a:lnTo>
                      <a:pt x="88900" y="177800"/>
                    </a:lnTo>
                    <a:lnTo>
                      <a:pt x="66675" y="155575"/>
                    </a:lnTo>
                    <a:lnTo>
                      <a:pt x="33338" y="155575"/>
                    </a:lnTo>
                    <a:cubicBezTo>
                      <a:pt x="14926" y="155575"/>
                      <a:pt x="0" y="140649"/>
                      <a:pt x="0" y="122237"/>
                    </a:cubicBezTo>
                    <a:lnTo>
                      <a:pt x="0" y="33338"/>
                    </a:lnTo>
                    <a:cubicBezTo>
                      <a:pt x="0" y="14926"/>
                      <a:pt x="14926" y="0"/>
                      <a:pt x="33338" y="0"/>
                    </a:cubicBezTo>
                    <a:lnTo>
                      <a:pt x="166688" y="0"/>
                    </a:lnTo>
                    <a:cubicBezTo>
                      <a:pt x="185099" y="0"/>
                      <a:pt x="200025" y="14926"/>
                      <a:pt x="200025" y="33338"/>
                    </a:cubicBezTo>
                    <a:lnTo>
                      <a:pt x="200025" y="100012"/>
                    </a:lnTo>
                  </a:path>
                </a:pathLst>
              </a:custGeom>
              <a:noFill/>
              <a:ln w="19050">
                <a:solidFill>
                  <a:srgbClr val="004AAC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Freeform 36"/>
              <p:cNvSpPr/>
              <p:nvPr/>
            </p:nvSpPr>
            <p:spPr>
              <a:xfrm>
                <a:off x="5156200" y="2913062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44450"/>
                    </a:moveTo>
                    <a:lnTo>
                      <a:pt x="22225" y="22225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4AAC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Freeform 37"/>
              <p:cNvSpPr/>
              <p:nvPr/>
            </p:nvSpPr>
            <p:spPr>
              <a:xfrm>
                <a:off x="5100638" y="2913062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22225" y="0"/>
                    </a:moveTo>
                    <a:lnTo>
                      <a:pt x="0" y="22225"/>
                    </a:lnTo>
                    <a:lnTo>
                      <a:pt x="22225" y="44450"/>
                    </a:lnTo>
                  </a:path>
                </a:pathLst>
              </a:custGeom>
              <a:noFill/>
              <a:ln w="19050">
                <a:solidFill>
                  <a:srgbClr val="004AAC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9" name="TextBox 39"/>
            <p:cNvSpPr txBox="1"/>
            <p:nvPr/>
          </p:nvSpPr>
          <p:spPr>
            <a:xfrm>
              <a:off x="5299710" y="278511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表示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920615" y="314420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把文本编码成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920615" y="337280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可比较的向量表示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105650" y="2533650"/>
              <a:ext cx="1905000" cy="1676400"/>
            </a:xfrm>
            <a:prstGeom prst="roundRect">
              <a:avLst>
                <a:gd name="adj" fmla="val 6818"/>
              </a:avLst>
            </a:prstGeom>
            <a:solidFill>
              <a:srgbClr val="FFF8E7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7397750" y="2757488"/>
              <a:ext cx="177800" cy="200024"/>
              <a:chOff x="7397750" y="2757488"/>
              <a:chExt cx="177800" cy="200024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97750" y="2757488"/>
                <a:ext cx="17780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66675">
                    <a:moveTo>
                      <a:pt x="0" y="33338"/>
                    </a:moveTo>
                    <a:cubicBezTo>
                      <a:pt x="0" y="51749"/>
                      <a:pt x="39802" y="66675"/>
                      <a:pt x="88900" y="66675"/>
                    </a:cubicBezTo>
                    <a:cubicBezTo>
                      <a:pt x="137998" y="66675"/>
                      <a:pt x="177800" y="51749"/>
                      <a:pt x="177800" y="33338"/>
                    </a:cubicBezTo>
                    <a:cubicBezTo>
                      <a:pt x="177800" y="14926"/>
                      <a:pt x="137998" y="0"/>
                      <a:pt x="88900" y="0"/>
                    </a:cubicBezTo>
                    <a:cubicBezTo>
                      <a:pt x="39802" y="0"/>
                      <a:pt x="0" y="14926"/>
                      <a:pt x="0" y="33338"/>
                    </a:cubicBezTo>
                  </a:path>
                </a:pathLst>
              </a:custGeom>
              <a:noFill/>
              <a:ln w="19050">
                <a:solidFill>
                  <a:srgbClr val="B8860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Freeform 44"/>
              <p:cNvSpPr/>
              <p:nvPr/>
            </p:nvSpPr>
            <p:spPr>
              <a:xfrm>
                <a:off x="7397750" y="2790825"/>
                <a:ext cx="17780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00012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2"/>
                      <a:pt x="88900" y="100012"/>
                    </a:cubicBezTo>
                    <a:cubicBezTo>
                      <a:pt x="137998" y="100012"/>
                      <a:pt x="177800" y="85087"/>
                      <a:pt x="177800" y="66675"/>
                    </a:cubicBezTo>
                    <a:lnTo>
                      <a:pt x="177800" y="0"/>
                    </a:lnTo>
                  </a:path>
                </a:pathLst>
              </a:custGeom>
              <a:noFill/>
              <a:ln w="19050">
                <a:solidFill>
                  <a:srgbClr val="B8860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7397750" y="2857500"/>
                <a:ext cx="17780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00012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2"/>
                      <a:pt x="88900" y="100012"/>
                    </a:cubicBezTo>
                    <a:cubicBezTo>
                      <a:pt x="137998" y="100012"/>
                      <a:pt x="177800" y="85087"/>
                      <a:pt x="177800" y="66675"/>
                    </a:cubicBezTo>
                    <a:lnTo>
                      <a:pt x="177800" y="0"/>
                    </a:lnTo>
                  </a:path>
                </a:pathLst>
              </a:custGeom>
              <a:noFill/>
              <a:ln w="19050">
                <a:solidFill>
                  <a:srgbClr val="B8860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7719060" y="278511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索引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39965" y="314420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把知识片段放入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39965" y="337280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可搜索的数据结构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525000" y="2533650"/>
              <a:ext cx="1905000" cy="1676400"/>
            </a:xfrm>
            <a:prstGeom prst="roundRect">
              <a:avLst>
                <a:gd name="adj" fmla="val 6818"/>
              </a:avLst>
            </a:prstGeom>
            <a:solidFill>
              <a:srgbClr val="DCEB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4" name="Group 54"/>
            <p:cNvGrpSpPr/>
            <p:nvPr/>
          </p:nvGrpSpPr>
          <p:grpSpPr>
            <a:xfrm>
              <a:off x="9805988" y="2757488"/>
              <a:ext cx="200025" cy="200025"/>
              <a:chOff x="9805988" y="2757488"/>
              <a:chExt cx="200025" cy="20002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9894888" y="2846388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19050">
                <a:solidFill>
                  <a:srgbClr val="004AAC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Freeform 52"/>
              <p:cNvSpPr/>
              <p:nvPr/>
            </p:nvSpPr>
            <p:spPr>
              <a:xfrm>
                <a:off x="9850438" y="2801938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0" y="55562"/>
                    </a:moveTo>
                    <a:cubicBezTo>
                      <a:pt x="0" y="86249"/>
                      <a:pt x="24876" y="111125"/>
                      <a:pt x="55562" y="111125"/>
                    </a:cubicBezTo>
                    <a:cubicBezTo>
                      <a:pt x="86249" y="111125"/>
                      <a:pt x="111125" y="86249"/>
                      <a:pt x="111125" y="55562"/>
                    </a:cubicBezTo>
                    <a:cubicBezTo>
                      <a:pt x="111125" y="24876"/>
                      <a:pt x="86249" y="0"/>
                      <a:pt x="55562" y="0"/>
                    </a:cubicBezTo>
                    <a:cubicBezTo>
                      <a:pt x="24876" y="0"/>
                      <a:pt x="0" y="24876"/>
                      <a:pt x="0" y="55562"/>
                    </a:cubicBezTo>
                  </a:path>
                </a:pathLst>
              </a:custGeom>
              <a:noFill/>
              <a:ln w="19050">
                <a:solidFill>
                  <a:srgbClr val="004AAC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Freeform 53"/>
              <p:cNvSpPr/>
              <p:nvPr/>
            </p:nvSpPr>
            <p:spPr>
              <a:xfrm>
                <a:off x="9805988" y="275748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00012"/>
                    </a:moveTo>
                    <a:cubicBezTo>
                      <a:pt x="0" y="155248"/>
                      <a:pt x="44777" y="200025"/>
                      <a:pt x="100012" y="200025"/>
                    </a:cubicBezTo>
                    <a:cubicBezTo>
                      <a:pt x="155248" y="200025"/>
                      <a:pt x="200025" y="155248"/>
                      <a:pt x="200025" y="100012"/>
                    </a:cubicBezTo>
                    <a:cubicBezTo>
                      <a:pt x="200025" y="44777"/>
                      <a:pt x="155248" y="0"/>
                      <a:pt x="100012" y="0"/>
                    </a:cubicBezTo>
                    <a:cubicBezTo>
                      <a:pt x="44777" y="0"/>
                      <a:pt x="0" y="44777"/>
                      <a:pt x="0" y="100012"/>
                    </a:cubicBezTo>
                  </a:path>
                </a:pathLst>
              </a:custGeom>
              <a:noFill/>
              <a:ln w="19050">
                <a:solidFill>
                  <a:srgbClr val="004AAC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5" name="TextBox 55"/>
            <p:cNvSpPr txBox="1"/>
            <p:nvPr/>
          </p:nvSpPr>
          <p:spPr>
            <a:xfrm>
              <a:off x="10138410" y="278511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取回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759315" y="314420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根据查询相似度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759315" y="3372802"/>
              <a:ext cx="1055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取回 Top-K 候选</a:t>
              </a:r>
            </a:p>
          </p:txBody>
        </p:sp>
        <p:grpSp>
          <p:nvGrpSpPr>
            <p:cNvPr id="61" name="Group 61"/>
            <p:cNvGrpSpPr/>
            <p:nvPr/>
          </p:nvGrpSpPr>
          <p:grpSpPr>
            <a:xfrm>
              <a:off x="6734969" y="3224212"/>
              <a:ext cx="188912" cy="161925"/>
              <a:chOff x="6734969" y="3224212"/>
              <a:chExt cx="188912" cy="161925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6734969" y="3305175"/>
                <a:ext cx="188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8912" h="9525">
                    <a:moveTo>
                      <a:pt x="0" y="0"/>
                    </a:moveTo>
                    <a:lnTo>
                      <a:pt x="188912" y="0"/>
                    </a:lnTo>
                  </a:path>
                </a:pathLst>
              </a:custGeom>
              <a:noFill/>
              <a:ln w="19050">
                <a:solidFill>
                  <a:srgbClr val="004AAC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Freeform 59"/>
              <p:cNvSpPr/>
              <p:nvPr/>
            </p:nvSpPr>
            <p:spPr>
              <a:xfrm>
                <a:off x="6842919" y="3305175"/>
                <a:ext cx="80962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80962">
                    <a:moveTo>
                      <a:pt x="0" y="80962"/>
                    </a:moveTo>
                    <a:lnTo>
                      <a:pt x="80962" y="0"/>
                    </a:lnTo>
                  </a:path>
                </a:pathLst>
              </a:custGeom>
              <a:noFill/>
              <a:ln w="19050">
                <a:solidFill>
                  <a:srgbClr val="004AAC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Freeform 60"/>
              <p:cNvSpPr/>
              <p:nvPr/>
            </p:nvSpPr>
            <p:spPr>
              <a:xfrm>
                <a:off x="6842919" y="3224212"/>
                <a:ext cx="80962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80962">
                    <a:moveTo>
                      <a:pt x="0" y="0"/>
                    </a:moveTo>
                    <a:lnTo>
                      <a:pt x="80962" y="80962"/>
                    </a:lnTo>
                  </a:path>
                </a:pathLst>
              </a:custGeom>
              <a:noFill/>
              <a:ln w="19050">
                <a:solidFill>
                  <a:srgbClr val="004AAC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9154319" y="3224212"/>
              <a:ext cx="188912" cy="161925"/>
              <a:chOff x="9154319" y="3224212"/>
              <a:chExt cx="188912" cy="161925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9154319" y="3305175"/>
                <a:ext cx="188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8912" h="9525">
                    <a:moveTo>
                      <a:pt x="0" y="0"/>
                    </a:moveTo>
                    <a:lnTo>
                      <a:pt x="188912" y="0"/>
                    </a:lnTo>
                  </a:path>
                </a:pathLst>
              </a:custGeom>
              <a:noFill/>
              <a:ln w="19050">
                <a:solidFill>
                  <a:srgbClr val="FF7E5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" name="Freeform 63"/>
              <p:cNvSpPr/>
              <p:nvPr/>
            </p:nvSpPr>
            <p:spPr>
              <a:xfrm>
                <a:off x="9262269" y="3305175"/>
                <a:ext cx="80962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80962">
                    <a:moveTo>
                      <a:pt x="0" y="80962"/>
                    </a:moveTo>
                    <a:lnTo>
                      <a:pt x="80962" y="0"/>
                    </a:lnTo>
                  </a:path>
                </a:pathLst>
              </a:custGeom>
              <a:noFill/>
              <a:ln w="19050">
                <a:solidFill>
                  <a:srgbClr val="FF7E5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" name="Freeform 64"/>
              <p:cNvSpPr/>
              <p:nvPr/>
            </p:nvSpPr>
            <p:spPr>
              <a:xfrm>
                <a:off x="9262269" y="3224212"/>
                <a:ext cx="80962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80962">
                    <a:moveTo>
                      <a:pt x="0" y="0"/>
                    </a:moveTo>
                    <a:lnTo>
                      <a:pt x="80962" y="80962"/>
                    </a:lnTo>
                  </a:path>
                </a:pathLst>
              </a:custGeom>
              <a:noFill/>
              <a:ln w="19050">
                <a:solidFill>
                  <a:srgbClr val="FF7E5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69" name="Group 69"/>
          <p:cNvGrpSpPr/>
          <p:nvPr/>
        </p:nvGrpSpPr>
        <p:grpSpPr>
          <a:xfrm>
            <a:off x="457200" y="5410200"/>
            <a:ext cx="11277600" cy="438150"/>
            <a:chOff x="457200" y="5410200"/>
            <a:chExt cx="11277600" cy="438150"/>
          </a:xfrm>
        </p:grpSpPr>
        <p:sp>
          <p:nvSpPr>
            <p:cNvPr id="67" name="Rectangle 67"/>
            <p:cNvSpPr/>
            <p:nvPr/>
          </p:nvSpPr>
          <p:spPr>
            <a:xfrm>
              <a:off x="457200" y="5410200"/>
              <a:ext cx="1127760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09612" y="5574506"/>
              <a:ext cx="59168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第 2 讲真正要建立的，不是名词记忆，而是对“表示、索引、取回”整条链路的工程认知。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9" grpId="0"/>
      <p:bldP spid="66" grpId="0"/>
      <p:bldP spid="6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210502"/>
            <a:ext cx="12192000" cy="6647498"/>
            <a:chOff x="0" y="210502"/>
            <a:chExt cx="12192000" cy="6647498"/>
          </a:xfrm>
        </p:grpSpPr>
        <p:sp>
          <p:nvSpPr>
            <p:cNvPr id="3" name="Rectangle 3"/>
            <p:cNvSpPr/>
            <p:nvPr/>
          </p:nvSpPr>
          <p:spPr>
            <a:xfrm>
              <a:off x="0" y="504825"/>
              <a:ext cx="12192000" cy="38100"/>
            </a:xfrm>
            <a:prstGeom prst="rect">
              <a:avLst/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Rectangle 4"/>
            <p:cNvSpPr/>
            <p:nvPr/>
          </p:nvSpPr>
          <p:spPr>
            <a:xfrm>
              <a:off x="0" y="542925"/>
              <a:ext cx="12192000" cy="5895975"/>
            </a:xfrm>
            <a:prstGeom prst="rect">
              <a:avLst/>
            </a:prstGeom>
            <a:solidFill>
              <a:srgbClr val="F6F3F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Rectangle 5"/>
            <p:cNvSpPr/>
            <p:nvPr/>
          </p:nvSpPr>
          <p:spPr>
            <a:xfrm>
              <a:off x="0" y="6438900"/>
              <a:ext cx="12192000" cy="419100"/>
            </a:xfrm>
            <a:prstGeom prst="rect">
              <a:avLst/>
            </a:prstGeom>
            <a:solidFill>
              <a:srgbClr val="E8E4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440620" y="210502"/>
              <a:ext cx="3837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3 / 10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5770" y="6570345"/>
              <a:ext cx="1397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70"/>
                  </a:solidFill>
                  <a:latin typeface="Calibri"/>
                  <a:ea typeface="Microsoft YaHei"/>
                  <a:cs typeface="Calibri"/>
                </a:rPr>
                <a:t>应用开发版 12 周冲刺课程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7200" y="647700"/>
            <a:ext cx="6343650" cy="716756"/>
            <a:chOff x="457200" y="647700"/>
            <a:chExt cx="6343650" cy="716756"/>
          </a:xfrm>
        </p:grpSpPr>
        <p:sp>
          <p:nvSpPr>
            <p:cNvPr id="9" name="Rectangle 9"/>
            <p:cNvSpPr/>
            <p:nvPr/>
          </p:nvSpPr>
          <p:spPr>
            <a:xfrm>
              <a:off x="457200" y="647700"/>
              <a:ext cx="57150" cy="457200"/>
            </a:xfrm>
            <a:prstGeom prst="roundRect">
              <a:avLst>
                <a:gd name="adj" fmla="val 33333"/>
              </a:avLst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15315" y="715328"/>
              <a:ext cx="6185535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0E1020"/>
                  </a:solidFill>
                  <a:latin typeface="Calibri Light"/>
                  <a:ea typeface="Microsoft YaHei"/>
                  <a:cs typeface="Calibri Light"/>
                </a:rPr>
                <a:t>把语义关系映射成模型可比较的向量表示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1135856"/>
              <a:ext cx="5309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Calibri"/>
                  <a:ea typeface="Microsoft YaHei"/>
                  <a:cs typeface="Calibri"/>
                </a:rPr>
                <a:t>Embedding 的核心价值，是让原本难以直接比较的文本变成可计算距离的对象。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57200" y="1962150"/>
            <a:ext cx="11277600" cy="2457450"/>
            <a:chOff x="457200" y="1962150"/>
            <a:chExt cx="11277600" cy="2457450"/>
          </a:xfrm>
        </p:grpSpPr>
        <p:sp>
          <p:nvSpPr>
            <p:cNvPr id="13" name="Rectangle 13"/>
            <p:cNvSpPr/>
            <p:nvPr/>
          </p:nvSpPr>
          <p:spPr>
            <a:xfrm>
              <a:off x="457200" y="1962150"/>
              <a:ext cx="2667000" cy="2457450"/>
            </a:xfrm>
            <a:prstGeom prst="roundRect">
              <a:avLst>
                <a:gd name="adj" fmla="val 5426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26758" y="220551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输入文本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8662" y="2602706"/>
              <a:ext cx="1311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“如何为客服知识库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8662" y="2831306"/>
              <a:ext cx="11612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设计检索流程？”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42950" y="3257550"/>
              <a:ext cx="2095500" cy="666750"/>
            </a:xfrm>
            <a:prstGeom prst="roundRect">
              <a:avLst>
                <a:gd name="adj" fmla="val 14286"/>
              </a:avLst>
            </a:prstGeom>
            <a:solidFill>
              <a:srgbClr val="F6F3F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21068" y="3418999"/>
              <a:ext cx="14549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Calibri"/>
                  <a:ea typeface="Microsoft YaHei"/>
                  <a:cs typeface="Calibri"/>
                </a:rPr>
                <a:t>原始文本内容无法直接用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21068" y="3628549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Calibri"/>
                  <a:ea typeface="Microsoft YaHei"/>
                  <a:cs typeface="Calibri"/>
                </a:rPr>
                <a:t>距离计算做语义比较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762500" y="1962150"/>
              <a:ext cx="2667000" cy="2457450"/>
            </a:xfrm>
            <a:prstGeom prst="roundRect">
              <a:avLst>
                <a:gd name="adj" fmla="val 5426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5083969" y="2226469"/>
              <a:ext cx="214312" cy="214312"/>
              <a:chOff x="5083969" y="2226469"/>
              <a:chExt cx="214312" cy="214312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5191125" y="2345531"/>
                <a:ext cx="83344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95250">
                    <a:moveTo>
                      <a:pt x="41672" y="0"/>
                    </a:moveTo>
                    <a:cubicBezTo>
                      <a:pt x="18657" y="0"/>
                      <a:pt x="0" y="18657"/>
                      <a:pt x="0" y="41672"/>
                    </a:cubicBezTo>
                    <a:lnTo>
                      <a:pt x="0" y="53578"/>
                    </a:lnTo>
                    <a:cubicBezTo>
                      <a:pt x="0" y="76593"/>
                      <a:pt x="18657" y="95250"/>
                      <a:pt x="41672" y="95250"/>
                    </a:cubicBezTo>
                    <a:cubicBezTo>
                      <a:pt x="64687" y="95250"/>
                      <a:pt x="83344" y="76593"/>
                      <a:pt x="83344" y="53578"/>
                    </a:cubicBezTo>
                    <a:lnTo>
                      <a:pt x="83344" y="32147"/>
                    </a:lnTo>
                  </a:path>
                </a:pathLst>
              </a:custGeom>
              <a:noFill/>
              <a:ln w="19050">
                <a:solidFill>
                  <a:srgbClr val="004AAC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5107781" y="2345531"/>
                <a:ext cx="83344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95250">
                    <a:moveTo>
                      <a:pt x="41672" y="0"/>
                    </a:moveTo>
                    <a:cubicBezTo>
                      <a:pt x="64687" y="0"/>
                      <a:pt x="83344" y="18657"/>
                      <a:pt x="83344" y="41672"/>
                    </a:cubicBezTo>
                    <a:lnTo>
                      <a:pt x="83344" y="53578"/>
                    </a:lnTo>
                    <a:cubicBezTo>
                      <a:pt x="83344" y="76593"/>
                      <a:pt x="64687" y="95250"/>
                      <a:pt x="41672" y="95250"/>
                    </a:cubicBezTo>
                    <a:cubicBezTo>
                      <a:pt x="18657" y="95250"/>
                      <a:pt x="0" y="76593"/>
                      <a:pt x="0" y="53578"/>
                    </a:cubicBezTo>
                    <a:lnTo>
                      <a:pt x="0" y="32147"/>
                    </a:lnTo>
                  </a:path>
                </a:pathLst>
              </a:custGeom>
              <a:noFill/>
              <a:ln w="19050">
                <a:solidFill>
                  <a:srgbClr val="004AAC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Freeform 23"/>
              <p:cNvSpPr/>
              <p:nvPr/>
            </p:nvSpPr>
            <p:spPr>
              <a:xfrm>
                <a:off x="5250656" y="2297906"/>
                <a:ext cx="47625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83344">
                    <a:moveTo>
                      <a:pt x="5953" y="83344"/>
                    </a:moveTo>
                    <a:cubicBezTo>
                      <a:pt x="28968" y="83344"/>
                      <a:pt x="47625" y="64687"/>
                      <a:pt x="47625" y="41672"/>
                    </a:cubicBezTo>
                    <a:cubicBezTo>
                      <a:pt x="47625" y="18657"/>
                      <a:pt x="28968" y="0"/>
                      <a:pt x="5953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4AAC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Freeform 24"/>
              <p:cNvSpPr/>
              <p:nvPr/>
            </p:nvSpPr>
            <p:spPr>
              <a:xfrm>
                <a:off x="5191125" y="2226469"/>
                <a:ext cx="83344" cy="75009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75009">
                    <a:moveTo>
                      <a:pt x="83344" y="75009"/>
                    </a:moveTo>
                    <a:lnTo>
                      <a:pt x="83344" y="41672"/>
                    </a:lnTo>
                    <a:cubicBezTo>
                      <a:pt x="83344" y="18657"/>
                      <a:pt x="64687" y="0"/>
                      <a:pt x="41672" y="0"/>
                    </a:cubicBezTo>
                    <a:cubicBezTo>
                      <a:pt x="18657" y="0"/>
                      <a:pt x="0" y="18657"/>
                      <a:pt x="0" y="41672"/>
                    </a:cubicBezTo>
                  </a:path>
                </a:pathLst>
              </a:custGeom>
              <a:noFill/>
              <a:ln w="19050">
                <a:solidFill>
                  <a:srgbClr val="004AAC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5083969" y="2297906"/>
                <a:ext cx="47625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83344">
                    <a:moveTo>
                      <a:pt x="41672" y="83344"/>
                    </a:moveTo>
                    <a:cubicBezTo>
                      <a:pt x="18657" y="83344"/>
                      <a:pt x="0" y="64687"/>
                      <a:pt x="0" y="41672"/>
                    </a:cubicBezTo>
                    <a:cubicBezTo>
                      <a:pt x="0" y="18657"/>
                      <a:pt x="18657" y="0"/>
                      <a:pt x="41672" y="0"/>
                    </a:cubicBez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004AAC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Freeform 26"/>
              <p:cNvSpPr/>
              <p:nvPr/>
            </p:nvSpPr>
            <p:spPr>
              <a:xfrm>
                <a:off x="5107781" y="2226469"/>
                <a:ext cx="83344" cy="160734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160734">
                    <a:moveTo>
                      <a:pt x="0" y="75009"/>
                    </a:moveTo>
                    <a:lnTo>
                      <a:pt x="0" y="41672"/>
                    </a:lnTo>
                    <a:cubicBezTo>
                      <a:pt x="0" y="18657"/>
                      <a:pt x="18657" y="0"/>
                      <a:pt x="41672" y="0"/>
                    </a:cubicBezTo>
                    <a:cubicBezTo>
                      <a:pt x="64687" y="0"/>
                      <a:pt x="83344" y="18657"/>
                      <a:pt x="83344" y="41672"/>
                    </a:cubicBezTo>
                    <a:lnTo>
                      <a:pt x="83344" y="160734"/>
                    </a:lnTo>
                  </a:path>
                </a:pathLst>
              </a:custGeom>
              <a:noFill/>
              <a:ln w="19050">
                <a:solidFill>
                  <a:srgbClr val="004AAC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5470208" y="226266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编码过程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34915" y="270605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模型把文本映射为高维向量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034915" y="293465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输出不是答案，而是表示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34915" y="316325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表示的目标是支持后续检索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048250" y="3429000"/>
              <a:ext cx="2095500" cy="514350"/>
            </a:xfrm>
            <a:prstGeom prst="roundRect">
              <a:avLst>
                <a:gd name="adj" fmla="val 18519"/>
              </a:avLst>
            </a:prstGeom>
            <a:solidFill>
              <a:srgbClr val="DCEB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26368" y="3628549"/>
              <a:ext cx="18404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4AAC"/>
                  </a:solidFill>
                  <a:latin typeface="Calibri"/>
                  <a:ea typeface="Microsoft YaHei"/>
                  <a:cs typeface="Calibri"/>
                </a:rPr>
                <a:t>Embedding 更像“检索准备层”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782050" y="1962150"/>
              <a:ext cx="2952750" cy="2457450"/>
            </a:xfrm>
            <a:prstGeom prst="roundRect">
              <a:avLst>
                <a:gd name="adj" fmla="val 5426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051608" y="220551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向量空间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54465" y="261080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相近向量代表语义更接近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54465" y="283940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不要求字面相同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54465" y="3068002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距离越近，越可能是相关候选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9525000" y="3467100"/>
              <a:ext cx="190500" cy="190500"/>
            </a:xfrm>
            <a:prstGeom prst="ellipse">
              <a:avLst/>
            </a:prstGeom>
            <a:solidFill>
              <a:srgbClr val="004AA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Ellipse 40"/>
            <p:cNvSpPr/>
            <p:nvPr/>
          </p:nvSpPr>
          <p:spPr>
            <a:xfrm>
              <a:off x="10020300" y="3257550"/>
              <a:ext cx="190500" cy="190500"/>
            </a:xfrm>
            <a:prstGeom prst="ellipse">
              <a:avLst/>
            </a:prstGeom>
            <a:solidFill>
              <a:srgbClr val="4995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Ellipse 41"/>
            <p:cNvSpPr/>
            <p:nvPr/>
          </p:nvSpPr>
          <p:spPr>
            <a:xfrm>
              <a:off x="10420350" y="3600450"/>
              <a:ext cx="190500" cy="190500"/>
            </a:xfrm>
            <a:prstGeom prst="ellipse">
              <a:avLst/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Ellipse 42"/>
            <p:cNvSpPr/>
            <p:nvPr/>
          </p:nvSpPr>
          <p:spPr>
            <a:xfrm>
              <a:off x="10744200" y="3181350"/>
              <a:ext cx="190500" cy="190500"/>
            </a:xfrm>
            <a:prstGeom prst="ellipse">
              <a:avLst/>
            </a:prstGeom>
            <a:solidFill>
              <a:srgbClr val="FF7E5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Ellipse 43"/>
            <p:cNvSpPr/>
            <p:nvPr/>
          </p:nvSpPr>
          <p:spPr>
            <a:xfrm>
              <a:off x="11220450" y="3714750"/>
              <a:ext cx="190500" cy="190500"/>
            </a:xfrm>
            <a:prstGeom prst="ellipse">
              <a:avLst/>
            </a:prstGeom>
            <a:solidFill>
              <a:srgbClr val="004AA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Line 44"/>
            <p:cNvSpPr/>
            <p:nvPr/>
          </p:nvSpPr>
          <p:spPr>
            <a:xfrm>
              <a:off x="9620250" y="3352800"/>
              <a:ext cx="495300" cy="209550"/>
            </a:xfrm>
            <a:custGeom>
              <a:avLst/>
              <a:gdLst/>
              <a:ahLst/>
              <a:cxnLst/>
              <a:rect l="l" t="t" r="r" b="b"/>
              <a:pathLst>
                <a:path w="495300" h="209550">
                  <a:moveTo>
                    <a:pt x="0" y="209550"/>
                  </a:moveTo>
                  <a:lnTo>
                    <a:pt x="495300" y="0"/>
                  </a:lnTo>
                </a:path>
              </a:pathLst>
            </a:custGeom>
            <a:noFill/>
            <a:ln w="14288">
              <a:solidFill>
                <a:srgbClr val="6B7280">
                  <a:alpha val="6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45"/>
            <p:cNvSpPr/>
            <p:nvPr/>
          </p:nvSpPr>
          <p:spPr>
            <a:xfrm>
              <a:off x="10115550" y="3352800"/>
              <a:ext cx="400050" cy="342900"/>
            </a:xfrm>
            <a:custGeom>
              <a:avLst/>
              <a:gdLst/>
              <a:ahLst/>
              <a:cxnLst/>
              <a:rect l="l" t="t" r="r" b="b"/>
              <a:pathLst>
                <a:path w="400050" h="342900">
                  <a:moveTo>
                    <a:pt x="0" y="0"/>
                  </a:moveTo>
                  <a:lnTo>
                    <a:pt x="400050" y="342900"/>
                  </a:lnTo>
                </a:path>
              </a:pathLst>
            </a:custGeom>
            <a:noFill/>
            <a:ln w="14288">
              <a:solidFill>
                <a:srgbClr val="6B7280">
                  <a:alpha val="6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3645694" y="3090862"/>
            <a:ext cx="4252912" cy="200025"/>
            <a:chOff x="3645694" y="3090862"/>
            <a:chExt cx="4252912" cy="200025"/>
          </a:xfrm>
        </p:grpSpPr>
        <p:grpSp>
          <p:nvGrpSpPr>
            <p:cNvPr id="50" name="Group 50"/>
            <p:cNvGrpSpPr/>
            <p:nvPr/>
          </p:nvGrpSpPr>
          <p:grpSpPr>
            <a:xfrm>
              <a:off x="3645694" y="3090862"/>
              <a:ext cx="233362" cy="200025"/>
              <a:chOff x="3645694" y="3090862"/>
              <a:chExt cx="233362" cy="200025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3645694" y="3190875"/>
                <a:ext cx="2333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9525">
                    <a:moveTo>
                      <a:pt x="0" y="0"/>
                    </a:moveTo>
                    <a:lnTo>
                      <a:pt x="233362" y="0"/>
                    </a:lnTo>
                  </a:path>
                </a:pathLst>
              </a:custGeom>
              <a:noFill/>
              <a:ln w="19050">
                <a:solidFill>
                  <a:srgbClr val="004AAC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" name="Freeform 48"/>
              <p:cNvSpPr/>
              <p:nvPr/>
            </p:nvSpPr>
            <p:spPr>
              <a:xfrm>
                <a:off x="3779044" y="3190875"/>
                <a:ext cx="100012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00012">
                    <a:moveTo>
                      <a:pt x="0" y="100012"/>
                    </a:moveTo>
                    <a:lnTo>
                      <a:pt x="100012" y="0"/>
                    </a:lnTo>
                  </a:path>
                </a:pathLst>
              </a:custGeom>
              <a:noFill/>
              <a:ln w="19050">
                <a:solidFill>
                  <a:srgbClr val="004AAC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" name="Freeform 49"/>
              <p:cNvSpPr/>
              <p:nvPr/>
            </p:nvSpPr>
            <p:spPr>
              <a:xfrm>
                <a:off x="3779044" y="3090862"/>
                <a:ext cx="100012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00012">
                    <a:moveTo>
                      <a:pt x="0" y="0"/>
                    </a:moveTo>
                    <a:lnTo>
                      <a:pt x="100012" y="100012"/>
                    </a:lnTo>
                  </a:path>
                </a:pathLst>
              </a:custGeom>
              <a:noFill/>
              <a:ln w="19050">
                <a:solidFill>
                  <a:srgbClr val="004AAC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7665244" y="3090862"/>
              <a:ext cx="233362" cy="200025"/>
              <a:chOff x="7665244" y="3090862"/>
              <a:chExt cx="233362" cy="20002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665244" y="3190875"/>
                <a:ext cx="2333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9525">
                    <a:moveTo>
                      <a:pt x="0" y="0"/>
                    </a:moveTo>
                    <a:lnTo>
                      <a:pt x="233362" y="0"/>
                    </a:lnTo>
                  </a:path>
                </a:pathLst>
              </a:custGeom>
              <a:noFill/>
              <a:ln w="19050">
                <a:solidFill>
                  <a:srgbClr val="FF7E5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Freeform 52"/>
              <p:cNvSpPr/>
              <p:nvPr/>
            </p:nvSpPr>
            <p:spPr>
              <a:xfrm>
                <a:off x="7798594" y="3190875"/>
                <a:ext cx="100012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00012">
                    <a:moveTo>
                      <a:pt x="0" y="100012"/>
                    </a:moveTo>
                    <a:lnTo>
                      <a:pt x="100012" y="0"/>
                    </a:lnTo>
                  </a:path>
                </a:pathLst>
              </a:custGeom>
              <a:noFill/>
              <a:ln w="19050">
                <a:solidFill>
                  <a:srgbClr val="FF7E5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Freeform 53"/>
              <p:cNvSpPr/>
              <p:nvPr/>
            </p:nvSpPr>
            <p:spPr>
              <a:xfrm>
                <a:off x="7798594" y="3090862"/>
                <a:ext cx="100012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00012">
                    <a:moveTo>
                      <a:pt x="0" y="0"/>
                    </a:moveTo>
                    <a:lnTo>
                      <a:pt x="100012" y="100012"/>
                    </a:lnTo>
                  </a:path>
                </a:pathLst>
              </a:custGeom>
              <a:noFill/>
              <a:ln w="19050">
                <a:solidFill>
                  <a:srgbClr val="FF7E5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59" name="Group 59"/>
          <p:cNvGrpSpPr/>
          <p:nvPr/>
        </p:nvGrpSpPr>
        <p:grpSpPr>
          <a:xfrm>
            <a:off x="457200" y="4953000"/>
            <a:ext cx="11277600" cy="781050"/>
            <a:chOff x="457200" y="4953000"/>
            <a:chExt cx="11277600" cy="781050"/>
          </a:xfrm>
        </p:grpSpPr>
        <p:sp>
          <p:nvSpPr>
            <p:cNvPr id="56" name="Rectangle 56"/>
            <p:cNvSpPr/>
            <p:nvPr/>
          </p:nvSpPr>
          <p:spPr>
            <a:xfrm>
              <a:off x="457200" y="4953000"/>
              <a:ext cx="11277600" cy="781050"/>
            </a:xfrm>
            <a:prstGeom prst="roundRect">
              <a:avLst>
                <a:gd name="adj" fmla="val 12195"/>
              </a:avLst>
            </a:prstGeom>
            <a:solidFill>
              <a:srgbClr val="0E102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01040" y="5082540"/>
              <a:ext cx="74866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Embedding 的本质不是“换个 API”，而是先把知识变成可比较的表示。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09612" y="5441156"/>
              <a:ext cx="50467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6F3F0"/>
                  </a:solidFill>
                  <a:latin typeface="Calibri"/>
                  <a:ea typeface="Microsoft YaHei"/>
                  <a:cs typeface="Calibri"/>
                </a:rPr>
                <a:t>只有表示稳定，后面讨论索引、检索质量、Chunking 和评估才有清晰对象。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46" grpId="0"/>
      <p:bldP spid="55" grpId="0"/>
      <p:bldP spid="5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210502"/>
            <a:ext cx="12192000" cy="6647498"/>
            <a:chOff x="0" y="210502"/>
            <a:chExt cx="12192000" cy="6647498"/>
          </a:xfrm>
        </p:grpSpPr>
        <p:sp>
          <p:nvSpPr>
            <p:cNvPr id="3" name="Rectangle 3"/>
            <p:cNvSpPr/>
            <p:nvPr/>
          </p:nvSpPr>
          <p:spPr>
            <a:xfrm>
              <a:off x="0" y="504825"/>
              <a:ext cx="12192000" cy="38100"/>
            </a:xfrm>
            <a:prstGeom prst="rect">
              <a:avLst/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Rectangle 4"/>
            <p:cNvSpPr/>
            <p:nvPr/>
          </p:nvSpPr>
          <p:spPr>
            <a:xfrm>
              <a:off x="0" y="542925"/>
              <a:ext cx="12192000" cy="5895975"/>
            </a:xfrm>
            <a:prstGeom prst="rect">
              <a:avLst/>
            </a:prstGeom>
            <a:solidFill>
              <a:srgbClr val="F6F3F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Rectangle 5"/>
            <p:cNvSpPr/>
            <p:nvPr/>
          </p:nvSpPr>
          <p:spPr>
            <a:xfrm>
              <a:off x="0" y="6438900"/>
              <a:ext cx="12192000" cy="419100"/>
            </a:xfrm>
            <a:prstGeom prst="rect">
              <a:avLst/>
            </a:prstGeom>
            <a:solidFill>
              <a:srgbClr val="E8E4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440620" y="210502"/>
              <a:ext cx="3837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4 / 10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5770" y="6570345"/>
              <a:ext cx="1397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70"/>
                  </a:solidFill>
                  <a:latin typeface="Calibri"/>
                  <a:ea typeface="Microsoft YaHei"/>
                  <a:cs typeface="Calibri"/>
                </a:rPr>
                <a:t>应用开发版 12 周冲刺课程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7200" y="647700"/>
            <a:ext cx="5155406" cy="716756"/>
            <a:chOff x="457200" y="647700"/>
            <a:chExt cx="5155406" cy="716756"/>
          </a:xfrm>
        </p:grpSpPr>
        <p:sp>
          <p:nvSpPr>
            <p:cNvPr id="9" name="Rectangle 9"/>
            <p:cNvSpPr/>
            <p:nvPr/>
          </p:nvSpPr>
          <p:spPr>
            <a:xfrm>
              <a:off x="457200" y="647700"/>
              <a:ext cx="57150" cy="457200"/>
            </a:xfrm>
            <a:prstGeom prst="roundRect">
              <a:avLst>
                <a:gd name="adj" fmla="val 33333"/>
              </a:avLst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15315" y="715328"/>
              <a:ext cx="485936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0E1020"/>
                  </a:solidFill>
                  <a:latin typeface="Calibri Light"/>
                  <a:ea typeface="Microsoft YaHei"/>
                  <a:cs typeface="Calibri Light"/>
                </a:rPr>
                <a:t>理解“为什么它能搜到相关内容”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1135856"/>
              <a:ext cx="49791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Calibri"/>
                  <a:ea typeface="Microsoft YaHei"/>
                  <a:cs typeface="Calibri"/>
                </a:rPr>
                <a:t>稀疏表示、稠密表示和相似度指标，决定了检索为什么命中、为什么漏检。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57200" y="1790700"/>
            <a:ext cx="3429000" cy="3124200"/>
            <a:chOff x="457200" y="1790700"/>
            <a:chExt cx="3429000" cy="3124200"/>
          </a:xfrm>
        </p:grpSpPr>
        <p:sp>
          <p:nvSpPr>
            <p:cNvPr id="13" name="Rectangle 13"/>
            <p:cNvSpPr/>
            <p:nvPr/>
          </p:nvSpPr>
          <p:spPr>
            <a:xfrm>
              <a:off x="457200" y="1790700"/>
              <a:ext cx="3429000" cy="3124200"/>
            </a:xfrm>
            <a:prstGeom prst="roundRect">
              <a:avLst>
                <a:gd name="adj" fmla="val 3659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57200" y="1790700"/>
              <a:ext cx="3429000" cy="552450"/>
            </a:xfrm>
            <a:prstGeom prst="roundRect">
              <a:avLst>
                <a:gd name="adj" fmla="val 20690"/>
              </a:avLst>
            </a:prstGeom>
            <a:solidFill>
              <a:srgbClr val="004AA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6755" y="19688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稀疏表示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0565" y="222980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CEBFF"/>
                  </a:solidFill>
                  <a:latin typeface="Calibri"/>
                  <a:ea typeface="Microsoft YaHei"/>
                  <a:cs typeface="Calibri"/>
                </a:rPr>
                <a:t>更偏关键词覆盖与显式命中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0565" y="2725102"/>
              <a:ext cx="16858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适合字面词项明确的检索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0565" y="2953702"/>
              <a:ext cx="12658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容易解释命中原因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0565" y="3182302"/>
              <a:ext cx="22459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关键词变化时更容易漏掉相关结果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23900" y="3943350"/>
              <a:ext cx="2895600" cy="609600"/>
            </a:xfrm>
            <a:prstGeom prst="roundRect">
              <a:avLst>
                <a:gd name="adj" fmla="val 15625"/>
              </a:avLst>
            </a:prstGeom>
            <a:solidFill>
              <a:srgbClr val="F6F3F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2018" y="4104799"/>
              <a:ext cx="21050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Calibri"/>
                  <a:ea typeface="Microsoft YaHei"/>
                  <a:cs typeface="Calibri"/>
                </a:rPr>
                <a:t>适合显式词项强、术语稳定的场景，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2018" y="4314349"/>
              <a:ext cx="25080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Calibri"/>
                  <a:ea typeface="Microsoft YaHei"/>
                  <a:cs typeface="Calibri"/>
                </a:rPr>
                <a:t>但容易错过“意思相近、说法不同”的内容。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381500" y="1790700"/>
            <a:ext cx="3429000" cy="3124200"/>
            <a:chOff x="4381500" y="1790700"/>
            <a:chExt cx="3429000" cy="3124200"/>
          </a:xfrm>
        </p:grpSpPr>
        <p:sp>
          <p:nvSpPr>
            <p:cNvPr id="24" name="Rectangle 24"/>
            <p:cNvSpPr/>
            <p:nvPr/>
          </p:nvSpPr>
          <p:spPr>
            <a:xfrm>
              <a:off x="4381500" y="1790700"/>
              <a:ext cx="3429000" cy="3124200"/>
            </a:xfrm>
            <a:prstGeom prst="roundRect">
              <a:avLst>
                <a:gd name="adj" fmla="val 3659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381500" y="1790700"/>
              <a:ext cx="3429000" cy="552450"/>
            </a:xfrm>
            <a:prstGeom prst="roundRect">
              <a:avLst>
                <a:gd name="adj" fmla="val 20690"/>
              </a:avLst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31055" y="19688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稠密表示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34865" y="222980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F5200"/>
                  </a:solidFill>
                  <a:latin typeface="Calibri"/>
                  <a:ea typeface="Microsoft YaHei"/>
                  <a:cs typeface="Calibri"/>
                </a:rPr>
                <a:t>更偏语义接近与表达变体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34865" y="2725102"/>
              <a:ext cx="9857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适合语义检索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34865" y="2953702"/>
              <a:ext cx="23859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能覆盖关键词不同但意思相近的查询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34865" y="3182302"/>
              <a:ext cx="21059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需要依赖表示质量和相似度排序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648200" y="3943350"/>
              <a:ext cx="2895600" cy="609600"/>
            </a:xfrm>
            <a:prstGeom prst="roundRect">
              <a:avLst>
                <a:gd name="adj" fmla="val 15625"/>
              </a:avLst>
            </a:prstGeom>
            <a:solidFill>
              <a:srgbClr val="FFF8E7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826318" y="4104799"/>
              <a:ext cx="23780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B8860B"/>
                  </a:solidFill>
                  <a:latin typeface="Calibri"/>
                  <a:ea typeface="Microsoft YaHei"/>
                  <a:cs typeface="Calibri"/>
                </a:rPr>
                <a:t>适合“问法多样、业务语义相近”的场景，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826318" y="4314349"/>
              <a:ext cx="21375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B8860B"/>
                  </a:solidFill>
                  <a:latin typeface="Calibri"/>
                  <a:ea typeface="Microsoft YaHei"/>
                  <a:cs typeface="Calibri"/>
                </a:rPr>
                <a:t>也是后续 RAG 常用的底层表示方式。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305800" y="1790700"/>
            <a:ext cx="3429000" cy="3124200"/>
            <a:chOff x="8305800" y="1790700"/>
            <a:chExt cx="3429000" cy="3124200"/>
          </a:xfrm>
        </p:grpSpPr>
        <p:sp>
          <p:nvSpPr>
            <p:cNvPr id="35" name="Rectangle 35"/>
            <p:cNvSpPr/>
            <p:nvPr/>
          </p:nvSpPr>
          <p:spPr>
            <a:xfrm>
              <a:off x="8305800" y="1790700"/>
              <a:ext cx="3429000" cy="3124200"/>
            </a:xfrm>
            <a:prstGeom prst="roundRect">
              <a:avLst>
                <a:gd name="adj" fmla="val 3659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305800" y="1790700"/>
              <a:ext cx="3429000" cy="552450"/>
            </a:xfrm>
            <a:prstGeom prst="roundRect">
              <a:avLst>
                <a:gd name="adj" fmla="val 20690"/>
              </a:avLst>
            </a:prstGeom>
            <a:solidFill>
              <a:srgbClr val="FF7E5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55355" y="19688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相似度指标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59165" y="2229802"/>
              <a:ext cx="15808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E0D5"/>
                  </a:solidFill>
                  <a:latin typeface="Calibri"/>
                  <a:ea typeface="Microsoft YaHei"/>
                  <a:cs typeface="Calibri"/>
                </a:rPr>
                <a:t>决定“近不近”的排序规则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59165" y="2725102"/>
              <a:ext cx="19659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余弦相似度：看方向是否接近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59165" y="2953702"/>
              <a:ext cx="15458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点积：兼顾方向与大小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559165" y="3182302"/>
              <a:ext cx="21059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欧氏距离：看空间中的直线距离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572500" y="3943350"/>
              <a:ext cx="2895600" cy="609600"/>
            </a:xfrm>
            <a:prstGeom prst="roundRect">
              <a:avLst>
                <a:gd name="adj" fmla="val 15625"/>
              </a:avLst>
            </a:prstGeom>
            <a:solidFill>
              <a:srgbClr val="FFE0D5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750618" y="4104799"/>
              <a:ext cx="26250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0392B"/>
                  </a:solidFill>
                  <a:latin typeface="Calibri"/>
                  <a:ea typeface="Microsoft YaHei"/>
                  <a:cs typeface="Calibri"/>
                </a:rPr>
                <a:t>在这一讲里，只需要理解它们都是排序依据，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750618" y="4314349"/>
              <a:ext cx="14549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0392B"/>
                  </a:solidFill>
                  <a:latin typeface="Calibri"/>
                  <a:ea typeface="Microsoft YaHei"/>
                  <a:cs typeface="Calibri"/>
                </a:rPr>
                <a:t>不用陷入复杂数学推导。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457200" y="5219700"/>
            <a:ext cx="11277600" cy="533400"/>
            <a:chOff x="457200" y="5219700"/>
            <a:chExt cx="11277600" cy="533400"/>
          </a:xfrm>
        </p:grpSpPr>
        <p:sp>
          <p:nvSpPr>
            <p:cNvPr id="46" name="Rectangle 46"/>
            <p:cNvSpPr/>
            <p:nvPr/>
          </p:nvSpPr>
          <p:spPr>
            <a:xfrm>
              <a:off x="457200" y="5219700"/>
              <a:ext cx="11277600" cy="533400"/>
            </a:xfrm>
            <a:prstGeom prst="roundRect">
              <a:avLst>
                <a:gd name="adj" fmla="val 17857"/>
              </a:avLst>
            </a:prstGeom>
            <a:solidFill>
              <a:srgbClr val="0E102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08660" y="5414010"/>
              <a:ext cx="51831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关键词检索回答“有没有这个词”，向量检索更常回答“是不是这个意思”。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3" grpId="0"/>
      <p:bldP spid="34" grpId="0"/>
      <p:bldP spid="45" grpId="0"/>
      <p:bldP spid="4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210502"/>
            <a:ext cx="12192000" cy="6647498"/>
            <a:chOff x="0" y="210502"/>
            <a:chExt cx="12192000" cy="6647498"/>
          </a:xfrm>
        </p:grpSpPr>
        <p:sp>
          <p:nvSpPr>
            <p:cNvPr id="3" name="Rectangle 3"/>
            <p:cNvSpPr/>
            <p:nvPr/>
          </p:nvSpPr>
          <p:spPr>
            <a:xfrm>
              <a:off x="0" y="504825"/>
              <a:ext cx="12192000" cy="38100"/>
            </a:xfrm>
            <a:prstGeom prst="rect">
              <a:avLst/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Rectangle 4"/>
            <p:cNvSpPr/>
            <p:nvPr/>
          </p:nvSpPr>
          <p:spPr>
            <a:xfrm>
              <a:off x="0" y="542925"/>
              <a:ext cx="12192000" cy="5895975"/>
            </a:xfrm>
            <a:prstGeom prst="rect">
              <a:avLst/>
            </a:prstGeom>
            <a:solidFill>
              <a:srgbClr val="F6F3F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Rectangle 5"/>
            <p:cNvSpPr/>
            <p:nvPr/>
          </p:nvSpPr>
          <p:spPr>
            <a:xfrm>
              <a:off x="0" y="6438900"/>
              <a:ext cx="12192000" cy="419100"/>
            </a:xfrm>
            <a:prstGeom prst="rect">
              <a:avLst/>
            </a:prstGeom>
            <a:solidFill>
              <a:srgbClr val="E8E4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440620" y="210502"/>
              <a:ext cx="3837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5 / 10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5770" y="6570345"/>
              <a:ext cx="1397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70"/>
                  </a:solidFill>
                  <a:latin typeface="Calibri"/>
                  <a:ea typeface="Microsoft YaHei"/>
                  <a:cs typeface="Calibri"/>
                </a:rPr>
                <a:t>应用开发版 12 周冲刺课程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7200" y="647700"/>
            <a:ext cx="6003607" cy="716756"/>
            <a:chOff x="457200" y="647700"/>
            <a:chExt cx="6003607" cy="716756"/>
          </a:xfrm>
        </p:grpSpPr>
        <p:sp>
          <p:nvSpPr>
            <p:cNvPr id="9" name="Rectangle 9"/>
            <p:cNvSpPr/>
            <p:nvPr/>
          </p:nvSpPr>
          <p:spPr>
            <a:xfrm>
              <a:off x="457200" y="647700"/>
              <a:ext cx="57150" cy="457200"/>
            </a:xfrm>
            <a:prstGeom prst="roundRect">
              <a:avLst>
                <a:gd name="adj" fmla="val 33333"/>
              </a:avLst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15315" y="715328"/>
              <a:ext cx="584549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0E1020"/>
                  </a:solidFill>
                  <a:latin typeface="Calibri Light"/>
                  <a:ea typeface="Microsoft YaHei"/>
                  <a:cs typeface="Calibri Light"/>
                </a:rPr>
                <a:t>表示只是第一步，排序和取回同样重要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1135856"/>
              <a:ext cx="51442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Calibri"/>
                  <a:ea typeface="Microsoft YaHei"/>
                  <a:cs typeface="Calibri"/>
                </a:rPr>
                <a:t>把“编码、比较、排序、取回”讲清楚，学员才不会把向量检索当成黑盒调用。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57200" y="2095500"/>
            <a:ext cx="2381250" cy="2038350"/>
            <a:chOff x="457200" y="2095500"/>
            <a:chExt cx="2381250" cy="2038350"/>
          </a:xfrm>
        </p:grpSpPr>
        <p:sp>
          <p:nvSpPr>
            <p:cNvPr id="13" name="Rectangle 13"/>
            <p:cNvSpPr/>
            <p:nvPr/>
          </p:nvSpPr>
          <p:spPr>
            <a:xfrm>
              <a:off x="457200" y="2095500"/>
              <a:ext cx="2381250" cy="2038350"/>
            </a:xfrm>
            <a:prstGeom prst="roundRect">
              <a:avLst>
                <a:gd name="adj" fmla="val 5607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57200" y="2095500"/>
              <a:ext cx="2381250" cy="495300"/>
            </a:xfrm>
            <a:prstGeom prst="roundRect">
              <a:avLst>
                <a:gd name="adj" fmla="val 23077"/>
              </a:avLst>
            </a:prstGeom>
            <a:solidFill>
              <a:srgbClr val="004AA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8660" y="2270760"/>
              <a:ext cx="89578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01 查询编码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0565" y="289655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把用户查询也编码成向量，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0565" y="3125152"/>
              <a:ext cx="2126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这样才能与候选片段做统一比较。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371850" y="2095500"/>
            <a:ext cx="2381250" cy="2038350"/>
            <a:chOff x="3371850" y="2095500"/>
            <a:chExt cx="2381250" cy="2038350"/>
          </a:xfrm>
        </p:grpSpPr>
        <p:sp>
          <p:nvSpPr>
            <p:cNvPr id="19" name="Rectangle 19"/>
            <p:cNvSpPr/>
            <p:nvPr/>
          </p:nvSpPr>
          <p:spPr>
            <a:xfrm>
              <a:off x="3371850" y="2095500"/>
              <a:ext cx="2381250" cy="2038350"/>
            </a:xfrm>
            <a:prstGeom prst="roundRect">
              <a:avLst>
                <a:gd name="adj" fmla="val 5607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371850" y="2095500"/>
              <a:ext cx="2381250" cy="495300"/>
            </a:xfrm>
            <a:prstGeom prst="roundRect">
              <a:avLst>
                <a:gd name="adj" fmla="val 23077"/>
              </a:avLst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23310" y="2270760"/>
              <a:ext cx="110581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02 相似度比较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25215" y="289655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把查询向量与候选片段向量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25215" y="3125152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逐个比较，得到相似度分数。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286500" y="2095500"/>
            <a:ext cx="2381250" cy="2038350"/>
            <a:chOff x="6286500" y="2095500"/>
            <a:chExt cx="2381250" cy="2038350"/>
          </a:xfrm>
        </p:grpSpPr>
        <p:sp>
          <p:nvSpPr>
            <p:cNvPr id="25" name="Rectangle 25"/>
            <p:cNvSpPr/>
            <p:nvPr/>
          </p:nvSpPr>
          <p:spPr>
            <a:xfrm>
              <a:off x="6286500" y="2095500"/>
              <a:ext cx="2381250" cy="2038350"/>
            </a:xfrm>
            <a:prstGeom prst="roundRect">
              <a:avLst>
                <a:gd name="adj" fmla="val 5607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286500" y="2095500"/>
              <a:ext cx="2381250" cy="495300"/>
            </a:xfrm>
            <a:prstGeom prst="roundRect">
              <a:avLst>
                <a:gd name="adj" fmla="val 23077"/>
              </a:avLst>
            </a:prstGeom>
            <a:solidFill>
              <a:srgbClr val="FF7E5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37960" y="2270760"/>
              <a:ext cx="111421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03 Top-K 排序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39865" y="2896552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根据分数排序，保留最相关的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39865" y="3125152"/>
              <a:ext cx="11678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前 K 个候选片段。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201150" y="2095500"/>
            <a:ext cx="2533650" cy="2038350"/>
            <a:chOff x="9201150" y="2095500"/>
            <a:chExt cx="2533650" cy="2038350"/>
          </a:xfrm>
        </p:grpSpPr>
        <p:sp>
          <p:nvSpPr>
            <p:cNvPr id="31" name="Rectangle 31"/>
            <p:cNvSpPr/>
            <p:nvPr/>
          </p:nvSpPr>
          <p:spPr>
            <a:xfrm>
              <a:off x="9201150" y="2095500"/>
              <a:ext cx="2533650" cy="2038350"/>
            </a:xfrm>
            <a:prstGeom prst="roundRect">
              <a:avLst>
                <a:gd name="adj" fmla="val 5607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201150" y="2095500"/>
              <a:ext cx="2533650" cy="495300"/>
            </a:xfrm>
            <a:prstGeom prst="roundRect">
              <a:avLst>
                <a:gd name="adj" fmla="val 23077"/>
              </a:avLst>
            </a:prstGeom>
            <a:solidFill>
              <a:srgbClr val="0E102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52610" y="2270760"/>
              <a:ext cx="12738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04 进入后续环节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454515" y="289655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把结果交给生成、拼装、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454515" y="312515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评估或人工复核流程。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2986088" y="3000375"/>
            <a:ext cx="6029325" cy="171450"/>
            <a:chOff x="2986088" y="3000375"/>
            <a:chExt cx="6029325" cy="171450"/>
          </a:xfrm>
        </p:grpSpPr>
        <p:grpSp>
          <p:nvGrpSpPr>
            <p:cNvPr id="40" name="Group 40"/>
            <p:cNvGrpSpPr/>
            <p:nvPr/>
          </p:nvGrpSpPr>
          <p:grpSpPr>
            <a:xfrm>
              <a:off x="2986088" y="3000375"/>
              <a:ext cx="200025" cy="171450"/>
              <a:chOff x="2986088" y="3000375"/>
              <a:chExt cx="200025" cy="17145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2986088" y="3086100"/>
                <a:ext cx="200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9525">
                    <a:moveTo>
                      <a:pt x="0" y="0"/>
                    </a:moveTo>
                    <a:lnTo>
                      <a:pt x="200025" y="0"/>
                    </a:lnTo>
                  </a:path>
                </a:pathLst>
              </a:custGeom>
              <a:noFill/>
              <a:ln w="19050">
                <a:solidFill>
                  <a:srgbClr val="004AAC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Freeform 38"/>
              <p:cNvSpPr/>
              <p:nvPr/>
            </p:nvSpPr>
            <p:spPr>
              <a:xfrm>
                <a:off x="3100388" y="3086100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85725"/>
                    </a:move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004AAC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Freeform 39"/>
              <p:cNvSpPr/>
              <p:nvPr/>
            </p:nvSpPr>
            <p:spPr>
              <a:xfrm>
                <a:off x="3100388" y="3000375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0"/>
                    </a:moveTo>
                    <a:lnTo>
                      <a:pt x="85725" y="85725"/>
                    </a:lnTo>
                  </a:path>
                </a:pathLst>
              </a:custGeom>
              <a:noFill/>
              <a:ln w="19050">
                <a:solidFill>
                  <a:srgbClr val="004AAC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5900738" y="3000375"/>
              <a:ext cx="200025" cy="171450"/>
              <a:chOff x="5900738" y="3000375"/>
              <a:chExt cx="200025" cy="17145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5900738" y="3086100"/>
                <a:ext cx="200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9525">
                    <a:moveTo>
                      <a:pt x="0" y="0"/>
                    </a:moveTo>
                    <a:lnTo>
                      <a:pt x="200025" y="0"/>
                    </a:lnTo>
                  </a:path>
                </a:pathLst>
              </a:custGeom>
              <a:noFill/>
              <a:ln w="19050">
                <a:solidFill>
                  <a:srgbClr val="FFAE4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" name="Freeform 42"/>
              <p:cNvSpPr/>
              <p:nvPr/>
            </p:nvSpPr>
            <p:spPr>
              <a:xfrm>
                <a:off x="6015038" y="3086100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85725"/>
                    </a:move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FFAE4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" name="Freeform 43"/>
              <p:cNvSpPr/>
              <p:nvPr/>
            </p:nvSpPr>
            <p:spPr>
              <a:xfrm>
                <a:off x="6015038" y="3000375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0"/>
                    </a:moveTo>
                    <a:lnTo>
                      <a:pt x="85725" y="85725"/>
                    </a:lnTo>
                  </a:path>
                </a:pathLst>
              </a:custGeom>
              <a:noFill/>
              <a:ln w="19050">
                <a:solidFill>
                  <a:srgbClr val="FFAE4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8815388" y="3000375"/>
              <a:ext cx="200025" cy="171450"/>
              <a:chOff x="8815388" y="3000375"/>
              <a:chExt cx="200025" cy="17145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8815388" y="3086100"/>
                <a:ext cx="200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9525">
                    <a:moveTo>
                      <a:pt x="0" y="0"/>
                    </a:moveTo>
                    <a:lnTo>
                      <a:pt x="200025" y="0"/>
                    </a:lnTo>
                  </a:path>
                </a:pathLst>
              </a:custGeom>
              <a:noFill/>
              <a:ln w="19050">
                <a:solidFill>
                  <a:srgbClr val="FF7E5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" name="Freeform 46"/>
              <p:cNvSpPr/>
              <p:nvPr/>
            </p:nvSpPr>
            <p:spPr>
              <a:xfrm>
                <a:off x="8929688" y="3086100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85725"/>
                    </a:move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FF7E5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" name="Freeform 47"/>
              <p:cNvSpPr/>
              <p:nvPr/>
            </p:nvSpPr>
            <p:spPr>
              <a:xfrm>
                <a:off x="8929688" y="3000375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0"/>
                    </a:moveTo>
                    <a:lnTo>
                      <a:pt x="85725" y="85725"/>
                    </a:lnTo>
                  </a:path>
                </a:pathLst>
              </a:custGeom>
              <a:noFill/>
              <a:ln w="19050">
                <a:solidFill>
                  <a:srgbClr val="FF7E5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457200" y="4667250"/>
            <a:ext cx="11277600" cy="1028700"/>
            <a:chOff x="457200" y="4667250"/>
            <a:chExt cx="11277600" cy="1028700"/>
          </a:xfrm>
        </p:grpSpPr>
        <p:sp>
          <p:nvSpPr>
            <p:cNvPr id="50" name="Rectangle 50"/>
            <p:cNvSpPr/>
            <p:nvPr/>
          </p:nvSpPr>
          <p:spPr>
            <a:xfrm>
              <a:off x="457200" y="4667250"/>
              <a:ext cx="11277600" cy="102870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57200" y="4667250"/>
              <a:ext cx="57150" cy="1028700"/>
            </a:xfrm>
            <a:prstGeom prst="rect">
              <a:avLst/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08660" y="4880610"/>
              <a:ext cx="221475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课堂上一定要把这条链讲完整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09612" y="5174456"/>
              <a:ext cx="86171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一旦学员只记住“调个向量库接口”，就很难理解后面为什么会发生误检、漏检、排序不稳定，或者为什么第 4 讲要做评估与调优。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  <p:bldP spid="24" grpId="0"/>
      <p:bldP spid="30" grpId="0"/>
      <p:bldP spid="36" grpId="0"/>
      <p:bldP spid="49" grpId="0"/>
      <p:bldP spid="5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210502"/>
            <a:ext cx="12192000" cy="6647498"/>
            <a:chOff x="0" y="210502"/>
            <a:chExt cx="12192000" cy="6647498"/>
          </a:xfrm>
        </p:grpSpPr>
        <p:sp>
          <p:nvSpPr>
            <p:cNvPr id="3" name="Rectangle 3"/>
            <p:cNvSpPr/>
            <p:nvPr/>
          </p:nvSpPr>
          <p:spPr>
            <a:xfrm>
              <a:off x="0" y="504825"/>
              <a:ext cx="12192000" cy="38100"/>
            </a:xfrm>
            <a:prstGeom prst="rect">
              <a:avLst/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Rectangle 4"/>
            <p:cNvSpPr/>
            <p:nvPr/>
          </p:nvSpPr>
          <p:spPr>
            <a:xfrm>
              <a:off x="0" y="542925"/>
              <a:ext cx="12192000" cy="5895975"/>
            </a:xfrm>
            <a:prstGeom prst="rect">
              <a:avLst/>
            </a:prstGeom>
            <a:solidFill>
              <a:srgbClr val="F6F3F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Rectangle 5"/>
            <p:cNvSpPr/>
            <p:nvPr/>
          </p:nvSpPr>
          <p:spPr>
            <a:xfrm>
              <a:off x="0" y="6438900"/>
              <a:ext cx="12192000" cy="419100"/>
            </a:xfrm>
            <a:prstGeom prst="rect">
              <a:avLst/>
            </a:prstGeom>
            <a:solidFill>
              <a:srgbClr val="E8E4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440620" y="210502"/>
              <a:ext cx="3837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6 / 10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5770" y="6570345"/>
              <a:ext cx="1397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70"/>
                  </a:solidFill>
                  <a:latin typeface="Calibri"/>
                  <a:ea typeface="Microsoft YaHei"/>
                  <a:cs typeface="Calibri"/>
                </a:rPr>
                <a:t>应用开发版 12 周冲刺课程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7200" y="647700"/>
            <a:ext cx="7703820" cy="716756"/>
            <a:chOff x="457200" y="647700"/>
            <a:chExt cx="7703820" cy="716756"/>
          </a:xfrm>
        </p:grpSpPr>
        <p:sp>
          <p:nvSpPr>
            <p:cNvPr id="9" name="Rectangle 9"/>
            <p:cNvSpPr/>
            <p:nvPr/>
          </p:nvSpPr>
          <p:spPr>
            <a:xfrm>
              <a:off x="457200" y="647700"/>
              <a:ext cx="57150" cy="457200"/>
            </a:xfrm>
            <a:prstGeom prst="roundRect">
              <a:avLst>
                <a:gd name="adj" fmla="val 33333"/>
              </a:avLst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15315" y="715328"/>
              <a:ext cx="7545705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0E1020"/>
                  </a:solidFill>
                  <a:latin typeface="Calibri Light"/>
                  <a:ea typeface="Microsoft YaHei"/>
                  <a:cs typeface="Calibri Light"/>
                </a:rPr>
                <a:t>选型不是追榜，而是平衡任务、成本、语言和维度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1135856"/>
              <a:ext cx="45291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Calibri"/>
                  <a:ea typeface="Microsoft YaHei"/>
                  <a:cs typeface="Calibri"/>
                </a:rPr>
                <a:t>真正要训练的是写出有理由的选型说明，而不是记住一串模型名字。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57200" y="1790700"/>
            <a:ext cx="3543300" cy="2724150"/>
            <a:chOff x="457200" y="1790700"/>
            <a:chExt cx="3543300" cy="2724150"/>
          </a:xfrm>
        </p:grpSpPr>
        <p:sp>
          <p:nvSpPr>
            <p:cNvPr id="13" name="Rectangle 13"/>
            <p:cNvSpPr/>
            <p:nvPr/>
          </p:nvSpPr>
          <p:spPr>
            <a:xfrm>
              <a:off x="457200" y="1790700"/>
              <a:ext cx="3543300" cy="2724150"/>
            </a:xfrm>
            <a:prstGeom prst="roundRect">
              <a:avLst>
                <a:gd name="adj" fmla="val 4196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57200" y="1790700"/>
              <a:ext cx="3543300" cy="552450"/>
            </a:xfrm>
            <a:prstGeom prst="roundRect">
              <a:avLst>
                <a:gd name="adj" fmla="val 20690"/>
              </a:avLst>
            </a:prstGeom>
            <a:solidFill>
              <a:srgbClr val="004AA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7708" y="197691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任务适配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0565" y="22298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CEBFF"/>
                  </a:solidFill>
                  <a:latin typeface="Calibri"/>
                  <a:ea typeface="Microsoft YaHei"/>
                  <a:cs typeface="Calibri"/>
                </a:rPr>
                <a:t>先看任务，再看模型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0565" y="2744152"/>
              <a:ext cx="15458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中文、英文还是跨语言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0565" y="2972752"/>
              <a:ext cx="12658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长文本还是短文本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0565" y="3201352"/>
              <a:ext cx="19659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检索问答、聚类还是召回排序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23900" y="3733800"/>
              <a:ext cx="3009900" cy="438150"/>
            </a:xfrm>
            <a:prstGeom prst="roundRect">
              <a:avLst>
                <a:gd name="adj" fmla="val 17391"/>
              </a:avLst>
            </a:prstGeom>
            <a:solidFill>
              <a:srgbClr val="F6F3F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2018" y="3895249"/>
              <a:ext cx="23650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Calibri"/>
                  <a:ea typeface="Microsoft YaHei"/>
                  <a:cs typeface="Calibri"/>
                </a:rPr>
                <a:t>没有任务边界，选型讨论通常都在空转。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324350" y="1790700"/>
            <a:ext cx="3543300" cy="2724150"/>
            <a:chOff x="4324350" y="1790700"/>
            <a:chExt cx="3543300" cy="2724150"/>
          </a:xfrm>
        </p:grpSpPr>
        <p:sp>
          <p:nvSpPr>
            <p:cNvPr id="23" name="Rectangle 23"/>
            <p:cNvSpPr/>
            <p:nvPr/>
          </p:nvSpPr>
          <p:spPr>
            <a:xfrm>
              <a:off x="4324350" y="1790700"/>
              <a:ext cx="3543300" cy="2724150"/>
            </a:xfrm>
            <a:prstGeom prst="roundRect">
              <a:avLst>
                <a:gd name="adj" fmla="val 4196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324350" y="1790700"/>
              <a:ext cx="3543300" cy="552450"/>
            </a:xfrm>
            <a:prstGeom prst="roundRect">
              <a:avLst>
                <a:gd name="adj" fmla="val 20690"/>
              </a:avLst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74858" y="197691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资源约束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77715" y="2229802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F5200"/>
                  </a:solidFill>
                  <a:latin typeface="Calibri"/>
                  <a:ea typeface="Microsoft YaHei"/>
                  <a:cs typeface="Calibri"/>
                </a:rPr>
                <a:t>维度、存储、延迟都是真成本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77715" y="2744152"/>
              <a:ext cx="19659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向量维度影响存储和检索开销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77715" y="2972752"/>
              <a:ext cx="18258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延迟要求会限制可接受方案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77715" y="3201352"/>
              <a:ext cx="16858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预算影响是否可长期部署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591050" y="3733800"/>
              <a:ext cx="3009900" cy="438150"/>
            </a:xfrm>
            <a:prstGeom prst="roundRect">
              <a:avLst>
                <a:gd name="adj" fmla="val 17391"/>
              </a:avLst>
            </a:prstGeom>
            <a:solidFill>
              <a:srgbClr val="FFF8E7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769168" y="3895249"/>
              <a:ext cx="21310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B8860B"/>
                  </a:solidFill>
                  <a:latin typeface="Calibri"/>
                  <a:ea typeface="Microsoft YaHei"/>
                  <a:cs typeface="Calibri"/>
                </a:rPr>
                <a:t>“能跑”不代表“能长期留在系统里”。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191500" y="1790700"/>
            <a:ext cx="3543300" cy="2724150"/>
            <a:chOff x="8191500" y="1790700"/>
            <a:chExt cx="3543300" cy="2724150"/>
          </a:xfrm>
        </p:grpSpPr>
        <p:sp>
          <p:nvSpPr>
            <p:cNvPr id="33" name="Rectangle 33"/>
            <p:cNvSpPr/>
            <p:nvPr/>
          </p:nvSpPr>
          <p:spPr>
            <a:xfrm>
              <a:off x="8191500" y="1790700"/>
              <a:ext cx="3543300" cy="2724150"/>
            </a:xfrm>
            <a:prstGeom prst="roundRect">
              <a:avLst>
                <a:gd name="adj" fmla="val 4196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191500" y="1790700"/>
              <a:ext cx="3543300" cy="552450"/>
            </a:xfrm>
            <a:prstGeom prst="roundRect">
              <a:avLst>
                <a:gd name="adj" fmla="val 20690"/>
              </a:avLst>
            </a:prstGeom>
            <a:solidFill>
              <a:srgbClr val="FF7E5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42008" y="197691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榜单参考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44865" y="222980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E0D5"/>
                  </a:solidFill>
                  <a:latin typeface="Calibri"/>
                  <a:ea typeface="Microsoft YaHei"/>
                  <a:cs typeface="Calibri"/>
                </a:rPr>
                <a:t>榜单有用，但不是直接答案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44865" y="2744152"/>
              <a:ext cx="18258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可以参考 MTEB 等公开结果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44865" y="2972752"/>
              <a:ext cx="19659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不能脱离自身数据和场景照抄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44865" y="3201352"/>
              <a:ext cx="19659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最终仍需要验证业务样本效果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458200" y="3733800"/>
              <a:ext cx="3009900" cy="438150"/>
            </a:xfrm>
            <a:prstGeom prst="roundRect">
              <a:avLst>
                <a:gd name="adj" fmla="val 17391"/>
              </a:avLst>
            </a:prstGeom>
            <a:solidFill>
              <a:srgbClr val="FFE0D5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636318" y="3895249"/>
              <a:ext cx="24950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0392B"/>
                  </a:solidFill>
                  <a:latin typeface="Calibri"/>
                  <a:ea typeface="Microsoft YaHei"/>
                  <a:cs typeface="Calibri"/>
                </a:rPr>
                <a:t>训练营目标是会写理由，不是只会背榜单。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57200" y="4914900"/>
            <a:ext cx="11277600" cy="876300"/>
            <a:chOff x="457200" y="4914900"/>
            <a:chExt cx="11277600" cy="876300"/>
          </a:xfrm>
        </p:grpSpPr>
        <p:sp>
          <p:nvSpPr>
            <p:cNvPr id="43" name="Rectangle 43"/>
            <p:cNvSpPr/>
            <p:nvPr/>
          </p:nvSpPr>
          <p:spPr>
            <a:xfrm>
              <a:off x="457200" y="4914900"/>
              <a:ext cx="11277600" cy="876300"/>
            </a:xfrm>
            <a:prstGeom prst="roundRect">
              <a:avLst>
                <a:gd name="adj" fmla="val 13043"/>
              </a:avLst>
            </a:prstGeom>
            <a:solidFill>
              <a:srgbClr val="0E102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1040" y="5063490"/>
              <a:ext cx="751065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一份合格的模型选型说明，至少要能回答“为什么是它，而不是别的”。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9612" y="5441156"/>
              <a:ext cx="39290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6F3F0"/>
                  </a:solidFill>
                  <a:latin typeface="Calibri"/>
                  <a:ea typeface="Microsoft YaHei"/>
                  <a:cs typeface="Calibri"/>
                </a:rPr>
                <a:t>这会成为后面项目答辩、方案评审和系统复盘的基础材料。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2" grpId="0"/>
      <p:bldP spid="32" grpId="0"/>
      <p:bldP spid="42" grpId="0"/>
      <p:bldP spid="4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210502"/>
            <a:ext cx="12192000" cy="6647498"/>
            <a:chOff x="0" y="210502"/>
            <a:chExt cx="12192000" cy="6647498"/>
          </a:xfrm>
        </p:grpSpPr>
        <p:sp>
          <p:nvSpPr>
            <p:cNvPr id="3" name="Rectangle 3"/>
            <p:cNvSpPr/>
            <p:nvPr/>
          </p:nvSpPr>
          <p:spPr>
            <a:xfrm>
              <a:off x="0" y="504825"/>
              <a:ext cx="12192000" cy="38100"/>
            </a:xfrm>
            <a:prstGeom prst="rect">
              <a:avLst/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Rectangle 4"/>
            <p:cNvSpPr/>
            <p:nvPr/>
          </p:nvSpPr>
          <p:spPr>
            <a:xfrm>
              <a:off x="0" y="542925"/>
              <a:ext cx="12192000" cy="5895975"/>
            </a:xfrm>
            <a:prstGeom prst="rect">
              <a:avLst/>
            </a:prstGeom>
            <a:solidFill>
              <a:srgbClr val="F6F3F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Rectangle 5"/>
            <p:cNvSpPr/>
            <p:nvPr/>
          </p:nvSpPr>
          <p:spPr>
            <a:xfrm>
              <a:off x="0" y="6438900"/>
              <a:ext cx="12192000" cy="419100"/>
            </a:xfrm>
            <a:prstGeom prst="rect">
              <a:avLst/>
            </a:prstGeom>
            <a:solidFill>
              <a:srgbClr val="E8E4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440620" y="210502"/>
              <a:ext cx="3837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7 / 10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5770" y="6570345"/>
              <a:ext cx="1397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70"/>
                  </a:solidFill>
                  <a:latin typeface="Calibri"/>
                  <a:ea typeface="Microsoft YaHei"/>
                  <a:cs typeface="Calibri"/>
                </a:rPr>
                <a:t>应用开发版 12 周冲刺课程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7200" y="647700"/>
            <a:ext cx="7856839" cy="716756"/>
            <a:chOff x="457200" y="647700"/>
            <a:chExt cx="7856839" cy="716756"/>
          </a:xfrm>
        </p:grpSpPr>
        <p:sp>
          <p:nvSpPr>
            <p:cNvPr id="9" name="Rectangle 9"/>
            <p:cNvSpPr/>
            <p:nvPr/>
          </p:nvSpPr>
          <p:spPr>
            <a:xfrm>
              <a:off x="457200" y="647700"/>
              <a:ext cx="57150" cy="457200"/>
            </a:xfrm>
            <a:prstGeom prst="roundRect">
              <a:avLst>
                <a:gd name="adj" fmla="val 33333"/>
              </a:avLst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15315" y="715328"/>
              <a:ext cx="769872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0E1020"/>
                  </a:solidFill>
                  <a:latin typeface="Calibri Light"/>
                  <a:ea typeface="Microsoft YaHei"/>
                  <a:cs typeface="Calibri Light"/>
                </a:rPr>
                <a:t>FAISS、Milvus、Chroma、Pinecone 关注点不一样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1135856"/>
              <a:ext cx="43791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Calibri"/>
                  <a:ea typeface="Microsoft YaHei"/>
                  <a:cs typeface="Calibri"/>
                </a:rPr>
                <a:t>向量库选型不是背产品列表，而是看不同场景真正需要什么能力。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57200" y="1790700"/>
            <a:ext cx="11277600" cy="1638300"/>
            <a:chOff x="457200" y="1790700"/>
            <a:chExt cx="11277600" cy="1638300"/>
          </a:xfrm>
        </p:grpSpPr>
        <p:sp>
          <p:nvSpPr>
            <p:cNvPr id="13" name="Rectangle 13"/>
            <p:cNvSpPr/>
            <p:nvPr/>
          </p:nvSpPr>
          <p:spPr>
            <a:xfrm>
              <a:off x="457200" y="1790700"/>
              <a:ext cx="2628900" cy="1638300"/>
            </a:xfrm>
            <a:prstGeom prst="roundRect">
              <a:avLst>
                <a:gd name="adj" fmla="val 6977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06755" y="2006918"/>
              <a:ext cx="50684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4AAC"/>
                  </a:solidFill>
                  <a:latin typeface="Calibri"/>
                  <a:ea typeface="Microsoft YaHei"/>
                  <a:cs typeface="Calibri"/>
                </a:rPr>
                <a:t>FAISS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0565" y="2363152"/>
              <a:ext cx="19659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适合本地实验和理解底层原理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0565" y="2591752"/>
              <a:ext cx="21059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学习成本低，易于做第一轮实验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314700" y="1790700"/>
              <a:ext cx="2628900" cy="1638300"/>
            </a:xfrm>
            <a:prstGeom prst="roundRect">
              <a:avLst>
                <a:gd name="adj" fmla="val 6977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64255" y="200691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8860B"/>
                  </a:solidFill>
                  <a:latin typeface="Calibri"/>
                  <a:ea typeface="Microsoft YaHei"/>
                  <a:cs typeface="Calibri"/>
                </a:rPr>
                <a:t>Milvus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68065" y="2363152"/>
              <a:ext cx="21059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更适合考虑扩展性与服务化部署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68065" y="2591752"/>
              <a:ext cx="22459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企业项目常关注它的运维和能力面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72200" y="1790700"/>
              <a:ext cx="2628900" cy="1638300"/>
            </a:xfrm>
            <a:prstGeom prst="roundRect">
              <a:avLst>
                <a:gd name="adj" fmla="val 6977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21755" y="2006918"/>
              <a:ext cx="6958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4AAC"/>
                  </a:solidFill>
                  <a:latin typeface="Calibri"/>
                  <a:ea typeface="Microsoft YaHei"/>
                  <a:cs typeface="Calibri"/>
                </a:rPr>
                <a:t>Chroma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25565" y="2363152"/>
              <a:ext cx="19659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上手轻，适合原型和教学示例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25565" y="2591752"/>
              <a:ext cx="15458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便于快速把检索链跑通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9029700" y="1790700"/>
              <a:ext cx="2705100" cy="1638300"/>
            </a:xfrm>
            <a:prstGeom prst="roundRect">
              <a:avLst>
                <a:gd name="adj" fmla="val 6977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79255" y="2006918"/>
              <a:ext cx="818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0392B"/>
                  </a:solidFill>
                  <a:latin typeface="Calibri"/>
                  <a:ea typeface="Microsoft YaHei"/>
                  <a:cs typeface="Calibri"/>
                </a:rPr>
                <a:t>Pinecone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283065" y="2363152"/>
              <a:ext cx="11258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托管式体验更强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283065" y="2591752"/>
              <a:ext cx="22459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更适合快速服务化接入与团队协作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57200" y="3790950"/>
            <a:ext cx="11277600" cy="1771650"/>
            <a:chOff x="457200" y="3790950"/>
            <a:chExt cx="11277600" cy="1771650"/>
          </a:xfrm>
        </p:grpSpPr>
        <p:sp>
          <p:nvSpPr>
            <p:cNvPr id="30" name="Rectangle 30"/>
            <p:cNvSpPr/>
            <p:nvPr/>
          </p:nvSpPr>
          <p:spPr>
            <a:xfrm>
              <a:off x="457200" y="3790950"/>
              <a:ext cx="11277600" cy="1771650"/>
            </a:xfrm>
            <a:prstGeom prst="roundRect">
              <a:avLst>
                <a:gd name="adj" fmla="val 7527"/>
              </a:avLst>
            </a:prstGeom>
            <a:solidFill>
              <a:srgbClr val="0E102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6755" y="4026218"/>
              <a:ext cx="17355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真正要看的选型维度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9612" y="4431506"/>
              <a:ext cx="435661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6F3F0"/>
                  </a:solidFill>
                  <a:latin typeface="Calibri"/>
                  <a:ea typeface="Microsoft YaHei"/>
                  <a:cs typeface="Calibri"/>
                </a:rPr>
                <a:t>• 本地实验还是企业项目：前者偏易用性，后者偏扩展性与稳定性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9612" y="4698206"/>
              <a:ext cx="36065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6F3F0"/>
                  </a:solidFill>
                  <a:latin typeface="Calibri"/>
                  <a:ea typeface="Microsoft YaHei"/>
                  <a:cs typeface="Calibri"/>
                </a:rPr>
                <a:t>• 是否需要过滤、混合检索、权限隔离和复杂查询能力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9612" y="4964906"/>
              <a:ext cx="30064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6F3F0"/>
                  </a:solidFill>
                  <a:latin typeface="Calibri"/>
                  <a:ea typeface="Microsoft YaHei"/>
                  <a:cs typeface="Calibri"/>
                </a:rPr>
                <a:t>• 运维成本、部署方式、团队技术栈是否匹配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9612" y="5231606"/>
              <a:ext cx="37565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6F3F0"/>
                  </a:solidFill>
                  <a:latin typeface="Calibri"/>
                  <a:ea typeface="Microsoft YaHei"/>
                  <a:cs typeface="Calibri"/>
                </a:rPr>
                <a:t>• 模型维度、索引策略和向量库要一起评估，不能拆开做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9" grpId="0"/>
      <p:bldP spid="3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210502"/>
            <a:ext cx="12192000" cy="6647498"/>
            <a:chOff x="0" y="210502"/>
            <a:chExt cx="12192000" cy="6647498"/>
          </a:xfrm>
        </p:grpSpPr>
        <p:sp>
          <p:nvSpPr>
            <p:cNvPr id="3" name="Rectangle 3"/>
            <p:cNvSpPr/>
            <p:nvPr/>
          </p:nvSpPr>
          <p:spPr>
            <a:xfrm>
              <a:off x="0" y="504825"/>
              <a:ext cx="12192000" cy="38100"/>
            </a:xfrm>
            <a:prstGeom prst="rect">
              <a:avLst/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Rectangle 4"/>
            <p:cNvSpPr/>
            <p:nvPr/>
          </p:nvSpPr>
          <p:spPr>
            <a:xfrm>
              <a:off x="0" y="542925"/>
              <a:ext cx="12192000" cy="5895975"/>
            </a:xfrm>
            <a:prstGeom prst="rect">
              <a:avLst/>
            </a:prstGeom>
            <a:solidFill>
              <a:srgbClr val="F6F3F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Rectangle 5"/>
            <p:cNvSpPr/>
            <p:nvPr/>
          </p:nvSpPr>
          <p:spPr>
            <a:xfrm>
              <a:off x="0" y="6438900"/>
              <a:ext cx="12192000" cy="419100"/>
            </a:xfrm>
            <a:prstGeom prst="rect">
              <a:avLst/>
            </a:prstGeom>
            <a:solidFill>
              <a:srgbClr val="E8E4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440620" y="210502"/>
              <a:ext cx="3837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8 / 10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5770" y="6570345"/>
              <a:ext cx="1397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70"/>
                  </a:solidFill>
                  <a:latin typeface="Calibri"/>
                  <a:ea typeface="Microsoft YaHei"/>
                  <a:cs typeface="Calibri"/>
                </a:rPr>
                <a:t>应用开发版 12 周冲刺课程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7200" y="647700"/>
            <a:ext cx="6802707" cy="716756"/>
            <a:chOff x="457200" y="647700"/>
            <a:chExt cx="6802707" cy="716756"/>
          </a:xfrm>
        </p:grpSpPr>
        <p:sp>
          <p:nvSpPr>
            <p:cNvPr id="9" name="Rectangle 9"/>
            <p:cNvSpPr/>
            <p:nvPr/>
          </p:nvSpPr>
          <p:spPr>
            <a:xfrm>
              <a:off x="457200" y="647700"/>
              <a:ext cx="57150" cy="457200"/>
            </a:xfrm>
            <a:prstGeom prst="roundRect">
              <a:avLst>
                <a:gd name="adj" fmla="val 33333"/>
              </a:avLst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15315" y="715328"/>
              <a:ext cx="664459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0E1020"/>
                  </a:solidFill>
                  <a:latin typeface="Calibri Light"/>
                  <a:ea typeface="Microsoft YaHei"/>
                  <a:cs typeface="Calibri Light"/>
                </a:rPr>
                <a:t>看 Top-K 命中差异，理解检索质量不是偶然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1135856"/>
              <a:ext cx="49791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Calibri"/>
                  <a:ea typeface="Microsoft YaHei"/>
                  <a:cs typeface="Calibri"/>
                </a:rPr>
                <a:t>课堂 Demo 和实验的重点，是记录差异、保留样本，而不是只看程序跑通。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57200" y="1790700"/>
            <a:ext cx="5143500" cy="3752850"/>
            <a:chOff x="457200" y="1790700"/>
            <a:chExt cx="5143500" cy="3752850"/>
          </a:xfrm>
        </p:grpSpPr>
        <p:sp>
          <p:nvSpPr>
            <p:cNvPr id="13" name="Rectangle 13"/>
            <p:cNvSpPr/>
            <p:nvPr/>
          </p:nvSpPr>
          <p:spPr>
            <a:xfrm>
              <a:off x="457200" y="1790700"/>
              <a:ext cx="5143500" cy="3752850"/>
            </a:xfrm>
            <a:prstGeom prst="roundRect">
              <a:avLst>
                <a:gd name="adj" fmla="val 3553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57200" y="1790700"/>
              <a:ext cx="5143500" cy="533400"/>
            </a:xfrm>
            <a:prstGeom prst="roundRect">
              <a:avLst>
                <a:gd name="adj" fmla="val 25000"/>
              </a:avLst>
            </a:prstGeom>
            <a:solidFill>
              <a:srgbClr val="004AA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7708" y="1976914"/>
              <a:ext cx="8714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课堂 Demo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0565" y="222980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CEBFF"/>
                  </a:solidFill>
                  <a:latin typeface="Calibri"/>
                  <a:ea typeface="Microsoft YaHei"/>
                  <a:cs typeface="Calibri"/>
                </a:rPr>
                <a:t>演示相似度检索的实际过程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0565" y="2763202"/>
              <a:ext cx="26870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准备 1 组课程知识片段和 2~3 个查询样本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0565" y="2991802"/>
              <a:ext cx="21549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观察不同查询的 Top-K 排名差异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0565" y="3220402"/>
              <a:ext cx="29740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比较“字面接近”和“语义接近”带来的结果变化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0565" y="3449002"/>
              <a:ext cx="26660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讨论为什么某些结果会命中、某些会漏掉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23900" y="4095750"/>
              <a:ext cx="4610100" cy="1066800"/>
            </a:xfrm>
            <a:prstGeom prst="roundRect">
              <a:avLst>
                <a:gd name="adj" fmla="val 10714"/>
              </a:avLst>
            </a:prstGeom>
            <a:solidFill>
              <a:srgbClr val="F6F3F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20115" y="428720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Calibri"/>
                  <a:ea typeface="Microsoft YaHei"/>
                  <a:cs typeface="Calibri"/>
                </a:rPr>
                <a:t>课堂拆解重点：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20115" y="4553902"/>
              <a:ext cx="42411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不是展示“库能跑起来”，而是展示为什么不同查询会得到不同排序。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20115" y="4820602"/>
              <a:ext cx="28480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这一步会直接为第 4 讲的评估与调优做准备。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924550" y="1790700"/>
            <a:ext cx="5810250" cy="3752850"/>
            <a:chOff x="5924550" y="1790700"/>
            <a:chExt cx="5810250" cy="3752850"/>
          </a:xfrm>
        </p:grpSpPr>
        <p:sp>
          <p:nvSpPr>
            <p:cNvPr id="26" name="Rectangle 26"/>
            <p:cNvSpPr/>
            <p:nvPr/>
          </p:nvSpPr>
          <p:spPr>
            <a:xfrm>
              <a:off x="5924550" y="1790700"/>
              <a:ext cx="5810250" cy="3752850"/>
            </a:xfrm>
            <a:prstGeom prst="roundRect">
              <a:avLst>
                <a:gd name="adj" fmla="val 3553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924550" y="1790700"/>
              <a:ext cx="5810250" cy="533400"/>
            </a:xfrm>
            <a:prstGeom prst="roundRect">
              <a:avLst>
                <a:gd name="adj" fmla="val 25000"/>
              </a:avLst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6227762" y="1968500"/>
              <a:ext cx="166688" cy="188912"/>
              <a:chOff x="6227762" y="1968500"/>
              <a:chExt cx="166688" cy="188912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6227762" y="1968500"/>
                <a:ext cx="13335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7800">
                    <a:moveTo>
                      <a:pt x="51284" y="177800"/>
                    </a:moveTo>
                    <a:lnTo>
                      <a:pt x="22225" y="177800"/>
                    </a:lnTo>
                    <a:cubicBezTo>
                      <a:pt x="9950" y="177800"/>
                      <a:pt x="0" y="167850"/>
                      <a:pt x="0" y="155575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11125" y="0"/>
                    </a:lnTo>
                    <a:cubicBezTo>
                      <a:pt x="123400" y="0"/>
                      <a:pt x="133350" y="9950"/>
                      <a:pt x="133350" y="22225"/>
                    </a:cubicBezTo>
                    <a:lnTo>
                      <a:pt x="133350" y="111125"/>
                    </a:lnTo>
                  </a:path>
                </a:pathLst>
              </a:custGeom>
              <a:noFill/>
              <a:ln w="19050">
                <a:solidFill>
                  <a:srgbClr val="0E102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Freeform 29"/>
              <p:cNvSpPr/>
              <p:nvPr/>
            </p:nvSpPr>
            <p:spPr>
              <a:xfrm>
                <a:off x="6327775" y="2112962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0E102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Freeform 30"/>
              <p:cNvSpPr/>
              <p:nvPr/>
            </p:nvSpPr>
            <p:spPr>
              <a:xfrm>
                <a:off x="6272212" y="2012950"/>
                <a:ext cx="44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9525">
                    <a:moveTo>
                      <a:pt x="0" y="0"/>
                    </a:move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rgbClr val="0E102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Freeform 31"/>
              <p:cNvSpPr/>
              <p:nvPr/>
            </p:nvSpPr>
            <p:spPr>
              <a:xfrm>
                <a:off x="6272212" y="2057400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0" y="0"/>
                    </a:moveTo>
                    <a:lnTo>
                      <a:pt x="22225" y="0"/>
                    </a:lnTo>
                  </a:path>
                </a:pathLst>
              </a:custGeom>
              <a:noFill/>
              <a:ln w="19050">
                <a:solidFill>
                  <a:srgbClr val="0E102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6556058" y="197691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实验任务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58915" y="2229802"/>
              <a:ext cx="22669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F5200"/>
                  </a:solidFill>
                  <a:latin typeface="Calibri"/>
                  <a:ea typeface="Microsoft YaHei"/>
                  <a:cs typeface="Calibri"/>
                </a:rPr>
                <a:t>完成一个小型知识库的向量检索实验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191250" y="2686050"/>
              <a:ext cx="5276850" cy="552450"/>
            </a:xfrm>
            <a:prstGeom prst="roundRect">
              <a:avLst>
                <a:gd name="adj" fmla="val 17241"/>
              </a:avLst>
            </a:prstGeom>
            <a:solidFill>
              <a:srgbClr val="FFF8E7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06515" y="2915602"/>
              <a:ext cx="36601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Step 1：准备一组短文档片段和至少 3 个不同问法的查询。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191250" y="3371850"/>
              <a:ext cx="5276850" cy="552450"/>
            </a:xfrm>
            <a:prstGeom prst="roundRect">
              <a:avLst>
                <a:gd name="adj" fmla="val 17241"/>
              </a:avLst>
            </a:prstGeom>
            <a:solidFill>
              <a:srgbClr val="F6F3F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06515" y="3601402"/>
              <a:ext cx="35691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Step 2：记录每个查询的 Top-K 结果，不只记录第 1 名。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191250" y="4057650"/>
              <a:ext cx="5276850" cy="552450"/>
            </a:xfrm>
            <a:prstGeom prst="roundRect">
              <a:avLst>
                <a:gd name="adj" fmla="val 17241"/>
              </a:avLst>
            </a:prstGeom>
            <a:solidFill>
              <a:srgbClr val="DCEB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06515" y="4287202"/>
              <a:ext cx="37021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Step 3：写下你认为“命中合理”与“排序存疑”的具体原因。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191250" y="4743450"/>
              <a:ext cx="5276850" cy="552450"/>
            </a:xfrm>
            <a:prstGeom prst="roundRect">
              <a:avLst>
                <a:gd name="adj" fmla="val 17241"/>
              </a:avLst>
            </a:prstGeom>
            <a:solidFill>
              <a:srgbClr val="FFE0D5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06515" y="4973002"/>
              <a:ext cx="39751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Step 4：提交实验记录，后续第 4 讲会拿这些样本做评估对比。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5" grpId="0"/>
      <p:bldP spid="4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210502"/>
            <a:ext cx="12192000" cy="6647498"/>
            <a:chOff x="0" y="210502"/>
            <a:chExt cx="12192000" cy="6647498"/>
          </a:xfrm>
        </p:grpSpPr>
        <p:sp>
          <p:nvSpPr>
            <p:cNvPr id="3" name="Rectangle 3"/>
            <p:cNvSpPr/>
            <p:nvPr/>
          </p:nvSpPr>
          <p:spPr>
            <a:xfrm>
              <a:off x="0" y="504825"/>
              <a:ext cx="12192000" cy="38100"/>
            </a:xfrm>
            <a:prstGeom prst="rect">
              <a:avLst/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Rectangle 4"/>
            <p:cNvSpPr/>
            <p:nvPr/>
          </p:nvSpPr>
          <p:spPr>
            <a:xfrm>
              <a:off x="0" y="542925"/>
              <a:ext cx="12192000" cy="5895975"/>
            </a:xfrm>
            <a:prstGeom prst="rect">
              <a:avLst/>
            </a:prstGeom>
            <a:solidFill>
              <a:srgbClr val="F6F3F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Rectangle 5"/>
            <p:cNvSpPr/>
            <p:nvPr/>
          </p:nvSpPr>
          <p:spPr>
            <a:xfrm>
              <a:off x="0" y="6438900"/>
              <a:ext cx="12192000" cy="419100"/>
            </a:xfrm>
            <a:prstGeom prst="rect">
              <a:avLst/>
            </a:prstGeom>
            <a:solidFill>
              <a:srgbClr val="E8E4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440620" y="210502"/>
              <a:ext cx="3837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9 / 10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5770" y="6570345"/>
              <a:ext cx="1397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70"/>
                  </a:solidFill>
                  <a:latin typeface="Calibri"/>
                  <a:ea typeface="Microsoft YaHei"/>
                  <a:cs typeface="Calibri"/>
                </a:rPr>
                <a:t>应用开发版 12 周冲刺课程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7200" y="647700"/>
            <a:ext cx="5755481" cy="716756"/>
            <a:chOff x="457200" y="647700"/>
            <a:chExt cx="5755481" cy="716756"/>
          </a:xfrm>
        </p:grpSpPr>
        <p:sp>
          <p:nvSpPr>
            <p:cNvPr id="9" name="Rectangle 9"/>
            <p:cNvSpPr/>
            <p:nvPr/>
          </p:nvSpPr>
          <p:spPr>
            <a:xfrm>
              <a:off x="457200" y="647700"/>
              <a:ext cx="57150" cy="457200"/>
            </a:xfrm>
            <a:prstGeom prst="roundRect">
              <a:avLst>
                <a:gd name="adj" fmla="val 33333"/>
              </a:avLst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15315" y="715328"/>
              <a:ext cx="509739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0E1020"/>
                  </a:solidFill>
                  <a:latin typeface="Calibri Light"/>
                  <a:ea typeface="Microsoft YaHei"/>
                  <a:cs typeface="Calibri Light"/>
                </a:rPr>
                <a:t>不要把向量检索误解成“换个 API”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1135856"/>
              <a:ext cx="55792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Calibri"/>
                  <a:ea typeface="Microsoft YaHei"/>
                  <a:cs typeface="Calibri"/>
                </a:rPr>
                <a:t>真正的工程误区不是不会调用，而是缺乏对检索逻辑、样本记录和选型理由的说明。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57200" y="1714500"/>
            <a:ext cx="3543300" cy="3676650"/>
            <a:chOff x="457200" y="1714500"/>
            <a:chExt cx="3543300" cy="3676650"/>
          </a:xfrm>
        </p:grpSpPr>
        <p:sp>
          <p:nvSpPr>
            <p:cNvPr id="13" name="Rectangle 13"/>
            <p:cNvSpPr/>
            <p:nvPr/>
          </p:nvSpPr>
          <p:spPr>
            <a:xfrm>
              <a:off x="457200" y="1714500"/>
              <a:ext cx="3543300" cy="3676650"/>
            </a:xfrm>
            <a:prstGeom prst="roundRect">
              <a:avLst>
                <a:gd name="adj" fmla="val 3763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57200" y="1714500"/>
              <a:ext cx="3543300" cy="571500"/>
            </a:xfrm>
            <a:prstGeom prst="roundRect">
              <a:avLst>
                <a:gd name="adj" fmla="val 23333"/>
              </a:avLst>
            </a:prstGeom>
            <a:solidFill>
              <a:srgbClr val="FF7E5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7708" y="1919764"/>
              <a:ext cx="281733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误区 1｜只会调库，不理解检索逻辑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9612" y="2602706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偏差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0565" y="289655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把检索看成一个黑盒函数，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0565" y="3125152"/>
              <a:ext cx="2126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说不清编码、比较、排序和取回。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9612" y="37266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4AAC"/>
                  </a:solidFill>
                  <a:latin typeface="Calibri"/>
                  <a:ea typeface="Microsoft YaHei"/>
                  <a:cs typeface="Calibri"/>
                </a:rPr>
                <a:t>正确理解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0565" y="4020502"/>
              <a:ext cx="21759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至少要能解释 Top-K 是怎么来的，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0565" y="4249102"/>
              <a:ext cx="22669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以及为什么某些结果会命中或漏掉。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324350" y="1714500"/>
            <a:ext cx="3543300" cy="3676650"/>
            <a:chOff x="4324350" y="1714500"/>
            <a:chExt cx="3543300" cy="3676650"/>
          </a:xfrm>
        </p:grpSpPr>
        <p:sp>
          <p:nvSpPr>
            <p:cNvPr id="23" name="Rectangle 23"/>
            <p:cNvSpPr/>
            <p:nvPr/>
          </p:nvSpPr>
          <p:spPr>
            <a:xfrm>
              <a:off x="4324350" y="1714500"/>
              <a:ext cx="3543300" cy="3676650"/>
            </a:xfrm>
            <a:prstGeom prst="roundRect">
              <a:avLst>
                <a:gd name="adj" fmla="val 3763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324350" y="1714500"/>
              <a:ext cx="3543300" cy="571500"/>
            </a:xfrm>
            <a:prstGeom prst="roundRect">
              <a:avLst>
                <a:gd name="adj" fmla="val 23333"/>
              </a:avLst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74858" y="1919764"/>
              <a:ext cx="321900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误区 2｜只看单次命中，不记录样本质量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76762" y="2602706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偏差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77715" y="289655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只截图一次成功结果，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77715" y="3125152"/>
              <a:ext cx="24139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不保留查询样本、Top-K 和排序差异。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76762" y="37266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4AAC"/>
                  </a:solidFill>
                  <a:latin typeface="Calibri"/>
                  <a:ea typeface="Microsoft YaHei"/>
                  <a:cs typeface="Calibri"/>
                </a:rPr>
                <a:t>正确理解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77715" y="4020502"/>
              <a:ext cx="2126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没有样本记录，就没有后续评估；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77715" y="4249102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没有评估，也就谈不上调优。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191500" y="1714500"/>
            <a:ext cx="3543300" cy="3676650"/>
            <a:chOff x="8191500" y="1714500"/>
            <a:chExt cx="3543300" cy="3676650"/>
          </a:xfrm>
        </p:grpSpPr>
        <p:sp>
          <p:nvSpPr>
            <p:cNvPr id="33" name="Rectangle 33"/>
            <p:cNvSpPr/>
            <p:nvPr/>
          </p:nvSpPr>
          <p:spPr>
            <a:xfrm>
              <a:off x="8191500" y="1714500"/>
              <a:ext cx="3543300" cy="3676650"/>
            </a:xfrm>
            <a:prstGeom prst="roundRect">
              <a:avLst>
                <a:gd name="adj" fmla="val 3763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191500" y="1714500"/>
              <a:ext cx="3543300" cy="571500"/>
            </a:xfrm>
            <a:prstGeom prst="roundRect">
              <a:avLst>
                <a:gd name="adj" fmla="val 23333"/>
              </a:avLst>
            </a:prstGeom>
            <a:solidFill>
              <a:srgbClr val="004AA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42008" y="1919764"/>
              <a:ext cx="304048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误区 3｜只追热点框架，不做选型说明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43912" y="2602706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偏差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44865" y="289655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知道很多产品名，但说不清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44865" y="3125152"/>
              <a:ext cx="26870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为什么这个模型或向量库更适合当前业务。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43912" y="37266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4AAC"/>
                  </a:solidFill>
                  <a:latin typeface="Calibri"/>
                  <a:ea typeface="Microsoft YaHei"/>
                  <a:cs typeface="Calibri"/>
                </a:rPr>
                <a:t>正确理解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44865" y="40205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框架和库只是手段，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44865" y="4249102"/>
              <a:ext cx="24069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真正需要沉淀的是可复核的判断依据。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57200" y="5619750"/>
            <a:ext cx="11277600" cy="419100"/>
            <a:chOff x="457200" y="5619750"/>
            <a:chExt cx="11277600" cy="419100"/>
          </a:xfrm>
        </p:grpSpPr>
        <p:sp>
          <p:nvSpPr>
            <p:cNvPr id="43" name="Rectangle 43"/>
            <p:cNvSpPr/>
            <p:nvPr/>
          </p:nvSpPr>
          <p:spPr>
            <a:xfrm>
              <a:off x="457200" y="5619750"/>
              <a:ext cx="11277600" cy="419100"/>
            </a:xfrm>
            <a:prstGeom prst="roundRect">
              <a:avLst>
                <a:gd name="adj" fmla="val 22727"/>
              </a:avLst>
            </a:prstGeom>
            <a:solidFill>
              <a:srgbClr val="0E102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512641" y="5765006"/>
              <a:ext cx="51667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从这一讲开始就把判断依据留下来，后面的 RAG 评估与调优才会真正站得住。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2" grpId="0"/>
      <p:bldP spid="32" grpId="0"/>
      <p:bldP spid="42" grpId="0"/>
      <p:bldP spid="4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E1020"/>
            </a:solidFill>
            <a:ln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" name="Rectangle 3"/>
            <p:cNvSpPr/>
            <p:nvPr/>
          </p:nvSpPr>
          <p:spPr>
            <a:xfrm>
              <a:off x="0" y="504825"/>
              <a:ext cx="12192000" cy="38100"/>
            </a:xfrm>
            <a:prstGeom prst="rect">
              <a:avLst/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Rectangle 4"/>
            <p:cNvSpPr/>
            <p:nvPr/>
          </p:nvSpPr>
          <p:spPr>
            <a:xfrm>
              <a:off x="0" y="6438900"/>
              <a:ext cx="12192000" cy="419100"/>
            </a:xfrm>
            <a:prstGeom prst="rect">
              <a:avLst/>
            </a:prstGeom>
            <a:solidFill>
              <a:srgbClr val="E8E4E0">
                <a:alpha val="14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98615" y="210502"/>
              <a:ext cx="4257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10 / 10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7200" y="1028700"/>
            <a:ext cx="6241542" cy="2090738"/>
            <a:chOff x="457200" y="1028700"/>
            <a:chExt cx="6241542" cy="2090738"/>
          </a:xfrm>
        </p:grpSpPr>
        <p:sp>
          <p:nvSpPr>
            <p:cNvPr id="7" name="Rectangle 7"/>
            <p:cNvSpPr/>
            <p:nvPr/>
          </p:nvSpPr>
          <p:spPr>
            <a:xfrm>
              <a:off x="457200" y="1028700"/>
              <a:ext cx="57150" cy="1943100"/>
            </a:xfrm>
            <a:prstGeom prst="roundRect">
              <a:avLst>
                <a:gd name="adj" fmla="val 50000"/>
              </a:avLst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59130" y="1173480"/>
              <a:ext cx="2971800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今天建立的是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59130" y="1706880"/>
              <a:ext cx="3451860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表示与检索认知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83895" y="2431732"/>
              <a:ext cx="368061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AE41"/>
                  </a:solidFill>
                  <a:latin typeface="Calibri"/>
                  <a:ea typeface="Microsoft YaHei"/>
                  <a:cs typeface="Calibri"/>
                </a:rPr>
                <a:t>下讲进入 Chunking 与知识切片设计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87705" y="2845118"/>
              <a:ext cx="60110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6F3F0"/>
                  </a:solidFill>
                  <a:latin typeface="Calibri"/>
                  <a:ea typeface="Microsoft YaHei"/>
                  <a:cs typeface="Calibri"/>
                </a:rPr>
                <a:t>从“怎么把知识表示出来”继续推进到“怎么把知识切得合理并组织进系统”。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57200" y="3733800"/>
            <a:ext cx="11277600" cy="1485900"/>
            <a:chOff x="457200" y="3733800"/>
            <a:chExt cx="11277600" cy="1485900"/>
          </a:xfrm>
        </p:grpSpPr>
        <p:sp>
          <p:nvSpPr>
            <p:cNvPr id="13" name="Rectangle 13"/>
            <p:cNvSpPr/>
            <p:nvPr/>
          </p:nvSpPr>
          <p:spPr>
            <a:xfrm>
              <a:off x="457200" y="3733800"/>
              <a:ext cx="3371850" cy="1485900"/>
            </a:xfrm>
            <a:prstGeom prst="roundRect">
              <a:avLst>
                <a:gd name="adj" fmla="val 8974"/>
              </a:avLst>
            </a:prstGeom>
            <a:solidFill>
              <a:srgbClr val="FFFFFF">
                <a:alpha val="8000"/>
              </a:srgbClr>
            </a:solidFill>
            <a:ln w="9525">
              <a:solidFill>
                <a:srgbClr val="FFFFFF">
                  <a:alpha val="16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07708" y="395811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本讲产出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0565" y="4287202"/>
              <a:ext cx="14128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6F3F0"/>
                  </a:solidFill>
                  <a:latin typeface="Calibri"/>
                  <a:ea typeface="Microsoft YaHei"/>
                  <a:cs typeface="Calibri"/>
                </a:rPr>
                <a:t>• Top-K 检索实验记录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0565" y="4515802"/>
              <a:ext cx="9857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6F3F0"/>
                  </a:solidFill>
                  <a:latin typeface="Calibri"/>
                  <a:ea typeface="Microsoft YaHei"/>
                  <a:cs typeface="Calibri"/>
                </a:rPr>
                <a:t>• 模型选型说明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0565" y="4744402"/>
              <a:ext cx="11258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6F3F0"/>
                  </a:solidFill>
                  <a:latin typeface="Calibri"/>
                  <a:ea typeface="Microsoft YaHei"/>
                  <a:cs typeface="Calibri"/>
                </a:rPr>
                <a:t>• 向量库选型视角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171950" y="3733800"/>
              <a:ext cx="3371850" cy="1485900"/>
            </a:xfrm>
            <a:prstGeom prst="roundRect">
              <a:avLst>
                <a:gd name="adj" fmla="val 8974"/>
              </a:avLst>
            </a:prstGeom>
            <a:solidFill>
              <a:srgbClr val="FFFFFF">
                <a:alpha val="8000"/>
              </a:srgbClr>
            </a:solidFill>
            <a:ln w="9525">
              <a:solidFill>
                <a:srgbClr val="FFFFFF">
                  <a:alpha val="16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22458" y="395811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课后作业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25315" y="4287202"/>
              <a:ext cx="1405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6F3F0"/>
                  </a:solidFill>
                  <a:latin typeface="Calibri"/>
                  <a:ea typeface="Microsoft YaHei"/>
                  <a:cs typeface="Calibri"/>
                </a:rPr>
                <a:t>• 小型知识库检索实验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25315" y="4515802"/>
              <a:ext cx="15948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6F3F0"/>
                  </a:solidFill>
                  <a:latin typeface="Calibri"/>
                  <a:ea typeface="Microsoft YaHei"/>
                  <a:cs typeface="Calibri"/>
                </a:rPr>
                <a:t>• 查询样本与 Top-K 记录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25315" y="4744402"/>
              <a:ext cx="9857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6F3F0"/>
                  </a:solidFill>
                  <a:latin typeface="Calibri"/>
                  <a:ea typeface="Microsoft YaHei"/>
                  <a:cs typeface="Calibri"/>
                </a:rPr>
                <a:t>• 选型说明简表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886700" y="3733800"/>
              <a:ext cx="3848100" cy="1485900"/>
            </a:xfrm>
            <a:prstGeom prst="roundRect">
              <a:avLst>
                <a:gd name="adj" fmla="val 8974"/>
              </a:avLst>
            </a:prstGeom>
            <a:solidFill>
              <a:srgbClr val="FFFFFF">
                <a:alpha val="8000"/>
              </a:srgbClr>
            </a:solidFill>
            <a:ln w="9525">
              <a:solidFill>
                <a:srgbClr val="FFFFFF">
                  <a:alpha val="16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37208" y="395811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下讲衔接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40065" y="4287202"/>
              <a:ext cx="26099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6F3F0"/>
                  </a:solidFill>
                  <a:latin typeface="Calibri"/>
                  <a:ea typeface="Microsoft YaHei"/>
                  <a:cs typeface="Calibri"/>
                </a:rPr>
                <a:t>Chunking 会决定知识片段如何进入索引，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40065" y="4515802"/>
              <a:ext cx="22669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6F3F0"/>
                  </a:solidFill>
                  <a:latin typeface="Calibri"/>
                  <a:ea typeface="Microsoft YaHei"/>
                  <a:cs typeface="Calibri"/>
                </a:rPr>
                <a:t>这会直接影响后续的检索命中质量。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40065" y="4744402"/>
              <a:ext cx="27080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6F3F0"/>
                  </a:solidFill>
                  <a:latin typeface="Calibri"/>
                  <a:ea typeface="Microsoft YaHei"/>
                  <a:cs typeface="Calibri"/>
                </a:rPr>
                <a:t>第 4 讲会回收今天的实验记录做评估对比。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87705" y="5657850"/>
            <a:ext cx="10799445" cy="509588"/>
            <a:chOff x="687705" y="5657850"/>
            <a:chExt cx="10799445" cy="509588"/>
          </a:xfrm>
        </p:grpSpPr>
        <p:sp>
          <p:nvSpPr>
            <p:cNvPr id="29" name="Line 29"/>
            <p:cNvSpPr/>
            <p:nvPr/>
          </p:nvSpPr>
          <p:spPr>
            <a:xfrm>
              <a:off x="704850" y="5657850"/>
              <a:ext cx="10782300" cy="9525"/>
            </a:xfrm>
            <a:custGeom>
              <a:avLst/>
              <a:gdLst/>
              <a:ahLst/>
              <a:cxnLst/>
              <a:rect l="l" t="t" r="r" b="b"/>
              <a:pathLst>
                <a:path w="10782300" h="9525">
                  <a:moveTo>
                    <a:pt x="0" y="0"/>
                  </a:moveTo>
                  <a:lnTo>
                    <a:pt x="10782300" y="0"/>
                  </a:lnTo>
                </a:path>
              </a:pathLst>
            </a:custGeom>
            <a:noFill/>
            <a:ln w="14288">
              <a:solidFill>
                <a:srgbClr val="FFAE41">
                  <a:alpha val="7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7705" y="5893118"/>
              <a:ext cx="600203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RAG 的第一性原理，不是“再加一个库”，而是“把知识正确表示并找回来”。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8" grpId="0"/>
      <p:bldP spid="31" grpId="0"/>
    </p:bldLst>
  </p:timing>
</p:sld>
</file>

<file path=ppt/theme/theme1.xml><?xml version="1.0" encoding="utf-8"?>
<a:theme xmlns:a="http://schemas.openxmlformats.org/drawingml/2006/main" name="DXC">
  <a:themeElements>
    <a:clrScheme name="DXC New Brand">
      <a:dk1>
        <a:srgbClr val="0E1020"/>
      </a:dk1>
      <a:lt1>
        <a:sysClr val="window" lastClr="FFFFFF"/>
      </a:lt1>
      <a:dk2>
        <a:srgbClr val="FFC982"/>
      </a:dk2>
      <a:lt2>
        <a:srgbClr val="F6F3F0"/>
      </a:lt2>
      <a:accent1>
        <a:srgbClr val="FFAE41"/>
      </a:accent1>
      <a:accent2>
        <a:srgbClr val="FF7E51"/>
      </a:accent2>
      <a:accent3>
        <a:srgbClr val="D14600"/>
      </a:accent3>
      <a:accent4>
        <a:srgbClr val="004AAC"/>
      </a:accent4>
      <a:accent5>
        <a:srgbClr val="4995FF"/>
      </a:accent5>
      <a:accent6>
        <a:srgbClr val="A1E6FF"/>
      </a:accent6>
      <a:hlink>
        <a:srgbClr val="0E1020"/>
      </a:hlink>
      <a:folHlink>
        <a:srgbClr val="0E1020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err="1" smtClean="0">
            <a:latin typeface="Inter Light" panose="02000403000000020004" pitchFamily="50" charset="0"/>
            <a:ea typeface="Inter Light" panose="02000403000000020004" pitchFamily="50" charset="0"/>
            <a:cs typeface="Inter Light" panose="02000403000000020004" pitchFamily="50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spcAft>
            <a:spcPts val="600"/>
          </a:spcAft>
          <a:defRPr sz="1600" dirty="0" smtClean="0">
            <a:latin typeface="Inter Light" panose="02000403000000020004" pitchFamily="50" charset="0"/>
            <a:ea typeface="Inter Light" panose="02000403000000020004" pitchFamily="50" charset="0"/>
            <a:cs typeface="Inter Light" panose="02000403000000020004" pitchFamily="50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-template" id="{372C5D99-EAAE-4CC8-B45C-CB00246BBD47}" vid="{A1EB6840-CA6C-4955-A547-6EAC3A9ADD6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93514B828CCB48B02392E14BFF07CD" ma:contentTypeVersion="0" ma:contentTypeDescription="Create a new document." ma:contentTypeScope="" ma:versionID="5a55d2cd0f7ca3f196681850f3d707b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8bc42cdcaa82a2071025144403ece71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298A58B-876F-42E2-BEC0-1193FE4D620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1310B7F-0459-4DAD-B2BA-A0E66AA5F8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0B4A852-DCA5-408B-8D0B-862D89A4D66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2357</Words>
  <Application>Microsoft Office PowerPoint</Application>
  <PresentationFormat>宽屏</PresentationFormat>
  <Paragraphs>212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Calibri Light</vt:lpstr>
      <vt:lpstr>Inter SemiBold</vt:lpstr>
      <vt:lpstr>Inter</vt:lpstr>
      <vt:lpstr>Inter Bold</vt:lpstr>
      <vt:lpstr>GT Standard L Extended</vt:lpstr>
      <vt:lpstr>Inter Medium</vt:lpstr>
      <vt:lpstr>Calibri</vt:lpstr>
      <vt:lpstr>Inter Regular</vt:lpstr>
      <vt:lpstr>Inter Light</vt:lpstr>
      <vt:lpstr>DXC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Cheng, Lu</dc:creator>
  <cp:lastModifiedBy>Cheng, Lu</cp:lastModifiedBy>
  <cp:revision>3</cp:revision>
  <dcterms:created xsi:type="dcterms:W3CDTF">2026-05-22T06:21:56Z</dcterms:created>
  <dcterms:modified xsi:type="dcterms:W3CDTF">2026-05-26T02:36:08Z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394ae5-69af-439d-af88-cb521c31c0c5_Enabled">
    <vt:lpwstr>true</vt:lpwstr>
  </property>
  <property fmtid="{D5CDD505-2E9C-101B-9397-08002B2CF9AE}" pid="3" name="MSIP_Label_15394ae5-69af-439d-af88-cb521c31c0c5_SetDate">
    <vt:lpwstr>2025-12-09T16:07:32Z</vt:lpwstr>
  </property>
  <property fmtid="{D5CDD505-2E9C-101B-9397-08002B2CF9AE}" pid="4" name="MSIP_Label_15394ae5-69af-439d-af88-cb521c31c0c5_Method">
    <vt:lpwstr>Standard</vt:lpwstr>
  </property>
  <property fmtid="{D5CDD505-2E9C-101B-9397-08002B2CF9AE}" pid="5" name="MSIP_Label_15394ae5-69af-439d-af88-cb521c31c0c5_Name">
    <vt:lpwstr>DXC Internal</vt:lpwstr>
  </property>
  <property fmtid="{D5CDD505-2E9C-101B-9397-08002B2CF9AE}" pid="6" name="MSIP_Label_15394ae5-69af-439d-af88-cb521c31c0c5_SiteId">
    <vt:lpwstr>93f33571-550f-43cf-b09f-cd331338d086</vt:lpwstr>
  </property>
  <property fmtid="{D5CDD505-2E9C-101B-9397-08002B2CF9AE}" pid="7" name="MSIP_Label_15394ae5-69af-439d-af88-cb521c31c0c5_ActionId">
    <vt:lpwstr>4b7d9dea-3b11-47e8-b915-12305eea8642</vt:lpwstr>
  </property>
  <property fmtid="{D5CDD505-2E9C-101B-9397-08002B2CF9AE}" pid="8" name="MSIP_Label_15394ae5-69af-439d-af88-cb521c31c0c5_ContentBits">
    <vt:lpwstr>0</vt:lpwstr>
  </property>
  <property fmtid="{D5CDD505-2E9C-101B-9397-08002B2CF9AE}" pid="9" name="MSIP_Label_15394ae5-69af-439d-af88-cb521c31c0c5_Tag">
    <vt:lpwstr>10, 3, 0, 1</vt:lpwstr>
  </property>
  <property fmtid="{D5CDD505-2E9C-101B-9397-08002B2CF9AE}" pid="10" name="ContentTypeId">
    <vt:lpwstr>0x010100B493514B828CCB48B02392E14BFF07CD</vt:lpwstr>
  </property>
</Properties>
</file>