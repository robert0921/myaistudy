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10287000" cy="18288000"/>
  <p:embeddedFontLst>
    <p:embeddedFont>
      <p:font typeface="GT Standard L Extended" pitchFamily="2" charset="0"/>
      <p:bold r:id="rId17"/>
    </p:embeddedFont>
    <p:embeddedFont>
      <p:font typeface="Inter" panose="02000503000000020004" pitchFamily="50" charset="0"/>
      <p:regular r:id="rId18"/>
      <p:bold r:id="rId19"/>
      <p:italic r:id="rId20"/>
      <p:boldItalic r:id="rId21"/>
    </p:embeddedFont>
    <p:embeddedFont>
      <p:font typeface="Inter Bold" panose="020B0604020202020204" charset="0"/>
      <p:regular r:id="rId22"/>
      <p:bold r:id="rId23"/>
      <p:italic r:id="rId24"/>
      <p:boldItalic r:id="rId25"/>
    </p:embeddedFont>
    <p:embeddedFont>
      <p:font typeface="Inter Light" panose="02000403000000020004" pitchFamily="50" charset="0"/>
      <p:regular r:id="rId26"/>
      <p:italic r:id="rId27"/>
    </p:embeddedFont>
    <p:embeddedFont>
      <p:font typeface="Inter Medium" panose="02000603000000020004" pitchFamily="50" charset="0"/>
      <p:regular r:id="rId28"/>
      <p:italic r:id="rId29"/>
    </p:embeddedFont>
    <p:embeddedFont>
      <p:font typeface="Inter Regular" panose="020B0604020202020204" charset="0"/>
      <p:regular r:id="rId30"/>
      <p:bold r:id="rId31"/>
      <p:italic r:id="rId32"/>
      <p:boldItalic r:id="rId33"/>
    </p:embeddedFont>
    <p:embeddedFont>
      <p:font typeface="Inter SemiBold" panose="02000703000000020004" pitchFamily="50" charset="0"/>
      <p:regular r:id="rId34"/>
      <p:bold r:id="rId35"/>
      <p:bold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6D6D"/>
    <a:srgbClr val="B4B0AC"/>
    <a:srgbClr val="545454"/>
    <a:srgbClr val="F6F3F0"/>
    <a:srgbClr val="E4E4E4"/>
    <a:srgbClr val="0052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6" autoAdjust="0"/>
    <p:restoredTop sz="95822" autoAdjust="0"/>
  </p:normalViewPr>
  <p:slideViewPr>
    <p:cSldViewPr snapToGrid="0">
      <p:cViewPr varScale="1">
        <p:scale>
          <a:sx n="110" d="100"/>
          <a:sy n="110" d="100"/>
        </p:scale>
        <p:origin x="7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heme" Target="theme/theme1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657DA5-5C22-A353-A65D-369446F87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2189D-F3FF-A988-769A-E7A3CB3608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A25DE-A063-4378-A640-4BC83FB26CA8}" type="datetimeFigureOut">
              <a:rPr lang="en-US" smtClean="0">
                <a:latin typeface="Inter" panose="02000503000000020004" pitchFamily="50" charset="0"/>
              </a:rPr>
              <a:t>5/26/2026</a:t>
            </a:fld>
            <a:endParaRPr lang="en-US">
              <a:latin typeface="Inter" panose="0200050300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2170-6562-13C1-D1D5-286367C321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CDAC3-E48C-8609-85D2-09985FEF5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69C77-B4AD-470F-9F54-5C3D80FAC420}" type="slidenum">
              <a:rPr lang="en-US" smtClean="0">
                <a:latin typeface="Inter" panose="02000503000000020004" pitchFamily="50" charset="0"/>
              </a:rPr>
              <a:t>‹#›</a:t>
            </a:fld>
            <a:endParaRPr lang="en-US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115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5760" userDrawn="1">
          <p15:clr>
            <a:srgbClr val="F26B43"/>
          </p15:clr>
        </p15:guide>
        <p15:guide id="2" pos="32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4368073D-F6CD-433D-989C-9BCED54B3B21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3EA93470-45FA-43A3-A94A-764F2952A3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6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960" kern="1200">
        <a:solidFill>
          <a:schemeClr val="tx1"/>
        </a:solidFill>
        <a:latin typeface="Inter Medium" panose="02000603000000020004" pitchFamily="50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这一讲不是教大家写几句更花哨的提示词，而是把整门课的主线先搭出来。后面所有 RAG、Agent、部署和评估，都会建立在今天讲的输入、上下文和输出契约之上。请先记住这门课的目标不是会聊天，而是能交付 AI 应用原型。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这门课 12 周后的终点，不是跑通一个接口，而是交付一套可以讲清楚、可以演示、也可以验收的项目材料。学员最终要能解释系统为什么这样设计，能跑出原型，也能说出如何把轻量样例换成真实框架。工程判断，是这门课真正要训练的能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整门课的主线可以分成三段。前四周解决知识如何进入系统，中间四周解决系统如何行动与协作，最后四周解决系统如何交付、扩展和评估。第 1 讲在这三段里最底层，它决定后面所有内容是否有稳定锚点。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很多人一上来就想学框架，但企业应用的起点其实不是框架，而是任务定义。Prompt 解决当前任务怎么说，Context 解决系统知道什么、受什么约束。问题没定义清楚，框架只会把问题放大，而不会替你把问题定义正确。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Prompt 和 Context 看似都在给模型信息，但分工完全不同。Prompt 更像当前任务单，Context 更像任务运行环境。企业场景里真正决定结果是否可用的，往往不是问得漂不漂亮，而是上下文边界和规则有没有被明确写进去。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为什么企业里这么强调输出约束？因为结果不只是给人看，还要给系统接、给流程走、给人工复核。结构化输出、证据显性化和可验收设计，决定了模型结果能不能真正进入业务链路。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课堂 Demo 的重点不是看哪一种提示更聪明，而是看哪一种提示更适合进入真实工作流。基础提示往往只给泛建议，结构化提示开始具备工程输入特征，而带约束提示才真正接近业务流程需要的输出。这里第一次把“自然语言好不好看”切换成“工程上能不能用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实验的目标不是让学员写得更长，而是让学员真正比较不同提示结构的工程价值。通过两版 Prompt 的对比，学员会开始意识到，Prompt 设计不是文案优化，而是输出契约设计。这是后面进入检索和 Agent 环节前必须建立的思维方式。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这一页把最常见的三个误区先纠正掉。第一，不要把 Prompt Engineering 当成话术技巧；第二，不要把答案流畅当成答案可用；第三，不要过早沉迷框架，而忽略任务定义。后面的学习效率，取决于今天有没有把这三件事想明白。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这一讲真正建立的是输入与输出契约。课后作业会要求学员把这个契约亲手写出来，并开始用系统是否接得上来衡量输出质量。下一讲我们就从这里往前走，进入 Embedding 与向量检索，开始把知识真正放进系统并找回来。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73B2DF-BAF2-C420-FD86-86240D16DD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2" name="Frame 15529" descr="preencoded.png">
            <a:extLst>
              <a:ext uri="{FF2B5EF4-FFF2-40B4-BE49-F238E27FC236}">
                <a16:creationId xmlns:a16="http://schemas.microsoft.com/office/drawing/2014/main" id="{1EF2DDB8-8571-93E4-C67A-35640A82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3200" y="203200"/>
            <a:ext cx="11785600" cy="3949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3F9C0B-0317-E2A6-8F23-EFFBE864DC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15" name="lookmomnoagency_httpss.mj.runJIcAb0P4040_Ultra-real_cinematic_p_638bfe43-65b2-4354-845b-4351f8df7907" descr="preencoded.png">
            <a:extLst>
              <a:ext uri="{FF2B5EF4-FFF2-40B4-BE49-F238E27FC236}">
                <a16:creationId xmlns:a16="http://schemas.microsoft.com/office/drawing/2014/main" id="{75169228-DC09-412D-D6F7-167D9FF75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03200" y="203200"/>
            <a:ext cx="11785600" cy="401320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0342C94D-B005-C627-CC70-486D6842A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7278" y="4539455"/>
            <a:ext cx="6127859" cy="13970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1" cap="all" spc="160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18" name="Union" descr="preencoded.png">
            <a:extLst>
              <a:ext uri="{FF2B5EF4-FFF2-40B4-BE49-F238E27FC236}">
                <a16:creationId xmlns:a16="http://schemas.microsoft.com/office/drawing/2014/main" id="{4B2C8058-2A52-FBD2-A88A-2B552585CE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201" y="4580489"/>
            <a:ext cx="2235200" cy="36195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B5FEA5F-CB2C-3FF5-0223-355E67B8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7278" y="4810124"/>
            <a:ext cx="6127859" cy="81491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6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264E8B-C17A-16FA-16AB-17DE70932CB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74742" y="5779068"/>
            <a:ext cx="3015457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 cap="all" spc="160" baseline="0">
                <a:solidFill>
                  <a:schemeClr val="tx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Union" descr="preencoded.png">
            <a:extLst>
              <a:ext uri="{FF2B5EF4-FFF2-40B4-BE49-F238E27FC236}">
                <a16:creationId xmlns:a16="http://schemas.microsoft.com/office/drawing/2014/main" id="{6EFE4B1B-FBEC-0DBB-F10D-1A7A97DC17F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03200" y="622300"/>
            <a:ext cx="11785600" cy="3187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006E1-F854-BAE6-A4A2-9D3947AA8039}"/>
              </a:ext>
            </a:extLst>
          </p:cNvPr>
          <p:cNvSpPr txBox="1"/>
          <p:nvPr userDrawn="1"/>
        </p:nvSpPr>
        <p:spPr>
          <a:xfrm>
            <a:off x="4973638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4B61FB-43AA-F7C6-9DBE-87E8C3498914}"/>
              </a:ext>
            </a:extLst>
          </p:cNvPr>
          <p:cNvSpPr txBox="1">
            <a:spLocks/>
          </p:cNvSpPr>
          <p:nvPr userDrawn="1"/>
        </p:nvSpPr>
        <p:spPr>
          <a:xfrm>
            <a:off x="4973952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l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4029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6C9E5-50FF-1198-36CE-8793878A64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4268" y="515342"/>
            <a:ext cx="5267732" cy="634265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C7BB518-013B-58B6-40AD-19FEB608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637" y="2651125"/>
            <a:ext cx="9186863" cy="11588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8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63D07A-81F1-36DC-EA6A-646757535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8398" y="4053679"/>
            <a:ext cx="3133726" cy="1242221"/>
          </a:xfrm>
          <a:prstGeom prst="rect">
            <a:avLst/>
          </a:prstGeom>
        </p:spPr>
        <p:txBody>
          <a:bodyPr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b="0" cap="none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1D1B2-1DC3-890E-96BC-72E7F3451CCA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13050-BD33-7A00-EE49-7F6BC7D27001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5405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guide (No Descrip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5DE322-BB62-1F07-1CDA-135ED5F4EF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D12025-2BD2-A09B-9EFB-A3882925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7E8852-BD92-0355-4AE0-D8D8FAF4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90" y="2089150"/>
            <a:ext cx="4422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84E7C-8DF7-9286-1F6A-E0EDDF612E0D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9DC9-2842-272D-FE94-51D6897B7218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6" name="Union" descr="preencoded.png">
            <a:extLst>
              <a:ext uri="{FF2B5EF4-FFF2-40B4-BE49-F238E27FC236}">
                <a16:creationId xmlns:a16="http://schemas.microsoft.com/office/drawing/2014/main" id="{2B2237AB-9675-5704-5381-9A5B56F644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7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5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rima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87625" y="2089149"/>
            <a:ext cx="9223375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89" y="2089149"/>
            <a:ext cx="9185011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B9C8783-1EE1-5F05-94F0-020AC127930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94240" y="2089149"/>
            <a:ext cx="4402908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C207ECF-D4C3-643D-CB6A-041FFB70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C006B6-6F06-D002-5779-598B7A38284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380552" y="2089148"/>
            <a:ext cx="4221085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5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625" y="2089148"/>
            <a:ext cx="9223373" cy="430212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 typeface="Arial" pitchFamily="34" charset="0"/>
              <a:buChar char="•"/>
              <a:defRPr sz="1600"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sz="1600"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E9DCC20-00EA-22DD-2AE0-CB3AE03BE68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73ADA15-B0A6-A9E1-1441-0E6F1682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9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5717FA4-86CE-556E-68FB-95C761BEC1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90" y="2089149"/>
            <a:ext cx="5692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3CCBB92-4E2E-CA56-141C-71DDE9C9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02B511-3FEB-1B8B-7719-09807E1FF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6953250" y="1711590"/>
            <a:ext cx="5238750" cy="4571229"/>
          </a:xfrm>
          <a:prstGeom prst="rect">
            <a:avLst/>
          </a:prstGeom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E713CD5E-96D2-F3B4-7945-151C1A4F88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66000" y="2090822"/>
            <a:ext cx="4603750" cy="361315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9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655C0-EAC8-C1F6-4E1E-A95627EE0C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6953250" y="1711590"/>
            <a:ext cx="5238750" cy="457122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A965AE0-60E2-C612-1BE0-C4729967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5DE58E-558F-F5EC-1082-9B720020266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89601" y="2089149"/>
            <a:ext cx="332232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B87AB6-AE03-F48C-7DF9-C5E130FC55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90" y="2089149"/>
            <a:ext cx="332232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77A56BE-E30D-A604-6EC0-1BA1C7B58F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0" y="2090822"/>
            <a:ext cx="4603750" cy="361315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8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3A8567-14EC-C957-B8D3-E24E11570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62" b="4989"/>
          <a:stretch>
            <a:fillRect/>
          </a:stretch>
        </p:blipFill>
        <p:spPr>
          <a:xfrm>
            <a:off x="4357501" y="145058"/>
            <a:ext cx="7834500" cy="6712942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7B1E6F2-2C2C-C9A9-5AB8-828355364A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4750" y="740247"/>
            <a:ext cx="6985000" cy="5651028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2AD280C-FC90-5C16-7F3E-4E787A928E0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FF1056-2A2E-EAB8-F36F-EBD7E5F8C0F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03490" y="2434308"/>
            <a:ext cx="3617420" cy="395696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540E6F3E-0F98-698F-5249-2672EA9A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5"/>
            <a:ext cx="4422511" cy="13460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472F4-F461-80E0-0FB3-EFCB9B5CC08D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7D6D-506A-74EA-66C7-80F4746277AA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4338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AD2B2-95E0-8691-E903-8A9026CF8261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0455-28DA-FCFA-8ED8-A428ECF25B46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3053EBC-3E3E-5CCF-5A5C-C2B528F8E71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72813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AB2385-4042-07C0-6BA0-6E264BA5CB68}"/>
              </a:ext>
            </a:extLst>
          </p:cNvPr>
          <p:cNvSpPr/>
          <p:nvPr userDrawn="1"/>
        </p:nvSpPr>
        <p:spPr>
          <a:xfrm>
            <a:off x="0" y="496661"/>
            <a:ext cx="12192000" cy="6361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89" y="2089149"/>
            <a:ext cx="9185011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F00A7-BEB6-EC4D-515F-8796DA7764E1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21A3-0CD0-FAEA-5FA7-F851D1A40F17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87835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656793-F272-E05F-7FDB-6FC60AE78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740A865-2EAE-D2C5-9D67-0453F02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25" y="2249663"/>
            <a:ext cx="9223373" cy="278606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 algn="l">
              <a:defRPr lang="en-US" sz="5000" dirty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2CCEFD-F919-42FA-0DD8-3DB039A268F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HeaderMasthead" descr="preencoded.png">
            <a:extLst>
              <a:ext uri="{FF2B5EF4-FFF2-40B4-BE49-F238E27FC236}">
                <a16:creationId xmlns:a16="http://schemas.microsoft.com/office/drawing/2014/main" id="{93C7ACA0-9850-735F-DDA2-7E3D6AF178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BBDAE8-E8F2-0C57-3991-61B5388D5967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</p:spTree>
    <p:extLst>
      <p:ext uri="{BB962C8B-B14F-4D97-AF65-F5344CB8AC3E}">
        <p14:creationId xmlns:p14="http://schemas.microsoft.com/office/powerpoint/2010/main" val="2364276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D6C4FC-7347-DEA0-51A8-878E036B731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84749" y="2047462"/>
            <a:ext cx="6173581" cy="424212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03488" y="5774200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3489" y="6047589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488" y="2089150"/>
            <a:ext cx="3276600" cy="3429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8E15AC9-7292-3D13-6C73-282E69EE8FE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991365" y="2089150"/>
            <a:ext cx="4597135" cy="342900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569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119878" y="248807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119879" y="273425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488" y="238073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D811A-C99D-3B7A-BCC3-66DA844F1C8B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119878" y="450630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A747F1-959A-3806-A11E-FFACEFB693EF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2119879" y="475248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51B0D53B-7E9B-3DC3-BA87-003824F65D9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3488" y="439896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06E116-3C8D-CF15-BA0D-FE1D9DF8D86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8008937" y="248807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EF596F-37D3-8C56-AEC3-A941B57F4B8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8008938" y="273425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5D416AB-5AB8-3255-9B13-3BFE55B1067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92547" y="238073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BFEF732-87F6-4DAB-0C27-9A712527F2FB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8008937" y="450630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8E4127-A4BC-BD25-7D63-1979A3E79EF6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8008938" y="475248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5C05823-0C0C-A242-FF86-E466B32E921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92547" y="439896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51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966E7D02-A59E-D77B-34F9-177B59C8C7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9" name="Text Box 115">
            <a:extLst>
              <a:ext uri="{FF2B5EF4-FFF2-40B4-BE49-F238E27FC236}">
                <a16:creationId xmlns:a16="http://schemas.microsoft.com/office/drawing/2014/main" id="{C625C1F0-127F-73C3-7ADA-A6081E5B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10" name="Union" descr="preencoded.png">
            <a:extLst>
              <a:ext uri="{FF2B5EF4-FFF2-40B4-BE49-F238E27FC236}">
                <a16:creationId xmlns:a16="http://schemas.microsoft.com/office/drawing/2014/main" id="{2E0A7C26-1063-DA8C-412A-967875A0E2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1" name="COMPANY OVERVIEW">
            <a:extLst>
              <a:ext uri="{FF2B5EF4-FFF2-40B4-BE49-F238E27FC236}">
                <a16:creationId xmlns:a16="http://schemas.microsoft.com/office/drawing/2014/main" id="{460D8598-B6F3-061C-1E91-55DD0B252539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18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Whit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701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5F7739-5F3D-DF4D-BE90-E2362F48ACE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587625" y="1874793"/>
            <a:ext cx="9223373" cy="2213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988E8C-D038-1253-4258-6D8D58C445F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742530" y="4610791"/>
            <a:ext cx="6004719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6F164B-E08C-29C0-7C1E-2FD6BCE1AD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742531" y="4905347"/>
            <a:ext cx="6004719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7C4B69D7-624C-1666-EA6E-6FA241A2489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87624" y="4376447"/>
            <a:ext cx="928688" cy="92868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Graphic 14">
            <a:extLst>
              <a:ext uri="{FF2B5EF4-FFF2-40B4-BE49-F238E27FC236}">
                <a16:creationId xmlns:a16="http://schemas.microsoft.com/office/drawing/2014/main" id="{289971B2-6DA5-08CA-F7E5-1172BD30B562}"/>
              </a:ext>
            </a:extLst>
          </p:cNvPr>
          <p:cNvSpPr/>
          <p:nvPr/>
        </p:nvSpPr>
        <p:spPr>
          <a:xfrm>
            <a:off x="1107455" y="2004611"/>
            <a:ext cx="1010098" cy="804690"/>
          </a:xfrm>
          <a:custGeom>
            <a:avLst/>
            <a:gdLst>
              <a:gd name="csX0" fmla="*/ 436380 w 1212117"/>
              <a:gd name="csY0" fmla="*/ 528071 h 965628"/>
              <a:gd name="csX1" fmla="*/ 187312 w 1212117"/>
              <a:gd name="csY1" fmla="*/ 528071 h 965628"/>
              <a:gd name="csX2" fmla="*/ 187312 w 1212117"/>
              <a:gd name="csY2" fmla="*/ 409448 h 965628"/>
              <a:gd name="csX3" fmla="*/ 425638 w 1212117"/>
              <a:gd name="csY3" fmla="*/ 172264 h 965628"/>
              <a:gd name="csX4" fmla="*/ 433264 w 1212117"/>
              <a:gd name="csY4" fmla="*/ 172213 h 965628"/>
              <a:gd name="csX5" fmla="*/ 483088 w 1212117"/>
              <a:gd name="csY5" fmla="*/ 172213 h 965628"/>
              <a:gd name="csX6" fmla="*/ 483088 w 1212117"/>
              <a:gd name="csY6" fmla="*/ 13007 h 965628"/>
              <a:gd name="csX7" fmla="*/ 427044 w 1212117"/>
              <a:gd name="csY7" fmla="*/ 13007 h 965628"/>
              <a:gd name="csX8" fmla="*/ 427044 w 1212117"/>
              <a:gd name="csY8" fmla="*/ 0 h 965628"/>
              <a:gd name="csX9" fmla="*/ 496060 w 1212117"/>
              <a:gd name="csY9" fmla="*/ 0 h 965628"/>
              <a:gd name="csX10" fmla="*/ 496060 w 1212117"/>
              <a:gd name="csY10" fmla="*/ 185220 h 965628"/>
              <a:gd name="csX11" fmla="*/ 433264 w 1212117"/>
              <a:gd name="csY11" fmla="*/ 185220 h 965628"/>
              <a:gd name="csX12" fmla="*/ 257797 w 1212117"/>
              <a:gd name="csY12" fmla="*/ 240893 h 965628"/>
              <a:gd name="csX13" fmla="*/ 200284 w 1212117"/>
              <a:gd name="csY13" fmla="*/ 409448 h 965628"/>
              <a:gd name="csX14" fmla="*/ 200284 w 1212117"/>
              <a:gd name="csY14" fmla="*/ 515065 h 965628"/>
              <a:gd name="csX15" fmla="*/ 449352 w 1212117"/>
              <a:gd name="csY15" fmla="*/ 515065 h 965628"/>
              <a:gd name="csX16" fmla="*/ 449352 w 1212117"/>
              <a:gd name="csY16" fmla="*/ 965628 h 965628"/>
              <a:gd name="csX17" fmla="*/ 0 w 1212117"/>
              <a:gd name="csY17" fmla="*/ 965628 h 965628"/>
              <a:gd name="csX18" fmla="*/ 0 w 1212117"/>
              <a:gd name="csY18" fmla="*/ 418822 h 965628"/>
              <a:gd name="csX19" fmla="*/ 106273 w 1212117"/>
              <a:gd name="csY19" fmla="*/ 113340 h 965628"/>
              <a:gd name="csX20" fmla="*/ 106337 w 1212117"/>
              <a:gd name="csY20" fmla="*/ 113263 h 965628"/>
              <a:gd name="csX21" fmla="*/ 106400 w 1212117"/>
              <a:gd name="csY21" fmla="*/ 113200 h 965628"/>
              <a:gd name="csX22" fmla="*/ 427044 w 1212117"/>
              <a:gd name="csY22" fmla="*/ 0 h 965628"/>
              <a:gd name="csX23" fmla="*/ 427044 w 1212117"/>
              <a:gd name="csY23" fmla="*/ 13007 h 965628"/>
              <a:gd name="csX24" fmla="*/ 414300 w 1212117"/>
              <a:gd name="csY24" fmla="*/ 13108 h 965628"/>
              <a:gd name="csX25" fmla="*/ 115711 w 1212117"/>
              <a:gd name="csY25" fmla="*/ 122256 h 965628"/>
              <a:gd name="csX26" fmla="*/ 109390 w 1212117"/>
              <a:gd name="csY26" fmla="*/ 129166 h 965628"/>
              <a:gd name="csX27" fmla="*/ 12972 w 1212117"/>
              <a:gd name="csY27" fmla="*/ 418822 h 965628"/>
              <a:gd name="csX28" fmla="*/ 12972 w 1212117"/>
              <a:gd name="csY28" fmla="*/ 952622 h 965628"/>
              <a:gd name="csX29" fmla="*/ 436380 w 1212117"/>
              <a:gd name="csY29" fmla="*/ 952622 h 965628"/>
              <a:gd name="csX30" fmla="*/ 436380 w 1212117"/>
              <a:gd name="csY30" fmla="*/ 528071 h 965628"/>
              <a:gd name="csX31" fmla="*/ 1152449 w 1212117"/>
              <a:gd name="csY31" fmla="*/ 528071 h 965628"/>
              <a:gd name="csX32" fmla="*/ 903380 w 1212117"/>
              <a:gd name="csY32" fmla="*/ 528071 h 965628"/>
              <a:gd name="csX33" fmla="*/ 903380 w 1212117"/>
              <a:gd name="csY33" fmla="*/ 409448 h 965628"/>
              <a:gd name="csX34" fmla="*/ 1141707 w 1212117"/>
              <a:gd name="csY34" fmla="*/ 172264 h 965628"/>
              <a:gd name="csX35" fmla="*/ 1149333 w 1212117"/>
              <a:gd name="csY35" fmla="*/ 172213 h 965628"/>
              <a:gd name="csX36" fmla="*/ 1199145 w 1212117"/>
              <a:gd name="csY36" fmla="*/ 172213 h 965628"/>
              <a:gd name="csX37" fmla="*/ 1199145 w 1212117"/>
              <a:gd name="csY37" fmla="*/ 13007 h 965628"/>
              <a:gd name="csX38" fmla="*/ 1143113 w 1212117"/>
              <a:gd name="csY38" fmla="*/ 13007 h 965628"/>
              <a:gd name="csX39" fmla="*/ 1143113 w 1212117"/>
              <a:gd name="csY39" fmla="*/ 0 h 965628"/>
              <a:gd name="csX40" fmla="*/ 1212117 w 1212117"/>
              <a:gd name="csY40" fmla="*/ 0 h 965628"/>
              <a:gd name="csX41" fmla="*/ 1212117 w 1212117"/>
              <a:gd name="csY41" fmla="*/ 185220 h 965628"/>
              <a:gd name="csX42" fmla="*/ 1149333 w 1212117"/>
              <a:gd name="csY42" fmla="*/ 185220 h 965628"/>
              <a:gd name="csX43" fmla="*/ 973866 w 1212117"/>
              <a:gd name="csY43" fmla="*/ 240893 h 965628"/>
              <a:gd name="csX44" fmla="*/ 916352 w 1212117"/>
              <a:gd name="csY44" fmla="*/ 409448 h 965628"/>
              <a:gd name="csX45" fmla="*/ 916352 w 1212117"/>
              <a:gd name="csY45" fmla="*/ 515065 h 965628"/>
              <a:gd name="csX46" fmla="*/ 1165421 w 1212117"/>
              <a:gd name="csY46" fmla="*/ 515065 h 965628"/>
              <a:gd name="csX47" fmla="*/ 1165421 w 1212117"/>
              <a:gd name="csY47" fmla="*/ 965628 h 965628"/>
              <a:gd name="csX48" fmla="*/ 716069 w 1212117"/>
              <a:gd name="csY48" fmla="*/ 965628 h 965628"/>
              <a:gd name="csX49" fmla="*/ 716069 w 1212117"/>
              <a:gd name="csY49" fmla="*/ 418822 h 965628"/>
              <a:gd name="csX50" fmla="*/ 822342 w 1212117"/>
              <a:gd name="csY50" fmla="*/ 113340 h 965628"/>
              <a:gd name="csX51" fmla="*/ 822406 w 1212117"/>
              <a:gd name="csY51" fmla="*/ 113263 h 965628"/>
              <a:gd name="csX52" fmla="*/ 822468 w 1212117"/>
              <a:gd name="csY52" fmla="*/ 113200 h 965628"/>
              <a:gd name="csX53" fmla="*/ 1143113 w 1212117"/>
              <a:gd name="csY53" fmla="*/ 0 h 965628"/>
              <a:gd name="csX54" fmla="*/ 1143113 w 1212117"/>
              <a:gd name="csY54" fmla="*/ 13007 h 965628"/>
              <a:gd name="csX55" fmla="*/ 1130369 w 1212117"/>
              <a:gd name="csY55" fmla="*/ 13108 h 965628"/>
              <a:gd name="csX56" fmla="*/ 831780 w 1212117"/>
              <a:gd name="csY56" fmla="*/ 122256 h 965628"/>
              <a:gd name="csX57" fmla="*/ 825458 w 1212117"/>
              <a:gd name="csY57" fmla="*/ 129166 h 965628"/>
              <a:gd name="csX58" fmla="*/ 729041 w 1212117"/>
              <a:gd name="csY58" fmla="*/ 418822 h 965628"/>
              <a:gd name="csX59" fmla="*/ 729041 w 1212117"/>
              <a:gd name="csY59" fmla="*/ 952622 h 965628"/>
              <a:gd name="csX60" fmla="*/ 1152449 w 1212117"/>
              <a:gd name="csY60" fmla="*/ 952622 h 965628"/>
              <a:gd name="csX61" fmla="*/ 1152449 w 1212117"/>
              <a:gd name="csY61" fmla="*/ 528071 h 965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1212117" h="965628">
                <a:moveTo>
                  <a:pt x="436380" y="528071"/>
                </a:moveTo>
                <a:lnTo>
                  <a:pt x="187312" y="528071"/>
                </a:lnTo>
                <a:lnTo>
                  <a:pt x="187312" y="409448"/>
                </a:lnTo>
                <a:cubicBezTo>
                  <a:pt x="187312" y="253760"/>
                  <a:pt x="266758" y="174698"/>
                  <a:pt x="425638" y="172264"/>
                </a:cubicBezTo>
                <a:lnTo>
                  <a:pt x="433264" y="172213"/>
                </a:lnTo>
                <a:lnTo>
                  <a:pt x="483088" y="172213"/>
                </a:lnTo>
                <a:lnTo>
                  <a:pt x="483088" y="13007"/>
                </a:lnTo>
                <a:lnTo>
                  <a:pt x="427044" y="13007"/>
                </a:lnTo>
                <a:lnTo>
                  <a:pt x="427044" y="0"/>
                </a:lnTo>
                <a:lnTo>
                  <a:pt x="496060" y="0"/>
                </a:lnTo>
                <a:lnTo>
                  <a:pt x="496060" y="185220"/>
                </a:lnTo>
                <a:lnTo>
                  <a:pt x="433264" y="185220"/>
                </a:lnTo>
                <a:cubicBezTo>
                  <a:pt x="353159" y="185221"/>
                  <a:pt x="295484" y="204541"/>
                  <a:pt x="257797" y="240893"/>
                </a:cubicBezTo>
                <a:cubicBezTo>
                  <a:pt x="220205" y="277154"/>
                  <a:pt x="200284" y="332505"/>
                  <a:pt x="200284" y="409448"/>
                </a:cubicBezTo>
                <a:lnTo>
                  <a:pt x="200284" y="515065"/>
                </a:lnTo>
                <a:lnTo>
                  <a:pt x="449352" y="515065"/>
                </a:lnTo>
                <a:lnTo>
                  <a:pt x="449352" y="965628"/>
                </a:lnTo>
                <a:lnTo>
                  <a:pt x="0" y="965628"/>
                </a:lnTo>
                <a:lnTo>
                  <a:pt x="0" y="418822"/>
                </a:lnTo>
                <a:cubicBezTo>
                  <a:pt x="0" y="291498"/>
                  <a:pt x="34984" y="189152"/>
                  <a:pt x="106273" y="113340"/>
                </a:cubicBezTo>
                <a:lnTo>
                  <a:pt x="106337" y="113263"/>
                </a:lnTo>
                <a:lnTo>
                  <a:pt x="106400" y="113200"/>
                </a:lnTo>
                <a:cubicBezTo>
                  <a:pt x="180176" y="37051"/>
                  <a:pt x="287829" y="0"/>
                  <a:pt x="427044" y="0"/>
                </a:cubicBezTo>
                <a:lnTo>
                  <a:pt x="427044" y="13007"/>
                </a:lnTo>
                <a:lnTo>
                  <a:pt x="414300" y="13108"/>
                </a:lnTo>
                <a:cubicBezTo>
                  <a:pt x="283605" y="15313"/>
                  <a:pt x="184076" y="51696"/>
                  <a:pt x="115711" y="122256"/>
                </a:cubicBezTo>
                <a:lnTo>
                  <a:pt x="109390" y="129166"/>
                </a:lnTo>
                <a:cubicBezTo>
                  <a:pt x="45110" y="201304"/>
                  <a:pt x="12972" y="297859"/>
                  <a:pt x="12972" y="418822"/>
                </a:cubicBezTo>
                <a:lnTo>
                  <a:pt x="12972" y="952622"/>
                </a:lnTo>
                <a:lnTo>
                  <a:pt x="436380" y="952622"/>
                </a:lnTo>
                <a:lnTo>
                  <a:pt x="436380" y="528071"/>
                </a:lnTo>
                <a:close/>
                <a:moveTo>
                  <a:pt x="1152449" y="528071"/>
                </a:moveTo>
                <a:lnTo>
                  <a:pt x="903380" y="528071"/>
                </a:lnTo>
                <a:lnTo>
                  <a:pt x="903380" y="409448"/>
                </a:lnTo>
                <a:cubicBezTo>
                  <a:pt x="903381" y="253759"/>
                  <a:pt x="982824" y="174697"/>
                  <a:pt x="1141707" y="172264"/>
                </a:cubicBezTo>
                <a:lnTo>
                  <a:pt x="1149333" y="172213"/>
                </a:lnTo>
                <a:lnTo>
                  <a:pt x="1199145" y="172213"/>
                </a:lnTo>
                <a:lnTo>
                  <a:pt x="1199145" y="13007"/>
                </a:lnTo>
                <a:lnTo>
                  <a:pt x="1143113" y="13007"/>
                </a:lnTo>
                <a:lnTo>
                  <a:pt x="1143113" y="0"/>
                </a:lnTo>
                <a:lnTo>
                  <a:pt x="1212117" y="0"/>
                </a:lnTo>
                <a:lnTo>
                  <a:pt x="1212117" y="185220"/>
                </a:lnTo>
                <a:lnTo>
                  <a:pt x="1149333" y="185220"/>
                </a:lnTo>
                <a:cubicBezTo>
                  <a:pt x="1069227" y="185221"/>
                  <a:pt x="1011554" y="204541"/>
                  <a:pt x="973866" y="240893"/>
                </a:cubicBezTo>
                <a:cubicBezTo>
                  <a:pt x="936273" y="277154"/>
                  <a:pt x="916353" y="332504"/>
                  <a:pt x="916352" y="409448"/>
                </a:cubicBezTo>
                <a:lnTo>
                  <a:pt x="916352" y="515065"/>
                </a:lnTo>
                <a:lnTo>
                  <a:pt x="1165421" y="515065"/>
                </a:lnTo>
                <a:lnTo>
                  <a:pt x="1165421" y="965628"/>
                </a:lnTo>
                <a:lnTo>
                  <a:pt x="716069" y="965628"/>
                </a:lnTo>
                <a:lnTo>
                  <a:pt x="716069" y="418822"/>
                </a:lnTo>
                <a:cubicBezTo>
                  <a:pt x="716069" y="291498"/>
                  <a:pt x="751052" y="189152"/>
                  <a:pt x="822342" y="113340"/>
                </a:cubicBezTo>
                <a:lnTo>
                  <a:pt x="822406" y="113263"/>
                </a:lnTo>
                <a:lnTo>
                  <a:pt x="822468" y="113200"/>
                </a:lnTo>
                <a:cubicBezTo>
                  <a:pt x="896245" y="37051"/>
                  <a:pt x="1003897" y="0"/>
                  <a:pt x="1143113" y="0"/>
                </a:cubicBezTo>
                <a:lnTo>
                  <a:pt x="1143113" y="13007"/>
                </a:lnTo>
                <a:lnTo>
                  <a:pt x="1130369" y="13108"/>
                </a:lnTo>
                <a:cubicBezTo>
                  <a:pt x="999674" y="15313"/>
                  <a:pt x="900144" y="51696"/>
                  <a:pt x="831780" y="122256"/>
                </a:cubicBezTo>
                <a:lnTo>
                  <a:pt x="825458" y="129166"/>
                </a:lnTo>
                <a:cubicBezTo>
                  <a:pt x="761178" y="201304"/>
                  <a:pt x="729041" y="297857"/>
                  <a:pt x="729041" y="418822"/>
                </a:cubicBezTo>
                <a:lnTo>
                  <a:pt x="729041" y="952622"/>
                </a:lnTo>
                <a:lnTo>
                  <a:pt x="1152449" y="952622"/>
                </a:lnTo>
                <a:lnTo>
                  <a:pt x="1152449" y="528071"/>
                </a:lnTo>
                <a:close/>
              </a:path>
            </a:pathLst>
          </a:custGeom>
          <a:solidFill>
            <a:schemeClr val="accent5"/>
          </a:solidFill>
          <a:ln w="12970" cap="flat">
            <a:noFill/>
            <a:prstDash val="solid"/>
            <a:miter/>
          </a:ln>
        </p:spPr>
        <p:txBody>
          <a:bodyPr/>
          <a:lstStyle/>
          <a:p>
            <a:endParaRPr lang="en-DE" dirty="0">
              <a:solidFill>
                <a:schemeClr val="accent4"/>
              </a:solidFill>
              <a:latin typeface="Inter" panose="02000503000000020004" pitchFamily="50" charset="0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A048D12D-29DD-D8DF-D0A4-9A36FD29DD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E3E80215-1A0C-AEE9-21D0-C1DFF761BE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9" name="Union" descr="preencoded.png">
            <a:extLst>
              <a:ext uri="{FF2B5EF4-FFF2-40B4-BE49-F238E27FC236}">
                <a16:creationId xmlns:a16="http://schemas.microsoft.com/office/drawing/2014/main" id="{84A28516-F244-E772-2F22-00C058D757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0" name="COMPANY OVERVIEW">
            <a:extLst>
              <a:ext uri="{FF2B5EF4-FFF2-40B4-BE49-F238E27FC236}">
                <a16:creationId xmlns:a16="http://schemas.microsoft.com/office/drawing/2014/main" id="{73581848-D525-1749-FBFB-E0E176CEEBC1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46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28104F-AAE6-B720-6AA2-9965E47FA0B2}"/>
              </a:ext>
            </a:extLst>
          </p:cNvPr>
          <p:cNvSpPr/>
          <p:nvPr userDrawn="1"/>
        </p:nvSpPr>
        <p:spPr>
          <a:xfrm>
            <a:off x="0" y="401411"/>
            <a:ext cx="12192000" cy="6456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42B0A81-49C8-FCE9-4620-D42F33FDA2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0082" y="516443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21B71CE-FC70-2F19-3188-ACCD0DB193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17682" y="516444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9D4AFB4-FC0D-A2B9-7EC1-DD4D7717C96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30082" y="3540124"/>
            <a:ext cx="2208318" cy="286329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DEF1DFB8-BC9A-B59F-8B8A-BC5D1016A3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17682" y="3540125"/>
            <a:ext cx="2208318" cy="286329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6C11F13A-F960-0FFA-2F9F-71D30C7E6C9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84751" y="516443"/>
            <a:ext cx="4603750" cy="5886979"/>
          </a:xfrm>
          <a:prstGeom prst="roundRect">
            <a:avLst>
              <a:gd name="adj" fmla="val 2349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C9AEF74C-2790-BA06-A268-BE5922DA36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747250" y="516444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2D46F34-3342-C2E2-018B-2A1814EC730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50" y="3540124"/>
            <a:ext cx="2208318" cy="2863299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06C4B-AD0F-177E-920A-CFF3206E0714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879712-D34B-145B-F968-944F6414925F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19665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Canv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483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1540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4D140-B4EA-E7E0-18A8-B7D83155FBFC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8E8F88-DA2A-1D8C-C16A-A27EE17F173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8630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14" name="Union" descr="preencoded.png">
            <a:extLst>
              <a:ext uri="{FF2B5EF4-FFF2-40B4-BE49-F238E27FC236}">
                <a16:creationId xmlns:a16="http://schemas.microsoft.com/office/drawing/2014/main" id="{EA16ED0D-CB25-EA45-6EB2-9A86149AB4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35225"/>
            <a:ext cx="12192000" cy="1987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1374D-BA4A-0EF5-3894-069B57DF8D2A}"/>
              </a:ext>
            </a:extLst>
          </p:cNvPr>
          <p:cNvSpPr txBox="1"/>
          <p:nvPr userDrawn="1"/>
        </p:nvSpPr>
        <p:spPr>
          <a:xfrm>
            <a:off x="222692" y="6657597"/>
            <a:ext cx="247604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057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CF4D50-45C8-DA6C-C9B8-13ED37CF32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7500" y="2231508"/>
            <a:ext cx="6477000" cy="2394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DDA3C-197F-4DFB-CFBA-4D8F92B01B89}"/>
              </a:ext>
            </a:extLst>
          </p:cNvPr>
          <p:cNvSpPr txBox="1"/>
          <p:nvPr userDrawn="1"/>
        </p:nvSpPr>
        <p:spPr>
          <a:xfrm>
            <a:off x="222692" y="6657597"/>
            <a:ext cx="247604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37062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9B77A6-51DB-A275-1E8D-9C0DB96B9B2E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11" name="HeaderMasthead" descr="preencoded.png">
            <a:extLst>
              <a:ext uri="{FF2B5EF4-FFF2-40B4-BE49-F238E27FC236}">
                <a16:creationId xmlns:a16="http://schemas.microsoft.com/office/drawing/2014/main" id="{7AD18B85-66FF-545C-62C1-1AA3E2F607F2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rcRect t="7407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  <a:solidFill>
            <a:srgbClr val="F6F3F0"/>
          </a:solidFill>
        </p:spPr>
      </p:pic>
      <p:sp>
        <p:nvSpPr>
          <p:cNvPr id="8" name="Text Box 115">
            <a:extLst>
              <a:ext uri="{FF2B5EF4-FFF2-40B4-BE49-F238E27FC236}">
                <a16:creationId xmlns:a16="http://schemas.microsoft.com/office/drawing/2014/main" id="{E509171D-D1E5-AC55-9CA5-72DEBB670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57FED08E-39F8-715B-3405-179C34F64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pic>
        <p:nvPicPr>
          <p:cNvPr id="12" name="Union" descr="preencoded.png">
            <a:extLst>
              <a:ext uri="{FF2B5EF4-FFF2-40B4-BE49-F238E27FC236}">
                <a16:creationId xmlns:a16="http://schemas.microsoft.com/office/drawing/2014/main" id="{4FB38D83-98DA-D85F-B63C-1565BED26FC5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54F591-DD1D-779B-F521-4357971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COMPANY OVERVIEW">
            <a:extLst>
              <a:ext uri="{FF2B5EF4-FFF2-40B4-BE49-F238E27FC236}">
                <a16:creationId xmlns:a16="http://schemas.microsoft.com/office/drawing/2014/main" id="{7B162524-8505-A661-2881-71985958524A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78D71ED-9D19-C6F9-2CB5-DED660B9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490" y="2089150"/>
            <a:ext cx="11407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40BB-194C-8CB0-E91C-E0A8396C52B4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D39F452-F205-21C0-5578-B7519A84CA15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334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21" r:id="rId2"/>
    <p:sldLayoutId id="2147483739" r:id="rId3"/>
    <p:sldLayoutId id="2147483674" r:id="rId4"/>
    <p:sldLayoutId id="2147483697" r:id="rId5"/>
    <p:sldLayoutId id="2147483734" r:id="rId6"/>
    <p:sldLayoutId id="2147483714" r:id="rId7"/>
    <p:sldLayoutId id="2147483696" r:id="rId8"/>
    <p:sldLayoutId id="2147483705" r:id="rId9"/>
    <p:sldLayoutId id="2147483718" r:id="rId10"/>
    <p:sldLayoutId id="2147483694" r:id="rId11"/>
    <p:sldLayoutId id="2147483738" r:id="rId12"/>
    <p:sldLayoutId id="2147483740" r:id="rId13"/>
    <p:sldLayoutId id="2147483746" r:id="rId14"/>
    <p:sldLayoutId id="2147483701" r:id="rId15"/>
    <p:sldLayoutId id="2147483744" r:id="rId16"/>
    <p:sldLayoutId id="2147483745" r:id="rId17"/>
    <p:sldLayoutId id="2147483743" r:id="rId18"/>
    <p:sldLayoutId id="2147483711" r:id="rId19"/>
    <p:sldLayoutId id="2147483742" r:id="rId20"/>
    <p:sldLayoutId id="2147483719" r:id="rId21"/>
    <p:sldLayoutId id="2147483677" r:id="rId22"/>
    <p:sldLayoutId id="2147483720" r:id="rId23"/>
    <p:sldLayoutId id="2147483678" r:id="rId24"/>
    <p:sldLayoutId id="2147483737" r:id="rId2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GT Standard L Extended" pitchFamily="50" charset="0"/>
          <a:ea typeface="Inter Medium" panose="02000603000000020004" pitchFamily="50" charset="0"/>
          <a:cs typeface="Inter Medium" panose="02000603000000020004" pitchFamily="50" charset="0"/>
        </a:defRPr>
      </a:lvl1pPr>
    </p:titleStyle>
    <p:bodyStyle>
      <a:lvl1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1pPr>
      <a:lvl2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2pPr>
      <a:lvl3pPr marL="228600" indent="-22860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3pPr>
      <a:lvl4pPr marL="517525" indent="-288925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4pPr>
      <a:lvl5pPr marL="800100" indent="-27305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  <p15:guide id="4" pos="8928">
          <p15:clr>
            <a:srgbClr val="F26B43"/>
          </p15:clr>
        </p15:guide>
        <p15:guide id="5" orient="horz" pos="384">
          <p15:clr>
            <a:srgbClr val="F26B43"/>
          </p15:clr>
        </p15:guide>
        <p15:guide id="6" orient="horz" pos="5034" userDrawn="1">
          <p15:clr>
            <a:srgbClr val="F26B43"/>
          </p15:clr>
        </p15:guide>
        <p15:guide id="7" pos="288">
          <p15:clr>
            <a:srgbClr val="F26B43"/>
          </p15:clr>
        </p15:guide>
        <p15:guide id="8" pos="1836" userDrawn="1">
          <p15:clr>
            <a:srgbClr val="F26B43"/>
          </p15:clr>
        </p15:guide>
        <p15:guide id="9" pos="1956" userDrawn="1">
          <p15:clr>
            <a:srgbClr val="F26B43"/>
          </p15:clr>
        </p15:guide>
        <p15:guide id="10" pos="3648" userDrawn="1">
          <p15:clr>
            <a:srgbClr val="F26B43"/>
          </p15:clr>
        </p15:guide>
        <p15:guide id="11" pos="3768" userDrawn="1">
          <p15:clr>
            <a:srgbClr val="F26B43"/>
          </p15:clr>
        </p15:guide>
        <p15:guide id="12" pos="5448" userDrawn="1">
          <p15:clr>
            <a:srgbClr val="F26B43"/>
          </p15:clr>
        </p15:guide>
        <p15:guide id="13" pos="5568" userDrawn="1">
          <p15:clr>
            <a:srgbClr val="F26B43"/>
          </p15:clr>
        </p15:guide>
        <p15:guide id="14" pos="7248" userDrawn="1">
          <p15:clr>
            <a:srgbClr val="F26B43"/>
          </p15:clr>
        </p15:guide>
        <p15:guide id="15" pos="7368" userDrawn="1">
          <p15:clr>
            <a:srgbClr val="F26B43"/>
          </p15:clr>
        </p15:guide>
        <p15:guide id="16" pos="168" userDrawn="1">
          <p15:clr>
            <a:srgbClr val="F26B43"/>
          </p15:clr>
        </p15:guide>
        <p15:guide id="17" pos="9048" userDrawn="1">
          <p15:clr>
            <a:srgbClr val="F26B43"/>
          </p15:clr>
        </p15:guide>
        <p15:guide id="18" orient="horz" pos="48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E1020">
                <a:alpha val="6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504825"/>
            </a:xfrm>
            <a:prstGeom prst="rect">
              <a:avLst/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Rectangle 6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Rectangle 7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75625" y="2105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1 / 10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733550"/>
            <a:ext cx="6781800" cy="2343150"/>
            <a:chOff x="457200" y="1733550"/>
            <a:chExt cx="6781800" cy="2343150"/>
          </a:xfrm>
        </p:grpSpPr>
        <p:sp>
          <p:nvSpPr>
            <p:cNvPr id="10" name="Rectangle 10"/>
            <p:cNvSpPr/>
            <p:nvPr/>
          </p:nvSpPr>
          <p:spPr>
            <a:xfrm>
              <a:off x="457200" y="1733550"/>
              <a:ext cx="57150" cy="2343150"/>
            </a:xfrm>
            <a:prstGeom prst="roundRect">
              <a:avLst>
                <a:gd name="adj" fmla="val 5000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704850" y="3352800"/>
              <a:ext cx="6534150" cy="9525"/>
            </a:xfrm>
            <a:custGeom>
              <a:avLst/>
              <a:gdLst/>
              <a:ahLst/>
              <a:cxnLst/>
              <a:rect l="l" t="t" r="r" b="b"/>
              <a:pathLst>
                <a:path w="6534150" h="9525">
                  <a:moveTo>
                    <a:pt x="0" y="0"/>
                  </a:moveTo>
                  <a:lnTo>
                    <a:pt x="6534150" y="0"/>
                  </a:lnTo>
                </a:path>
              </a:pathLst>
            </a:custGeom>
            <a:noFill/>
            <a:ln w="14288">
              <a:solidFill>
                <a:srgbClr val="FFAE41">
                  <a:alpha val="72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9130" y="1935480"/>
            <a:ext cx="5472751" cy="1936432"/>
            <a:chOff x="659130" y="1935480"/>
            <a:chExt cx="5472751" cy="1936432"/>
          </a:xfrm>
        </p:grpSpPr>
        <p:sp>
          <p:nvSpPr>
            <p:cNvPr id="13" name="TextBox 13"/>
            <p:cNvSpPr txBox="1"/>
            <p:nvPr/>
          </p:nvSpPr>
          <p:spPr>
            <a:xfrm>
              <a:off x="659130" y="1935480"/>
              <a:ext cx="249174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应用开发版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9130" y="2487930"/>
              <a:ext cx="30438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12 周冲刺课程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3895" y="3003232"/>
              <a:ext cx="54479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AE41"/>
                  </a:solidFill>
                  <a:latin typeface="Calibri"/>
                  <a:ea typeface="Microsoft YaHei"/>
                  <a:cs typeface="Calibri"/>
                </a:rPr>
                <a:t>第 1 讲：课程启动 + Prompt / Context Engineering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3895" y="3536632"/>
              <a:ext cx="29022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企业级大模型应用主线训练营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4850" y="4095750"/>
            <a:ext cx="5012436" cy="742950"/>
            <a:chOff x="704850" y="4095750"/>
            <a:chExt cx="5012436" cy="742950"/>
          </a:xfrm>
        </p:grpSpPr>
        <p:sp>
          <p:nvSpPr>
            <p:cNvPr id="18" name="Rectangle 18"/>
            <p:cNvSpPr/>
            <p:nvPr/>
          </p:nvSpPr>
          <p:spPr>
            <a:xfrm>
              <a:off x="704850" y="4095750"/>
              <a:ext cx="4476750" cy="7429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8210" y="4271010"/>
              <a:ext cx="36549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目标不是“会聊模型”，而是“能交付 AI 应用原型”。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8210" y="4499610"/>
              <a:ext cx="47990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从 Prompt / Context 开始，逐步进入 RAG、Agent、部署与验收。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306050" y="5886450"/>
            <a:ext cx="1504950" cy="361950"/>
            <a:chOff x="10306050" y="5886450"/>
            <a:chExt cx="1504950" cy="361950"/>
          </a:xfrm>
        </p:grpSpPr>
        <p:sp>
          <p:nvSpPr>
            <p:cNvPr id="22" name="Rectangle 22"/>
            <p:cNvSpPr/>
            <p:nvPr/>
          </p:nvSpPr>
          <p:spPr>
            <a:xfrm>
              <a:off x="10306050" y="5886450"/>
              <a:ext cx="1504950" cy="361950"/>
            </a:xfrm>
            <a:prstGeom prst="roundRect">
              <a:avLst>
                <a:gd name="adj" fmla="val 50000"/>
              </a:avLst>
            </a:prstGeom>
            <a:solidFill>
              <a:srgbClr val="004AAC">
                <a:alpha val="8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31388" y="6011228"/>
              <a:ext cx="12542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DXC Training Deck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1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2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8995982" cy="716756"/>
            <a:chOff x="457200" y="647700"/>
            <a:chExt cx="8995982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883786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12 周后，目标不是“会聊模型”，而是“能交付 AI 应用原型”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4146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课程终点是可讲清楚、可演示、可验收的企业级 AI 应用主线。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1485900"/>
            <a:ext cx="11277600" cy="685800"/>
            <a:chOff x="457200" y="1485900"/>
            <a:chExt cx="11277600" cy="685800"/>
          </a:xfrm>
        </p:grpSpPr>
        <p:sp>
          <p:nvSpPr>
            <p:cNvPr id="13" name="Rectangle 13"/>
            <p:cNvSpPr/>
            <p:nvPr/>
          </p:nvSpPr>
          <p:spPr>
            <a:xfrm>
              <a:off x="457200" y="1485900"/>
              <a:ext cx="11277600" cy="685800"/>
            </a:xfrm>
            <a:prstGeom prst="roundRect">
              <a:avLst>
                <a:gd name="adj" fmla="val 13889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62000" y="1695450"/>
              <a:ext cx="228600" cy="228600"/>
              <a:chOff x="762000" y="1695450"/>
              <a:chExt cx="228600" cy="228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63600" y="17970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812800" y="17462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762000" y="16954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144905" y="1625918"/>
              <a:ext cx="45141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最终交付不是单个接口 Demo，而是一套完整项目材料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7762" y="1916906"/>
              <a:ext cx="3403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知识库 + 可控 Agent + 部署思路 + 评估与验收清单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7200" y="2400300"/>
            <a:ext cx="3543300" cy="2247900"/>
            <a:chOff x="457200" y="2400300"/>
            <a:chExt cx="3543300" cy="2247900"/>
          </a:xfrm>
        </p:grpSpPr>
        <p:sp>
          <p:nvSpPr>
            <p:cNvPr id="21" name="Rectangle 21"/>
            <p:cNvSpPr/>
            <p:nvPr/>
          </p:nvSpPr>
          <p:spPr>
            <a:xfrm>
              <a:off x="457200" y="2400300"/>
              <a:ext cx="3543300" cy="2247900"/>
            </a:xfrm>
            <a:prstGeom prst="roundRect">
              <a:avLst>
                <a:gd name="adj" fmla="val 423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2400300"/>
              <a:ext cx="3543300" cy="495300"/>
            </a:xfrm>
            <a:prstGeom prst="roundRect">
              <a:avLst>
                <a:gd name="adj" fmla="val 19231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719138" y="2547938"/>
              <a:ext cx="200025" cy="200024"/>
              <a:chOff x="719138" y="2547938"/>
              <a:chExt cx="200025" cy="2000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9150" y="2659062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741362" y="2659062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874713" y="2614612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819150" y="254793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719138" y="2614612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741362" y="254793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032510" y="258508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讲得清主线结构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612" y="3078956"/>
              <a:ext cx="2878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学完后能讲清楚 RAG、可控 Agent、部署、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612" y="3307556"/>
              <a:ext cx="30514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Harness 与工程提效之间的关系，而不是只会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612" y="35361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重复框架名词。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1518" y="4200049"/>
              <a:ext cx="22499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产出：架构说明 + 主线图 + 取舍解释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324350" y="2400300"/>
            <a:ext cx="3543300" cy="2247900"/>
            <a:chOff x="4324350" y="2400300"/>
            <a:chExt cx="3543300" cy="2247900"/>
          </a:xfrm>
        </p:grpSpPr>
        <p:sp>
          <p:nvSpPr>
            <p:cNvPr id="36" name="Rectangle 36"/>
            <p:cNvSpPr/>
            <p:nvPr/>
          </p:nvSpPr>
          <p:spPr>
            <a:xfrm>
              <a:off x="4324350" y="2400300"/>
              <a:ext cx="3543300" cy="2247900"/>
            </a:xfrm>
            <a:prstGeom prst="roundRect">
              <a:avLst>
                <a:gd name="adj" fmla="val 423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24350" y="2400300"/>
              <a:ext cx="3543300" cy="495300"/>
            </a:xfrm>
            <a:prstGeom prst="roundRect">
              <a:avLst>
                <a:gd name="adj" fmla="val 19231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4597400" y="2547938"/>
              <a:ext cx="177800" cy="200024"/>
              <a:chOff x="4597400" y="2547938"/>
              <a:chExt cx="177800" cy="20002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597400" y="254793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4597400" y="258127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4597400" y="264795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4899660" y="258508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做得出应用原型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76762" y="3078956"/>
              <a:ext cx="29464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能跑通一个企业 AI 应用原型，至少覆盖知识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76762" y="33075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增强、结构化输出和关键任务编排路径，并能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76762" y="35361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稳定演示关键链路。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78668" y="4200049"/>
              <a:ext cx="2482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产出：Demo 结果 + 运行截图 + 关键日志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191500" y="2400300"/>
            <a:ext cx="3543300" cy="2247900"/>
            <a:chOff x="8191500" y="2400300"/>
            <a:chExt cx="3543300" cy="2247900"/>
          </a:xfrm>
        </p:grpSpPr>
        <p:sp>
          <p:nvSpPr>
            <p:cNvPr id="48" name="Rectangle 48"/>
            <p:cNvSpPr/>
            <p:nvPr/>
          </p:nvSpPr>
          <p:spPr>
            <a:xfrm>
              <a:off x="8191500" y="2400300"/>
              <a:ext cx="3543300" cy="2247900"/>
            </a:xfrm>
            <a:prstGeom prst="roundRect">
              <a:avLst>
                <a:gd name="adj" fmla="val 423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191500" y="2400300"/>
              <a:ext cx="3543300" cy="495300"/>
            </a:xfrm>
            <a:prstGeom prst="roundRect">
              <a:avLst>
                <a:gd name="adj" fmla="val 19231"/>
              </a:avLst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8475662" y="2581275"/>
              <a:ext cx="155575" cy="133350"/>
              <a:chOff x="8475662" y="2581275"/>
              <a:chExt cx="155575" cy="1333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475662" y="26479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8564562" y="26479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8564562" y="25812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8766810" y="25850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升级到真实栈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43912" y="30789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基于当前轻量样例，继续替换到 LangChain、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43912" y="3307556"/>
              <a:ext cx="29689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FastAPI、vLLM、Coze / Dify 等真实框架，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43912" y="35361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并保留工程判断与验收视角。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45818" y="4200049"/>
              <a:ext cx="1956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Calibri"/>
                  <a:ea typeface="Microsoft YaHei"/>
                  <a:cs typeface="Calibri"/>
                </a:rPr>
                <a:t>产出：替换方案 + 框架选型说明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57200" y="4914900"/>
            <a:ext cx="11277600" cy="914400"/>
            <a:chOff x="457200" y="4914900"/>
            <a:chExt cx="11277600" cy="914400"/>
          </a:xfrm>
        </p:grpSpPr>
        <p:sp>
          <p:nvSpPr>
            <p:cNvPr id="60" name="Rectangle 60"/>
            <p:cNvSpPr/>
            <p:nvPr/>
          </p:nvSpPr>
          <p:spPr>
            <a:xfrm>
              <a:off x="457200" y="4914900"/>
              <a:ext cx="11277600" cy="914400"/>
            </a:xfrm>
            <a:prstGeom prst="roundRect">
              <a:avLst>
                <a:gd name="adj" fmla="val 10417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57200" y="4914900"/>
              <a:ext cx="57150" cy="9144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8660" y="51092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一句话总结：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8660" y="5394960"/>
              <a:ext cx="69433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这门课不把学员停留在“问模型”，而是把学员带到“定义系统、组织流程、交付结果”的工程位置。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35" grpId="0"/>
      <p:bldP spid="47" grpId="0"/>
      <p:bldP spid="59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3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8723947" cy="716756"/>
            <a:chOff x="457200" y="647700"/>
            <a:chExt cx="8723947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856583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先让知识进入系统，再让系统行动，最后让系统能够交付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三阶段主线决定整门课的节奏：知识、行动、交付。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1809750"/>
            <a:ext cx="3352800" cy="3067050"/>
            <a:chOff x="457200" y="1809750"/>
            <a:chExt cx="3352800" cy="3067050"/>
          </a:xfrm>
        </p:grpSpPr>
        <p:sp>
          <p:nvSpPr>
            <p:cNvPr id="13" name="Rectangle 13"/>
            <p:cNvSpPr/>
            <p:nvPr/>
          </p:nvSpPr>
          <p:spPr>
            <a:xfrm>
              <a:off x="457200" y="1809750"/>
              <a:ext cx="3352800" cy="3067050"/>
            </a:xfrm>
            <a:prstGeom prst="roundRect">
              <a:avLst>
                <a:gd name="adj" fmla="val 372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809750"/>
              <a:ext cx="3352800" cy="552450"/>
            </a:xfrm>
            <a:prstGeom prst="roundRect">
              <a:avLst>
                <a:gd name="adj" fmla="val 20690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755" y="1978342"/>
              <a:ext cx="15653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阶段一｜Week 1-4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2298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F"/>
                  </a:solidFill>
                  <a:latin typeface="Calibri"/>
                  <a:ea typeface="Microsoft YaHei"/>
                  <a:cs typeface="Calibri"/>
                </a:rPr>
                <a:t>知识如何进入系统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9612" y="2640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核心内容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2915602"/>
              <a:ext cx="2154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Prompt / Context Engineering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0565" y="3144202"/>
              <a:ext cx="1573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Embedding 与向量检索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0565" y="337280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Chunking 与知识切片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0565" y="3601402"/>
              <a:ext cx="1398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RAG 调优与基础评估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1518" y="4142899"/>
              <a:ext cx="27278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代表产出：Prompt 模板、检索实验、评估表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19600" y="1809750"/>
            <a:ext cx="3352800" cy="3067050"/>
            <a:chOff x="4419600" y="1809750"/>
            <a:chExt cx="3352800" cy="3067050"/>
          </a:xfrm>
        </p:grpSpPr>
        <p:sp>
          <p:nvSpPr>
            <p:cNvPr id="24" name="Rectangle 24"/>
            <p:cNvSpPr/>
            <p:nvPr/>
          </p:nvSpPr>
          <p:spPr>
            <a:xfrm>
              <a:off x="4419600" y="1809750"/>
              <a:ext cx="3352800" cy="3067050"/>
            </a:xfrm>
            <a:prstGeom prst="roundRect">
              <a:avLst>
                <a:gd name="adj" fmla="val 372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19600" y="1809750"/>
              <a:ext cx="3352800" cy="552450"/>
            </a:xfrm>
            <a:prstGeom prst="roundRect">
              <a:avLst>
                <a:gd name="adj" fmla="val 2069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9155" y="1978342"/>
              <a:ext cx="16126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阶段二｜Week 5-8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2965" y="22298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5200"/>
                  </a:solidFill>
                  <a:latin typeface="Calibri"/>
                  <a:ea typeface="Microsoft YaHei"/>
                  <a:cs typeface="Calibri"/>
                </a:rPr>
                <a:t>系统如何行动与协作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72012" y="2640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核心内容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72965" y="29156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Function Calling 与 MCP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72965" y="314420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Planning / ReAct / 记忆设计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72965" y="3372802"/>
              <a:ext cx="1895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Harness 认知与 Agent 约束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72965" y="36014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低代码平台对接思路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73918" y="4142899"/>
              <a:ext cx="30349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代表产出：Agent 流程图、工具调用方案、选型表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382000" y="1809750"/>
            <a:ext cx="3352800" cy="3067050"/>
            <a:chOff x="8382000" y="1809750"/>
            <a:chExt cx="3352800" cy="3067050"/>
          </a:xfrm>
        </p:grpSpPr>
        <p:sp>
          <p:nvSpPr>
            <p:cNvPr id="35" name="Rectangle 35"/>
            <p:cNvSpPr/>
            <p:nvPr/>
          </p:nvSpPr>
          <p:spPr>
            <a:xfrm>
              <a:off x="8382000" y="1809750"/>
              <a:ext cx="3352800" cy="3067050"/>
            </a:xfrm>
            <a:prstGeom prst="roundRect">
              <a:avLst>
                <a:gd name="adj" fmla="val 3727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82000" y="1809750"/>
              <a:ext cx="3352800" cy="552450"/>
            </a:xfrm>
            <a:prstGeom prst="roundRect">
              <a:avLst>
                <a:gd name="adj" fmla="val 20690"/>
              </a:avLst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31555" y="1978342"/>
              <a:ext cx="16693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阶段三｜Week 9-12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35365" y="22298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E0D5"/>
                  </a:solidFill>
                  <a:latin typeface="Calibri"/>
                  <a:ea typeface="Microsoft YaHei"/>
                  <a:cs typeface="Calibri"/>
                </a:rPr>
                <a:t>系统如何交付、扩展、评估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34412" y="2640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核心内容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35365" y="29156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微调、蒸馏与数据工程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35365" y="31442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推理部署与系统监控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35365" y="3372802"/>
              <a:ext cx="2077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AI Testing、ChatBI、综合项目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35365" y="360140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最终验收与汇报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36318" y="4142899"/>
              <a:ext cx="2618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Calibri"/>
                  <a:ea typeface="Microsoft YaHei"/>
                  <a:cs typeface="Calibri"/>
                </a:rPr>
                <a:t>代表产出：部署方案、综合项目、验收清单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88594" y="3148012"/>
            <a:ext cx="4195762" cy="200025"/>
            <a:chOff x="3988594" y="3148012"/>
            <a:chExt cx="4195762" cy="200025"/>
          </a:xfrm>
        </p:grpSpPr>
        <p:grpSp>
          <p:nvGrpSpPr>
            <p:cNvPr id="49" name="Group 49"/>
            <p:cNvGrpSpPr/>
            <p:nvPr/>
          </p:nvGrpSpPr>
          <p:grpSpPr>
            <a:xfrm>
              <a:off x="3988594" y="3148012"/>
              <a:ext cx="233362" cy="200025"/>
              <a:chOff x="3988594" y="3148012"/>
              <a:chExt cx="233362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3988594" y="3248025"/>
                <a:ext cx="2333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9525">
                    <a:moveTo>
                      <a:pt x="0" y="0"/>
                    </a:moveTo>
                    <a:lnTo>
                      <a:pt x="233362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4121944" y="3248025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4121944" y="314801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100012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950994" y="3148012"/>
              <a:ext cx="233362" cy="200025"/>
              <a:chOff x="7950994" y="3148012"/>
              <a:chExt cx="233362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950994" y="3248025"/>
                <a:ext cx="2333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9525">
                    <a:moveTo>
                      <a:pt x="0" y="0"/>
                    </a:moveTo>
                    <a:lnTo>
                      <a:pt x="233362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8084344" y="3248025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8084344" y="314801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100012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457200" y="5181600"/>
            <a:ext cx="11277600" cy="666750"/>
            <a:chOff x="457200" y="5181600"/>
            <a:chExt cx="11277600" cy="666750"/>
          </a:xfrm>
        </p:grpSpPr>
        <p:sp>
          <p:nvSpPr>
            <p:cNvPr id="55" name="Rectangle 55"/>
            <p:cNvSpPr/>
            <p:nvPr/>
          </p:nvSpPr>
          <p:spPr>
            <a:xfrm>
              <a:off x="457200" y="5181600"/>
              <a:ext cx="11277600" cy="666750"/>
            </a:xfrm>
            <a:prstGeom prst="roundRect">
              <a:avLst>
                <a:gd name="adj" fmla="val 14286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8660" y="5337810"/>
              <a:ext cx="10218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 1 讲的位置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9612" y="5612606"/>
              <a:ext cx="6629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今天只解决最底层的一件事：把输入、上下文和输出契约定义清楚，后面所有技术层才有稳定基础。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  <p:bldP spid="34" grpId="0"/>
      <p:bldP spid="45" grpId="0"/>
      <p:bldP spid="54" grpId="0"/>
      <p:bldP spid="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4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647700"/>
            <a:ext cx="6343650" cy="585788"/>
            <a:chOff x="457200" y="647700"/>
            <a:chExt cx="6343650" cy="585788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61855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企业应用的起点不是框架，而是任务定义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7700" y="1485900"/>
            <a:ext cx="7239000" cy="1957388"/>
            <a:chOff x="647700" y="1485900"/>
            <a:chExt cx="7239000" cy="1957388"/>
          </a:xfrm>
        </p:grpSpPr>
        <p:sp>
          <p:nvSpPr>
            <p:cNvPr id="12" name="Rectangle 12"/>
            <p:cNvSpPr/>
            <p:nvPr/>
          </p:nvSpPr>
          <p:spPr>
            <a:xfrm>
              <a:off x="647700" y="1485900"/>
              <a:ext cx="7239000" cy="1924050"/>
            </a:xfrm>
            <a:prstGeom prst="roundRect">
              <a:avLst>
                <a:gd name="adj" fmla="val 7921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7700" y="1485900"/>
              <a:ext cx="7239000" cy="76200"/>
            </a:xfrm>
            <a:prstGeom prst="roundRect">
              <a:avLst>
                <a:gd name="adj" fmla="val 5000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6300" y="1771650"/>
              <a:ext cx="679704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为什么今天先讲 Prompt / Context，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6300" y="2266950"/>
              <a:ext cx="3276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004AAC"/>
                  </a:solidFill>
                  <a:latin typeface="Calibri Light"/>
                  <a:ea typeface="Microsoft YaHei"/>
                  <a:cs typeface="Calibri Light"/>
                </a:rPr>
                <a:t>而不是先上框架？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7255" y="2902268"/>
              <a:ext cx="5434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因为企业应用首先要把任务定义、上下文边界和输出契约稳定下来，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7255" y="31689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否则后面的检索、工具调用和验收都会反复漂移。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0100" y="3924300"/>
            <a:ext cx="10744200" cy="2488406"/>
            <a:chOff x="800100" y="3924300"/>
            <a:chExt cx="10744200" cy="2488406"/>
          </a:xfrm>
        </p:grpSpPr>
        <p:sp>
          <p:nvSpPr>
            <p:cNvPr id="19" name="Line 19"/>
            <p:cNvSpPr/>
            <p:nvPr/>
          </p:nvSpPr>
          <p:spPr>
            <a:xfrm>
              <a:off x="800100" y="392430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14288">
              <a:solidFill>
                <a:srgbClr val="D7D2C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9160" y="4271010"/>
              <a:ext cx="23743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1. Prompt 决定当前任务怎么说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112" y="4545806"/>
              <a:ext cx="422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它定义的是当前这一轮要完成什么，以及按什么格式输出结果。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9160" y="5090160"/>
              <a:ext cx="33152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2. Context 决定系统知道什么、受什么约束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112" y="5364956"/>
              <a:ext cx="43791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它把规则、知识、历史和边界引入系统，决定结果是否真的可用。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160" y="5909310"/>
              <a:ext cx="32900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3. 没有稳定输入边界，框架只会把问题放大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0112" y="6184106"/>
              <a:ext cx="5579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框架可以组织流程，但不能替你定义问题。问题没定义清楚，系统越复杂越难收敛。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324850" y="1485900"/>
            <a:ext cx="3409950" cy="4343400"/>
            <a:chOff x="8324850" y="1485900"/>
            <a:chExt cx="3409950" cy="4343400"/>
          </a:xfrm>
        </p:grpSpPr>
        <p:sp>
          <p:nvSpPr>
            <p:cNvPr id="27" name="Rectangle 27"/>
            <p:cNvSpPr/>
            <p:nvPr/>
          </p:nvSpPr>
          <p:spPr>
            <a:xfrm>
              <a:off x="8324850" y="1485900"/>
              <a:ext cx="3409950" cy="4343400"/>
            </a:xfrm>
            <a:prstGeom prst="roundRect">
              <a:avLst>
                <a:gd name="adj" fmla="val 5028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9696450" y="2133600"/>
              <a:ext cx="723900" cy="647700"/>
              <a:chOff x="9696450" y="2133600"/>
              <a:chExt cx="723900" cy="647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886950" y="232410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9886950" y="24765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9696450" y="2133600"/>
                <a:ext cx="685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647700">
                    <a:moveTo>
                      <a:pt x="342900" y="647700"/>
                    </a:moveTo>
                    <a:lnTo>
                      <a:pt x="304800" y="609600"/>
                    </a:lnTo>
                    <a:lnTo>
                      <a:pt x="228600" y="533400"/>
                    </a:lnTo>
                    <a:lnTo>
                      <a:pt x="114300" y="533400"/>
                    </a:lnTo>
                    <a:cubicBezTo>
                      <a:pt x="51174" y="533400"/>
                      <a:pt x="0" y="482226"/>
                      <a:pt x="0" y="4191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lnTo>
                      <a:pt x="571500" y="0"/>
                    </a:lnTo>
                    <a:cubicBezTo>
                      <a:pt x="634626" y="0"/>
                      <a:pt x="685800" y="51174"/>
                      <a:pt x="685800" y="114300"/>
                    </a:cubicBezTo>
                    <a:lnTo>
                      <a:pt x="685800" y="34290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10344150" y="26289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52400"/>
                    </a:moveTo>
                    <a:lnTo>
                      <a:pt x="7620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10153650" y="26289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76200" y="0"/>
                    </a:moveTo>
                    <a:lnTo>
                      <a:pt x="0" y="762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9401175" y="3052762"/>
              <a:ext cx="1257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任务定义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74505" y="35280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先定义输入与边界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858250" y="4000500"/>
              <a:ext cx="2343150" cy="9525"/>
            </a:xfrm>
            <a:custGeom>
              <a:avLst/>
              <a:gdLst/>
              <a:ahLst/>
              <a:cxnLst/>
              <a:rect l="l" t="t" r="r" b="b"/>
              <a:pathLst>
                <a:path w="2343150" h="9525">
                  <a:moveTo>
                    <a:pt x="0" y="0"/>
                  </a:moveTo>
                  <a:lnTo>
                    <a:pt x="2343150" y="0"/>
                  </a:lnTo>
                </a:path>
              </a:pathLst>
            </a:custGeom>
            <a:noFill/>
            <a:ln w="11430">
              <a:solidFill>
                <a:srgbClr val="FFFFFF">
                  <a:alpha val="18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34412" y="43362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1E6FF"/>
                  </a:solidFill>
                  <a:latin typeface="Calibri"/>
                  <a:ea typeface="Microsoft YaHei"/>
                  <a:cs typeface="Calibri"/>
                </a:rPr>
                <a:t>框架是组织方式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34412" y="4602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不是问题定义方式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34412" y="5079206"/>
              <a:ext cx="1784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AE41"/>
                  </a:solidFill>
                  <a:latin typeface="Calibri"/>
                  <a:ea typeface="Microsoft YaHei"/>
                  <a:cs typeface="Calibri"/>
                </a:rPr>
                <a:t>先把输入 / 输出契约讲透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34412" y="5345906"/>
              <a:ext cx="26839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后面的 RAG、Agent、部署才有稳定锚点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6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5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6343650" cy="716756"/>
            <a:chOff x="457200" y="647700"/>
            <a:chExt cx="6343650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61855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一个是当前任务单，一个是任务运行环境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Prompt 和 Context 看似都在“给模型信息”，但它们解决的问题并不相同。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1676400"/>
            <a:ext cx="5257800" cy="3486150"/>
            <a:chOff x="457200" y="1676400"/>
            <a:chExt cx="5257800" cy="3486150"/>
          </a:xfrm>
        </p:grpSpPr>
        <p:sp>
          <p:nvSpPr>
            <p:cNvPr id="13" name="Rectangle 13"/>
            <p:cNvSpPr/>
            <p:nvPr/>
          </p:nvSpPr>
          <p:spPr>
            <a:xfrm>
              <a:off x="457200" y="1676400"/>
              <a:ext cx="5257800" cy="3486150"/>
            </a:xfrm>
            <a:prstGeom prst="roundRect">
              <a:avLst>
                <a:gd name="adj" fmla="val 3825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676400"/>
              <a:ext cx="5257800" cy="571500"/>
            </a:xfrm>
            <a:prstGeom prst="roundRect">
              <a:avLst>
                <a:gd name="adj" fmla="val 23333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21519" y="1876425"/>
              <a:ext cx="226218" cy="202406"/>
              <a:chOff x="721519" y="1876425"/>
              <a:chExt cx="226218" cy="20240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81050" y="1935956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781050" y="1983581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721519" y="1876425"/>
                <a:ext cx="214312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02406">
                    <a:moveTo>
                      <a:pt x="107156" y="202406"/>
                    </a:moveTo>
                    <a:lnTo>
                      <a:pt x="95250" y="190500"/>
                    </a:lnTo>
                    <a:lnTo>
                      <a:pt x="71438" y="166688"/>
                    </a:lnTo>
                    <a:lnTo>
                      <a:pt x="35719" y="166688"/>
                    </a:lnTo>
                    <a:cubicBezTo>
                      <a:pt x="15992" y="166688"/>
                      <a:pt x="0" y="150696"/>
                      <a:pt x="0" y="130969"/>
                    </a:cubicBezTo>
                    <a:lnTo>
                      <a:pt x="0" y="35719"/>
                    </a:ln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10715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923925" y="2031206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0" y="47625"/>
                    </a:moveTo>
                    <a:lnTo>
                      <a:pt x="23812" y="238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864394" y="2031206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23812" y="0"/>
                    </a:moveTo>
                    <a:lnTo>
                      <a:pt x="0" y="23812"/>
                    </a:lnTo>
                    <a:lnTo>
                      <a:pt x="23812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087755" y="1892618"/>
              <a:ext cx="6958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Prompt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1565" y="21345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F"/>
                  </a:solidFill>
                  <a:latin typeface="Calibri"/>
                  <a:ea typeface="Microsoft YaHei"/>
                  <a:cs typeface="Calibri"/>
                </a:rPr>
                <a:t>当前任务怎么说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612" y="2583656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它主要回答三个问题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0565" y="28775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现在要完成什么任务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0565" y="31061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需要按什么格式输出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0565" y="333470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当前应该采取什么回答风格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" y="3829050"/>
              <a:ext cx="4724400" cy="895350"/>
            </a:xfrm>
            <a:prstGeom prst="roundRect">
              <a:avLst>
                <a:gd name="adj" fmla="val 10638"/>
              </a:avLst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1065" y="40205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典型表达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1065" y="4287202"/>
              <a:ext cx="4507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请基于当前问题给出结论，并用 JSON 返回结论、证据、风险和下一步。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19800" y="1676400"/>
            <a:ext cx="6071235" cy="3486150"/>
            <a:chOff x="6019800" y="1676400"/>
            <a:chExt cx="6071235" cy="3486150"/>
          </a:xfrm>
        </p:grpSpPr>
        <p:sp>
          <p:nvSpPr>
            <p:cNvPr id="31" name="Rectangle 31"/>
            <p:cNvSpPr/>
            <p:nvPr/>
          </p:nvSpPr>
          <p:spPr>
            <a:xfrm>
              <a:off x="6019800" y="1676400"/>
              <a:ext cx="5715000" cy="3486150"/>
            </a:xfrm>
            <a:prstGeom prst="roundRect">
              <a:avLst>
                <a:gd name="adj" fmla="val 3825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19800" y="1676400"/>
              <a:ext cx="5715000" cy="571500"/>
            </a:xfrm>
            <a:prstGeom prst="roundRect">
              <a:avLst>
                <a:gd name="adj" fmla="val 2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284119" y="1864519"/>
              <a:ext cx="214312" cy="214312"/>
              <a:chOff x="6284119" y="1864519"/>
              <a:chExt cx="214312" cy="21431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391275" y="198358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6307931" y="198358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450806" y="193595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6391275" y="1864519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6284119" y="193595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6307931" y="1864519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6650355" y="18926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Context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54165" y="21345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5200"/>
                  </a:solidFill>
                  <a:latin typeface="Calibri"/>
                  <a:ea typeface="Microsoft YaHei"/>
                  <a:cs typeface="Calibri"/>
                </a:rPr>
                <a:t>任务运行时可依赖的知识与约束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2212" y="2583656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它决定系统的可用边界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3165" y="287750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必须基于哪些规则、资料和历史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3165" y="31061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哪些内容不能编造、不能越界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73165" y="333470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输出结果要服务于什么后续流程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86500" y="3829050"/>
              <a:ext cx="5181600" cy="895350"/>
            </a:xfrm>
            <a:prstGeom prst="roundRect">
              <a:avLst>
                <a:gd name="adj" fmla="val 10638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3665" y="40205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典型表达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3665" y="4287202"/>
              <a:ext cx="56273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你必须基于企业知识库回答，不得编造制度条款；每条结论都要给出证据来源与风险提示。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57200" y="5391150"/>
            <a:ext cx="11277600" cy="514350"/>
            <a:chOff x="457200" y="5391150"/>
            <a:chExt cx="11277600" cy="514350"/>
          </a:xfrm>
        </p:grpSpPr>
        <p:sp>
          <p:nvSpPr>
            <p:cNvPr id="50" name="Rectangle 50"/>
            <p:cNvSpPr/>
            <p:nvPr/>
          </p:nvSpPr>
          <p:spPr>
            <a:xfrm>
              <a:off x="457200" y="5391150"/>
              <a:ext cx="11277600" cy="514350"/>
            </a:xfrm>
            <a:prstGeom prst="roundRect">
              <a:avLst>
                <a:gd name="adj" fmla="val 18519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80497" y="5566410"/>
              <a:ext cx="42310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企业场景里，</a:t>
              </a:r>
              <a:r>
                <a:rPr lang="zh-CN" sz="1200" b="1" dirty="0">
                  <a:solidFill>
                    <a:srgbClr val="FFAE41"/>
                  </a:solidFill>
                  <a:latin typeface="Calibri"/>
                  <a:ea typeface="Microsoft YaHei"/>
                  <a:cs typeface="Calibri"/>
                </a:rPr>
                <a:t>Context 往往比 Prompt 更决定结果是否可用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0" grpId="0"/>
      <p:bldP spid="49" grpId="0"/>
      <p:bldP spid="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6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6683693" cy="716756"/>
            <a:chOff x="457200" y="647700"/>
            <a:chExt cx="6683693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652557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企业场景更在乎可解析、可接系统、可验收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46941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输出约束的价值，不在于“更像人”，而在于更容易进入后续工程链路。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1714500"/>
            <a:ext cx="3543300" cy="2667000"/>
            <a:chOff x="457200" y="1714500"/>
            <a:chExt cx="3543300" cy="2667000"/>
          </a:xfrm>
        </p:grpSpPr>
        <p:sp>
          <p:nvSpPr>
            <p:cNvPr id="13" name="Rectangle 13"/>
            <p:cNvSpPr/>
            <p:nvPr/>
          </p:nvSpPr>
          <p:spPr>
            <a:xfrm>
              <a:off x="457200" y="1714500"/>
              <a:ext cx="3543300" cy="2667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714500"/>
              <a:ext cx="3543300" cy="552450"/>
            </a:xfrm>
            <a:prstGeom prst="roundRect">
              <a:avLst>
                <a:gd name="adj" fmla="val 20690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19138" y="1892300"/>
              <a:ext cx="211137" cy="188913"/>
              <a:chOff x="719138" y="1892300"/>
              <a:chExt cx="211137" cy="18891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74700" y="1947862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774700" y="199231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719138" y="1892300"/>
                <a:ext cx="2000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88913">
                    <a:moveTo>
                      <a:pt x="100012" y="188913"/>
                    </a:moveTo>
                    <a:lnTo>
                      <a:pt x="88900" y="177800"/>
                    </a:lnTo>
                    <a:lnTo>
                      <a:pt x="66675" y="155575"/>
                    </a:lnTo>
                    <a:lnTo>
                      <a:pt x="33338" y="155575"/>
                    </a:lnTo>
                    <a:cubicBezTo>
                      <a:pt x="14926" y="155575"/>
                      <a:pt x="0" y="140649"/>
                      <a:pt x="0" y="122238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000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908050" y="2036762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44450"/>
                    </a:moveTo>
                    <a:lnTo>
                      <a:pt x="22225" y="222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852488" y="2036762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22225" y="0"/>
                    </a:moveTo>
                    <a:lnTo>
                      <a:pt x="0" y="22225"/>
                    </a:lnTo>
                    <a:lnTo>
                      <a:pt x="22225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050608" y="19007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结构化优先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3465" y="21345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F"/>
                  </a:solidFill>
                  <a:latin typeface="Calibri"/>
                  <a:ea typeface="Microsoft YaHei"/>
                  <a:cs typeface="Calibri"/>
                </a:rPr>
                <a:t>先想输出骨架，再想表达细节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0565" y="261080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结论、证据、风险、下一步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0565" y="2839402"/>
              <a:ext cx="2301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JSON、列表、分段都可以成为接口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0565" y="306800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自由发挥式答案很难直接接系统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3900" y="3714750"/>
              <a:ext cx="3009900" cy="419100"/>
            </a:xfrm>
            <a:prstGeom prst="roundRect">
              <a:avLst>
                <a:gd name="adj" fmla="val 18182"/>
              </a:avLst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2968" y="3876199"/>
              <a:ext cx="24957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把输出当作“下一模块的输入契约”来设计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24350" y="1714500"/>
            <a:ext cx="3543300" cy="2667000"/>
            <a:chOff x="4324350" y="1714500"/>
            <a:chExt cx="35433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4324350" y="1714500"/>
              <a:ext cx="3543300" cy="2667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324350" y="1714500"/>
              <a:ext cx="3543300" cy="552450"/>
            </a:xfrm>
            <a:prstGeom prst="roundRect">
              <a:avLst>
                <a:gd name="adj" fmla="val 2069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4597400" y="1881188"/>
              <a:ext cx="177800" cy="200024"/>
              <a:chOff x="4597400" y="1881188"/>
              <a:chExt cx="177800" cy="20002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597400" y="188118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4597400" y="191452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4597400" y="198120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E102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4917758" y="19007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证据可追溯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20615" y="21345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5200"/>
                  </a:solidFill>
                  <a:latin typeface="Calibri"/>
                  <a:ea typeface="Microsoft YaHei"/>
                  <a:cs typeface="Calibri"/>
                </a:rPr>
                <a:t>企业回答不能只给判断，不给依据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7715" y="26108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指出信息来源或知识片段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77715" y="2839402"/>
              <a:ext cx="2245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明确哪些内容是已知、哪些是推断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77715" y="30680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后续评估和复盘需要这个链路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91050" y="3714750"/>
              <a:ext cx="3009900" cy="419100"/>
            </a:xfrm>
            <a:prstGeom prst="roundRect">
              <a:avLst>
                <a:gd name="adj" fmla="val 18182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50118" y="3876199"/>
              <a:ext cx="2345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越是业务关键问题，越要把依据显性化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91500" y="1714500"/>
            <a:ext cx="3543300" cy="2667000"/>
            <a:chOff x="8191500" y="1714500"/>
            <a:chExt cx="3543300" cy="2667000"/>
          </a:xfrm>
        </p:grpSpPr>
        <p:sp>
          <p:nvSpPr>
            <p:cNvPr id="43" name="Rectangle 43"/>
            <p:cNvSpPr/>
            <p:nvPr/>
          </p:nvSpPr>
          <p:spPr>
            <a:xfrm>
              <a:off x="8191500" y="1714500"/>
              <a:ext cx="3543300" cy="2667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0" y="1714500"/>
              <a:ext cx="3543300" cy="552450"/>
            </a:xfrm>
            <a:prstGeom prst="roundRect">
              <a:avLst>
                <a:gd name="adj" fmla="val 20690"/>
              </a:avLst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8475662" y="1892300"/>
              <a:ext cx="166688" cy="188912"/>
              <a:chOff x="8475662" y="1892300"/>
              <a:chExt cx="166688" cy="1889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475662" y="1892300"/>
                <a:ext cx="13335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7800">
                    <a:moveTo>
                      <a:pt x="51284" y="177800"/>
                    </a:moveTo>
                    <a:lnTo>
                      <a:pt x="22225" y="177800"/>
                    </a:lnTo>
                    <a:cubicBezTo>
                      <a:pt x="9950" y="177800"/>
                      <a:pt x="0" y="167850"/>
                      <a:pt x="0" y="155575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8575675" y="2036762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8520112" y="193675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8520112" y="198120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8784908" y="19007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便于交接与验收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87765" y="213455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E0D5"/>
                  </a:solidFill>
                  <a:latin typeface="Calibri"/>
                  <a:ea typeface="Microsoft YaHei"/>
                  <a:cs typeface="Calibri"/>
                </a:rPr>
                <a:t>能否进入工作流，决定了结果是否真正有用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44865" y="261080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结构化结果更容易被审批或记录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44865" y="283940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风险提示更容易被人工复核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44865" y="306800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后续工具调用也更容易约束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458200" y="3714750"/>
              <a:ext cx="3009900" cy="419100"/>
            </a:xfrm>
            <a:prstGeom prst="roundRect">
              <a:avLst>
                <a:gd name="adj" fmla="val 18182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17268" y="3876199"/>
              <a:ext cx="2209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Calibri"/>
                  <a:ea typeface="Microsoft YaHei"/>
                  <a:cs typeface="Calibri"/>
                </a:rPr>
                <a:t>可验收，才代表它已经接近工程系统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4762500"/>
            <a:ext cx="11277600" cy="914400"/>
            <a:chOff x="457200" y="4762500"/>
            <a:chExt cx="11277600" cy="914400"/>
          </a:xfrm>
        </p:grpSpPr>
        <p:sp>
          <p:nvSpPr>
            <p:cNvPr id="58" name="Rectangle 58"/>
            <p:cNvSpPr/>
            <p:nvPr/>
          </p:nvSpPr>
          <p:spPr>
            <a:xfrm>
              <a:off x="457200" y="4762500"/>
              <a:ext cx="11277600" cy="914400"/>
            </a:xfrm>
            <a:prstGeom prst="roundRect">
              <a:avLst>
                <a:gd name="adj" fmla="val 12500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9135" y="4932998"/>
              <a:ext cx="588726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不是追求 AI 像人，而是追求输出能进入后续流程。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8660" y="5337810"/>
              <a:ext cx="75114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当你开始从“系统接不接得上”来设计提示词时，你已经在用工程视角做 Prompt / Context Engineering。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8" grpId="0"/>
      <p:bldP spid="42" grpId="0"/>
      <p:bldP spid="57" grpId="0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7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8043863" cy="716756"/>
            <a:chOff x="457200" y="647700"/>
            <a:chExt cx="8043863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788574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同一个问题，不同约束下会产生完全不同的结果质量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48441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课堂 Demo 的重点不是“跑命令”，而是对比为什么输出质量会明显分层。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" y="1828800"/>
            <a:ext cx="3048000" cy="2095500"/>
            <a:chOff x="457200" y="1828800"/>
            <a:chExt cx="3048000" cy="2095500"/>
          </a:xfrm>
        </p:grpSpPr>
        <p:sp>
          <p:nvSpPr>
            <p:cNvPr id="13" name="Rectangle 13"/>
            <p:cNvSpPr/>
            <p:nvPr/>
          </p:nvSpPr>
          <p:spPr>
            <a:xfrm>
              <a:off x="457200" y="1828800"/>
              <a:ext cx="3048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828800"/>
              <a:ext cx="3048000" cy="495300"/>
            </a:xfrm>
            <a:prstGeom prst="roundRect">
              <a:avLst>
                <a:gd name="adj" fmla="val 23077"/>
              </a:avLst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608" y="19864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基础提示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2465" y="223932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只提问，不定义结构和边界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2465" y="266795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容易得到泛建议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465" y="289655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回答看起来顺，但不一定能执行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2465" y="31251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风险与证据通常不显性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3418" y="3628549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适合作为起点，不适合作为系统输出终点。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0" y="1828800"/>
            <a:ext cx="3231357" cy="2095500"/>
            <a:chOff x="4572000" y="1828800"/>
            <a:chExt cx="3231357" cy="2095500"/>
          </a:xfrm>
        </p:grpSpPr>
        <p:sp>
          <p:nvSpPr>
            <p:cNvPr id="22" name="Rectangle 22"/>
            <p:cNvSpPr/>
            <p:nvPr/>
          </p:nvSpPr>
          <p:spPr>
            <a:xfrm>
              <a:off x="4572000" y="1828800"/>
              <a:ext cx="3048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0" y="1828800"/>
              <a:ext cx="3048000" cy="495300"/>
            </a:xfrm>
            <a:prstGeom prst="roundRect">
              <a:avLst>
                <a:gd name="adj" fmla="val 23077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84408" y="198643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结构化提示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87265" y="22393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5200"/>
                  </a:solidFill>
                  <a:latin typeface="Calibri"/>
                  <a:ea typeface="Microsoft YaHei"/>
                  <a:cs typeface="Calibri"/>
                </a:rPr>
                <a:t>输出字段开始固定下来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87265" y="26679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结果更便于比较与记录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87265" y="289655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便于后续 JSON 或列表接入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87265" y="31251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开始具备工程输入特征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88218" y="362854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结构先稳定，后面检索、评估、工具调用才更好接。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686800" y="1828800"/>
            <a:ext cx="3101341" cy="2095500"/>
            <a:chOff x="8686800" y="1828800"/>
            <a:chExt cx="3101341" cy="2095500"/>
          </a:xfrm>
        </p:grpSpPr>
        <p:sp>
          <p:nvSpPr>
            <p:cNvPr id="31" name="Rectangle 31"/>
            <p:cNvSpPr/>
            <p:nvPr/>
          </p:nvSpPr>
          <p:spPr>
            <a:xfrm>
              <a:off x="8686800" y="1828800"/>
              <a:ext cx="3048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686800" y="1828800"/>
              <a:ext cx="3048000" cy="495300"/>
            </a:xfrm>
            <a:prstGeom prst="roundRect">
              <a:avLst>
                <a:gd name="adj" fmla="val 23077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9208" y="198643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带约束提示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02065" y="2239328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F"/>
                  </a:solidFill>
                  <a:latin typeface="Calibri"/>
                  <a:ea typeface="Microsoft YaHei"/>
                  <a:cs typeface="Calibri"/>
                </a:rPr>
                <a:t>结论、证据、风险、下一步同时被定义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02065" y="26679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结果更可执行、更可验收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02065" y="289655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风险暴露更充分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02065" y="312515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更接近真实业务流程需要的输出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03018" y="3628549"/>
              <a:ext cx="2885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这类提示最适合成为后续系统和人工协同的接口。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7144" y="2690812"/>
            <a:ext cx="4348162" cy="200025"/>
            <a:chOff x="3817144" y="2690812"/>
            <a:chExt cx="4348162" cy="200025"/>
          </a:xfrm>
        </p:grpSpPr>
        <p:grpSp>
          <p:nvGrpSpPr>
            <p:cNvPr id="43" name="Group 43"/>
            <p:cNvGrpSpPr/>
            <p:nvPr/>
          </p:nvGrpSpPr>
          <p:grpSpPr>
            <a:xfrm>
              <a:off x="3817144" y="2690812"/>
              <a:ext cx="233362" cy="200025"/>
              <a:chOff x="3817144" y="2690812"/>
              <a:chExt cx="233362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3817144" y="2790825"/>
                <a:ext cx="2333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9525">
                    <a:moveTo>
                      <a:pt x="0" y="0"/>
                    </a:moveTo>
                    <a:lnTo>
                      <a:pt x="233362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3950494" y="2790825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3950494" y="269081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100012"/>
                    </a:lnTo>
                  </a:path>
                </a:pathLst>
              </a:custGeom>
              <a:noFill/>
              <a:ln w="19050">
                <a:solidFill>
                  <a:srgbClr val="004A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7931944" y="2690812"/>
              <a:ext cx="233362" cy="200025"/>
              <a:chOff x="7931944" y="2690812"/>
              <a:chExt cx="233362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931944" y="2790825"/>
                <a:ext cx="2333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9525">
                    <a:moveTo>
                      <a:pt x="0" y="0"/>
                    </a:moveTo>
                    <a:lnTo>
                      <a:pt x="233362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8065294" y="2790825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8065294" y="269081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100012"/>
                    </a:lnTo>
                  </a:path>
                </a:pathLst>
              </a:custGeom>
              <a:noFill/>
              <a:ln w="19050">
                <a:solidFill>
                  <a:srgbClr val="FF7E5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457200" y="4381500"/>
            <a:ext cx="11277600" cy="1276350"/>
            <a:chOff x="457200" y="4381500"/>
            <a:chExt cx="11277600" cy="1276350"/>
          </a:xfrm>
        </p:grpSpPr>
        <p:sp>
          <p:nvSpPr>
            <p:cNvPr id="49" name="Rectangle 49"/>
            <p:cNvSpPr/>
            <p:nvPr/>
          </p:nvSpPr>
          <p:spPr>
            <a:xfrm>
              <a:off x="457200" y="4381500"/>
              <a:ext cx="11277600" cy="1276350"/>
            </a:xfrm>
            <a:prstGeom prst="roundRect">
              <a:avLst>
                <a:gd name="adj" fmla="val 8955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57200" y="4381500"/>
              <a:ext cx="57150" cy="127635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8660" y="4594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课堂拆解重点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612" y="4888706"/>
              <a:ext cx="74995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Demo 不只是比较“谁更聪明”，而是比较谁更适合进入真实工作流：谁更稳定、谁更可解析、谁更容易暴露风险。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612" y="5193506"/>
              <a:ext cx="63518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这一讲要让学员第一次意识到：AI 输出质量的判断标准，不是自然语言流畅，而是工程可用性。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30" grpId="0"/>
      <p:bldP spid="39" grpId="0"/>
      <p:bldP spid="48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8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647700"/>
            <a:ext cx="9438037" cy="585788"/>
            <a:chOff x="457200" y="647700"/>
            <a:chExt cx="9438037" cy="585788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927992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让学员亲手体验“同一个问题，不同提示结构，不同工程价值”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7700" y="1524000"/>
            <a:ext cx="7239000" cy="1028700"/>
            <a:chOff x="647700" y="1524000"/>
            <a:chExt cx="7239000" cy="1028700"/>
          </a:xfrm>
        </p:grpSpPr>
        <p:sp>
          <p:nvSpPr>
            <p:cNvPr id="12" name="Rectangle 12"/>
            <p:cNvSpPr/>
            <p:nvPr/>
          </p:nvSpPr>
          <p:spPr>
            <a:xfrm>
              <a:off x="647700" y="1524000"/>
              <a:ext cx="7239000" cy="1028700"/>
            </a:xfrm>
            <a:prstGeom prst="roundRect">
              <a:avLst>
                <a:gd name="adj" fmla="val 12963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62819" y="1844675"/>
              <a:ext cx="202405" cy="229394"/>
              <a:chOff x="962819" y="1844675"/>
              <a:chExt cx="202405" cy="22939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62819" y="1844675"/>
                <a:ext cx="16192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0">
                    <a:moveTo>
                      <a:pt x="62274" y="215900"/>
                    </a:moveTo>
                    <a:lnTo>
                      <a:pt x="26988" y="215900"/>
                    </a:lnTo>
                    <a:cubicBezTo>
                      <a:pt x="12083" y="215900"/>
                      <a:pt x="0" y="203817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084262" y="20200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016794" y="189865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016794" y="1952625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FFAE4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373505" y="1797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实验题目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3505" y="2083118"/>
              <a:ext cx="49129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“我要为企业客服搭建知识库问答系统，第一步应该做什么？”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2460" y="2918460"/>
            <a:ext cx="7254240" cy="3006090"/>
            <a:chOff x="632460" y="2918460"/>
            <a:chExt cx="7254240" cy="3006090"/>
          </a:xfrm>
        </p:grpSpPr>
        <p:sp>
          <p:nvSpPr>
            <p:cNvPr id="21" name="TextBox 21"/>
            <p:cNvSpPr txBox="1"/>
            <p:nvPr/>
          </p:nvSpPr>
          <p:spPr>
            <a:xfrm>
              <a:off x="632460" y="2918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建议步骤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7700" y="3238500"/>
              <a:ext cx="7239000" cy="571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060" y="3461385"/>
              <a:ext cx="5009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Step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04962" y="3469481"/>
              <a:ext cx="5106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写版本 A：要求模型返回结构化结果，至少包含结论、证据、风险、下一步。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" y="3943350"/>
              <a:ext cx="7239000" cy="571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1060" y="4166235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Step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04962" y="4174331"/>
              <a:ext cx="45066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写版本 B：要求模型输出一组可执行步骤，强调行动顺序和落地性。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" y="4648200"/>
              <a:ext cx="7239000" cy="571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1060" y="4871085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Step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4962" y="4879181"/>
              <a:ext cx="4679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对比两版结果，记录它们在可解析性、可执行性和风险暴露上的差异。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" y="5353050"/>
              <a:ext cx="7239000" cy="571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1060" y="5575935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Step 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04962" y="5584031"/>
              <a:ext cx="47016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提交截图或文本结果，并写 5 句话说明你认为哪一版更适合进入系统。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229600" y="1524000"/>
            <a:ext cx="3844957" cy="4400550"/>
            <a:chOff x="8229600" y="1524000"/>
            <a:chExt cx="3844957" cy="4400550"/>
          </a:xfrm>
        </p:grpSpPr>
        <p:sp>
          <p:nvSpPr>
            <p:cNvPr id="35" name="Rectangle 35"/>
            <p:cNvSpPr/>
            <p:nvPr/>
          </p:nvSpPr>
          <p:spPr>
            <a:xfrm>
              <a:off x="8229600" y="1524000"/>
              <a:ext cx="3505200" cy="44005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29600" y="1524000"/>
              <a:ext cx="3505200" cy="571500"/>
            </a:xfrm>
            <a:prstGeom prst="roundRect">
              <a:avLst>
                <a:gd name="adj" fmla="val 26667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80108" y="17292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提交物与验收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82012" y="23169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必须提交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82965" y="2610802"/>
              <a:ext cx="12798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两版 Prompt 正文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82965" y="28394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两版输出结果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82965" y="3068002"/>
              <a:ext cx="15248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5 句话以内的对比说明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82012" y="35742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验收关注点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82965" y="38681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是否真的定义了输出契约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82965" y="4096702"/>
              <a:ext cx="26660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是否能解释为什么结构化更适合企业场景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82965" y="4325302"/>
              <a:ext cx="2413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• 是否意识到“好看”不等于“好接系统”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496300" y="4991100"/>
              <a:ext cx="2971800" cy="666750"/>
            </a:xfrm>
            <a:prstGeom prst="roundRect">
              <a:avLst>
                <a:gd name="adj" fmla="val 14286"/>
              </a:avLst>
            </a:prstGeom>
            <a:solidFill>
              <a:srgbClr val="FFF8E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73465" y="51444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860B"/>
                  </a:solidFill>
                  <a:latin typeface="Calibri"/>
                  <a:ea typeface="Microsoft YaHei"/>
                  <a:cs typeface="Calibri"/>
                </a:rPr>
                <a:t>实验的真正目标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73465" y="5392102"/>
              <a:ext cx="34010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让学员开始用“后续流程是否接得住”来衡量输出质量。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34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210502"/>
            <a:ext cx="12192000" cy="6647498"/>
            <a:chOff x="0" y="210502"/>
            <a:chExt cx="12192000" cy="6647498"/>
          </a:xfrm>
        </p:grpSpPr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542925"/>
              <a:ext cx="12192000" cy="5895975"/>
            </a:xfrm>
            <a:prstGeom prst="rect">
              <a:avLst/>
            </a:prstGeom>
            <a:solidFill>
              <a:srgbClr val="F6F3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40620" y="21050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9 / 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65703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70"/>
                  </a:solidFill>
                  <a:latin typeface="Calibri"/>
                  <a:ea typeface="Microsoft YaHei"/>
                  <a:cs typeface="Calibri"/>
                </a:rPr>
                <a:t>应用开发版 12 周冲刺课程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647700"/>
            <a:ext cx="5095398" cy="716756"/>
            <a:chOff x="457200" y="647700"/>
            <a:chExt cx="5095398" cy="716756"/>
          </a:xfrm>
        </p:grpSpPr>
        <p:sp>
          <p:nvSpPr>
            <p:cNvPr id="9" name="Rectangle 9"/>
            <p:cNvSpPr/>
            <p:nvPr/>
          </p:nvSpPr>
          <p:spPr>
            <a:xfrm>
              <a:off x="457200" y="647700"/>
              <a:ext cx="57150" cy="457200"/>
            </a:xfrm>
            <a:prstGeom prst="roundRect">
              <a:avLst>
                <a:gd name="adj" fmla="val 3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315" y="715328"/>
              <a:ext cx="414528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0E1020"/>
                  </a:solidFill>
                  <a:latin typeface="Calibri Light"/>
                  <a:ea typeface="Microsoft YaHei"/>
                  <a:cs typeface="Calibri Light"/>
                </a:rPr>
                <a:t>从第一天就把方向校正过来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1135856"/>
              <a:ext cx="49191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Calibri"/>
                  <a:ea typeface="Microsoft YaHei"/>
                  <a:cs typeface="Calibri"/>
                </a:rPr>
                <a:t>这三种误区如果不及时纠正，后面学到 RAG 和 Agent 时会不断重复犯错。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" y="1714500"/>
            <a:ext cx="3951527" cy="3676650"/>
            <a:chOff x="457200" y="1714500"/>
            <a:chExt cx="3951527" cy="3676650"/>
          </a:xfrm>
        </p:grpSpPr>
        <p:sp>
          <p:nvSpPr>
            <p:cNvPr id="13" name="Rectangle 13"/>
            <p:cNvSpPr/>
            <p:nvPr/>
          </p:nvSpPr>
          <p:spPr>
            <a:xfrm>
              <a:off x="457200" y="1714500"/>
              <a:ext cx="3543300" cy="367665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1714500"/>
              <a:ext cx="3543300" cy="571500"/>
            </a:xfrm>
            <a:prstGeom prst="roundRect">
              <a:avLst>
                <a:gd name="adj" fmla="val 23333"/>
              </a:avLst>
            </a:prstGeom>
            <a:solidFill>
              <a:srgbClr val="FF7E5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708" y="1919764"/>
              <a:ext cx="3701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误区 1｜把 Prompt Engineering 当成话术技巧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9612" y="2602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偏差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896552"/>
              <a:ext cx="2000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只想着怎么“说得好听”，不想着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312515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怎么把任务、边界和输出结构定义清楚。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9612" y="3726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正确理解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0565" y="4020502"/>
              <a:ext cx="26589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Prompt 是任务说明书，不是聊天技巧秀。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0565" y="42491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真正重要的是输出是否能服务系统。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24350" y="1714500"/>
            <a:ext cx="3543300" cy="3676650"/>
            <a:chOff x="4324350" y="1714500"/>
            <a:chExt cx="3543300" cy="3676650"/>
          </a:xfrm>
        </p:grpSpPr>
        <p:sp>
          <p:nvSpPr>
            <p:cNvPr id="23" name="Rectangle 23"/>
            <p:cNvSpPr/>
            <p:nvPr/>
          </p:nvSpPr>
          <p:spPr>
            <a:xfrm>
              <a:off x="4324350" y="1714500"/>
              <a:ext cx="3543300" cy="367665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24350" y="1714500"/>
              <a:ext cx="3543300" cy="571500"/>
            </a:xfrm>
            <a:prstGeom prst="roundRect">
              <a:avLst>
                <a:gd name="adj" fmla="val 23333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74858" y="1919764"/>
              <a:ext cx="26834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误区 2｜把答案流畅当成答案可用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6762" y="2602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偏差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77715" y="289655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模型说得像样，不代表结果可追溯、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77715" y="31251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可解析、可进入审批和工具链。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6762" y="3726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正确理解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7715" y="40205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工程里首先看可执行性、可验证性，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7715" y="42491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其次才看语言表达是否顺滑。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91500" y="1714500"/>
            <a:ext cx="3543300" cy="3676650"/>
            <a:chOff x="8191500" y="1714500"/>
            <a:chExt cx="3543300" cy="3676650"/>
          </a:xfrm>
        </p:grpSpPr>
        <p:sp>
          <p:nvSpPr>
            <p:cNvPr id="33" name="Rectangle 33"/>
            <p:cNvSpPr/>
            <p:nvPr/>
          </p:nvSpPr>
          <p:spPr>
            <a:xfrm>
              <a:off x="8191500" y="1714500"/>
              <a:ext cx="3543300" cy="367665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191500" y="1714500"/>
              <a:ext cx="3543300" cy="571500"/>
            </a:xfrm>
            <a:prstGeom prst="roundRect">
              <a:avLst>
                <a:gd name="adj" fmla="val 23333"/>
              </a:avLst>
            </a:prstGeom>
            <a:solidFill>
              <a:srgbClr val="004AA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42008" y="1919764"/>
              <a:ext cx="30404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误区 3｜过早沉迷框架，忽略任务定义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43912" y="2602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偏差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44865" y="2896552"/>
              <a:ext cx="2287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一上来追 LangChain、Dify、Coze、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44865" y="3125152"/>
              <a:ext cx="2553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多 Agent，却没有稳定的输入输出边界。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43912" y="3726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4AAC"/>
                  </a:solidFill>
                  <a:latin typeface="Calibri"/>
                  <a:ea typeface="Microsoft YaHei"/>
                  <a:cs typeface="Calibri"/>
                </a:rPr>
                <a:t>正确理解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4865" y="40205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框架只是放大器，不是问题定义器。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4865" y="42491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1020"/>
                  </a:solidFill>
                  <a:latin typeface="Calibri"/>
                  <a:ea typeface="Microsoft YaHei"/>
                  <a:cs typeface="Calibri"/>
                </a:rPr>
                <a:t>先把主线逻辑讲透，再谈框架替换。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619750"/>
            <a:ext cx="11277600" cy="419100"/>
            <a:chOff x="457200" y="5619750"/>
            <a:chExt cx="11277600" cy="419100"/>
          </a:xfrm>
        </p:grpSpPr>
        <p:sp>
          <p:nvSpPr>
            <p:cNvPr id="43" name="Rectangle 43"/>
            <p:cNvSpPr/>
            <p:nvPr/>
          </p:nvSpPr>
          <p:spPr>
            <a:xfrm>
              <a:off x="457200" y="5619750"/>
              <a:ext cx="11277600" cy="419100"/>
            </a:xfrm>
            <a:prstGeom prst="roundRect">
              <a:avLst>
                <a:gd name="adj" fmla="val 22727"/>
              </a:avLst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38857" y="5765006"/>
              <a:ext cx="57142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纠正这三种误区，是后面进入 Embedding、RAG、Agent 和部署环节时不跑偏的前提。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32" grpId="0"/>
      <p:bldP spid="42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E1020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504825"/>
              <a:ext cx="12192000" cy="38100"/>
            </a:xfrm>
            <a:prstGeom prst="rect">
              <a:avLst/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6438900"/>
              <a:ext cx="12192000" cy="419100"/>
            </a:xfrm>
            <a:prstGeom prst="rect">
              <a:avLst/>
            </a:prstGeom>
            <a:solidFill>
              <a:srgbClr val="E8E4E0">
                <a:alpha val="14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98615" y="210502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10 / 10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028700"/>
            <a:ext cx="4801362" cy="2090738"/>
            <a:chOff x="457200" y="1028700"/>
            <a:chExt cx="4801362" cy="2090738"/>
          </a:xfrm>
        </p:grpSpPr>
        <p:sp>
          <p:nvSpPr>
            <p:cNvPr id="7" name="Rectangle 7"/>
            <p:cNvSpPr/>
            <p:nvPr/>
          </p:nvSpPr>
          <p:spPr>
            <a:xfrm>
              <a:off x="457200" y="1028700"/>
              <a:ext cx="57150" cy="1943100"/>
            </a:xfrm>
            <a:prstGeom prst="roundRect">
              <a:avLst>
                <a:gd name="adj" fmla="val 50000"/>
              </a:avLst>
            </a:prstGeom>
            <a:solidFill>
              <a:srgbClr val="FFAE4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9130" y="1173480"/>
              <a:ext cx="297180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今天建立的是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130" y="1706880"/>
              <a:ext cx="352386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输入 / 输出契约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3895" y="2431732"/>
              <a:ext cx="33918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AE41"/>
                  </a:solidFill>
                  <a:latin typeface="Calibri"/>
                  <a:ea typeface="Microsoft YaHei"/>
                  <a:cs typeface="Calibri"/>
                </a:rPr>
                <a:t>下讲进入 Embedding 与向量检索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7705" y="2845118"/>
              <a:ext cx="45708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从“怎么定义任务”进入“怎么把知识放进系统并找回来”。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3733800"/>
            <a:ext cx="11277600" cy="1485900"/>
            <a:chOff x="457200" y="3733800"/>
            <a:chExt cx="112776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457200" y="3733800"/>
              <a:ext cx="3371850" cy="1485900"/>
            </a:xfrm>
            <a:prstGeom prst="roundRect">
              <a:avLst>
                <a:gd name="adj" fmla="val 8974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7708" y="3958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本讲产出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0565" y="4287202"/>
              <a:ext cx="957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Prompt 模板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45158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输出约束清单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47444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三阶段主线图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71950" y="3733800"/>
              <a:ext cx="3371850" cy="1485900"/>
            </a:xfrm>
            <a:prstGeom prst="roundRect">
              <a:avLst>
                <a:gd name="adj" fmla="val 8974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22458" y="3958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课后作业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25315" y="4287202"/>
              <a:ext cx="12798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两版 Prompt 设计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25315" y="451580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结果截图或文本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25315" y="4744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• 200~300 字复盘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886700" y="3733800"/>
              <a:ext cx="3848100" cy="1485900"/>
            </a:xfrm>
            <a:prstGeom prst="roundRect">
              <a:avLst>
                <a:gd name="adj" fmla="val 8974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7208" y="3958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下讲衔接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0065" y="4287202"/>
              <a:ext cx="16928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Embedding 不是黑箱 API，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0065" y="45158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而是把知识映射到可比较的空间。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0065" y="4744402"/>
              <a:ext cx="2322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F3F0"/>
                  </a:solidFill>
                  <a:latin typeface="Calibri"/>
                  <a:ea typeface="Microsoft YaHei"/>
                  <a:cs typeface="Calibri"/>
                </a:rPr>
                <a:t>第 2 讲会开始真正进入 RAG 的底盘。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7705" y="5657850"/>
            <a:ext cx="10799445" cy="509588"/>
            <a:chOff x="687705" y="5657850"/>
            <a:chExt cx="10799445" cy="509588"/>
          </a:xfrm>
        </p:grpSpPr>
        <p:sp>
          <p:nvSpPr>
            <p:cNvPr id="29" name="Line 29"/>
            <p:cNvSpPr/>
            <p:nvPr/>
          </p:nvSpPr>
          <p:spPr>
            <a:xfrm>
              <a:off x="704850" y="5657850"/>
              <a:ext cx="10782300" cy="9525"/>
            </a:xfrm>
            <a:custGeom>
              <a:avLst/>
              <a:gdLst/>
              <a:ahLst/>
              <a:cxnLst/>
              <a:rect l="l" t="t" r="r" b="b"/>
              <a:pathLst>
                <a:path w="10782300" h="9525">
                  <a:moveTo>
                    <a:pt x="0" y="0"/>
                  </a:moveTo>
                  <a:lnTo>
                    <a:pt x="10782300" y="0"/>
                  </a:lnTo>
                </a:path>
              </a:pathLst>
            </a:custGeom>
            <a:noFill/>
            <a:ln w="14288">
              <a:solidFill>
                <a:srgbClr val="FFAE41">
                  <a:alpha val="7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05" y="5893118"/>
              <a:ext cx="36617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AI 应用开发，不是对话技巧，而是流程设计。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8" grpId="0"/>
      <p:bldP spid="31" grpId="0"/>
    </p:bldLst>
  </p:timing>
</p:sld>
</file>

<file path=ppt/theme/theme1.xml><?xml version="1.0" encoding="utf-8"?>
<a:theme xmlns:a="http://schemas.openxmlformats.org/drawingml/2006/main" name="DXC">
  <a:themeElements>
    <a:clrScheme name="DXC New Brand">
      <a:dk1>
        <a:srgbClr val="0E1020"/>
      </a:dk1>
      <a:lt1>
        <a:sysClr val="window" lastClr="FFFFFF"/>
      </a:lt1>
      <a:dk2>
        <a:srgbClr val="FFC982"/>
      </a:dk2>
      <a:lt2>
        <a:srgbClr val="F6F3F0"/>
      </a:lt2>
      <a:accent1>
        <a:srgbClr val="FFAE41"/>
      </a:accent1>
      <a:accent2>
        <a:srgbClr val="FF7E51"/>
      </a:accent2>
      <a:accent3>
        <a:srgbClr val="D14600"/>
      </a:accent3>
      <a:accent4>
        <a:srgbClr val="004AAC"/>
      </a:accent4>
      <a:accent5>
        <a:srgbClr val="4995FF"/>
      </a:accent5>
      <a:accent6>
        <a:srgbClr val="A1E6FF"/>
      </a:accent6>
      <a:hlink>
        <a:srgbClr val="0E1020"/>
      </a:hlink>
      <a:folHlink>
        <a:srgbClr val="0E102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600"/>
          </a:spcAft>
          <a:defRPr sz="1600" dirty="0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template" id="{372C5D99-EAAE-4CC8-B45C-CB00246BBD47}" vid="{A1EB6840-CA6C-4955-A547-6EAC3A9AD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93514B828CCB48B02392E14BFF07CD" ma:contentTypeVersion="0" ma:contentTypeDescription="Create a new document." ma:contentTypeScope="" ma:versionID="5a55d2cd0f7ca3f196681850f3d707b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8bc42cdcaa82a2071025144403ece7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98A58B-876F-42E2-BEC0-1193FE4D620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1310B7F-0459-4DAD-B2BA-A0E66AA5F8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B4A852-DCA5-408B-8D0B-862D89A4D6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2516</Words>
  <Application>Microsoft Office PowerPoint</Application>
  <PresentationFormat>宽屏</PresentationFormat>
  <Paragraphs>229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Inter Bold</vt:lpstr>
      <vt:lpstr>GT Standard L Extended</vt:lpstr>
      <vt:lpstr>Inter SemiBold</vt:lpstr>
      <vt:lpstr>Calibri Light</vt:lpstr>
      <vt:lpstr>Inter Medium</vt:lpstr>
      <vt:lpstr>Inter</vt:lpstr>
      <vt:lpstr>Inter Light</vt:lpstr>
      <vt:lpstr>Inter Regular</vt:lpstr>
      <vt:lpstr>Calibri</vt:lpstr>
      <vt:lpstr>DXC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Cheng, Lu</dc:creator>
  <cp:lastModifiedBy>Cheng, Lu</cp:lastModifiedBy>
  <cp:revision>2</cp:revision>
  <dcterms:created xsi:type="dcterms:W3CDTF">2026-05-22T06:21:56Z</dcterms:created>
  <dcterms:modified xsi:type="dcterms:W3CDTF">2026-05-26T10:02:53Z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2025-12-09T16:07:32Z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4b7d9dea-3b11-47e8-b915-12305eea8642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  <property fmtid="{D5CDD505-2E9C-101B-9397-08002B2CF9AE}" pid="10" name="ContentTypeId">
    <vt:lpwstr>0x010100B493514B828CCB48B02392E14BFF07CD</vt:lpwstr>
  </property>
</Properties>
</file>