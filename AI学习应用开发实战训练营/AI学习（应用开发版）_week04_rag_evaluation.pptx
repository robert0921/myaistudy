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2" r:id="rId4"/>
  </p:sldMasterIdLst>
  <p:notesMasterIdLst>
    <p:notesMasterId r:id="rId5"/>
  </p:notesMasterIdLst>
  <p:handoutMasterIdLst>
    <p:handoutMasterId r:id="rId6"/>
  </p:handoutMasterIdLst>
  <p:sldIdLst>
    <p:sldId id="256" r:id="rId32"/>
    <p:sldId id="257" r:id="rId33"/>
    <p:sldId id="258" r:id="rId34"/>
    <p:sldId id="259" r:id="rId35"/>
    <p:sldId id="260" r:id="rId36"/>
    <p:sldId id="261" r:id="rId37"/>
    <p:sldId id="262" r:id="rId38"/>
    <p:sldId id="263" r:id="rId39"/>
    <p:sldId id="264" r:id="rId40"/>
    <p:sldId id="265" r:id="rId41"/>
  </p:sldIdLst>
  <p:sldSz cx="12192000" cy="6858000"/>
  <p:notesSz cx="10287000" cy="18288000"/>
  <p:embeddedFontLst>
    <p:embeddedFont>
      <p:font typeface="GT Standard L Extended" pitchFamily="2" charset="0"/>
      <p:bold r:id="rId7"/>
    </p:embeddedFont>
    <p:embeddedFont>
      <p:font typeface="Inter" panose="02000503000000020004" pitchFamily="50" charset="0"/>
      <p:regular r:id="rId8"/>
      <p:bold r:id="rId9"/>
      <p:italic r:id="rId10"/>
      <p:boldItalic r:id="rId11"/>
    </p:embeddedFont>
    <p:embeddedFont>
      <p:font typeface="Inter Bold" panose="020B0604020202020204" charset="0"/>
      <p:regular r:id="rId12"/>
      <p:bold r:id="rId13"/>
      <p:italic r:id="rId14"/>
      <p:boldItalic r:id="rId15"/>
    </p:embeddedFont>
    <p:embeddedFont>
      <p:font typeface="Inter Light" panose="02000403000000020004" pitchFamily="50" charset="0"/>
      <p:regular r:id="rId16"/>
      <p:italic r:id="rId17"/>
    </p:embeddedFont>
    <p:embeddedFont>
      <p:font typeface="Inter Medium" panose="02000603000000020004" pitchFamily="50" charset="0"/>
      <p:regular r:id="rId18"/>
      <p:italic r:id="rId19"/>
    </p:embeddedFont>
    <p:embeddedFont>
      <p:font typeface="Inter Regular" panose="020B0604020202020204" charset="0"/>
      <p:regular r:id="rId20"/>
      <p:bold r:id="rId21"/>
      <p:italic r:id="rId22"/>
      <p:boldItalic r:id="rId23"/>
    </p:embeddedFont>
    <p:embeddedFont>
      <p:font typeface="Inter SemiBold" panose="02000703000000020004" pitchFamily="50" charset="0"/>
      <p:regular r:id="rId24"/>
      <p:bold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6D6D"/>
    <a:srgbClr val="B4B0AC"/>
    <a:srgbClr val="545454"/>
    <a:srgbClr val="F6F3F0"/>
    <a:srgbClr val="E4E4E4"/>
    <a:srgbClr val="0052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4995" autoAdjust="0"/>
    <p:restoredTop sz="95822" autoAdjust="0"/>
  </p:normalViewPr>
  <p:slideViewPr>
    <p:cSldViewPr snapToGrid="0">
      <p:cViewPr varScale="1">
        <p:scale>
          <a:sx n="93" d="100"/>
          <a:sy n="93" d="100"/>
        </p:scale>
        <p:origin x="558" y="9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font" Target="fonts/font3.fntdata"/><Relationship Id="rId10" Type="http://schemas.openxmlformats.org/officeDocument/2006/relationships/font" Target="fonts/font4.fntdata"/><Relationship Id="rId11" Type="http://schemas.openxmlformats.org/officeDocument/2006/relationships/font" Target="fonts/font5.fntdata"/><Relationship Id="rId12" Type="http://schemas.openxmlformats.org/officeDocument/2006/relationships/font" Target="fonts/font6.fntdata"/><Relationship Id="rId13" Type="http://schemas.openxmlformats.org/officeDocument/2006/relationships/font" Target="fonts/font7.fntdata"/><Relationship Id="rId14" Type="http://schemas.openxmlformats.org/officeDocument/2006/relationships/font" Target="fonts/font8.fntdata"/><Relationship Id="rId15" Type="http://schemas.openxmlformats.org/officeDocument/2006/relationships/font" Target="fonts/font9.fntdata"/><Relationship Id="rId16" Type="http://schemas.openxmlformats.org/officeDocument/2006/relationships/font" Target="fonts/font10.fntdata"/><Relationship Id="rId17" Type="http://schemas.openxmlformats.org/officeDocument/2006/relationships/font" Target="fonts/font11.fntdata"/><Relationship Id="rId18" Type="http://schemas.openxmlformats.org/officeDocument/2006/relationships/font" Target="fonts/font12.fntdata"/><Relationship Id="rId19" Type="http://schemas.openxmlformats.org/officeDocument/2006/relationships/font" Target="fonts/font13.fntdata"/><Relationship Id="rId20" Type="http://schemas.openxmlformats.org/officeDocument/2006/relationships/font" Target="fonts/font14.fntdata"/><Relationship Id="rId21" Type="http://schemas.openxmlformats.org/officeDocument/2006/relationships/font" Target="fonts/font15.fntdata"/><Relationship Id="rId22" Type="http://schemas.openxmlformats.org/officeDocument/2006/relationships/font" Target="fonts/font16.fntdata"/><Relationship Id="rId23" Type="http://schemas.openxmlformats.org/officeDocument/2006/relationships/font" Target="fonts/font17.fntdata"/><Relationship Id="rId24" Type="http://schemas.openxmlformats.org/officeDocument/2006/relationships/font" Target="fonts/font18.fntdata"/><Relationship Id="rId25" Type="http://schemas.openxmlformats.org/officeDocument/2006/relationships/font" Target="fonts/font19.fntdata"/><Relationship Id="rId26" Type="http://schemas.openxmlformats.org/officeDocument/2006/relationships/font" Target="fonts/font20.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657DA5-5C22-A353-A65D-369446F87FBD}"/>
              </a:ext>
            </a:extLst>
          </p:cNvPr>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latin typeface="Inter" panose="02000503000000020004" pitchFamily="50" charset="0"/>
            </a:endParaRPr>
          </a:p>
        </p:txBody>
      </p:sp>
      <p:sp>
        <p:nvSpPr>
          <p:cNvPr id="3" name="Date Placeholder 2">
            <a:extLst>
              <a:ext uri="{FF2B5EF4-FFF2-40B4-BE49-F238E27FC236}">
                <a16:creationId xmlns:a16="http://schemas.microsoft.com/office/drawing/2014/main" id="{C432189D-F3FF-A988-769A-E7A3CB3608DD}"/>
              </a:ext>
            </a:extLst>
          </p:cNvPr>
          <p:cNvSpPr>
            <a:spLocks noGrp="1"/>
          </p:cNvSpPr>
          <p:nvPr>
            <p:ph type="dt" sz="quarter" idx="1"/>
          </p:nvPr>
        </p:nvSpPr>
        <p:spPr>
          <a:xfrm>
            <a:off x="5827713" y="0"/>
            <a:ext cx="4457700" cy="917575"/>
          </a:xfrm>
          <a:prstGeom prst="rect">
            <a:avLst/>
          </a:prstGeom>
        </p:spPr>
        <p:txBody>
          <a:bodyPr vert="horz" lIns="91440" tIns="45720" rIns="91440" bIns="45720" rtlCol="0"/>
          <a:lstStyle>
            <a:lvl1pPr algn="r">
              <a:defRPr sz="1200"/>
            </a:lvl1pPr>
          </a:lstStyle>
          <a:p>
            <a:fld id="{628A25DE-A063-4378-A640-4BC83FB26CA8}" type="datetimeFigureOut">
              <a:rPr lang="en-US" smtClean="0">
                <a:latin typeface="Inter" panose="02000503000000020004" pitchFamily="50" charset="0"/>
              </a:rPr>
              <a:t>5/22/2026</a:t>
            </a:fld>
            <a:endParaRPr lang="en-US">
              <a:latin typeface="Inter" panose="02000503000000020004" pitchFamily="50" charset="0"/>
            </a:endParaRPr>
          </a:p>
        </p:txBody>
      </p:sp>
      <p:sp>
        <p:nvSpPr>
          <p:cNvPr id="4" name="Footer Placeholder 3">
            <a:extLst>
              <a:ext uri="{FF2B5EF4-FFF2-40B4-BE49-F238E27FC236}">
                <a16:creationId xmlns:a16="http://schemas.microsoft.com/office/drawing/2014/main" id="{84632170-6562-13C1-D1D5-286367C3213E}"/>
              </a:ext>
            </a:extLst>
          </p:cNvPr>
          <p:cNvSpPr>
            <a:spLocks noGrp="1"/>
          </p:cNvSpPr>
          <p:nvPr>
            <p:ph type="ftr" sz="quarter" idx="2"/>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latin typeface="Inter" panose="02000503000000020004" pitchFamily="50" charset="0"/>
            </a:endParaRPr>
          </a:p>
        </p:txBody>
      </p:sp>
      <p:sp>
        <p:nvSpPr>
          <p:cNvPr id="5" name="Slide Number Placeholder 4">
            <a:extLst>
              <a:ext uri="{FF2B5EF4-FFF2-40B4-BE49-F238E27FC236}">
                <a16:creationId xmlns:a16="http://schemas.microsoft.com/office/drawing/2014/main" id="{8EFCDAC3-E48C-8609-85D2-09985FEF5697}"/>
              </a:ext>
            </a:extLst>
          </p:cNvPr>
          <p:cNvSpPr>
            <a:spLocks noGrp="1"/>
          </p:cNvSpPr>
          <p:nvPr>
            <p:ph type="sldNum" sz="quarter" idx="3"/>
          </p:nvPr>
        </p:nvSpPr>
        <p:spPr>
          <a:xfrm>
            <a:off x="5827713" y="17372013"/>
            <a:ext cx="4457700" cy="915987"/>
          </a:xfrm>
          <a:prstGeom prst="rect">
            <a:avLst/>
          </a:prstGeom>
        </p:spPr>
        <p:txBody>
          <a:bodyPr vert="horz" lIns="91440" tIns="45720" rIns="91440" bIns="45720" rtlCol="0" anchor="b"/>
          <a:lstStyle>
            <a:lvl1pPr algn="r">
              <a:defRPr sz="1200"/>
            </a:lvl1pPr>
          </a:lstStyle>
          <a:p>
            <a:fld id="{3E269C77-B4AD-470F-9F54-5C3D80FAC420}" type="slidenum">
              <a:rPr lang="en-US" smtClean="0">
                <a:latin typeface="Inter" panose="02000503000000020004" pitchFamily="50" charset="0"/>
              </a:rPr>
              <a:t>‹#›</a:t>
            </a:fld>
            <a:endParaRPr lang="en-US">
              <a:latin typeface="Inter" panose="02000503000000020004" pitchFamily="50" charset="0"/>
            </a:endParaRPr>
          </a:p>
        </p:txBody>
      </p:sp>
    </p:spTree>
    <p:extLst>
      <p:ext uri="{BB962C8B-B14F-4D97-AF65-F5344CB8AC3E}">
        <p14:creationId xmlns:p14="http://schemas.microsoft.com/office/powerpoint/2010/main" val="258361151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5760" userDrawn="1">
          <p15:clr>
            <a:srgbClr val="F26B43"/>
          </p15:clr>
        </p15:guide>
        <p15:guide id="2" pos="32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atin typeface="Inter Medium" panose="02000603000000020004" pitchFamily="50" charset="0"/>
              </a:defRPr>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atin typeface="Inter Medium" panose="02000603000000020004" pitchFamily="50" charset="0"/>
              </a:defRPr>
            </a:lvl1pPr>
          </a:lstStyle>
          <a:p>
            <a:fld id="{4368073D-F6CD-433D-989C-9BCED54B3B21}" type="datetimeFigureOut">
              <a:rPr lang="en-US" smtClean="0"/>
              <a:pPr/>
              <a:t>5/22/2026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atin typeface="Inter Medium" panose="02000603000000020004" pitchFamily="50" charset="0"/>
              </a:defRPr>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atin typeface="Inter Medium" panose="02000603000000020004" pitchFamily="50" charset="0"/>
              </a:defRPr>
            </a:lvl1pPr>
          </a:lstStyle>
          <a:p>
            <a:fld id="{3EA93470-45FA-43A3-A94A-764F2952A3D9}" type="slidenum">
              <a:rPr lang="en-US" smtClean="0"/>
              <a:pPr/>
              <a:t>‹#›</a:t>
            </a:fld>
            <a:endParaRPr lang="en-US"/>
          </a:p>
        </p:txBody>
      </p:sp>
    </p:spTree>
    <p:extLst>
      <p:ext uri="{BB962C8B-B14F-4D97-AF65-F5344CB8AC3E}">
        <p14:creationId xmlns:p14="http://schemas.microsoft.com/office/powerpoint/2010/main" val="3453265545"/>
      </p:ext>
    </p:extLst>
  </p:cSld>
  <p:clrMap bg1="lt1" tx1="dk1" bg2="lt2" tx2="dk2" accent1="accent1" accent2="accent2" accent3="accent3" accent4="accent4" accent5="accent5" accent6="accent6" hlink="hlink" folHlink="folHlink"/>
  <p:notesStyle>
    <a:lvl1pPr marL="0" algn="l" defTabSz="731520" rtl="0" eaLnBrk="1" latinLnBrk="0" hangingPunct="1">
      <a:defRPr sz="960" kern="1200">
        <a:solidFill>
          <a:schemeClr val="tx1"/>
        </a:solidFill>
        <a:latin typeface="Inter Medium" panose="02000603000000020004" pitchFamily="50" charset="0"/>
        <a:ea typeface="+mn-ea"/>
        <a:cs typeface="+mn-cs"/>
      </a:defRP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 4 讲把前面三讲搭起来的 RAG 主线，从“能跑”推进到“能评估、能解释、能优化”。这也是课程里第一次真正要求学员像看工程系统一样去看知识增强系统，而不是只看回答像不像样。</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这一页要先把一个观念立住：接上知识库只是开始，效果管理才是工程起点。没有评估表，就无法稳定判断问题到底出在检索、排序、知识片段还是输出层，后面的优化也只能靠感觉。</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RAG 质量问题最怕一把抓。真正可持续的改进方式，是把问题拆开看，至少要区分 Query、Chunking、检索排序和输出组织四类因素。只要因子没有拆开，团队就很难形成稳定的诊断和迭代习惯。</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这一页要反复强调，Query 改写不是润色问题，而是在为检索争取召回。用户的问题往往不完整、不标准，也不一定贴近知识库表述，所以改写是为了让问题更贴近知识表达方式。但改写必须可控，否则也可能把问题改偏。</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这一页的重点不是算法细节，而是系统判断。纯向量检索擅长语义相近，关键词检索擅长术语、编号和精确词面，Rerank 则负责把初步召回结果重新排序。多路径协作的目标，不是显得复杂，而是让系统更稳。</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工程评估不能只看回答顺不顺眼。至少要同时看 hit rate、MRR、延迟和主观可用性。只有客观指标和样本记录一起存在，团队才可能真正定位问题，而不是在“感觉不太好”这种模糊判断里兜圈子。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最小可用评估表的价值，是把问题、召回、排序、延迟和调优建议放进一张统一的记录面板里。学员一旦真的开始填这张表，讨论就会从感受转向证据，这正是从实验玩具进入工程方法的关键一步。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课堂实验的重点不是得出一个唯一正确答案，而是训练学员真正完成一次 RAG 诊断。固定样本、对比策略、记录指标、写出带证据的调优建议，这四步比“跑通代码”更重要，因为后者只是开始，前者才是可持续优化的前提。</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这一页把调优从抽象建议落到工程行动。好的调优清单一定可以被执行，至少能指出下一步该改 Query、Chunking、检索策略、排序重排还是输出模板。只有行动面清晰，调优才不是一句空话。</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 4 讲结束后，RAG 主线在课程里就形成了一个相对完整的闭环。学员不只是知道怎么接知识库，而是开始知道怎么判断系统是否真的有用、问题该怎么定位、后续该怎么优化。接下来课程会进入工具调用、MCP、Agent 规划与 Harness。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73B2DF-BAF2-C420-FD86-86240D16DD9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a:latin typeface="Inter Medium" panose="02000603000000020004" pitchFamily="50" charset="0"/>
            </a:endParaRPr>
          </a:p>
        </p:txBody>
      </p:sp>
      <p:pic>
        <p:nvPicPr>
          <p:cNvPr id="2" name="Frame 15529" descr="preencoded.png">
            <a:extLst>
              <a:ext uri="{FF2B5EF4-FFF2-40B4-BE49-F238E27FC236}">
                <a16:creationId xmlns:a16="http://schemas.microsoft.com/office/drawing/2014/main" id="{1EF2DDB8-8571-93E4-C67A-35640A82F91D}"/>
              </a:ext>
            </a:extLst>
          </p:cNvPr>
          <p:cNvPicPr>
            <a:picLocks noChangeAspect="1"/>
          </p:cNvPicPr>
          <p:nvPr/>
        </p:nvPicPr>
        <p:blipFill>
          <a:blip r:embed="rId2"/>
          <a:srcRect/>
          <a:stretch/>
        </p:blipFill>
        <p:spPr>
          <a:xfrm>
            <a:off x="203200" y="203200"/>
            <a:ext cx="11785600" cy="3949700"/>
          </a:xfrm>
          <a:prstGeom prst="rect">
            <a:avLst/>
          </a:prstGeom>
        </p:spPr>
      </p:pic>
      <p:sp>
        <p:nvSpPr>
          <p:cNvPr id="5" name="Rectangle 4">
            <a:extLst>
              <a:ext uri="{FF2B5EF4-FFF2-40B4-BE49-F238E27FC236}">
                <a16:creationId xmlns:a16="http://schemas.microsoft.com/office/drawing/2014/main" id="{E03F9C0B-0317-E2A6-8F23-EFFBE864DCA8}"/>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a:latin typeface="Inter Medium" panose="02000603000000020004" pitchFamily="50" charset="0"/>
            </a:endParaRPr>
          </a:p>
        </p:txBody>
      </p:sp>
      <p:pic>
        <p:nvPicPr>
          <p:cNvPr id="15" name="lookmomnoagency_httpss.mj.runJIcAb0P4040_Ultra-real_cinematic_p_638bfe43-65b2-4354-845b-4351f8df7907" descr="preencoded.png">
            <a:extLst>
              <a:ext uri="{FF2B5EF4-FFF2-40B4-BE49-F238E27FC236}">
                <a16:creationId xmlns:a16="http://schemas.microsoft.com/office/drawing/2014/main" id="{75169228-DC09-412D-D6F7-167D9FF75424}"/>
              </a:ext>
            </a:extLst>
          </p:cNvPr>
          <p:cNvPicPr>
            <a:picLocks noChangeAspect="1"/>
          </p:cNvPicPr>
          <p:nvPr userDrawn="1"/>
        </p:nvPicPr>
        <p:blipFill>
          <a:blip r:embed="rId3"/>
          <a:srcRect/>
          <a:stretch/>
        </p:blipFill>
        <p:spPr>
          <a:xfrm>
            <a:off x="203200" y="203200"/>
            <a:ext cx="11785600" cy="4013200"/>
          </a:xfrm>
          <a:prstGeom prst="rect">
            <a:avLst/>
          </a:prstGeom>
        </p:spPr>
      </p:pic>
      <p:sp>
        <p:nvSpPr>
          <p:cNvPr id="17" name="Subtitle 2">
            <a:extLst>
              <a:ext uri="{FF2B5EF4-FFF2-40B4-BE49-F238E27FC236}">
                <a16:creationId xmlns:a16="http://schemas.microsoft.com/office/drawing/2014/main" id="{0342C94D-B005-C627-CC70-486D6842AB48}"/>
              </a:ext>
            </a:extLst>
          </p:cNvPr>
          <p:cNvSpPr>
            <a:spLocks noGrp="1"/>
          </p:cNvSpPr>
          <p:nvPr>
            <p:ph type="subTitle" idx="1"/>
          </p:nvPr>
        </p:nvSpPr>
        <p:spPr>
          <a:xfrm>
            <a:off x="4977278" y="4539455"/>
            <a:ext cx="6127859" cy="139701"/>
          </a:xfrm>
          <a:prstGeom prst="rect">
            <a:avLst/>
          </a:prstGeom>
        </p:spPr>
        <p:txBody>
          <a:bodyPr bIns="0" anchor="b" anchorCtr="0">
            <a:noAutofit/>
          </a:bodyPr>
          <a:lstStyle>
            <a:lvl1pPr marL="0" indent="0" algn="l">
              <a:spcBef>
                <a:spcPts val="0"/>
              </a:spcBef>
              <a:buNone/>
              <a:defRPr sz="1050" b="1" cap="all" spc="160" baseline="0">
                <a:solidFill>
                  <a:schemeClr val="tx1"/>
                </a:solidFill>
                <a:latin typeface="Inter" panose="02000503000000020004" pitchFamily="50" charset="0"/>
                <a:ea typeface="Inter" panose="02000503000000020004" pitchFamily="50" charset="0"/>
                <a:cs typeface="Inter" panose="02000503000000020004" pitchFamily="50" charset="0"/>
              </a:defRPr>
            </a:lvl1pPr>
            <a:lvl2pPr marL="585216" indent="0" algn="ctr">
              <a:buNone/>
              <a:defRPr>
                <a:solidFill>
                  <a:schemeClr val="tx1">
                    <a:tint val="75000"/>
                  </a:schemeClr>
                </a:solidFill>
              </a:defRPr>
            </a:lvl2pPr>
            <a:lvl3pPr marL="1170432" indent="0" algn="ctr">
              <a:buNone/>
              <a:defRPr>
                <a:solidFill>
                  <a:schemeClr val="tx1">
                    <a:tint val="75000"/>
                  </a:schemeClr>
                </a:solidFill>
              </a:defRPr>
            </a:lvl3pPr>
            <a:lvl4pPr marL="1755648" indent="0" algn="ctr">
              <a:buNone/>
              <a:defRPr>
                <a:solidFill>
                  <a:schemeClr val="tx1">
                    <a:tint val="75000"/>
                  </a:schemeClr>
                </a:solidFill>
              </a:defRPr>
            </a:lvl4pPr>
            <a:lvl5pPr marL="2340864" indent="0" algn="ctr">
              <a:buNone/>
              <a:defRPr>
                <a:solidFill>
                  <a:schemeClr val="tx1">
                    <a:tint val="75000"/>
                  </a:schemeClr>
                </a:solidFill>
              </a:defRPr>
            </a:lvl5pPr>
            <a:lvl6pPr marL="2926080" indent="0" algn="ctr">
              <a:buNone/>
              <a:defRPr>
                <a:solidFill>
                  <a:schemeClr val="tx1">
                    <a:tint val="75000"/>
                  </a:schemeClr>
                </a:solidFill>
              </a:defRPr>
            </a:lvl6pPr>
            <a:lvl7pPr marL="3511296" indent="0" algn="ctr">
              <a:buNone/>
              <a:defRPr>
                <a:solidFill>
                  <a:schemeClr val="tx1">
                    <a:tint val="75000"/>
                  </a:schemeClr>
                </a:solidFill>
              </a:defRPr>
            </a:lvl7pPr>
            <a:lvl8pPr marL="4096512" indent="0" algn="ctr">
              <a:buNone/>
              <a:defRPr>
                <a:solidFill>
                  <a:schemeClr val="tx1">
                    <a:tint val="75000"/>
                  </a:schemeClr>
                </a:solidFill>
              </a:defRPr>
            </a:lvl8pPr>
            <a:lvl9pPr marL="4681728" indent="0" algn="ctr">
              <a:buNone/>
              <a:defRPr>
                <a:solidFill>
                  <a:schemeClr val="tx1">
                    <a:tint val="75000"/>
                  </a:schemeClr>
                </a:solidFill>
              </a:defRPr>
            </a:lvl9pPr>
          </a:lstStyle>
          <a:p>
            <a:r>
              <a:rPr lang="zh-CN" altLang="en-US"/>
              <a:t>单击此处编辑母版副标题样式</a:t>
            </a:r>
            <a:endParaRPr lang="en-US"/>
          </a:p>
        </p:txBody>
      </p:sp>
      <p:pic>
        <p:nvPicPr>
          <p:cNvPr id="18" name="Union" descr="preencoded.png">
            <a:extLst>
              <a:ext uri="{FF2B5EF4-FFF2-40B4-BE49-F238E27FC236}">
                <a16:creationId xmlns:a16="http://schemas.microsoft.com/office/drawing/2014/main" id="{4B2C8058-2A52-FBD2-A88A-2B552585CED4}"/>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32201" y="4580489"/>
            <a:ext cx="2235200" cy="361956"/>
          </a:xfrm>
          <a:prstGeom prst="rect">
            <a:avLst/>
          </a:prstGeom>
        </p:spPr>
      </p:pic>
      <p:sp>
        <p:nvSpPr>
          <p:cNvPr id="19" name="Title 1">
            <a:extLst>
              <a:ext uri="{FF2B5EF4-FFF2-40B4-BE49-F238E27FC236}">
                <a16:creationId xmlns:a16="http://schemas.microsoft.com/office/drawing/2014/main" id="{4B5FEA5F-CB2C-3FF5-0223-355E67B85B23}"/>
              </a:ext>
            </a:extLst>
          </p:cNvPr>
          <p:cNvSpPr>
            <a:spLocks noGrp="1"/>
          </p:cNvSpPr>
          <p:nvPr>
            <p:ph type="ctrTitle"/>
          </p:nvPr>
        </p:nvSpPr>
        <p:spPr>
          <a:xfrm>
            <a:off x="4977278" y="4810124"/>
            <a:ext cx="6127859" cy="814918"/>
          </a:xfrm>
          <a:prstGeom prst="rect">
            <a:avLst/>
          </a:prstGeom>
        </p:spPr>
        <p:txBody>
          <a:bodyPr anchor="ctr" anchorCtr="0">
            <a:noAutofit/>
          </a:bodyPr>
          <a:lstStyle>
            <a:lvl1pPr>
              <a:defRPr sz="3600" cap="all" baseline="0">
                <a:solidFill>
                  <a:schemeClr val="tx1"/>
                </a:solidFill>
                <a:latin typeface="GT Standard L Extended" pitchFamily="50" charset="0"/>
              </a:defRPr>
            </a:lvl1pPr>
          </a:lstStyle>
          <a:p>
            <a:r>
              <a:rPr lang="zh-CN" altLang="en-US"/>
              <a:t>单击此处编辑母版标题样式</a:t>
            </a:r>
            <a:endParaRPr lang="en-US"/>
          </a:p>
        </p:txBody>
      </p:sp>
      <p:sp>
        <p:nvSpPr>
          <p:cNvPr id="6" name="Content Placeholder 2">
            <a:extLst>
              <a:ext uri="{FF2B5EF4-FFF2-40B4-BE49-F238E27FC236}">
                <a16:creationId xmlns:a16="http://schemas.microsoft.com/office/drawing/2014/main" id="{8F264E8B-C17A-16FA-16AB-17DE70932CB7}"/>
              </a:ext>
            </a:extLst>
          </p:cNvPr>
          <p:cNvSpPr>
            <a:spLocks noGrp="1"/>
          </p:cNvSpPr>
          <p:nvPr>
            <p:ph sz="half" idx="14" hasCustomPrompt="1"/>
          </p:nvPr>
        </p:nvSpPr>
        <p:spPr>
          <a:xfrm>
            <a:off x="4974742" y="5779068"/>
            <a:ext cx="3015457" cy="151278"/>
          </a:xfrm>
          <a:prstGeom prst="rect">
            <a:avLst/>
          </a:prstGeom>
        </p:spPr>
        <p:txBody>
          <a:bodyPr tIns="0" rIns="0" bIns="0">
            <a:noAutofit/>
          </a:bodyPr>
          <a:lstStyle>
            <a:lvl1pPr>
              <a:lnSpc>
                <a:spcPct val="100000"/>
              </a:lnSpc>
              <a:spcBef>
                <a:spcPts val="600"/>
              </a:spcBef>
              <a:defRPr sz="1050" cap="all" spc="160" baseline="0">
                <a:solidFill>
                  <a:schemeClr val="tx1"/>
                </a:solidFill>
                <a:latin typeface="Inter SemiBold" panose="02000703000000020004"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pic>
        <p:nvPicPr>
          <p:cNvPr id="7" name="Union" descr="preencoded.png">
            <a:extLst>
              <a:ext uri="{FF2B5EF4-FFF2-40B4-BE49-F238E27FC236}">
                <a16:creationId xmlns:a16="http://schemas.microsoft.com/office/drawing/2014/main" id="{6EFE4B1B-FBEC-0DBB-F10D-1A7A97DC17FC}"/>
              </a:ext>
            </a:extLst>
          </p:cNvPr>
          <p:cNvPicPr>
            <a:picLocks noChangeAspect="1"/>
          </p:cNvPicPr>
          <p:nvPr userDrawn="1"/>
        </p:nvPicPr>
        <p:blipFill>
          <a:blip r:embed="rId5"/>
          <a:srcRect/>
          <a:stretch/>
        </p:blipFill>
        <p:spPr>
          <a:xfrm>
            <a:off x="203200" y="622300"/>
            <a:ext cx="11785600" cy="3187700"/>
          </a:xfrm>
          <a:prstGeom prst="rect">
            <a:avLst/>
          </a:prstGeom>
        </p:spPr>
      </p:pic>
      <p:sp>
        <p:nvSpPr>
          <p:cNvPr id="10" name="TextBox 9">
            <a:extLst>
              <a:ext uri="{FF2B5EF4-FFF2-40B4-BE49-F238E27FC236}">
                <a16:creationId xmlns:a16="http://schemas.microsoft.com/office/drawing/2014/main" id="{FD6006E1-F854-BAE6-A4A2-9D3947AA8039}"/>
              </a:ext>
            </a:extLst>
          </p:cNvPr>
          <p:cNvSpPr txBox="1"/>
          <p:nvPr userDrawn="1"/>
        </p:nvSpPr>
        <p:spPr>
          <a:xfrm>
            <a:off x="4973638" y="6654800"/>
            <a:ext cx="1962149" cy="102592"/>
          </a:xfrm>
          <a:prstGeom prst="rect">
            <a:avLst/>
          </a:prstGeom>
          <a:noFill/>
        </p:spPr>
        <p:txBody>
          <a:bodyPr wrap="square" lIns="0" tIns="0" rIns="0" bIns="0">
            <a:spAutoFit/>
          </a:bodyPr>
          <a:lstStyle/>
          <a:p>
            <a:pPr algn="l"/>
            <a:r>
              <a:rPr lang="en-US" sz="800" b="0" dirty="0">
                <a:solidFill>
                  <a:srgbClr val="B4B0AC"/>
                </a:solidFill>
                <a:latin typeface="Inter" panose="02000503000000020004" pitchFamily="50" charset="0"/>
                <a:cs typeface="Inter" panose="02000503000000020004" pitchFamily="50" charset="0"/>
              </a:rPr>
              <a:t>DXC Internal</a:t>
            </a:r>
          </a:p>
        </p:txBody>
      </p:sp>
      <p:sp>
        <p:nvSpPr>
          <p:cNvPr id="11" name="Footer Placeholder 4">
            <a:extLst>
              <a:ext uri="{FF2B5EF4-FFF2-40B4-BE49-F238E27FC236}">
                <a16:creationId xmlns:a16="http://schemas.microsoft.com/office/drawing/2014/main" id="{DF4B61FB-43AA-F7C6-9DBE-87E8C3498914}"/>
              </a:ext>
            </a:extLst>
          </p:cNvPr>
          <p:cNvSpPr txBox="1">
            <a:spLocks/>
          </p:cNvSpPr>
          <p:nvPr userDrawn="1"/>
        </p:nvSpPr>
        <p:spPr>
          <a:xfrm>
            <a:off x="4973952"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l"/>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4044029543"/>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56C9E5-50FF-1198-36CE-8793878A6427}"/>
              </a:ext>
            </a:extLst>
          </p:cNvPr>
          <p:cNvPicPr>
            <a:picLocks noChangeAspect="1"/>
          </p:cNvPicPr>
          <p:nvPr userDrawn="1"/>
        </p:nvPicPr>
        <p:blipFill>
          <a:blip r:embed="rId2"/>
          <a:stretch>
            <a:fillRect/>
          </a:stretch>
        </p:blipFill>
        <p:spPr>
          <a:xfrm>
            <a:off x="6924268" y="515342"/>
            <a:ext cx="5267732" cy="6342658"/>
          </a:xfrm>
          <a:prstGeom prst="rect">
            <a:avLst/>
          </a:prstGeom>
        </p:spPr>
      </p:pic>
      <p:sp>
        <p:nvSpPr>
          <p:cNvPr id="7" name="Title 1">
            <a:extLst>
              <a:ext uri="{FF2B5EF4-FFF2-40B4-BE49-F238E27FC236}">
                <a16:creationId xmlns:a16="http://schemas.microsoft.com/office/drawing/2014/main" id="{9C7BB518-013B-58B6-40AD-19FEB60837E6}"/>
              </a:ext>
            </a:extLst>
          </p:cNvPr>
          <p:cNvSpPr>
            <a:spLocks noGrp="1"/>
          </p:cNvSpPr>
          <p:nvPr>
            <p:ph type="ctrTitle"/>
          </p:nvPr>
        </p:nvSpPr>
        <p:spPr>
          <a:xfrm>
            <a:off x="401637" y="2651125"/>
            <a:ext cx="9186863" cy="1158875"/>
          </a:xfrm>
          <a:prstGeom prst="rect">
            <a:avLst/>
          </a:prstGeom>
        </p:spPr>
        <p:txBody>
          <a:bodyPr anchor="ctr" anchorCtr="0">
            <a:noAutofit/>
          </a:bodyPr>
          <a:lstStyle>
            <a:lvl1pPr>
              <a:defRPr sz="4800" cap="all" baseline="0">
                <a:solidFill>
                  <a:schemeClr val="tx1"/>
                </a:solidFill>
                <a:latin typeface="GT Standard L Extended" pitchFamily="50" charset="0"/>
              </a:defRPr>
            </a:lvl1pPr>
          </a:lstStyle>
          <a:p>
            <a:r>
              <a:rPr lang="zh-CN" altLang="en-US"/>
              <a:t>单击此处编辑母版标题样式</a:t>
            </a:r>
            <a:endParaRPr lang="en-US"/>
          </a:p>
        </p:txBody>
      </p:sp>
      <p:sp>
        <p:nvSpPr>
          <p:cNvPr id="2" name="Subtitle 2">
            <a:extLst>
              <a:ext uri="{FF2B5EF4-FFF2-40B4-BE49-F238E27FC236}">
                <a16:creationId xmlns:a16="http://schemas.microsoft.com/office/drawing/2014/main" id="{F763D07A-81F1-36DC-EA6A-6467575356CC}"/>
              </a:ext>
            </a:extLst>
          </p:cNvPr>
          <p:cNvSpPr>
            <a:spLocks noGrp="1"/>
          </p:cNvSpPr>
          <p:nvPr>
            <p:ph type="subTitle" idx="1"/>
          </p:nvPr>
        </p:nvSpPr>
        <p:spPr>
          <a:xfrm>
            <a:off x="4978398" y="4053679"/>
            <a:ext cx="3133726" cy="1242221"/>
          </a:xfrm>
          <a:prstGeom prst="rect">
            <a:avLst/>
          </a:prstGeom>
        </p:spPr>
        <p:txBody>
          <a:bodyPr tIns="0" rIns="0" bIns="0" anchor="t" anchorCtr="0">
            <a:noAutofit/>
          </a:bodyPr>
          <a:lstStyle>
            <a:lvl1pPr marL="0" indent="0" algn="l">
              <a:spcBef>
                <a:spcPts val="0"/>
              </a:spcBef>
              <a:buNone/>
              <a:defRPr sz="1600" b="0" cap="none"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marL="585216" indent="0" algn="ctr">
              <a:buNone/>
              <a:defRPr>
                <a:solidFill>
                  <a:schemeClr val="tx1">
                    <a:tint val="75000"/>
                  </a:schemeClr>
                </a:solidFill>
              </a:defRPr>
            </a:lvl2pPr>
            <a:lvl3pPr marL="1170432" indent="0" algn="ctr">
              <a:buNone/>
              <a:defRPr>
                <a:solidFill>
                  <a:schemeClr val="tx1">
                    <a:tint val="75000"/>
                  </a:schemeClr>
                </a:solidFill>
              </a:defRPr>
            </a:lvl3pPr>
            <a:lvl4pPr marL="1755648" indent="0" algn="ctr">
              <a:buNone/>
              <a:defRPr>
                <a:solidFill>
                  <a:schemeClr val="tx1">
                    <a:tint val="75000"/>
                  </a:schemeClr>
                </a:solidFill>
              </a:defRPr>
            </a:lvl4pPr>
            <a:lvl5pPr marL="2340864" indent="0" algn="ctr">
              <a:buNone/>
              <a:defRPr>
                <a:solidFill>
                  <a:schemeClr val="tx1">
                    <a:tint val="75000"/>
                  </a:schemeClr>
                </a:solidFill>
              </a:defRPr>
            </a:lvl5pPr>
            <a:lvl6pPr marL="2926080" indent="0" algn="ctr">
              <a:buNone/>
              <a:defRPr>
                <a:solidFill>
                  <a:schemeClr val="tx1">
                    <a:tint val="75000"/>
                  </a:schemeClr>
                </a:solidFill>
              </a:defRPr>
            </a:lvl6pPr>
            <a:lvl7pPr marL="3511296" indent="0" algn="ctr">
              <a:buNone/>
              <a:defRPr>
                <a:solidFill>
                  <a:schemeClr val="tx1">
                    <a:tint val="75000"/>
                  </a:schemeClr>
                </a:solidFill>
              </a:defRPr>
            </a:lvl7pPr>
            <a:lvl8pPr marL="4096512" indent="0" algn="ctr">
              <a:buNone/>
              <a:defRPr>
                <a:solidFill>
                  <a:schemeClr val="tx1">
                    <a:tint val="75000"/>
                  </a:schemeClr>
                </a:solidFill>
              </a:defRPr>
            </a:lvl8pPr>
            <a:lvl9pPr marL="4681728" indent="0" algn="ctr">
              <a:buNone/>
              <a:defRPr>
                <a:solidFill>
                  <a:schemeClr val="tx1">
                    <a:tint val="75000"/>
                  </a:schemeClr>
                </a:solidFill>
              </a:defRPr>
            </a:lvl9pPr>
          </a:lstStyle>
          <a:p>
            <a:r>
              <a:rPr lang="zh-CN" altLang="en-US"/>
              <a:t>单击此处编辑母版副标题样式</a:t>
            </a:r>
            <a:endParaRPr lang="en-US"/>
          </a:p>
        </p:txBody>
      </p:sp>
      <p:sp>
        <p:nvSpPr>
          <p:cNvPr id="4" name="TextBox 3">
            <a:extLst>
              <a:ext uri="{FF2B5EF4-FFF2-40B4-BE49-F238E27FC236}">
                <a16:creationId xmlns:a16="http://schemas.microsoft.com/office/drawing/2014/main" id="{D511D1B2-1DC3-890E-96BC-72E7F3451CCA}"/>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59713050-BD33-7A00-EE49-7F6BC7D27001}"/>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1254057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yleguide (No Descri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5DE322-BB62-1F07-1CDA-135ED5F4EFDE}"/>
              </a:ext>
            </a:extLst>
          </p:cNvPr>
          <p:cNvSpPr/>
          <p:nvPr userDrawn="1"/>
        </p:nvSpPr>
        <p:spPr>
          <a:xfrm>
            <a:off x="0" y="0"/>
            <a:ext cx="12192000" cy="6858000"/>
          </a:xfrm>
          <a:prstGeom prst="rect">
            <a:avLst/>
          </a:prstGeom>
          <a:solidFill>
            <a:srgbClr val="F6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b="1">
              <a:latin typeface="Inter" panose="02000503000000020004" pitchFamily="50" charset="0"/>
              <a:ea typeface="Inter" panose="02000503000000020004" pitchFamily="50" charset="0"/>
              <a:cs typeface="Inter" panose="02000503000000020004" pitchFamily="50" charset="0"/>
            </a:endParaRPr>
          </a:p>
        </p:txBody>
      </p:sp>
      <p:sp>
        <p:nvSpPr>
          <p:cNvPr id="3" name="Title Placeholder 1">
            <a:extLst>
              <a:ext uri="{FF2B5EF4-FFF2-40B4-BE49-F238E27FC236}">
                <a16:creationId xmlns:a16="http://schemas.microsoft.com/office/drawing/2014/main" id="{5FD12025-2BD2-A09B-9EFB-A38829256B90}"/>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4" name="Text Placeholder 2">
            <a:extLst>
              <a:ext uri="{FF2B5EF4-FFF2-40B4-BE49-F238E27FC236}">
                <a16:creationId xmlns:a16="http://schemas.microsoft.com/office/drawing/2014/main" id="{BB7E8852-BD92-0355-4AE0-D8D8FAF44344}"/>
              </a:ext>
            </a:extLst>
          </p:cNvPr>
          <p:cNvSpPr>
            <a:spLocks noGrp="1"/>
          </p:cNvSpPr>
          <p:nvPr>
            <p:ph idx="1"/>
          </p:nvPr>
        </p:nvSpPr>
        <p:spPr>
          <a:xfrm>
            <a:off x="403490" y="2089150"/>
            <a:ext cx="4422510" cy="4302126"/>
          </a:xfrm>
          <a:prstGeom prst="rect">
            <a:avLst/>
          </a:prstGeom>
        </p:spPr>
        <p:txBody>
          <a:bodyPr vert="horz" lIns="0" tIns="45720" rIns="0" bIns="45720" rtlCol="0">
            <a:no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TextBox 1">
            <a:extLst>
              <a:ext uri="{FF2B5EF4-FFF2-40B4-BE49-F238E27FC236}">
                <a16:creationId xmlns:a16="http://schemas.microsoft.com/office/drawing/2014/main" id="{5AE84E7C-8DF7-9286-1F6A-E0EDDF612E0D}"/>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A95E9DC9-2842-272D-FE94-51D6897B7218}"/>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6" name="Union" descr="preencoded.png">
            <a:extLst>
              <a:ext uri="{FF2B5EF4-FFF2-40B4-BE49-F238E27FC236}">
                <a16:creationId xmlns:a16="http://schemas.microsoft.com/office/drawing/2014/main" id="{2B2237AB-9675-5704-5381-9A5B56F64438}"/>
              </a:ext>
            </a:extLst>
          </p:cNvPr>
          <p:cNvPicPr>
            <a:picLocks noChangeAspect="1"/>
          </p:cNvPicPr>
          <p:nvPr userDrawn="1"/>
        </p:nvPicPr>
        <p:blipFill>
          <a:blip r:embed="rId2"/>
          <a:srcRect/>
          <a:stretch/>
        </p:blipFill>
        <p:spPr>
          <a:xfrm>
            <a:off x="409178" y="190696"/>
            <a:ext cx="781843" cy="126608"/>
          </a:xfrm>
          <a:prstGeom prst="rect">
            <a:avLst/>
          </a:prstGeom>
        </p:spPr>
      </p:pic>
    </p:spTree>
    <p:extLst>
      <p:ext uri="{BB962C8B-B14F-4D97-AF65-F5344CB8AC3E}">
        <p14:creationId xmlns:p14="http://schemas.microsoft.com/office/powerpoint/2010/main" val="1812771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Tree>
    <p:extLst>
      <p:ext uri="{BB962C8B-B14F-4D97-AF65-F5344CB8AC3E}">
        <p14:creationId xmlns:p14="http://schemas.microsoft.com/office/powerpoint/2010/main" val="282935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rimar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2587625" y="2089149"/>
            <a:ext cx="9223375"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Tree>
    <p:extLst>
      <p:ext uri="{BB962C8B-B14F-4D97-AF65-F5344CB8AC3E}">
        <p14:creationId xmlns:p14="http://schemas.microsoft.com/office/powerpoint/2010/main" val="2869740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Left Aligne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403489" y="2089149"/>
            <a:ext cx="9185011"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Tree>
    <p:extLst>
      <p:ext uri="{BB962C8B-B14F-4D97-AF65-F5344CB8AC3E}">
        <p14:creationId xmlns:p14="http://schemas.microsoft.com/office/powerpoint/2010/main" val="188278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9" name="Text Placeholder 2">
            <a:extLst>
              <a:ext uri="{FF2B5EF4-FFF2-40B4-BE49-F238E27FC236}">
                <a16:creationId xmlns:a16="http://schemas.microsoft.com/office/drawing/2014/main" id="{4B9C8783-1EE1-5F05-94F0-020AC1279309}"/>
              </a:ext>
            </a:extLst>
          </p:cNvPr>
          <p:cNvSpPr>
            <a:spLocks noGrp="1"/>
          </p:cNvSpPr>
          <p:nvPr>
            <p:ph idx="10" hasCustomPrompt="1"/>
          </p:nvPr>
        </p:nvSpPr>
        <p:spPr>
          <a:xfrm>
            <a:off x="2594240" y="2089149"/>
            <a:ext cx="4402908"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Placeholder 1">
            <a:extLst>
              <a:ext uri="{FF2B5EF4-FFF2-40B4-BE49-F238E27FC236}">
                <a16:creationId xmlns:a16="http://schemas.microsoft.com/office/drawing/2014/main" id="{5C207ECF-D4C3-643D-CB6A-041FFB7097D0}"/>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12" name="Text Placeholder 2">
            <a:extLst>
              <a:ext uri="{FF2B5EF4-FFF2-40B4-BE49-F238E27FC236}">
                <a16:creationId xmlns:a16="http://schemas.microsoft.com/office/drawing/2014/main" id="{27C006B6-6F06-D002-5779-598B7A382848}"/>
              </a:ext>
            </a:extLst>
          </p:cNvPr>
          <p:cNvSpPr>
            <a:spLocks noGrp="1"/>
          </p:cNvSpPr>
          <p:nvPr>
            <p:ph idx="11" hasCustomPrompt="1"/>
          </p:nvPr>
        </p:nvSpPr>
        <p:spPr>
          <a:xfrm>
            <a:off x="7380552" y="2089148"/>
            <a:ext cx="4221085"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51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7625" y="2089148"/>
            <a:ext cx="9223373" cy="4302127"/>
          </a:xfrm>
          <a:prstGeom prst="rect">
            <a:avLst/>
          </a:prstGeom>
        </p:spPr>
        <p:txBody>
          <a:bodyPr>
            <a:noAutofit/>
          </a:bodyPr>
          <a:lstStyle>
            <a:lvl1pPr marL="228600" indent="-228600">
              <a:buFont typeface="Arial" pitchFamily="34" charset="0"/>
              <a:buChar char="•"/>
              <a:defRPr sz="1600" b="0"/>
            </a:lvl1pPr>
            <a:lvl2pPr marL="457200" indent="-228600">
              <a:spcBef>
                <a:spcPts val="600"/>
              </a:spcBef>
              <a:buFont typeface="Arial" pitchFamily="34" charset="0"/>
              <a:buChar char="–"/>
              <a:defRPr sz="1600" b="0"/>
            </a:lvl2pPr>
            <a:lvl3pPr marL="685800" indent="-228600">
              <a:spcBef>
                <a:spcPts val="600"/>
              </a:spcBef>
              <a:buFont typeface="Arial" pitchFamily="34" charset="0"/>
              <a:buChar char="–"/>
              <a:defRPr sz="1400" b="0"/>
            </a:lvl3pPr>
            <a:lvl4pPr marL="914400" indent="-228600">
              <a:spcBef>
                <a:spcPts val="600"/>
              </a:spcBef>
              <a:buFont typeface="Arial" pitchFamily="34" charset="0"/>
              <a:buChar char="–"/>
              <a:defRPr sz="1400" b="0"/>
            </a:lvl4pPr>
            <a:lvl5pPr marL="1143000" indent="-228600">
              <a:spcBef>
                <a:spcPts val="600"/>
              </a:spcBef>
              <a:buFont typeface="Arial" pitchFamily="34" charset="0"/>
              <a:buChar char="–"/>
              <a:defRPr sz="1400"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Subtitle 2">
            <a:extLst>
              <a:ext uri="{FF2B5EF4-FFF2-40B4-BE49-F238E27FC236}">
                <a16:creationId xmlns:a16="http://schemas.microsoft.com/office/drawing/2014/main" id="{6E9DCC20-00EA-22DD-2AE0-CB3AE03BE68F}"/>
              </a:ext>
            </a:extLst>
          </p:cNvPr>
          <p:cNvSpPr>
            <a:spLocks noGrp="1"/>
          </p:cNvSpPr>
          <p:nvPr>
            <p:ph type="subTitle" idx="10"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4" name="Title Placeholder 1">
            <a:extLst>
              <a:ext uri="{FF2B5EF4-FFF2-40B4-BE49-F238E27FC236}">
                <a16:creationId xmlns:a16="http://schemas.microsoft.com/office/drawing/2014/main" id="{673ADA15-B0A6-A9E1-1441-0E6F1682B89E}"/>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Tree>
    <p:extLst>
      <p:ext uri="{BB962C8B-B14F-4D97-AF65-F5344CB8AC3E}">
        <p14:creationId xmlns:p14="http://schemas.microsoft.com/office/powerpoint/2010/main" val="117329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with Photo">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5" name="Text Placeholder 2">
            <a:extLst>
              <a:ext uri="{FF2B5EF4-FFF2-40B4-BE49-F238E27FC236}">
                <a16:creationId xmlns:a16="http://schemas.microsoft.com/office/drawing/2014/main" id="{B5717FA4-86CE-556E-68FB-95C761BEC1B6}"/>
              </a:ext>
            </a:extLst>
          </p:cNvPr>
          <p:cNvSpPr>
            <a:spLocks noGrp="1"/>
          </p:cNvSpPr>
          <p:nvPr>
            <p:ph idx="10" hasCustomPrompt="1"/>
          </p:nvPr>
        </p:nvSpPr>
        <p:spPr>
          <a:xfrm>
            <a:off x="403490" y="2089149"/>
            <a:ext cx="5692510"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83CCBB92-4E2E-CA56-141C-71DDE9C9C724}"/>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pic>
        <p:nvPicPr>
          <p:cNvPr id="2" name="Picture 1">
            <a:extLst>
              <a:ext uri="{FF2B5EF4-FFF2-40B4-BE49-F238E27FC236}">
                <a16:creationId xmlns:a16="http://schemas.microsoft.com/office/drawing/2014/main" id="{B102B511-3FEB-1B8B-7719-09807E1FF985}"/>
              </a:ext>
            </a:extLst>
          </p:cNvPr>
          <p:cNvPicPr>
            <a:picLocks noChangeAspect="1"/>
          </p:cNvPicPr>
          <p:nvPr userDrawn="1"/>
        </p:nvPicPr>
        <p:blipFill>
          <a:blip r:embed="rId2"/>
          <a:srcRect r="3587"/>
          <a:stretch>
            <a:fillRect/>
          </a:stretch>
        </p:blipFill>
        <p:spPr>
          <a:xfrm>
            <a:off x="6953250" y="1711590"/>
            <a:ext cx="5238750" cy="4571229"/>
          </a:xfrm>
          <a:prstGeom prst="rect">
            <a:avLst/>
          </a:prstGeom>
        </p:spPr>
      </p:pic>
      <p:sp>
        <p:nvSpPr>
          <p:cNvPr id="7" name="Picture Placeholder 8">
            <a:extLst>
              <a:ext uri="{FF2B5EF4-FFF2-40B4-BE49-F238E27FC236}">
                <a16:creationId xmlns:a16="http://schemas.microsoft.com/office/drawing/2014/main" id="{E713CD5E-96D2-F3B4-7945-151C1A4F88EB}"/>
              </a:ext>
            </a:extLst>
          </p:cNvPr>
          <p:cNvSpPr>
            <a:spLocks noGrp="1"/>
          </p:cNvSpPr>
          <p:nvPr>
            <p:ph type="pic" sz="quarter" idx="13"/>
          </p:nvPr>
        </p:nvSpPr>
        <p:spPr>
          <a:xfrm>
            <a:off x="7366000" y="2090822"/>
            <a:ext cx="4603750" cy="3613150"/>
          </a:xfrm>
          <a:prstGeom prst="roundRect">
            <a:avLst>
              <a:gd name="adj" fmla="val 2257"/>
            </a:avLst>
          </a:prstGeom>
          <a:noFill/>
        </p:spPr>
        <p:txBody>
          <a:bodyPr anchor="ctr" anchorCtr="0">
            <a:normAutofit/>
          </a:bodyPr>
          <a:lstStyle>
            <a:lvl1pPr algn="ctr">
              <a:defRPr sz="1600" b="0"/>
            </a:lvl1pPr>
          </a:lstStyle>
          <a:p>
            <a:r>
              <a:rPr lang="zh-CN" altLang="en-US"/>
              <a:t>单击图标添加图片</a:t>
            </a:r>
            <a:endParaRPr lang="en-US"/>
          </a:p>
        </p:txBody>
      </p:sp>
    </p:spTree>
    <p:extLst>
      <p:ext uri="{BB962C8B-B14F-4D97-AF65-F5344CB8AC3E}">
        <p14:creationId xmlns:p14="http://schemas.microsoft.com/office/powerpoint/2010/main" val="3121994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E655C0-EAC8-C1F6-4E1E-A95627EE0C2E}"/>
              </a:ext>
            </a:extLst>
          </p:cNvPr>
          <p:cNvPicPr>
            <a:picLocks noChangeAspect="1"/>
          </p:cNvPicPr>
          <p:nvPr userDrawn="1"/>
        </p:nvPicPr>
        <p:blipFill>
          <a:blip r:embed="rId2"/>
          <a:srcRect r="3587"/>
          <a:stretch>
            <a:fillRect/>
          </a:stretch>
        </p:blipFill>
        <p:spPr>
          <a:xfrm>
            <a:off x="6953250" y="1711590"/>
            <a:ext cx="5238750" cy="4571229"/>
          </a:xfrm>
          <a:prstGeom prst="rect">
            <a:avLst/>
          </a:prstGeom>
        </p:spPr>
      </p:pic>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10" name="Title Placeholder 1">
            <a:extLst>
              <a:ext uri="{FF2B5EF4-FFF2-40B4-BE49-F238E27FC236}">
                <a16:creationId xmlns:a16="http://schemas.microsoft.com/office/drawing/2014/main" id="{1A965AE0-60E2-C612-1BE0-C4729967010D}"/>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12" name="Text Placeholder 2">
            <a:extLst>
              <a:ext uri="{FF2B5EF4-FFF2-40B4-BE49-F238E27FC236}">
                <a16:creationId xmlns:a16="http://schemas.microsoft.com/office/drawing/2014/main" id="{535DE58E-558F-F5EC-1082-9B720020266F}"/>
              </a:ext>
            </a:extLst>
          </p:cNvPr>
          <p:cNvSpPr>
            <a:spLocks noGrp="1"/>
          </p:cNvSpPr>
          <p:nvPr>
            <p:ph idx="17" hasCustomPrompt="1"/>
          </p:nvPr>
        </p:nvSpPr>
        <p:spPr>
          <a:xfrm>
            <a:off x="3889601" y="2089149"/>
            <a:ext cx="3322320"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2">
            <a:extLst>
              <a:ext uri="{FF2B5EF4-FFF2-40B4-BE49-F238E27FC236}">
                <a16:creationId xmlns:a16="http://schemas.microsoft.com/office/drawing/2014/main" id="{84B87AB6-AE03-F48C-7DF9-C5E130FC55E1}"/>
              </a:ext>
            </a:extLst>
          </p:cNvPr>
          <p:cNvSpPr>
            <a:spLocks noGrp="1"/>
          </p:cNvSpPr>
          <p:nvPr>
            <p:ph idx="10" hasCustomPrompt="1"/>
          </p:nvPr>
        </p:nvSpPr>
        <p:spPr>
          <a:xfrm>
            <a:off x="403490" y="2089149"/>
            <a:ext cx="3322320"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8">
            <a:extLst>
              <a:ext uri="{FF2B5EF4-FFF2-40B4-BE49-F238E27FC236}">
                <a16:creationId xmlns:a16="http://schemas.microsoft.com/office/drawing/2014/main" id="{F77A56BE-E30D-A604-6EC0-1BA1C7B58FB5}"/>
              </a:ext>
            </a:extLst>
          </p:cNvPr>
          <p:cNvSpPr>
            <a:spLocks noGrp="1"/>
          </p:cNvSpPr>
          <p:nvPr>
            <p:ph type="pic" sz="quarter" idx="16"/>
          </p:nvPr>
        </p:nvSpPr>
        <p:spPr>
          <a:xfrm>
            <a:off x="7366000" y="2090822"/>
            <a:ext cx="4603750" cy="3613150"/>
          </a:xfrm>
          <a:prstGeom prst="roundRect">
            <a:avLst>
              <a:gd name="adj" fmla="val 2257"/>
            </a:avLst>
          </a:prstGeom>
          <a:noFill/>
        </p:spPr>
        <p:txBody>
          <a:bodyPr anchor="ctr" anchorCtr="0">
            <a:normAutofit/>
          </a:bodyPr>
          <a:lstStyle>
            <a:lvl1pPr algn="ctr">
              <a:defRPr sz="1600" b="0"/>
            </a:lvl1pPr>
          </a:lstStyle>
          <a:p>
            <a:r>
              <a:rPr lang="zh-CN" altLang="en-US"/>
              <a:t>单击图标添加图片</a:t>
            </a:r>
            <a:endParaRPr lang="en-US"/>
          </a:p>
        </p:txBody>
      </p:sp>
    </p:spTree>
    <p:extLst>
      <p:ext uri="{BB962C8B-B14F-4D97-AF65-F5344CB8AC3E}">
        <p14:creationId xmlns:p14="http://schemas.microsoft.com/office/powerpoint/2010/main" val="2960185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A8567-14EC-C957-B8D3-E24E11570BA0}"/>
              </a:ext>
            </a:extLst>
          </p:cNvPr>
          <p:cNvPicPr>
            <a:picLocks noChangeAspect="1"/>
          </p:cNvPicPr>
          <p:nvPr userDrawn="1"/>
        </p:nvPicPr>
        <p:blipFill>
          <a:blip r:embed="rId2" cstate="email">
            <a:extLst>
              <a:ext uri="{28A0092B-C50C-407E-A947-70E740481C1C}">
                <a14:useLocalDpi xmlns:a14="http://schemas.microsoft.com/office/drawing/2010/main"/>
              </a:ext>
            </a:extLst>
          </a:blip>
          <a:srcRect r="5062" b="4989"/>
          <a:stretch>
            <a:fillRect/>
          </a:stretch>
        </p:blipFill>
        <p:spPr>
          <a:xfrm>
            <a:off x="4357501" y="145058"/>
            <a:ext cx="7834500" cy="6712942"/>
          </a:xfrm>
          <a:prstGeom prst="rect">
            <a:avLst/>
          </a:prstGeom>
        </p:spPr>
      </p:pic>
      <p:sp>
        <p:nvSpPr>
          <p:cNvPr id="6" name="Picture Placeholder 8">
            <a:extLst>
              <a:ext uri="{FF2B5EF4-FFF2-40B4-BE49-F238E27FC236}">
                <a16:creationId xmlns:a16="http://schemas.microsoft.com/office/drawing/2014/main" id="{B7B1E6F2-2C2C-C9A9-5AB8-828355364AC9}"/>
              </a:ext>
            </a:extLst>
          </p:cNvPr>
          <p:cNvSpPr>
            <a:spLocks noGrp="1"/>
          </p:cNvSpPr>
          <p:nvPr>
            <p:ph type="pic" sz="quarter" idx="13"/>
          </p:nvPr>
        </p:nvSpPr>
        <p:spPr>
          <a:xfrm>
            <a:off x="4984750" y="740247"/>
            <a:ext cx="6985000" cy="5651028"/>
          </a:xfrm>
          <a:prstGeom prst="roundRect">
            <a:avLst>
              <a:gd name="adj" fmla="val 2257"/>
            </a:avLst>
          </a:prstGeom>
          <a:noFill/>
        </p:spPr>
        <p:txBody>
          <a:bodyPr anchor="ctr" anchorCtr="0">
            <a:normAutofit/>
          </a:bodyPr>
          <a:lstStyle>
            <a:lvl1pPr algn="ctr">
              <a:defRPr sz="1600" b="0"/>
            </a:lvl1pPr>
          </a:lstStyle>
          <a:p>
            <a:r>
              <a:rPr lang="zh-CN" altLang="en-US"/>
              <a:t>单击图标添加图片</a:t>
            </a:r>
            <a:endParaRPr lang="en-US"/>
          </a:p>
        </p:txBody>
      </p:sp>
      <p:sp>
        <p:nvSpPr>
          <p:cNvPr id="11" name="Subtitle 2">
            <a:extLst>
              <a:ext uri="{FF2B5EF4-FFF2-40B4-BE49-F238E27FC236}">
                <a16:creationId xmlns:a16="http://schemas.microsoft.com/office/drawing/2014/main" id="{62AD280C-FC90-5C16-7F3E-4E787A928E0D}"/>
              </a:ext>
            </a:extLst>
          </p:cNvPr>
          <p:cNvSpPr>
            <a:spLocks noGrp="1"/>
          </p:cNvSpPr>
          <p:nvPr>
            <p:ph type="subTitle" idx="10"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14" name="Text Placeholder 2">
            <a:extLst>
              <a:ext uri="{FF2B5EF4-FFF2-40B4-BE49-F238E27FC236}">
                <a16:creationId xmlns:a16="http://schemas.microsoft.com/office/drawing/2014/main" id="{CFFF1056-2A2E-EAB8-F36F-EBD7E5F8C0F1}"/>
              </a:ext>
            </a:extLst>
          </p:cNvPr>
          <p:cNvSpPr>
            <a:spLocks noGrp="1"/>
          </p:cNvSpPr>
          <p:nvPr>
            <p:ph idx="11" hasCustomPrompt="1"/>
          </p:nvPr>
        </p:nvSpPr>
        <p:spPr>
          <a:xfrm>
            <a:off x="403490" y="2434308"/>
            <a:ext cx="3617420" cy="3956968"/>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
            <a:extLst>
              <a:ext uri="{FF2B5EF4-FFF2-40B4-BE49-F238E27FC236}">
                <a16:creationId xmlns:a16="http://schemas.microsoft.com/office/drawing/2014/main" id="{540E6F3E-0F98-698F-5249-2672EA9AAEAB}"/>
              </a:ext>
            </a:extLst>
          </p:cNvPr>
          <p:cNvSpPr>
            <a:spLocks noGrp="1"/>
          </p:cNvSpPr>
          <p:nvPr>
            <p:ph type="title"/>
          </p:nvPr>
        </p:nvSpPr>
        <p:spPr>
          <a:xfrm>
            <a:off x="403489" y="1088265"/>
            <a:ext cx="4422511" cy="1346034"/>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4" name="TextBox 3">
            <a:extLst>
              <a:ext uri="{FF2B5EF4-FFF2-40B4-BE49-F238E27FC236}">
                <a16:creationId xmlns:a16="http://schemas.microsoft.com/office/drawing/2014/main" id="{C37472F4-F461-80E0-0FB3-EFCB9B5CC08D}"/>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FD827D6D-506A-74EA-66C7-80F4746277AA}"/>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9543386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3AD2B2-95E0-8691-E903-8A9026CF8261}"/>
              </a:ext>
            </a:extLst>
          </p:cNvPr>
          <p:cNvSpPr/>
          <p:nvPr userDrawn="1"/>
        </p:nvSpPr>
        <p:spPr>
          <a:xfrm>
            <a:off x="0" y="508000"/>
            <a:ext cx="12192000" cy="635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3" name="TextBox 2">
            <a:extLst>
              <a:ext uri="{FF2B5EF4-FFF2-40B4-BE49-F238E27FC236}">
                <a16:creationId xmlns:a16="http://schemas.microsoft.com/office/drawing/2014/main" id="{6E1E0455-28DA-FCFA-8ED8-A428ECF25B46}"/>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E3053EBC-3E3E-5CCF-5A5C-C2B528F8E713}"/>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472813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White (Left Align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AB2385-4042-07C0-6BA0-6E264BA5CB68}"/>
              </a:ext>
            </a:extLst>
          </p:cNvPr>
          <p:cNvSpPr/>
          <p:nvPr userDrawn="1"/>
        </p:nvSpPr>
        <p:spPr>
          <a:xfrm>
            <a:off x="0" y="496661"/>
            <a:ext cx="12192000" cy="63613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403489" y="2089149"/>
            <a:ext cx="9185011" cy="4302126"/>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3" name="TextBox 2">
            <a:extLst>
              <a:ext uri="{FF2B5EF4-FFF2-40B4-BE49-F238E27FC236}">
                <a16:creationId xmlns:a16="http://schemas.microsoft.com/office/drawing/2014/main" id="{523F00A7-BEB6-EC4D-515F-8796DA7764E1}"/>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453021A3-0CD0-FAEA-5FA7-F851D1A40F17}"/>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1487835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6793-F272-E05F-7FDB-6FC60AE78F90}"/>
              </a:ext>
            </a:extLst>
          </p:cNvPr>
          <p:cNvPicPr>
            <a:picLocks noChangeAspect="1"/>
          </p:cNvPicPr>
          <p:nvPr userDrawn="1"/>
        </p:nvPicPr>
        <p:blipFill>
          <a:blip r:embed="rId2"/>
          <a:stretch>
            <a:fillRect/>
          </a:stretch>
        </p:blipFill>
        <p:spPr>
          <a:xfrm>
            <a:off x="0" y="508000"/>
            <a:ext cx="12192000" cy="6350000"/>
          </a:xfrm>
          <a:prstGeom prst="rect">
            <a:avLst/>
          </a:prstGeom>
        </p:spPr>
      </p:pic>
      <p:sp>
        <p:nvSpPr>
          <p:cNvPr id="11" name="Title Placeholder 1">
            <a:extLst>
              <a:ext uri="{FF2B5EF4-FFF2-40B4-BE49-F238E27FC236}">
                <a16:creationId xmlns:a16="http://schemas.microsoft.com/office/drawing/2014/main" id="{6740A865-2EAE-D2C5-9D67-0453F029A5D1}"/>
              </a:ext>
            </a:extLst>
          </p:cNvPr>
          <p:cNvSpPr>
            <a:spLocks noGrp="1"/>
          </p:cNvSpPr>
          <p:nvPr>
            <p:ph type="title"/>
          </p:nvPr>
        </p:nvSpPr>
        <p:spPr>
          <a:xfrm>
            <a:off x="2587625" y="2249663"/>
            <a:ext cx="9223373" cy="2786062"/>
          </a:xfrm>
          <a:prstGeom prst="rect">
            <a:avLst/>
          </a:prstGeom>
        </p:spPr>
        <p:txBody>
          <a:bodyPr vert="horz" lIns="0" tIns="45720" rIns="91440" bIns="45720" rtlCol="0" anchor="ctr" anchorCtr="0">
            <a:noAutofit/>
          </a:bodyPr>
          <a:lstStyle>
            <a:lvl1pPr algn="l">
              <a:defRPr lang="en-US" sz="5000" dirty="0"/>
            </a:lvl1pPr>
          </a:lstStyle>
          <a:p>
            <a:r>
              <a:rPr lang="zh-CN" altLang="en-US"/>
              <a:t>单击此处编辑母版标题样式</a:t>
            </a:r>
            <a:endParaRPr lang="en-US"/>
          </a:p>
        </p:txBody>
      </p:sp>
      <p:sp>
        <p:nvSpPr>
          <p:cNvPr id="4" name="Footer Placeholder 4">
            <a:extLst>
              <a:ext uri="{FF2B5EF4-FFF2-40B4-BE49-F238E27FC236}">
                <a16:creationId xmlns:a16="http://schemas.microsoft.com/office/drawing/2014/main" id="{F42CCEFD-F919-42FA-0DD8-3DB039A268F3}"/>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13" name="HeaderMasthead" descr="preencoded.png">
            <a:extLst>
              <a:ext uri="{FF2B5EF4-FFF2-40B4-BE49-F238E27FC236}">
                <a16:creationId xmlns:a16="http://schemas.microsoft.com/office/drawing/2014/main" id="{93C7ACA0-9850-735F-DDA2-7E3D6AF178AA}"/>
              </a:ext>
            </a:extLst>
          </p:cNvPr>
          <p:cNvPicPr>
            <a:picLocks noChangeAspect="1"/>
          </p:cNvPicPr>
          <p:nvPr userDrawn="1"/>
        </p:nvPicPr>
        <p:blipFill>
          <a:blip r:embed="rId3"/>
          <a:srcRect/>
          <a:stretch/>
        </p:blipFill>
        <p:spPr>
          <a:xfrm>
            <a:off x="0" y="508000"/>
            <a:ext cx="12192000" cy="6350000"/>
          </a:xfrm>
          <a:prstGeom prst="rect">
            <a:avLst/>
          </a:prstGeom>
        </p:spPr>
      </p:pic>
      <p:sp>
        <p:nvSpPr>
          <p:cNvPr id="2" name="TextBox 1">
            <a:extLst>
              <a:ext uri="{FF2B5EF4-FFF2-40B4-BE49-F238E27FC236}">
                <a16:creationId xmlns:a16="http://schemas.microsoft.com/office/drawing/2014/main" id="{5EBBDAE8-E8F2-0C57-3991-61B5388D5967}"/>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Tree>
    <p:extLst>
      <p:ext uri="{BB962C8B-B14F-4D97-AF65-F5344CB8AC3E}">
        <p14:creationId xmlns:p14="http://schemas.microsoft.com/office/powerpoint/2010/main" val="23642764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2">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9D6C4FC-7347-DEA0-51A8-878E036B731C}"/>
              </a:ext>
            </a:extLst>
          </p:cNvPr>
          <p:cNvSpPr>
            <a:spLocks noGrp="1"/>
          </p:cNvSpPr>
          <p:nvPr>
            <p:ph sz="half" idx="14"/>
          </p:nvPr>
        </p:nvSpPr>
        <p:spPr>
          <a:xfrm>
            <a:off x="4984749" y="2047462"/>
            <a:ext cx="6173581" cy="4242128"/>
          </a:xfrm>
          <a:prstGeom prst="rect">
            <a:avLst/>
          </a:prstGeom>
        </p:spPr>
        <p:txBody>
          <a:bodyPr>
            <a:noAutofit/>
          </a:bodyPr>
          <a:lstStyle>
            <a:lvl1pPr>
              <a:lnSpc>
                <a:spcPct val="100000"/>
              </a:lnSpc>
              <a:spcBef>
                <a:spcPts val="600"/>
              </a:spcBef>
              <a:defRPr sz="2800">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2800">
                <a:latin typeface="Inter Light" panose="02000403000000020004" pitchFamily="50" charset="0"/>
                <a:ea typeface="Inter Light" panose="02000403000000020004" pitchFamily="50" charset="0"/>
                <a:cs typeface="Inter Light" panose="02000403000000020004" pitchFamily="50" charset="0"/>
              </a:defRPr>
            </a:lvl2pPr>
            <a:lvl3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3pPr>
            <a:lvl4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4pPr>
            <a:lvl5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5pPr>
            <a:lvl6pPr>
              <a:defRPr sz="2000" baseline="0"/>
            </a:lvl6pPr>
            <a:lvl7pPr>
              <a:defRPr sz="2000" baseline="0"/>
            </a:lvl7pPr>
            <a:lvl8pPr>
              <a:defRPr sz="2000" baseline="0"/>
            </a:lvl8pPr>
            <a:lvl9pPr>
              <a:defRPr sz="2000" baseline="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60718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o Single">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2" name="Content Placeholder 2">
            <a:extLst>
              <a:ext uri="{FF2B5EF4-FFF2-40B4-BE49-F238E27FC236}">
                <a16:creationId xmlns:a16="http://schemas.microsoft.com/office/drawing/2014/main" id="{BF082499-2B66-314C-1973-DB5EE025F0B6}"/>
              </a:ext>
            </a:extLst>
          </p:cNvPr>
          <p:cNvSpPr>
            <a:spLocks noGrp="1"/>
          </p:cNvSpPr>
          <p:nvPr>
            <p:ph sz="half" idx="15" hasCustomPrompt="1"/>
          </p:nvPr>
        </p:nvSpPr>
        <p:spPr>
          <a:xfrm>
            <a:off x="403488" y="5774200"/>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3" name="Content Placeholder 2">
            <a:extLst>
              <a:ext uri="{FF2B5EF4-FFF2-40B4-BE49-F238E27FC236}">
                <a16:creationId xmlns:a16="http://schemas.microsoft.com/office/drawing/2014/main" id="{DEBF5507-DAA8-A243-F8A6-84A409DE0F37}"/>
              </a:ext>
            </a:extLst>
          </p:cNvPr>
          <p:cNvSpPr>
            <a:spLocks noGrp="1"/>
          </p:cNvSpPr>
          <p:nvPr>
            <p:ph sz="half" idx="16" hasCustomPrompt="1"/>
          </p:nvPr>
        </p:nvSpPr>
        <p:spPr>
          <a:xfrm>
            <a:off x="403489" y="6047589"/>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4" name="Picture Placeholder 8">
            <a:extLst>
              <a:ext uri="{FF2B5EF4-FFF2-40B4-BE49-F238E27FC236}">
                <a16:creationId xmlns:a16="http://schemas.microsoft.com/office/drawing/2014/main" id="{7551BE5F-EB37-52BA-BF3C-7F77959E16F5}"/>
              </a:ext>
            </a:extLst>
          </p:cNvPr>
          <p:cNvSpPr>
            <a:spLocks noGrp="1"/>
          </p:cNvSpPr>
          <p:nvPr>
            <p:ph type="pic" sz="quarter" idx="21"/>
          </p:nvPr>
        </p:nvSpPr>
        <p:spPr>
          <a:xfrm>
            <a:off x="403488" y="2089150"/>
            <a:ext cx="3276600" cy="34290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zh-CN" altLang="en-US"/>
              <a:t>单击图标添加图片</a:t>
            </a:r>
            <a:endParaRPr lang="en-US"/>
          </a:p>
        </p:txBody>
      </p:sp>
      <p:sp>
        <p:nvSpPr>
          <p:cNvPr id="15" name="Text Placeholder 2">
            <a:extLst>
              <a:ext uri="{FF2B5EF4-FFF2-40B4-BE49-F238E27FC236}">
                <a16:creationId xmlns:a16="http://schemas.microsoft.com/office/drawing/2014/main" id="{E8E15AC9-7292-3D13-6C73-282E69EE8FE5}"/>
              </a:ext>
            </a:extLst>
          </p:cNvPr>
          <p:cNvSpPr>
            <a:spLocks noGrp="1"/>
          </p:cNvSpPr>
          <p:nvPr>
            <p:ph idx="22"/>
          </p:nvPr>
        </p:nvSpPr>
        <p:spPr>
          <a:xfrm>
            <a:off x="4991365" y="2089150"/>
            <a:ext cx="4597135" cy="3429001"/>
          </a:xfrm>
          <a:prstGeom prst="rect">
            <a:avLst/>
          </a:prstGeom>
        </p:spPr>
        <p:txBody>
          <a:bodyPr vert="horz" lIns="0" tIns="45720" rIns="0" bIns="45720" rtlCol="0" anchor="ctr">
            <a:no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2290569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o - 4 Presenters">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2" name="Content Placeholder 2">
            <a:extLst>
              <a:ext uri="{FF2B5EF4-FFF2-40B4-BE49-F238E27FC236}">
                <a16:creationId xmlns:a16="http://schemas.microsoft.com/office/drawing/2014/main" id="{BF082499-2B66-314C-1973-DB5EE025F0B6}"/>
              </a:ext>
            </a:extLst>
          </p:cNvPr>
          <p:cNvSpPr>
            <a:spLocks noGrp="1"/>
          </p:cNvSpPr>
          <p:nvPr>
            <p:ph sz="half" idx="15" hasCustomPrompt="1"/>
          </p:nvPr>
        </p:nvSpPr>
        <p:spPr>
          <a:xfrm>
            <a:off x="2119878" y="2488077"/>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3" name="Content Placeholder 2">
            <a:extLst>
              <a:ext uri="{FF2B5EF4-FFF2-40B4-BE49-F238E27FC236}">
                <a16:creationId xmlns:a16="http://schemas.microsoft.com/office/drawing/2014/main" id="{DEBF5507-DAA8-A243-F8A6-84A409DE0F37}"/>
              </a:ext>
            </a:extLst>
          </p:cNvPr>
          <p:cNvSpPr>
            <a:spLocks noGrp="1"/>
          </p:cNvSpPr>
          <p:nvPr>
            <p:ph sz="half" idx="16" hasCustomPrompt="1"/>
          </p:nvPr>
        </p:nvSpPr>
        <p:spPr>
          <a:xfrm>
            <a:off x="2119879" y="2734252"/>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4" name="Picture Placeholder 8">
            <a:extLst>
              <a:ext uri="{FF2B5EF4-FFF2-40B4-BE49-F238E27FC236}">
                <a16:creationId xmlns:a16="http://schemas.microsoft.com/office/drawing/2014/main" id="{7551BE5F-EB37-52BA-BF3C-7F77959E16F5}"/>
              </a:ext>
            </a:extLst>
          </p:cNvPr>
          <p:cNvSpPr>
            <a:spLocks noGrp="1"/>
          </p:cNvSpPr>
          <p:nvPr>
            <p:ph type="pic" sz="quarter" idx="21"/>
          </p:nvPr>
        </p:nvSpPr>
        <p:spPr>
          <a:xfrm>
            <a:off x="403488" y="2380732"/>
            <a:ext cx="1524000" cy="15240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zh-CN" altLang="en-US"/>
              <a:t>单击图标添加图片</a:t>
            </a:r>
            <a:endParaRPr lang="en-US"/>
          </a:p>
        </p:txBody>
      </p:sp>
      <p:sp>
        <p:nvSpPr>
          <p:cNvPr id="5" name="Content Placeholder 2">
            <a:extLst>
              <a:ext uri="{FF2B5EF4-FFF2-40B4-BE49-F238E27FC236}">
                <a16:creationId xmlns:a16="http://schemas.microsoft.com/office/drawing/2014/main" id="{FDBD811A-C99D-3B7A-BCC3-66DA844F1C8B}"/>
              </a:ext>
            </a:extLst>
          </p:cNvPr>
          <p:cNvSpPr>
            <a:spLocks noGrp="1"/>
          </p:cNvSpPr>
          <p:nvPr>
            <p:ph sz="half" idx="22" hasCustomPrompt="1"/>
          </p:nvPr>
        </p:nvSpPr>
        <p:spPr>
          <a:xfrm>
            <a:off x="2119878" y="4506307"/>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7" name="Content Placeholder 2">
            <a:extLst>
              <a:ext uri="{FF2B5EF4-FFF2-40B4-BE49-F238E27FC236}">
                <a16:creationId xmlns:a16="http://schemas.microsoft.com/office/drawing/2014/main" id="{59A747F1-959A-3806-A11E-FFACEFB693EF}"/>
              </a:ext>
            </a:extLst>
          </p:cNvPr>
          <p:cNvSpPr>
            <a:spLocks noGrp="1"/>
          </p:cNvSpPr>
          <p:nvPr>
            <p:ph sz="half" idx="23" hasCustomPrompt="1"/>
          </p:nvPr>
        </p:nvSpPr>
        <p:spPr>
          <a:xfrm>
            <a:off x="2119879" y="4752482"/>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8" name="Picture Placeholder 8">
            <a:extLst>
              <a:ext uri="{FF2B5EF4-FFF2-40B4-BE49-F238E27FC236}">
                <a16:creationId xmlns:a16="http://schemas.microsoft.com/office/drawing/2014/main" id="{51B0D53B-7E9B-3DC3-BA87-003824F65D9D}"/>
              </a:ext>
            </a:extLst>
          </p:cNvPr>
          <p:cNvSpPr>
            <a:spLocks noGrp="1"/>
          </p:cNvSpPr>
          <p:nvPr>
            <p:ph type="pic" sz="quarter" idx="24"/>
          </p:nvPr>
        </p:nvSpPr>
        <p:spPr>
          <a:xfrm>
            <a:off x="403488" y="4398962"/>
            <a:ext cx="1524000" cy="15240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zh-CN" altLang="en-US"/>
              <a:t>单击图标添加图片</a:t>
            </a:r>
            <a:endParaRPr lang="en-US"/>
          </a:p>
        </p:txBody>
      </p:sp>
      <p:sp>
        <p:nvSpPr>
          <p:cNvPr id="9" name="Content Placeholder 2">
            <a:extLst>
              <a:ext uri="{FF2B5EF4-FFF2-40B4-BE49-F238E27FC236}">
                <a16:creationId xmlns:a16="http://schemas.microsoft.com/office/drawing/2014/main" id="{B606E116-3C8D-CF15-BA0D-FE1D9DF8D865}"/>
              </a:ext>
            </a:extLst>
          </p:cNvPr>
          <p:cNvSpPr>
            <a:spLocks noGrp="1"/>
          </p:cNvSpPr>
          <p:nvPr>
            <p:ph sz="half" idx="25" hasCustomPrompt="1"/>
          </p:nvPr>
        </p:nvSpPr>
        <p:spPr>
          <a:xfrm>
            <a:off x="8008937" y="2488077"/>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0" name="Content Placeholder 2">
            <a:extLst>
              <a:ext uri="{FF2B5EF4-FFF2-40B4-BE49-F238E27FC236}">
                <a16:creationId xmlns:a16="http://schemas.microsoft.com/office/drawing/2014/main" id="{1DEF596F-37D3-8C56-AEC3-A941B57F4B88}"/>
              </a:ext>
            </a:extLst>
          </p:cNvPr>
          <p:cNvSpPr>
            <a:spLocks noGrp="1"/>
          </p:cNvSpPr>
          <p:nvPr>
            <p:ph sz="half" idx="26" hasCustomPrompt="1"/>
          </p:nvPr>
        </p:nvSpPr>
        <p:spPr>
          <a:xfrm>
            <a:off x="8008938" y="2734252"/>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1" name="Picture Placeholder 8">
            <a:extLst>
              <a:ext uri="{FF2B5EF4-FFF2-40B4-BE49-F238E27FC236}">
                <a16:creationId xmlns:a16="http://schemas.microsoft.com/office/drawing/2014/main" id="{25D416AB-5AB8-3255-9B13-3BFE55B1067E}"/>
              </a:ext>
            </a:extLst>
          </p:cNvPr>
          <p:cNvSpPr>
            <a:spLocks noGrp="1"/>
          </p:cNvSpPr>
          <p:nvPr>
            <p:ph type="pic" sz="quarter" idx="27"/>
          </p:nvPr>
        </p:nvSpPr>
        <p:spPr>
          <a:xfrm>
            <a:off x="6292547" y="2380732"/>
            <a:ext cx="1524000" cy="15240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zh-CN" altLang="en-US"/>
              <a:t>单击图标添加图片</a:t>
            </a:r>
            <a:endParaRPr lang="en-US"/>
          </a:p>
        </p:txBody>
      </p:sp>
      <p:sp>
        <p:nvSpPr>
          <p:cNvPr id="12" name="Content Placeholder 2">
            <a:extLst>
              <a:ext uri="{FF2B5EF4-FFF2-40B4-BE49-F238E27FC236}">
                <a16:creationId xmlns:a16="http://schemas.microsoft.com/office/drawing/2014/main" id="{ABFEF732-87F6-4DAB-0C27-9A712527F2FB}"/>
              </a:ext>
            </a:extLst>
          </p:cNvPr>
          <p:cNvSpPr>
            <a:spLocks noGrp="1"/>
          </p:cNvSpPr>
          <p:nvPr>
            <p:ph sz="half" idx="28" hasCustomPrompt="1"/>
          </p:nvPr>
        </p:nvSpPr>
        <p:spPr>
          <a:xfrm>
            <a:off x="8008937" y="4506307"/>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3" name="Content Placeholder 2">
            <a:extLst>
              <a:ext uri="{FF2B5EF4-FFF2-40B4-BE49-F238E27FC236}">
                <a16:creationId xmlns:a16="http://schemas.microsoft.com/office/drawing/2014/main" id="{668E4127-A4BC-BD25-7D63-1979A3E79EF6}"/>
              </a:ext>
            </a:extLst>
          </p:cNvPr>
          <p:cNvSpPr>
            <a:spLocks noGrp="1"/>
          </p:cNvSpPr>
          <p:nvPr>
            <p:ph sz="half" idx="29" hasCustomPrompt="1"/>
          </p:nvPr>
        </p:nvSpPr>
        <p:spPr>
          <a:xfrm>
            <a:off x="8008938" y="4752482"/>
            <a:ext cx="3802062" cy="151278"/>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4" name="Picture Placeholder 8">
            <a:extLst>
              <a:ext uri="{FF2B5EF4-FFF2-40B4-BE49-F238E27FC236}">
                <a16:creationId xmlns:a16="http://schemas.microsoft.com/office/drawing/2014/main" id="{A5C05823-0C0C-A242-FF86-E466B32E9215}"/>
              </a:ext>
            </a:extLst>
          </p:cNvPr>
          <p:cNvSpPr>
            <a:spLocks noGrp="1"/>
          </p:cNvSpPr>
          <p:nvPr>
            <p:ph type="pic" sz="quarter" idx="30"/>
          </p:nvPr>
        </p:nvSpPr>
        <p:spPr>
          <a:xfrm>
            <a:off x="6292547" y="4398962"/>
            <a:ext cx="1524000" cy="15240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zh-CN" altLang="en-US"/>
              <a:t>单击图标添加图片</a:t>
            </a:r>
            <a:endParaRPr lang="en-US"/>
          </a:p>
        </p:txBody>
      </p:sp>
    </p:spTree>
    <p:extLst>
      <p:ext uri="{BB962C8B-B14F-4D97-AF65-F5344CB8AC3E}">
        <p14:creationId xmlns:p14="http://schemas.microsoft.com/office/powerpoint/2010/main" val="1960151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Full Ble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userDrawn="1"/>
        </p:nvPicPr>
        <p:blipFill>
          <a:blip r:embed="rId2"/>
          <a:srcRect/>
          <a:stretch/>
        </p:blipFill>
        <p:spPr>
          <a:xfrm>
            <a:off x="0" y="-1"/>
            <a:ext cx="12192000" cy="6858000"/>
          </a:xfrm>
          <a:prstGeom prst="rect">
            <a:avLst/>
          </a:prstGeom>
        </p:spPr>
      </p:pic>
      <p:sp>
        <p:nvSpPr>
          <p:cNvPr id="6" name="Title Placeholder 1">
            <a:extLst>
              <a:ext uri="{FF2B5EF4-FFF2-40B4-BE49-F238E27FC236}">
                <a16:creationId xmlns:a16="http://schemas.microsoft.com/office/drawing/2014/main" id="{8C3C95B2-F331-1096-8717-06D4D9735AFA}"/>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lvl1pPr>
              <a:defRPr>
                <a:solidFill>
                  <a:schemeClr val="bg1"/>
                </a:solidFill>
              </a:defRPr>
            </a:lvl1pPr>
          </a:lstStyle>
          <a:p>
            <a:r>
              <a:rPr lang="zh-CN" altLang="en-US"/>
              <a:t>单击此处编辑母版标题样式</a:t>
            </a:r>
            <a:endParaRPr lang="en-US"/>
          </a:p>
        </p:txBody>
      </p:sp>
      <p:sp>
        <p:nvSpPr>
          <p:cNvPr id="7" name="Subtitle 2">
            <a:extLst>
              <a:ext uri="{FF2B5EF4-FFF2-40B4-BE49-F238E27FC236}">
                <a16:creationId xmlns:a16="http://schemas.microsoft.com/office/drawing/2014/main" id="{45D26464-8BF8-9643-D915-A91B6ECFC4E5}"/>
              </a:ext>
            </a:extLst>
          </p:cNvPr>
          <p:cNvSpPr>
            <a:spLocks noGrp="1"/>
          </p:cNvSpPr>
          <p:nvPr>
            <p:ph type="subTitle" idx="10"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1"/>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2" name="TextBox 1">
            <a:extLst>
              <a:ext uri="{FF2B5EF4-FFF2-40B4-BE49-F238E27FC236}">
                <a16:creationId xmlns:a16="http://schemas.microsoft.com/office/drawing/2014/main" id="{82B14BDC-01CE-3431-C0CE-A241E39ACE58}"/>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8" name="Text Box 115">
            <a:extLst>
              <a:ext uri="{FF2B5EF4-FFF2-40B4-BE49-F238E27FC236}">
                <a16:creationId xmlns:a16="http://schemas.microsoft.com/office/drawing/2014/main" id="{966E7D02-A59E-D77B-34F9-177B59C8C7BD}"/>
              </a:ext>
            </a:extLst>
          </p:cNvPr>
          <p:cNvSpPr txBox="1">
            <a:spLocks noChangeArrowheads="1"/>
          </p:cNvSpPr>
          <p:nvPr userDrawn="1"/>
        </p:nvSpPr>
        <p:spPr bwMode="auto">
          <a:xfrm>
            <a:off x="11764114" y="174372"/>
            <a:ext cx="219456" cy="146304"/>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sp>
        <p:nvSpPr>
          <p:cNvPr id="9" name="Text Box 115">
            <a:extLst>
              <a:ext uri="{FF2B5EF4-FFF2-40B4-BE49-F238E27FC236}">
                <a16:creationId xmlns:a16="http://schemas.microsoft.com/office/drawing/2014/main" id="{C625C1F0-127F-73C3-7ADA-A6081E5BFC53}"/>
              </a:ext>
            </a:extLst>
          </p:cNvPr>
          <p:cNvSpPr txBox="1">
            <a:spLocks noChangeArrowheads="1"/>
          </p:cNvSpPr>
          <p:nvPr userDrawn="1"/>
        </p:nvSpPr>
        <p:spPr bwMode="auto">
          <a:xfrm>
            <a:off x="11764114" y="174372"/>
            <a:ext cx="219456" cy="146304"/>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pic>
        <p:nvPicPr>
          <p:cNvPr id="10" name="Union" descr="preencoded.png">
            <a:extLst>
              <a:ext uri="{FF2B5EF4-FFF2-40B4-BE49-F238E27FC236}">
                <a16:creationId xmlns:a16="http://schemas.microsoft.com/office/drawing/2014/main" id="{2E0A7C26-1063-DA8C-412A-967875A0E23D}"/>
              </a:ext>
            </a:extLst>
          </p:cNvPr>
          <p:cNvPicPr>
            <a:picLocks noChangeAspect="1"/>
          </p:cNvPicPr>
          <p:nvPr userDrawn="1"/>
        </p:nvPicPr>
        <p:blipFill>
          <a:blip r:embed="rId3"/>
          <a:srcRect/>
          <a:stretch/>
        </p:blipFill>
        <p:spPr>
          <a:xfrm>
            <a:off x="409178" y="190696"/>
            <a:ext cx="781843" cy="126608"/>
          </a:xfrm>
          <a:prstGeom prst="rect">
            <a:avLst/>
          </a:prstGeom>
        </p:spPr>
      </p:pic>
      <p:sp>
        <p:nvSpPr>
          <p:cNvPr id="11" name="COMPANY OVERVIEW">
            <a:extLst>
              <a:ext uri="{FF2B5EF4-FFF2-40B4-BE49-F238E27FC236}">
                <a16:creationId xmlns:a16="http://schemas.microsoft.com/office/drawing/2014/main" id="{460D8598-B6F3-061C-1E91-55DD0B252539}"/>
              </a:ext>
            </a:extLst>
          </p:cNvPr>
          <p:cNvSpPr/>
          <p:nvPr userDrawn="1"/>
        </p:nvSpPr>
        <p:spPr>
          <a:xfrm>
            <a:off x="3950892" y="203200"/>
            <a:ext cx="4292203" cy="107950"/>
          </a:xfrm>
          <a:prstGeom prst="rect">
            <a:avLst/>
          </a:prstGeom>
          <a:noFill/>
          <a:ln/>
        </p:spPr>
        <p:txBody>
          <a:bodyPr wrap="square" lIns="0" tIns="0" rIns="0" bIns="0" rtlCol="0" anchor="t"/>
          <a:lstStyle/>
          <a:p>
            <a:pPr marL="0" indent="0" algn="ctr">
              <a:lnSpc>
                <a:spcPts val="1020"/>
              </a:lnSpc>
              <a:buNone/>
            </a:pPr>
            <a:r>
              <a:rPr lang="en-US" sz="900" b="1" kern="0" cap="all" spc="168" baseline="0" dirty="0">
                <a:solidFill>
                  <a:schemeClr val="bg1"/>
                </a:solidFill>
                <a:latin typeface="Inter" panose="02000503000000020004" pitchFamily="50" charset="0"/>
                <a:ea typeface="Inter" panose="02000503000000020004" pitchFamily="50" charset="0"/>
                <a:cs typeface="Inter" panose="02000503000000020004" pitchFamily="50" charset="0"/>
              </a:rPr>
              <a:t/>
            </a:r>
            <a:endParaRPr lang="en-US" sz="900" b="1" cap="all" baseline="0" dirty="0">
              <a:solidFill>
                <a:schemeClr val="bg1"/>
              </a:solidFill>
              <a:latin typeface="Inter" panose="02000503000000020004" pitchFamily="50" charset="0"/>
              <a:ea typeface="Inter" panose="02000503000000020004" pitchFamily="50" charset="0"/>
              <a:cs typeface="Inter" panose="02000503000000020004" pitchFamily="50" charset="0"/>
            </a:endParaRPr>
          </a:p>
        </p:txBody>
      </p:sp>
    </p:spTree>
    <p:extLst>
      <p:ext uri="{BB962C8B-B14F-4D97-AF65-F5344CB8AC3E}">
        <p14:creationId xmlns:p14="http://schemas.microsoft.com/office/powerpoint/2010/main" val="918318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Whit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userDrawn="1"/>
        </p:nvSpPr>
        <p:spPr>
          <a:xfrm>
            <a:off x="0" y="508000"/>
            <a:ext cx="12192000" cy="635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Placeholder 1">
            <a:extLst>
              <a:ext uri="{FF2B5EF4-FFF2-40B4-BE49-F238E27FC236}">
                <a16:creationId xmlns:a16="http://schemas.microsoft.com/office/drawing/2014/main" id="{8C3C95B2-F331-1096-8717-06D4D9735AFA}"/>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lvl1pPr>
              <a:defRPr>
                <a:solidFill>
                  <a:schemeClr val="bg1"/>
                </a:solidFill>
              </a:defRPr>
            </a:lvl1pPr>
          </a:lstStyle>
          <a:p>
            <a:r>
              <a:rPr lang="zh-CN" altLang="en-US"/>
              <a:t>单击此处编辑母版标题样式</a:t>
            </a:r>
            <a:endParaRPr lang="en-US"/>
          </a:p>
        </p:txBody>
      </p:sp>
      <p:sp>
        <p:nvSpPr>
          <p:cNvPr id="7" name="Subtitle 2">
            <a:extLst>
              <a:ext uri="{FF2B5EF4-FFF2-40B4-BE49-F238E27FC236}">
                <a16:creationId xmlns:a16="http://schemas.microsoft.com/office/drawing/2014/main" id="{45D26464-8BF8-9643-D915-A91B6ECFC4E5}"/>
              </a:ext>
            </a:extLst>
          </p:cNvPr>
          <p:cNvSpPr>
            <a:spLocks noGrp="1"/>
          </p:cNvSpPr>
          <p:nvPr>
            <p:ph type="subTitle" idx="10" hasCustomPrompt="1"/>
          </p:nvPr>
        </p:nvSpPr>
        <p:spPr>
          <a:xfrm>
            <a:off x="388709" y="740247"/>
            <a:ext cx="3632201" cy="167781"/>
          </a:xfrm>
          <a:prstGeom prst="rect">
            <a:avLst/>
          </a:prstGeom>
        </p:spPr>
        <p:txBody>
          <a:bodyPr lIns="0" tIns="0" rIns="0" bIns="0" anchor="ctr" anchorCtr="0">
            <a:noAutofit/>
          </a:bodyPr>
          <a:lstStyle>
            <a:lvl1pPr marL="0" indent="0" algn="l">
              <a:spcBef>
                <a:spcPts val="0"/>
              </a:spcBef>
              <a:buNone/>
              <a:defRPr sz="1050" b="0" spc="0" baseline="0">
                <a:solidFill>
                  <a:schemeClr val="accent1"/>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2" name="TextBox 1">
            <a:extLst>
              <a:ext uri="{FF2B5EF4-FFF2-40B4-BE49-F238E27FC236}">
                <a16:creationId xmlns:a16="http://schemas.microsoft.com/office/drawing/2014/main" id="{82B14BDC-01CE-3431-C0CE-A241E39ACE58}"/>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397010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userDrawn="1"/>
        </p:nvPicPr>
        <p:blipFill>
          <a:blip r:embed="rId2"/>
          <a:srcRect/>
          <a:stretch/>
        </p:blipFill>
        <p:spPr>
          <a:xfrm>
            <a:off x="0" y="0"/>
            <a:ext cx="12192000" cy="6857999"/>
          </a:xfrm>
          <a:prstGeom prst="rect">
            <a:avLst/>
          </a:prstGeom>
        </p:spPr>
      </p:pic>
      <p:sp>
        <p:nvSpPr>
          <p:cNvPr id="2" name="TextBox 1">
            <a:extLst>
              <a:ext uri="{FF2B5EF4-FFF2-40B4-BE49-F238E27FC236}">
                <a16:creationId xmlns:a16="http://schemas.microsoft.com/office/drawing/2014/main" id="{82B14BDC-01CE-3431-C0CE-A241E39ACE58}"/>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8" name="Content Placeholder 2">
            <a:extLst>
              <a:ext uri="{FF2B5EF4-FFF2-40B4-BE49-F238E27FC236}">
                <a16:creationId xmlns:a16="http://schemas.microsoft.com/office/drawing/2014/main" id="{255F7739-5F3D-DF4D-BE90-E2362F48ACE4}"/>
              </a:ext>
            </a:extLst>
          </p:cNvPr>
          <p:cNvSpPr>
            <a:spLocks noGrp="1"/>
          </p:cNvSpPr>
          <p:nvPr>
            <p:ph sz="half" idx="14"/>
          </p:nvPr>
        </p:nvSpPr>
        <p:spPr>
          <a:xfrm>
            <a:off x="2587625" y="1874793"/>
            <a:ext cx="9223373" cy="2213110"/>
          </a:xfrm>
          <a:prstGeom prst="rect">
            <a:avLst/>
          </a:prstGeom>
        </p:spPr>
        <p:txBody>
          <a:bodyPr>
            <a:noAutofit/>
          </a:bodyPr>
          <a:lstStyle>
            <a:lvl1pPr>
              <a:lnSpc>
                <a:spcPts val="3600"/>
              </a:lnSpc>
              <a:spcBef>
                <a:spcPts val="600"/>
              </a:spcBef>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1pPr>
            <a:lvl2pPr>
              <a:lnSpc>
                <a:spcPts val="3600"/>
              </a:lnSpc>
              <a:spcBef>
                <a:spcPts val="600"/>
              </a:spcBef>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2pPr>
            <a:lvl3pPr marL="0" indent="0">
              <a:lnSpc>
                <a:spcPts val="36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3pPr>
            <a:lvl4pPr marL="0" indent="0">
              <a:lnSpc>
                <a:spcPct val="1000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4pPr>
            <a:lvl5pPr marL="0" indent="0">
              <a:lnSpc>
                <a:spcPct val="1000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5pPr>
            <a:lvl6pPr>
              <a:defRPr sz="2000" baseline="0"/>
            </a:lvl6pPr>
            <a:lvl7pPr>
              <a:defRPr sz="2000" baseline="0"/>
            </a:lvl7pPr>
            <a:lvl8pPr>
              <a:defRPr sz="2000" baseline="0"/>
            </a:lvl8pPr>
            <a:lvl9pPr>
              <a:defRPr sz="2000" baseline="0"/>
            </a:lvl9pPr>
          </a:lstStyle>
          <a:p>
            <a:pPr lvl="0"/>
            <a:r>
              <a:rPr lang="zh-CN" altLang="en-US"/>
              <a:t>单击此处编辑母版文本样式</a:t>
            </a:r>
          </a:p>
          <a:p>
            <a:pPr lvl="1"/>
            <a:r>
              <a:rPr lang="zh-CN" altLang="en-US"/>
              <a:t>二级</a:t>
            </a:r>
          </a:p>
          <a:p>
            <a:pPr lvl="2"/>
            <a:r>
              <a:rPr lang="zh-CN" altLang="en-US"/>
              <a:t>三级</a:t>
            </a:r>
          </a:p>
        </p:txBody>
      </p:sp>
      <p:sp>
        <p:nvSpPr>
          <p:cNvPr id="13" name="Content Placeholder 2">
            <a:extLst>
              <a:ext uri="{FF2B5EF4-FFF2-40B4-BE49-F238E27FC236}">
                <a16:creationId xmlns:a16="http://schemas.microsoft.com/office/drawing/2014/main" id="{6C988E8C-D038-1253-4258-6D8D58C445FC}"/>
              </a:ext>
            </a:extLst>
          </p:cNvPr>
          <p:cNvSpPr>
            <a:spLocks noGrp="1"/>
          </p:cNvSpPr>
          <p:nvPr>
            <p:ph sz="half" idx="15" hasCustomPrompt="1"/>
          </p:nvPr>
        </p:nvSpPr>
        <p:spPr>
          <a:xfrm>
            <a:off x="3742530" y="4610791"/>
            <a:ext cx="6004719" cy="151278"/>
          </a:xfrm>
          <a:prstGeom prst="rect">
            <a:avLst/>
          </a:prstGeom>
        </p:spPr>
        <p:txBody>
          <a:bodyPr tIns="0" rIns="0" bIns="0">
            <a:noAutofit/>
          </a:bodyPr>
          <a:lstStyle>
            <a:lvl1pPr>
              <a:lnSpc>
                <a:spcPct val="100000"/>
              </a:lnSpc>
              <a:spcBef>
                <a:spcPts val="600"/>
              </a:spcBef>
              <a:defRPr sz="1200" cap="all" spc="160" baseline="0">
                <a:solidFill>
                  <a:schemeClr val="bg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4" name="Content Placeholder 2">
            <a:extLst>
              <a:ext uri="{FF2B5EF4-FFF2-40B4-BE49-F238E27FC236}">
                <a16:creationId xmlns:a16="http://schemas.microsoft.com/office/drawing/2014/main" id="{8C6F164B-E08C-29C0-7C1E-2FD6BCE1ADDA}"/>
              </a:ext>
            </a:extLst>
          </p:cNvPr>
          <p:cNvSpPr>
            <a:spLocks noGrp="1"/>
          </p:cNvSpPr>
          <p:nvPr>
            <p:ph sz="half" idx="16" hasCustomPrompt="1"/>
          </p:nvPr>
        </p:nvSpPr>
        <p:spPr>
          <a:xfrm>
            <a:off x="3742531" y="4905347"/>
            <a:ext cx="6004719" cy="151278"/>
          </a:xfrm>
          <a:prstGeom prst="rect">
            <a:avLst/>
          </a:prstGeom>
        </p:spPr>
        <p:txBody>
          <a:bodyPr tIns="0" rIns="0" bIns="0">
            <a:noAutofit/>
          </a:bodyPr>
          <a:lstStyle>
            <a:lvl1pPr>
              <a:lnSpc>
                <a:spcPct val="100000"/>
              </a:lnSpc>
              <a:spcBef>
                <a:spcPts val="600"/>
              </a:spcBef>
              <a:defRPr sz="1200" cap="all" spc="160" baseline="0">
                <a:solidFill>
                  <a:schemeClr val="bg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6" name="Picture Placeholder 8">
            <a:extLst>
              <a:ext uri="{FF2B5EF4-FFF2-40B4-BE49-F238E27FC236}">
                <a16:creationId xmlns:a16="http://schemas.microsoft.com/office/drawing/2014/main" id="{7C4B69D7-624C-1666-EA6E-6FA241A24892}"/>
              </a:ext>
            </a:extLst>
          </p:cNvPr>
          <p:cNvSpPr>
            <a:spLocks noGrp="1"/>
          </p:cNvSpPr>
          <p:nvPr>
            <p:ph type="pic" sz="quarter" idx="21"/>
          </p:nvPr>
        </p:nvSpPr>
        <p:spPr>
          <a:xfrm>
            <a:off x="2587624" y="4376447"/>
            <a:ext cx="928688" cy="928688"/>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17" name="Graphic 14">
            <a:extLst>
              <a:ext uri="{FF2B5EF4-FFF2-40B4-BE49-F238E27FC236}">
                <a16:creationId xmlns:a16="http://schemas.microsoft.com/office/drawing/2014/main" id="{289971B2-6DA5-08CA-F7E5-1172BD30B562}"/>
              </a:ext>
            </a:extLst>
          </p:cNvPr>
          <p:cNvSpPr/>
          <p:nvPr/>
        </p:nvSpPr>
        <p:spPr>
          <a:xfrm>
            <a:off x="1107455" y="2004611"/>
            <a:ext cx="1010098" cy="804690"/>
          </a:xfrm>
          <a:custGeom>
            <a:avLst/>
            <a:gdLst>
              <a:gd name="csX0" fmla="*/ 436380 w 1212117"/>
              <a:gd name="csY0" fmla="*/ 528071 h 965628"/>
              <a:gd name="csX1" fmla="*/ 187312 w 1212117"/>
              <a:gd name="csY1" fmla="*/ 528071 h 965628"/>
              <a:gd name="csX2" fmla="*/ 187312 w 1212117"/>
              <a:gd name="csY2" fmla="*/ 409448 h 965628"/>
              <a:gd name="csX3" fmla="*/ 425638 w 1212117"/>
              <a:gd name="csY3" fmla="*/ 172264 h 965628"/>
              <a:gd name="csX4" fmla="*/ 433264 w 1212117"/>
              <a:gd name="csY4" fmla="*/ 172213 h 965628"/>
              <a:gd name="csX5" fmla="*/ 483088 w 1212117"/>
              <a:gd name="csY5" fmla="*/ 172213 h 965628"/>
              <a:gd name="csX6" fmla="*/ 483088 w 1212117"/>
              <a:gd name="csY6" fmla="*/ 13007 h 965628"/>
              <a:gd name="csX7" fmla="*/ 427044 w 1212117"/>
              <a:gd name="csY7" fmla="*/ 13007 h 965628"/>
              <a:gd name="csX8" fmla="*/ 427044 w 1212117"/>
              <a:gd name="csY8" fmla="*/ 0 h 965628"/>
              <a:gd name="csX9" fmla="*/ 496060 w 1212117"/>
              <a:gd name="csY9" fmla="*/ 0 h 965628"/>
              <a:gd name="csX10" fmla="*/ 496060 w 1212117"/>
              <a:gd name="csY10" fmla="*/ 185220 h 965628"/>
              <a:gd name="csX11" fmla="*/ 433264 w 1212117"/>
              <a:gd name="csY11" fmla="*/ 185220 h 965628"/>
              <a:gd name="csX12" fmla="*/ 257797 w 1212117"/>
              <a:gd name="csY12" fmla="*/ 240893 h 965628"/>
              <a:gd name="csX13" fmla="*/ 200284 w 1212117"/>
              <a:gd name="csY13" fmla="*/ 409448 h 965628"/>
              <a:gd name="csX14" fmla="*/ 200284 w 1212117"/>
              <a:gd name="csY14" fmla="*/ 515065 h 965628"/>
              <a:gd name="csX15" fmla="*/ 449352 w 1212117"/>
              <a:gd name="csY15" fmla="*/ 515065 h 965628"/>
              <a:gd name="csX16" fmla="*/ 449352 w 1212117"/>
              <a:gd name="csY16" fmla="*/ 965628 h 965628"/>
              <a:gd name="csX17" fmla="*/ 0 w 1212117"/>
              <a:gd name="csY17" fmla="*/ 965628 h 965628"/>
              <a:gd name="csX18" fmla="*/ 0 w 1212117"/>
              <a:gd name="csY18" fmla="*/ 418822 h 965628"/>
              <a:gd name="csX19" fmla="*/ 106273 w 1212117"/>
              <a:gd name="csY19" fmla="*/ 113340 h 965628"/>
              <a:gd name="csX20" fmla="*/ 106337 w 1212117"/>
              <a:gd name="csY20" fmla="*/ 113263 h 965628"/>
              <a:gd name="csX21" fmla="*/ 106400 w 1212117"/>
              <a:gd name="csY21" fmla="*/ 113200 h 965628"/>
              <a:gd name="csX22" fmla="*/ 427044 w 1212117"/>
              <a:gd name="csY22" fmla="*/ 0 h 965628"/>
              <a:gd name="csX23" fmla="*/ 427044 w 1212117"/>
              <a:gd name="csY23" fmla="*/ 13007 h 965628"/>
              <a:gd name="csX24" fmla="*/ 414300 w 1212117"/>
              <a:gd name="csY24" fmla="*/ 13108 h 965628"/>
              <a:gd name="csX25" fmla="*/ 115711 w 1212117"/>
              <a:gd name="csY25" fmla="*/ 122256 h 965628"/>
              <a:gd name="csX26" fmla="*/ 109390 w 1212117"/>
              <a:gd name="csY26" fmla="*/ 129166 h 965628"/>
              <a:gd name="csX27" fmla="*/ 12972 w 1212117"/>
              <a:gd name="csY27" fmla="*/ 418822 h 965628"/>
              <a:gd name="csX28" fmla="*/ 12972 w 1212117"/>
              <a:gd name="csY28" fmla="*/ 952622 h 965628"/>
              <a:gd name="csX29" fmla="*/ 436380 w 1212117"/>
              <a:gd name="csY29" fmla="*/ 952622 h 965628"/>
              <a:gd name="csX30" fmla="*/ 436380 w 1212117"/>
              <a:gd name="csY30" fmla="*/ 528071 h 965628"/>
              <a:gd name="csX31" fmla="*/ 1152449 w 1212117"/>
              <a:gd name="csY31" fmla="*/ 528071 h 965628"/>
              <a:gd name="csX32" fmla="*/ 903380 w 1212117"/>
              <a:gd name="csY32" fmla="*/ 528071 h 965628"/>
              <a:gd name="csX33" fmla="*/ 903380 w 1212117"/>
              <a:gd name="csY33" fmla="*/ 409448 h 965628"/>
              <a:gd name="csX34" fmla="*/ 1141707 w 1212117"/>
              <a:gd name="csY34" fmla="*/ 172264 h 965628"/>
              <a:gd name="csX35" fmla="*/ 1149333 w 1212117"/>
              <a:gd name="csY35" fmla="*/ 172213 h 965628"/>
              <a:gd name="csX36" fmla="*/ 1199145 w 1212117"/>
              <a:gd name="csY36" fmla="*/ 172213 h 965628"/>
              <a:gd name="csX37" fmla="*/ 1199145 w 1212117"/>
              <a:gd name="csY37" fmla="*/ 13007 h 965628"/>
              <a:gd name="csX38" fmla="*/ 1143113 w 1212117"/>
              <a:gd name="csY38" fmla="*/ 13007 h 965628"/>
              <a:gd name="csX39" fmla="*/ 1143113 w 1212117"/>
              <a:gd name="csY39" fmla="*/ 0 h 965628"/>
              <a:gd name="csX40" fmla="*/ 1212117 w 1212117"/>
              <a:gd name="csY40" fmla="*/ 0 h 965628"/>
              <a:gd name="csX41" fmla="*/ 1212117 w 1212117"/>
              <a:gd name="csY41" fmla="*/ 185220 h 965628"/>
              <a:gd name="csX42" fmla="*/ 1149333 w 1212117"/>
              <a:gd name="csY42" fmla="*/ 185220 h 965628"/>
              <a:gd name="csX43" fmla="*/ 973866 w 1212117"/>
              <a:gd name="csY43" fmla="*/ 240893 h 965628"/>
              <a:gd name="csX44" fmla="*/ 916352 w 1212117"/>
              <a:gd name="csY44" fmla="*/ 409448 h 965628"/>
              <a:gd name="csX45" fmla="*/ 916352 w 1212117"/>
              <a:gd name="csY45" fmla="*/ 515065 h 965628"/>
              <a:gd name="csX46" fmla="*/ 1165421 w 1212117"/>
              <a:gd name="csY46" fmla="*/ 515065 h 965628"/>
              <a:gd name="csX47" fmla="*/ 1165421 w 1212117"/>
              <a:gd name="csY47" fmla="*/ 965628 h 965628"/>
              <a:gd name="csX48" fmla="*/ 716069 w 1212117"/>
              <a:gd name="csY48" fmla="*/ 965628 h 965628"/>
              <a:gd name="csX49" fmla="*/ 716069 w 1212117"/>
              <a:gd name="csY49" fmla="*/ 418822 h 965628"/>
              <a:gd name="csX50" fmla="*/ 822342 w 1212117"/>
              <a:gd name="csY50" fmla="*/ 113340 h 965628"/>
              <a:gd name="csX51" fmla="*/ 822406 w 1212117"/>
              <a:gd name="csY51" fmla="*/ 113263 h 965628"/>
              <a:gd name="csX52" fmla="*/ 822468 w 1212117"/>
              <a:gd name="csY52" fmla="*/ 113200 h 965628"/>
              <a:gd name="csX53" fmla="*/ 1143113 w 1212117"/>
              <a:gd name="csY53" fmla="*/ 0 h 965628"/>
              <a:gd name="csX54" fmla="*/ 1143113 w 1212117"/>
              <a:gd name="csY54" fmla="*/ 13007 h 965628"/>
              <a:gd name="csX55" fmla="*/ 1130369 w 1212117"/>
              <a:gd name="csY55" fmla="*/ 13108 h 965628"/>
              <a:gd name="csX56" fmla="*/ 831780 w 1212117"/>
              <a:gd name="csY56" fmla="*/ 122256 h 965628"/>
              <a:gd name="csX57" fmla="*/ 825458 w 1212117"/>
              <a:gd name="csY57" fmla="*/ 129166 h 965628"/>
              <a:gd name="csX58" fmla="*/ 729041 w 1212117"/>
              <a:gd name="csY58" fmla="*/ 418822 h 965628"/>
              <a:gd name="csX59" fmla="*/ 729041 w 1212117"/>
              <a:gd name="csY59" fmla="*/ 952622 h 965628"/>
              <a:gd name="csX60" fmla="*/ 1152449 w 1212117"/>
              <a:gd name="csY60" fmla="*/ 952622 h 965628"/>
              <a:gd name="csX61" fmla="*/ 1152449 w 1212117"/>
              <a:gd name="csY61" fmla="*/ 528071 h 9656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212117" h="965628">
                <a:moveTo>
                  <a:pt x="436380" y="528071"/>
                </a:moveTo>
                <a:lnTo>
                  <a:pt x="187312" y="528071"/>
                </a:lnTo>
                <a:lnTo>
                  <a:pt x="187312" y="409448"/>
                </a:lnTo>
                <a:cubicBezTo>
                  <a:pt x="187312" y="253760"/>
                  <a:pt x="266758" y="174698"/>
                  <a:pt x="425638" y="172264"/>
                </a:cubicBezTo>
                <a:lnTo>
                  <a:pt x="433264" y="172213"/>
                </a:lnTo>
                <a:lnTo>
                  <a:pt x="483088" y="172213"/>
                </a:lnTo>
                <a:lnTo>
                  <a:pt x="483088" y="13007"/>
                </a:lnTo>
                <a:lnTo>
                  <a:pt x="427044" y="13007"/>
                </a:lnTo>
                <a:lnTo>
                  <a:pt x="427044" y="0"/>
                </a:lnTo>
                <a:lnTo>
                  <a:pt x="496060" y="0"/>
                </a:lnTo>
                <a:lnTo>
                  <a:pt x="496060" y="185220"/>
                </a:lnTo>
                <a:lnTo>
                  <a:pt x="433264" y="185220"/>
                </a:lnTo>
                <a:cubicBezTo>
                  <a:pt x="353159" y="185221"/>
                  <a:pt x="295484" y="204541"/>
                  <a:pt x="257797" y="240893"/>
                </a:cubicBezTo>
                <a:cubicBezTo>
                  <a:pt x="220205" y="277154"/>
                  <a:pt x="200284" y="332505"/>
                  <a:pt x="200284" y="409448"/>
                </a:cubicBezTo>
                <a:lnTo>
                  <a:pt x="200284" y="515065"/>
                </a:lnTo>
                <a:lnTo>
                  <a:pt x="449352" y="515065"/>
                </a:lnTo>
                <a:lnTo>
                  <a:pt x="449352" y="965628"/>
                </a:lnTo>
                <a:lnTo>
                  <a:pt x="0" y="965628"/>
                </a:lnTo>
                <a:lnTo>
                  <a:pt x="0" y="418822"/>
                </a:lnTo>
                <a:cubicBezTo>
                  <a:pt x="0" y="291498"/>
                  <a:pt x="34984" y="189152"/>
                  <a:pt x="106273" y="113340"/>
                </a:cubicBezTo>
                <a:lnTo>
                  <a:pt x="106337" y="113263"/>
                </a:lnTo>
                <a:lnTo>
                  <a:pt x="106400" y="113200"/>
                </a:lnTo>
                <a:cubicBezTo>
                  <a:pt x="180176" y="37051"/>
                  <a:pt x="287829" y="0"/>
                  <a:pt x="427044" y="0"/>
                </a:cubicBezTo>
                <a:lnTo>
                  <a:pt x="427044" y="13007"/>
                </a:lnTo>
                <a:lnTo>
                  <a:pt x="414300" y="13108"/>
                </a:lnTo>
                <a:cubicBezTo>
                  <a:pt x="283605" y="15313"/>
                  <a:pt x="184076" y="51696"/>
                  <a:pt x="115711" y="122256"/>
                </a:cubicBezTo>
                <a:lnTo>
                  <a:pt x="109390" y="129166"/>
                </a:lnTo>
                <a:cubicBezTo>
                  <a:pt x="45110" y="201304"/>
                  <a:pt x="12972" y="297859"/>
                  <a:pt x="12972" y="418822"/>
                </a:cubicBezTo>
                <a:lnTo>
                  <a:pt x="12972" y="952622"/>
                </a:lnTo>
                <a:lnTo>
                  <a:pt x="436380" y="952622"/>
                </a:lnTo>
                <a:lnTo>
                  <a:pt x="436380" y="528071"/>
                </a:lnTo>
                <a:close/>
                <a:moveTo>
                  <a:pt x="1152449" y="528071"/>
                </a:moveTo>
                <a:lnTo>
                  <a:pt x="903380" y="528071"/>
                </a:lnTo>
                <a:lnTo>
                  <a:pt x="903380" y="409448"/>
                </a:lnTo>
                <a:cubicBezTo>
                  <a:pt x="903381" y="253759"/>
                  <a:pt x="982824" y="174697"/>
                  <a:pt x="1141707" y="172264"/>
                </a:cubicBezTo>
                <a:lnTo>
                  <a:pt x="1149333" y="172213"/>
                </a:lnTo>
                <a:lnTo>
                  <a:pt x="1199145" y="172213"/>
                </a:lnTo>
                <a:lnTo>
                  <a:pt x="1199145" y="13007"/>
                </a:lnTo>
                <a:lnTo>
                  <a:pt x="1143113" y="13007"/>
                </a:lnTo>
                <a:lnTo>
                  <a:pt x="1143113" y="0"/>
                </a:lnTo>
                <a:lnTo>
                  <a:pt x="1212117" y="0"/>
                </a:lnTo>
                <a:lnTo>
                  <a:pt x="1212117" y="185220"/>
                </a:lnTo>
                <a:lnTo>
                  <a:pt x="1149333" y="185220"/>
                </a:lnTo>
                <a:cubicBezTo>
                  <a:pt x="1069227" y="185221"/>
                  <a:pt x="1011554" y="204541"/>
                  <a:pt x="973866" y="240893"/>
                </a:cubicBezTo>
                <a:cubicBezTo>
                  <a:pt x="936273" y="277154"/>
                  <a:pt x="916353" y="332504"/>
                  <a:pt x="916352" y="409448"/>
                </a:cubicBezTo>
                <a:lnTo>
                  <a:pt x="916352" y="515065"/>
                </a:lnTo>
                <a:lnTo>
                  <a:pt x="1165421" y="515065"/>
                </a:lnTo>
                <a:lnTo>
                  <a:pt x="1165421" y="965628"/>
                </a:lnTo>
                <a:lnTo>
                  <a:pt x="716069" y="965628"/>
                </a:lnTo>
                <a:lnTo>
                  <a:pt x="716069" y="418822"/>
                </a:lnTo>
                <a:cubicBezTo>
                  <a:pt x="716069" y="291498"/>
                  <a:pt x="751052" y="189152"/>
                  <a:pt x="822342" y="113340"/>
                </a:cubicBezTo>
                <a:lnTo>
                  <a:pt x="822406" y="113263"/>
                </a:lnTo>
                <a:lnTo>
                  <a:pt x="822468" y="113200"/>
                </a:lnTo>
                <a:cubicBezTo>
                  <a:pt x="896245" y="37051"/>
                  <a:pt x="1003897" y="0"/>
                  <a:pt x="1143113" y="0"/>
                </a:cubicBezTo>
                <a:lnTo>
                  <a:pt x="1143113" y="13007"/>
                </a:lnTo>
                <a:lnTo>
                  <a:pt x="1130369" y="13108"/>
                </a:lnTo>
                <a:cubicBezTo>
                  <a:pt x="999674" y="15313"/>
                  <a:pt x="900144" y="51696"/>
                  <a:pt x="831780" y="122256"/>
                </a:cubicBezTo>
                <a:lnTo>
                  <a:pt x="825458" y="129166"/>
                </a:lnTo>
                <a:cubicBezTo>
                  <a:pt x="761178" y="201304"/>
                  <a:pt x="729041" y="297857"/>
                  <a:pt x="729041" y="418822"/>
                </a:cubicBezTo>
                <a:lnTo>
                  <a:pt x="729041" y="952622"/>
                </a:lnTo>
                <a:lnTo>
                  <a:pt x="1152449" y="952622"/>
                </a:lnTo>
                <a:lnTo>
                  <a:pt x="1152449" y="528071"/>
                </a:lnTo>
                <a:close/>
              </a:path>
            </a:pathLst>
          </a:custGeom>
          <a:solidFill>
            <a:schemeClr val="accent5"/>
          </a:solidFill>
          <a:ln w="12970" cap="flat">
            <a:noFill/>
            <a:prstDash val="solid"/>
            <a:miter/>
          </a:ln>
        </p:spPr>
        <p:txBody>
          <a:bodyPr/>
          <a:lstStyle/>
          <a:p>
            <a:endParaRPr lang="en-DE" dirty="0">
              <a:solidFill>
                <a:schemeClr val="accent4"/>
              </a:solidFill>
              <a:latin typeface="Inter" panose="02000503000000020004" pitchFamily="50" charset="0"/>
            </a:endParaRPr>
          </a:p>
        </p:txBody>
      </p:sp>
      <p:sp>
        <p:nvSpPr>
          <p:cNvPr id="6" name="Text Box 115">
            <a:extLst>
              <a:ext uri="{FF2B5EF4-FFF2-40B4-BE49-F238E27FC236}">
                <a16:creationId xmlns:a16="http://schemas.microsoft.com/office/drawing/2014/main" id="{A048D12D-29DD-D8DF-D0A4-9A36FD29DDFF}"/>
              </a:ext>
            </a:extLst>
          </p:cNvPr>
          <p:cNvSpPr txBox="1">
            <a:spLocks noChangeArrowheads="1"/>
          </p:cNvSpPr>
          <p:nvPr userDrawn="1"/>
        </p:nvSpPr>
        <p:spPr bwMode="auto">
          <a:xfrm>
            <a:off x="11764114" y="174372"/>
            <a:ext cx="219456" cy="146304"/>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sp>
        <p:nvSpPr>
          <p:cNvPr id="7" name="Text Box 115">
            <a:extLst>
              <a:ext uri="{FF2B5EF4-FFF2-40B4-BE49-F238E27FC236}">
                <a16:creationId xmlns:a16="http://schemas.microsoft.com/office/drawing/2014/main" id="{E3E80215-1A0C-AEE9-21D0-C1DFF761BE47}"/>
              </a:ext>
            </a:extLst>
          </p:cNvPr>
          <p:cNvSpPr txBox="1">
            <a:spLocks noChangeArrowheads="1"/>
          </p:cNvSpPr>
          <p:nvPr userDrawn="1"/>
        </p:nvSpPr>
        <p:spPr bwMode="auto">
          <a:xfrm>
            <a:off x="11764114" y="174372"/>
            <a:ext cx="219456" cy="146304"/>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pic>
        <p:nvPicPr>
          <p:cNvPr id="9" name="Union" descr="preencoded.png">
            <a:extLst>
              <a:ext uri="{FF2B5EF4-FFF2-40B4-BE49-F238E27FC236}">
                <a16:creationId xmlns:a16="http://schemas.microsoft.com/office/drawing/2014/main" id="{84A28516-F244-E772-2F22-00C058D757CA}"/>
              </a:ext>
            </a:extLst>
          </p:cNvPr>
          <p:cNvPicPr>
            <a:picLocks noChangeAspect="1"/>
          </p:cNvPicPr>
          <p:nvPr userDrawn="1"/>
        </p:nvPicPr>
        <p:blipFill>
          <a:blip r:embed="rId3"/>
          <a:srcRect/>
          <a:stretch/>
        </p:blipFill>
        <p:spPr>
          <a:xfrm>
            <a:off x="409178" y="190696"/>
            <a:ext cx="781843" cy="126608"/>
          </a:xfrm>
          <a:prstGeom prst="rect">
            <a:avLst/>
          </a:prstGeom>
        </p:spPr>
      </p:pic>
      <p:sp>
        <p:nvSpPr>
          <p:cNvPr id="10" name="COMPANY OVERVIEW">
            <a:extLst>
              <a:ext uri="{FF2B5EF4-FFF2-40B4-BE49-F238E27FC236}">
                <a16:creationId xmlns:a16="http://schemas.microsoft.com/office/drawing/2014/main" id="{73581848-D525-1749-FBFB-E0E176CEEBC1}"/>
              </a:ext>
            </a:extLst>
          </p:cNvPr>
          <p:cNvSpPr/>
          <p:nvPr userDrawn="1"/>
        </p:nvSpPr>
        <p:spPr>
          <a:xfrm>
            <a:off x="3950892" y="203200"/>
            <a:ext cx="4292203" cy="107950"/>
          </a:xfrm>
          <a:prstGeom prst="rect">
            <a:avLst/>
          </a:prstGeom>
          <a:noFill/>
          <a:ln/>
        </p:spPr>
        <p:txBody>
          <a:bodyPr wrap="square" lIns="0" tIns="0" rIns="0" bIns="0" rtlCol="0" anchor="t"/>
          <a:lstStyle/>
          <a:p>
            <a:pPr marL="0" indent="0" algn="ctr">
              <a:lnSpc>
                <a:spcPts val="1020"/>
              </a:lnSpc>
              <a:buNone/>
            </a:pPr>
            <a:r>
              <a:rPr lang="en-US" sz="900" b="1" kern="0" cap="all" spc="168" baseline="0" dirty="0">
                <a:solidFill>
                  <a:schemeClr val="bg1"/>
                </a:solidFill>
                <a:latin typeface="Inter" panose="02000503000000020004" pitchFamily="50" charset="0"/>
                <a:ea typeface="Inter" panose="02000503000000020004" pitchFamily="50" charset="0"/>
                <a:cs typeface="Inter" panose="02000503000000020004" pitchFamily="50" charset="0"/>
              </a:rPr>
              <a:t/>
            </a:r>
            <a:endParaRPr lang="en-US" sz="900" b="1" cap="all" baseline="0" dirty="0">
              <a:solidFill>
                <a:schemeClr val="bg1"/>
              </a:solidFill>
              <a:latin typeface="Inter" panose="02000503000000020004" pitchFamily="50" charset="0"/>
              <a:ea typeface="Inter" panose="02000503000000020004" pitchFamily="50" charset="0"/>
              <a:cs typeface="Inter" panose="02000503000000020004" pitchFamily="50" charset="0"/>
            </a:endParaRPr>
          </a:p>
        </p:txBody>
      </p:sp>
    </p:spTree>
    <p:extLst>
      <p:ext uri="{BB962C8B-B14F-4D97-AF65-F5344CB8AC3E}">
        <p14:creationId xmlns:p14="http://schemas.microsoft.com/office/powerpoint/2010/main" val="4010346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28104F-AAE6-B720-6AA2-9965E47FA0B2}"/>
              </a:ext>
            </a:extLst>
          </p:cNvPr>
          <p:cNvSpPr/>
          <p:nvPr userDrawn="1"/>
        </p:nvSpPr>
        <p:spPr>
          <a:xfrm>
            <a:off x="0" y="401411"/>
            <a:ext cx="12192000" cy="64565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sp>
        <p:nvSpPr>
          <p:cNvPr id="11" name="Picture Placeholder 8">
            <a:extLst>
              <a:ext uri="{FF2B5EF4-FFF2-40B4-BE49-F238E27FC236}">
                <a16:creationId xmlns:a16="http://schemas.microsoft.com/office/drawing/2014/main" id="{542B0A81-49C8-FCE9-4620-D42F33FDA286}"/>
              </a:ext>
            </a:extLst>
          </p:cNvPr>
          <p:cNvSpPr>
            <a:spLocks noGrp="1"/>
          </p:cNvSpPr>
          <p:nvPr>
            <p:ph type="pic" sz="quarter" idx="16"/>
          </p:nvPr>
        </p:nvSpPr>
        <p:spPr>
          <a:xfrm>
            <a:off x="230082" y="516443"/>
            <a:ext cx="2208318" cy="2841118"/>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12" name="Picture Placeholder 8">
            <a:extLst>
              <a:ext uri="{FF2B5EF4-FFF2-40B4-BE49-F238E27FC236}">
                <a16:creationId xmlns:a16="http://schemas.microsoft.com/office/drawing/2014/main" id="{821B71CE-FC70-2F19-3188-ACCD0DB193BC}"/>
              </a:ext>
            </a:extLst>
          </p:cNvPr>
          <p:cNvSpPr>
            <a:spLocks noGrp="1"/>
          </p:cNvSpPr>
          <p:nvPr>
            <p:ph type="pic" sz="quarter" idx="17"/>
          </p:nvPr>
        </p:nvSpPr>
        <p:spPr>
          <a:xfrm>
            <a:off x="2617682" y="516444"/>
            <a:ext cx="2208318" cy="2841118"/>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13" name="Picture Placeholder 8">
            <a:extLst>
              <a:ext uri="{FF2B5EF4-FFF2-40B4-BE49-F238E27FC236}">
                <a16:creationId xmlns:a16="http://schemas.microsoft.com/office/drawing/2014/main" id="{29D4AFB4-FC0D-A2B9-7EC1-DD4D7717C96B}"/>
              </a:ext>
            </a:extLst>
          </p:cNvPr>
          <p:cNvSpPr>
            <a:spLocks noGrp="1"/>
          </p:cNvSpPr>
          <p:nvPr>
            <p:ph type="pic" sz="quarter" idx="18"/>
          </p:nvPr>
        </p:nvSpPr>
        <p:spPr>
          <a:xfrm>
            <a:off x="230082" y="3540124"/>
            <a:ext cx="2208318" cy="2863298"/>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14" name="Picture Placeholder 8">
            <a:extLst>
              <a:ext uri="{FF2B5EF4-FFF2-40B4-BE49-F238E27FC236}">
                <a16:creationId xmlns:a16="http://schemas.microsoft.com/office/drawing/2014/main" id="{DEF1DFB8-BC9A-B59F-8B8A-BC5D1016A388}"/>
              </a:ext>
            </a:extLst>
          </p:cNvPr>
          <p:cNvSpPr>
            <a:spLocks noGrp="1"/>
          </p:cNvSpPr>
          <p:nvPr>
            <p:ph type="pic" sz="quarter" idx="19"/>
          </p:nvPr>
        </p:nvSpPr>
        <p:spPr>
          <a:xfrm>
            <a:off x="2617682" y="3540125"/>
            <a:ext cx="2208318" cy="2863298"/>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15" name="Picture Placeholder 8">
            <a:extLst>
              <a:ext uri="{FF2B5EF4-FFF2-40B4-BE49-F238E27FC236}">
                <a16:creationId xmlns:a16="http://schemas.microsoft.com/office/drawing/2014/main" id="{6C11F13A-F960-0FFA-2F9F-71D30C7E6C91}"/>
              </a:ext>
            </a:extLst>
          </p:cNvPr>
          <p:cNvSpPr>
            <a:spLocks noGrp="1"/>
          </p:cNvSpPr>
          <p:nvPr>
            <p:ph type="pic" sz="quarter" idx="20"/>
          </p:nvPr>
        </p:nvSpPr>
        <p:spPr>
          <a:xfrm>
            <a:off x="4984751" y="516443"/>
            <a:ext cx="4603750" cy="5886979"/>
          </a:xfrm>
          <a:prstGeom prst="roundRect">
            <a:avLst>
              <a:gd name="adj" fmla="val 2349"/>
            </a:avLst>
          </a:prstGeom>
          <a:noFill/>
        </p:spPr>
        <p:txBody>
          <a:bodyPr anchor="ctr" anchorCtr="0">
            <a:normAutofit/>
          </a:bodyPr>
          <a:lstStyle>
            <a:lvl1pPr algn="ctr">
              <a:defRPr sz="1600" b="0"/>
            </a:lvl1pPr>
          </a:lstStyle>
          <a:p>
            <a:r>
              <a:rPr lang="zh-CN" altLang="en-US"/>
              <a:t>单击图标添加图片</a:t>
            </a:r>
            <a:endParaRPr lang="en-US"/>
          </a:p>
        </p:txBody>
      </p:sp>
      <p:sp>
        <p:nvSpPr>
          <p:cNvPr id="16" name="Picture Placeholder 8">
            <a:extLst>
              <a:ext uri="{FF2B5EF4-FFF2-40B4-BE49-F238E27FC236}">
                <a16:creationId xmlns:a16="http://schemas.microsoft.com/office/drawing/2014/main" id="{C9AEF74C-2790-BA06-A268-BE5922DA3620}"/>
              </a:ext>
            </a:extLst>
          </p:cNvPr>
          <p:cNvSpPr>
            <a:spLocks noGrp="1"/>
          </p:cNvSpPr>
          <p:nvPr>
            <p:ph type="pic" sz="quarter" idx="21"/>
          </p:nvPr>
        </p:nvSpPr>
        <p:spPr>
          <a:xfrm>
            <a:off x="9747250" y="516444"/>
            <a:ext cx="2208318" cy="2841118"/>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17" name="Picture Placeholder 8">
            <a:extLst>
              <a:ext uri="{FF2B5EF4-FFF2-40B4-BE49-F238E27FC236}">
                <a16:creationId xmlns:a16="http://schemas.microsoft.com/office/drawing/2014/main" id="{72D46F34-3342-C2E2-018B-2A1814EC730C}"/>
              </a:ext>
            </a:extLst>
          </p:cNvPr>
          <p:cNvSpPr>
            <a:spLocks noGrp="1"/>
          </p:cNvSpPr>
          <p:nvPr>
            <p:ph type="pic" sz="quarter" idx="22"/>
          </p:nvPr>
        </p:nvSpPr>
        <p:spPr>
          <a:xfrm>
            <a:off x="9747250" y="3540124"/>
            <a:ext cx="2208318" cy="2863299"/>
          </a:xfrm>
          <a:prstGeom prst="roundRect">
            <a:avLst>
              <a:gd name="adj" fmla="val 5813"/>
            </a:avLst>
          </a:prstGeom>
          <a:noFill/>
        </p:spPr>
        <p:txBody>
          <a:bodyPr anchor="ctr" anchorCtr="0">
            <a:normAutofit/>
          </a:bodyPr>
          <a:lstStyle>
            <a:lvl1pPr algn="ctr">
              <a:defRPr sz="1600" b="0"/>
            </a:lvl1pPr>
          </a:lstStyle>
          <a:p>
            <a:r>
              <a:rPr lang="zh-CN" altLang="en-US"/>
              <a:t>单击图标添加图片</a:t>
            </a:r>
            <a:endParaRPr lang="en-US"/>
          </a:p>
        </p:txBody>
      </p:sp>
      <p:sp>
        <p:nvSpPr>
          <p:cNvPr id="2" name="TextBox 1">
            <a:extLst>
              <a:ext uri="{FF2B5EF4-FFF2-40B4-BE49-F238E27FC236}">
                <a16:creationId xmlns:a16="http://schemas.microsoft.com/office/drawing/2014/main" id="{07C06C4B-AD0F-177E-920A-CFF3206E0714}"/>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3" name="Footer Placeholder 4">
            <a:extLst>
              <a:ext uri="{FF2B5EF4-FFF2-40B4-BE49-F238E27FC236}">
                <a16:creationId xmlns:a16="http://schemas.microsoft.com/office/drawing/2014/main" id="{59879712-D34B-145B-F968-944F6414925F}"/>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919665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Canva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08022F-70F3-0023-FA21-49EBA8DE9FA0}"/>
              </a:ext>
            </a:extLst>
          </p:cNvPr>
          <p:cNvSpPr/>
          <p:nvPr userDrawn="1"/>
        </p:nvSpPr>
        <p:spPr>
          <a:xfrm>
            <a:off x="0" y="0"/>
            <a:ext cx="12192000" cy="4830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spTree>
    <p:extLst>
      <p:ext uri="{BB962C8B-B14F-4D97-AF65-F5344CB8AC3E}">
        <p14:creationId xmlns:p14="http://schemas.microsoft.com/office/powerpoint/2010/main" val="19071540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08022F-70F3-0023-FA21-49EBA8DE9FA0}"/>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sp>
        <p:nvSpPr>
          <p:cNvPr id="5" name="TextBox 4">
            <a:extLst>
              <a:ext uri="{FF2B5EF4-FFF2-40B4-BE49-F238E27FC236}">
                <a16:creationId xmlns:a16="http://schemas.microsoft.com/office/drawing/2014/main" id="{8624D140-B4EA-E7E0-18A8-B7D83155FBFC}"/>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6" name="Footer Placeholder 4">
            <a:extLst>
              <a:ext uri="{FF2B5EF4-FFF2-40B4-BE49-F238E27FC236}">
                <a16:creationId xmlns:a16="http://schemas.microsoft.com/office/drawing/2014/main" id="{858E8F88-DA2A-1D8C-C16A-A27EE17F1733}"/>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19186300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501907-F4B6-0B68-11B4-BFBE267DA6BB}"/>
              </a:ext>
            </a:extLst>
          </p:cNvPr>
          <p:cNvSpPr/>
          <p:nvPr/>
        </p:nvSpPr>
        <p:spPr>
          <a:xfrm>
            <a:off x="0" y="0"/>
            <a:ext cx="12192000" cy="6858000"/>
          </a:xfrm>
          <a:prstGeom prst="rect">
            <a:avLst/>
          </a:prstGeom>
          <a:solidFill>
            <a:srgbClr val="0E102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2" name="Rectangle 1">
            <a:extLst>
              <a:ext uri="{FF2B5EF4-FFF2-40B4-BE49-F238E27FC236}">
                <a16:creationId xmlns:a16="http://schemas.microsoft.com/office/drawing/2014/main" id="{1FA1C404-616A-0398-E1D5-7C7002338054}"/>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pic>
        <p:nvPicPr>
          <p:cNvPr id="14" name="Union" descr="preencoded.png">
            <a:extLst>
              <a:ext uri="{FF2B5EF4-FFF2-40B4-BE49-F238E27FC236}">
                <a16:creationId xmlns:a16="http://schemas.microsoft.com/office/drawing/2014/main" id="{EA16ED0D-CB25-EA45-6EB2-9A86149AB4A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2435225"/>
            <a:ext cx="12192000" cy="1987550"/>
          </a:xfrm>
          <a:prstGeom prst="rect">
            <a:avLst/>
          </a:prstGeom>
        </p:spPr>
      </p:pic>
      <p:sp>
        <p:nvSpPr>
          <p:cNvPr id="3" name="TextBox 2">
            <a:extLst>
              <a:ext uri="{FF2B5EF4-FFF2-40B4-BE49-F238E27FC236}">
                <a16:creationId xmlns:a16="http://schemas.microsoft.com/office/drawing/2014/main" id="{AF589ECB-9023-389E-E7EE-1285853BDEB5}"/>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6D6D6D"/>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3F2D46D9-B686-7E94-2205-17D8ADEA3502}"/>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6" name="TextBox 5">
            <a:extLst>
              <a:ext uri="{FF2B5EF4-FFF2-40B4-BE49-F238E27FC236}">
                <a16:creationId xmlns:a16="http://schemas.microsoft.com/office/drawing/2014/main" id="{5711374D-BA4A-0EF5-3894-069B57DF8D2A}"/>
              </a:ext>
            </a:extLst>
          </p:cNvPr>
          <p:cNvSpPr txBox="1"/>
          <p:nvPr userDrawn="1"/>
        </p:nvSpPr>
        <p:spPr>
          <a:xfrm>
            <a:off x="222692" y="6657597"/>
            <a:ext cx="247604" cy="102592"/>
          </a:xfrm>
          <a:prstGeom prst="rect">
            <a:avLst/>
          </a:prstGeom>
          <a:noFill/>
        </p:spPr>
        <p:txBody>
          <a:bodyPr wrap="square" lIns="0" tIns="0" rIns="0" bIns="0">
            <a:spAutoFit/>
          </a:bodyPr>
          <a:lstStyle/>
          <a:p>
            <a:pPr algn="l"/>
            <a:r>
              <a:rPr lang="en-US" sz="800" b="0">
                <a:solidFill>
                  <a:schemeClr val="tx1">
                    <a:lumMod val="75000"/>
                    <a:lumOff val="25000"/>
                  </a:schemeClr>
                </a:solidFill>
                <a:latin typeface="Inter" panose="02000503000000020004" pitchFamily="50" charset="0"/>
                <a:cs typeface="Inter" panose="02000503000000020004" pitchFamily="50" charset="0"/>
              </a:rPr>
              <a:t>v01 </a:t>
            </a:r>
          </a:p>
        </p:txBody>
      </p:sp>
    </p:spTree>
    <p:extLst>
      <p:ext uri="{BB962C8B-B14F-4D97-AF65-F5344CB8AC3E}">
        <p14:creationId xmlns:p14="http://schemas.microsoft.com/office/powerpoint/2010/main" val="30571971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osing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501907-F4B6-0B68-11B4-BFBE267DA6BB}"/>
              </a:ext>
            </a:extLst>
          </p:cNvPr>
          <p:cNvSpPr/>
          <p:nvPr/>
        </p:nvSpPr>
        <p:spPr>
          <a:xfrm>
            <a:off x="0" y="0"/>
            <a:ext cx="12192000" cy="6858000"/>
          </a:xfrm>
          <a:prstGeom prst="rect">
            <a:avLst/>
          </a:prstGeom>
          <a:solidFill>
            <a:srgbClr val="0E102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2" name="Rectangle 1">
            <a:extLst>
              <a:ext uri="{FF2B5EF4-FFF2-40B4-BE49-F238E27FC236}">
                <a16:creationId xmlns:a16="http://schemas.microsoft.com/office/drawing/2014/main" id="{1FA1C404-616A-0398-E1D5-7C7002338054}"/>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3" name="TextBox 2">
            <a:extLst>
              <a:ext uri="{FF2B5EF4-FFF2-40B4-BE49-F238E27FC236}">
                <a16:creationId xmlns:a16="http://schemas.microsoft.com/office/drawing/2014/main" id="{AF589ECB-9023-389E-E7EE-1285853BDEB5}"/>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3F2D46D9-B686-7E94-2205-17D8ADEA3502}"/>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pic>
        <p:nvPicPr>
          <p:cNvPr id="13" name="Picture 12">
            <a:extLst>
              <a:ext uri="{FF2B5EF4-FFF2-40B4-BE49-F238E27FC236}">
                <a16:creationId xmlns:a16="http://schemas.microsoft.com/office/drawing/2014/main" id="{E3CF4D50-45C8-DA6C-C9B8-13ED37CF32EA}"/>
              </a:ext>
            </a:extLst>
          </p:cNvPr>
          <p:cNvPicPr>
            <a:picLocks noChangeAspect="1"/>
          </p:cNvPicPr>
          <p:nvPr userDrawn="1"/>
        </p:nvPicPr>
        <p:blipFill>
          <a:blip r:embed="rId2"/>
          <a:stretch>
            <a:fillRect/>
          </a:stretch>
        </p:blipFill>
        <p:spPr>
          <a:xfrm>
            <a:off x="2857500" y="2231508"/>
            <a:ext cx="6477000" cy="2394983"/>
          </a:xfrm>
          <a:prstGeom prst="rect">
            <a:avLst/>
          </a:prstGeom>
        </p:spPr>
      </p:pic>
      <p:sp>
        <p:nvSpPr>
          <p:cNvPr id="6" name="TextBox 5">
            <a:extLst>
              <a:ext uri="{FF2B5EF4-FFF2-40B4-BE49-F238E27FC236}">
                <a16:creationId xmlns:a16="http://schemas.microsoft.com/office/drawing/2014/main" id="{34CDDA3C-197F-4DFB-CFBA-4D8F92B01B89}"/>
              </a:ext>
            </a:extLst>
          </p:cNvPr>
          <p:cNvSpPr txBox="1"/>
          <p:nvPr userDrawn="1"/>
        </p:nvSpPr>
        <p:spPr>
          <a:xfrm>
            <a:off x="222692" y="6657597"/>
            <a:ext cx="247604" cy="102592"/>
          </a:xfrm>
          <a:prstGeom prst="rect">
            <a:avLst/>
          </a:prstGeom>
          <a:noFill/>
        </p:spPr>
        <p:txBody>
          <a:bodyPr wrap="square" lIns="0" tIns="0" rIns="0" bIns="0">
            <a:spAutoFit/>
          </a:bodyPr>
          <a:lstStyle/>
          <a:p>
            <a:pPr algn="l"/>
            <a:r>
              <a:rPr lang="en-US" sz="800" b="0" dirty="0">
                <a:solidFill>
                  <a:schemeClr val="tx1">
                    <a:lumMod val="75000"/>
                    <a:lumOff val="25000"/>
                  </a:schemeClr>
                </a:solidFill>
                <a:latin typeface="Inter" panose="02000503000000020004" pitchFamily="50" charset="0"/>
                <a:cs typeface="Inter" panose="02000503000000020004" pitchFamily="50" charset="0"/>
              </a:rPr>
              <a:t>v01 </a:t>
            </a:r>
          </a:p>
        </p:txBody>
      </p:sp>
    </p:spTree>
    <p:extLst>
      <p:ext uri="{BB962C8B-B14F-4D97-AF65-F5344CB8AC3E}">
        <p14:creationId xmlns:p14="http://schemas.microsoft.com/office/powerpoint/2010/main" val="33706270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png"/><Relationship Id="rId2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69B77A6-51DB-A275-1E8D-9C0DB96B9B2E}"/>
              </a:ext>
            </a:extLst>
          </p:cNvPr>
          <p:cNvSpPr/>
          <p:nvPr userDrawn="1"/>
        </p:nvSpPr>
        <p:spPr>
          <a:xfrm>
            <a:off x="0" y="508000"/>
            <a:ext cx="12192000" cy="6350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Inter" panose="02000503000000020004" pitchFamily="50" charset="0"/>
            </a:endParaRPr>
          </a:p>
        </p:txBody>
      </p:sp>
      <p:pic>
        <p:nvPicPr>
          <p:cNvPr id="11" name="HeaderMasthead" descr="preencoded.png">
            <a:extLst>
              <a:ext uri="{FF2B5EF4-FFF2-40B4-BE49-F238E27FC236}">
                <a16:creationId xmlns:a16="http://schemas.microsoft.com/office/drawing/2014/main" id="{7AD18B85-66FF-545C-62C1-1AA3E2F607F2}"/>
              </a:ext>
            </a:extLst>
          </p:cNvPr>
          <p:cNvPicPr>
            <a:picLocks noChangeAspect="1"/>
          </p:cNvPicPr>
          <p:nvPr userDrawn="1"/>
        </p:nvPicPr>
        <p:blipFill>
          <a:blip r:embed="rId27"/>
          <a:srcRect t="7407"/>
          <a:stretch>
            <a:fillRect/>
          </a:stretch>
        </p:blipFill>
        <p:spPr>
          <a:xfrm>
            <a:off x="0" y="508000"/>
            <a:ext cx="12192000" cy="6350000"/>
          </a:xfrm>
          <a:prstGeom prst="rect">
            <a:avLst/>
          </a:prstGeom>
          <a:solidFill>
            <a:srgbClr val="F6F3F0"/>
          </a:solidFill>
        </p:spPr>
      </p:pic>
      <p:sp>
        <p:nvSpPr>
          <p:cNvPr id="8" name="Text Box 115">
            <a:extLst>
              <a:ext uri="{FF2B5EF4-FFF2-40B4-BE49-F238E27FC236}">
                <a16:creationId xmlns:a16="http://schemas.microsoft.com/office/drawing/2014/main" id="{E509171D-D1E5-AC55-9CA5-72DEBB6700FA}"/>
              </a:ext>
            </a:extLst>
          </p:cNvPr>
          <p:cNvSpPr txBox="1">
            <a:spLocks noChangeArrowheads="1"/>
          </p:cNvSpPr>
          <p:nvPr/>
        </p:nvSpPr>
        <p:spPr bwMode="auto">
          <a:xfrm>
            <a:off x="11764114" y="174372"/>
            <a:ext cx="219456" cy="146304"/>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tx1"/>
                </a:solidFill>
                <a:latin typeface="Inter Bold"/>
                <a:ea typeface="Inter Bold"/>
              </a:rPr>
              <a:pPr algn="r" defTabSz="525272">
                <a:spcBef>
                  <a:spcPts val="0"/>
                </a:spcBef>
              </a:pPr>
              <a:t>‹#›</a:t>
            </a:fld>
            <a:endParaRPr lang="en-US" sz="900" b="1">
              <a:solidFill>
                <a:schemeClr val="tx1"/>
              </a:solidFill>
              <a:latin typeface="Inter Bold"/>
              <a:ea typeface="Inter Bold"/>
            </a:endParaRPr>
          </a:p>
        </p:txBody>
      </p:sp>
      <p:sp>
        <p:nvSpPr>
          <p:cNvPr id="6" name="Text Box 115">
            <a:extLst>
              <a:ext uri="{FF2B5EF4-FFF2-40B4-BE49-F238E27FC236}">
                <a16:creationId xmlns:a16="http://schemas.microsoft.com/office/drawing/2014/main" id="{57FED08E-39F8-715B-3405-179C34F64955}"/>
              </a:ext>
            </a:extLst>
          </p:cNvPr>
          <p:cNvSpPr txBox="1">
            <a:spLocks noChangeArrowheads="1"/>
          </p:cNvSpPr>
          <p:nvPr userDrawn="1"/>
        </p:nvSpPr>
        <p:spPr bwMode="auto">
          <a:xfrm>
            <a:off x="11764114" y="174372"/>
            <a:ext cx="219456" cy="146304"/>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tx1"/>
                </a:solidFill>
                <a:latin typeface="Inter Bold"/>
                <a:ea typeface="Inter Bold"/>
              </a:rPr>
              <a:pPr algn="r" defTabSz="525272">
                <a:spcBef>
                  <a:spcPts val="0"/>
                </a:spcBef>
              </a:pPr>
              <a:t>‹#›</a:t>
            </a:fld>
            <a:endParaRPr lang="en-US" sz="900" b="1">
              <a:solidFill>
                <a:schemeClr val="tx1"/>
              </a:solidFill>
              <a:latin typeface="Inter Bold"/>
              <a:ea typeface="Inter Bold"/>
            </a:endParaRPr>
          </a:p>
        </p:txBody>
      </p:sp>
      <p:pic>
        <p:nvPicPr>
          <p:cNvPr id="12" name="Union" descr="preencoded.png">
            <a:extLst>
              <a:ext uri="{FF2B5EF4-FFF2-40B4-BE49-F238E27FC236}">
                <a16:creationId xmlns:a16="http://schemas.microsoft.com/office/drawing/2014/main" id="{4FB38D83-98DA-D85F-B63C-1565BED26FC5}"/>
              </a:ext>
            </a:extLst>
          </p:cNvPr>
          <p:cNvPicPr>
            <a:picLocks noChangeAspect="1"/>
          </p:cNvPicPr>
          <p:nvPr userDrawn="1"/>
        </p:nvPicPr>
        <p:blipFill>
          <a:blip r:embed="rId28"/>
          <a:srcRect/>
          <a:stretch/>
        </p:blipFill>
        <p:spPr>
          <a:xfrm>
            <a:off x="409178" y="190696"/>
            <a:ext cx="781843" cy="126608"/>
          </a:xfrm>
          <a:prstGeom prst="rect">
            <a:avLst/>
          </a:prstGeom>
        </p:spPr>
      </p:pic>
      <p:sp>
        <p:nvSpPr>
          <p:cNvPr id="14" name="Title Placeholder 1">
            <a:extLst>
              <a:ext uri="{FF2B5EF4-FFF2-40B4-BE49-F238E27FC236}">
                <a16:creationId xmlns:a16="http://schemas.microsoft.com/office/drawing/2014/main" id="{9954F591-DD1D-779B-F521-4357971A48C6}"/>
              </a:ext>
            </a:extLst>
          </p:cNvPr>
          <p:cNvSpPr>
            <a:spLocks noGrp="1"/>
          </p:cNvSpPr>
          <p:nvPr>
            <p:ph type="title"/>
          </p:nvPr>
        </p:nvSpPr>
        <p:spPr>
          <a:xfrm>
            <a:off x="403489" y="1088266"/>
            <a:ext cx="11407509" cy="914400"/>
          </a:xfrm>
          <a:prstGeom prst="rect">
            <a:avLst/>
          </a:prstGeom>
        </p:spPr>
        <p:txBody>
          <a:bodyPr vert="horz" lIns="0" tIns="0" rIns="0" bIns="0" rtlCol="0" anchor="t" anchorCtr="0">
            <a:noAutofit/>
          </a:bodyPr>
          <a:lstStyle/>
          <a:p>
            <a:r>
              <a:rPr lang="zh-CN" altLang="en-US"/>
              <a:t>单击此处编辑母版标题样式</a:t>
            </a:r>
            <a:endParaRPr lang="en-US"/>
          </a:p>
        </p:txBody>
      </p:sp>
      <p:sp>
        <p:nvSpPr>
          <p:cNvPr id="15" name="COMPANY OVERVIEW">
            <a:extLst>
              <a:ext uri="{FF2B5EF4-FFF2-40B4-BE49-F238E27FC236}">
                <a16:creationId xmlns:a16="http://schemas.microsoft.com/office/drawing/2014/main" id="{7B162524-8505-A661-2881-71985958524A}"/>
              </a:ext>
            </a:extLst>
          </p:cNvPr>
          <p:cNvSpPr/>
          <p:nvPr userDrawn="1"/>
        </p:nvSpPr>
        <p:spPr>
          <a:xfrm>
            <a:off x="3950892" y="203200"/>
            <a:ext cx="4292203" cy="107950"/>
          </a:xfrm>
          <a:prstGeom prst="rect">
            <a:avLst/>
          </a:prstGeom>
          <a:noFill/>
          <a:ln/>
        </p:spPr>
        <p:txBody>
          <a:bodyPr wrap="square" lIns="0" tIns="0" rIns="0" bIns="0" rtlCol="0" anchor="t"/>
          <a:lstStyle/>
          <a:p>
            <a:pPr marL="0" indent="0" algn="ctr">
              <a:lnSpc>
                <a:spcPts val="1020"/>
              </a:lnSpc>
              <a:buNone/>
            </a:pPr>
            <a:r>
              <a:rPr lang="en-US" sz="900" b="1" kern="0" cap="all" spc="168" baseline="0" dirty="0">
                <a:solidFill>
                  <a:schemeClr val="tx1"/>
                </a:solidFill>
                <a:latin typeface="Inter" panose="02000503000000020004" pitchFamily="50" charset="0"/>
                <a:ea typeface="Inter" panose="02000503000000020004" pitchFamily="50" charset="0"/>
                <a:cs typeface="Inter" panose="02000503000000020004" pitchFamily="50" charset="0"/>
              </a:rPr>
              <a:t/>
            </a:r>
            <a:endParaRPr lang="en-US" sz="900" b="1" cap="all" baseline="0" dirty="0">
              <a:solidFill>
                <a:schemeClr val="tx1"/>
              </a:solidFill>
              <a:latin typeface="Inter" panose="02000503000000020004" pitchFamily="50" charset="0"/>
              <a:ea typeface="Inter" panose="02000503000000020004" pitchFamily="50" charset="0"/>
              <a:cs typeface="Inter" panose="02000503000000020004" pitchFamily="50" charset="0"/>
            </a:endParaRPr>
          </a:p>
        </p:txBody>
      </p:sp>
      <p:sp>
        <p:nvSpPr>
          <p:cNvPr id="2" name="Text Placeholder 2">
            <a:extLst>
              <a:ext uri="{FF2B5EF4-FFF2-40B4-BE49-F238E27FC236}">
                <a16:creationId xmlns:a16="http://schemas.microsoft.com/office/drawing/2014/main" id="{078D71ED-9D19-C6F9-2CB5-DED660B9BBAE}"/>
              </a:ext>
            </a:extLst>
          </p:cNvPr>
          <p:cNvSpPr>
            <a:spLocks noGrp="1"/>
          </p:cNvSpPr>
          <p:nvPr>
            <p:ph type="body" idx="1"/>
          </p:nvPr>
        </p:nvSpPr>
        <p:spPr>
          <a:xfrm>
            <a:off x="403490" y="2089150"/>
            <a:ext cx="11407510" cy="4302126"/>
          </a:xfrm>
          <a:prstGeom prst="rect">
            <a:avLst/>
          </a:prstGeom>
        </p:spPr>
        <p:txBody>
          <a:bodyPr vert="horz" lIns="0" tIns="45720" rIns="0" bIns="45720" rtlCol="0">
            <a:no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9" name="TextBox 8">
            <a:extLst>
              <a:ext uri="{FF2B5EF4-FFF2-40B4-BE49-F238E27FC236}">
                <a16:creationId xmlns:a16="http://schemas.microsoft.com/office/drawing/2014/main" id="{8F1740BB-194C-8CB0-E91C-E0A8396C52B4}"/>
              </a:ext>
            </a:extLst>
          </p:cNvPr>
          <p:cNvSpPr txBox="1"/>
          <p:nvPr userDrawn="1"/>
        </p:nvSpPr>
        <p:spPr>
          <a:xfrm>
            <a:off x="10007159" y="6654800"/>
            <a:ext cx="1962149" cy="102592"/>
          </a:xfrm>
          <a:prstGeom prst="rect">
            <a:avLst/>
          </a:prstGeom>
          <a:noFill/>
        </p:spPr>
        <p:txBody>
          <a:bodyPr wrap="square" lIns="0" tIns="0" rIns="0" bIns="0">
            <a:spAutoFit/>
          </a:bodyPr>
          <a:lstStyle/>
          <a:p>
            <a:pPr algn="r"/>
            <a:r>
              <a:rPr lang="en-US" sz="800" b="0" dirty="0">
                <a:solidFill>
                  <a:srgbClr val="B4B0AC"/>
                </a:solidFill>
                <a:latin typeface="Inter" panose="02000503000000020004" pitchFamily="50" charset="0"/>
                <a:cs typeface="Inter" panose="02000503000000020004" pitchFamily="50" charset="0"/>
              </a:rPr>
              <a:t>DXC Internal</a:t>
            </a:r>
          </a:p>
        </p:txBody>
      </p:sp>
      <p:sp>
        <p:nvSpPr>
          <p:cNvPr id="13" name="Footer Placeholder 4">
            <a:extLst>
              <a:ext uri="{FF2B5EF4-FFF2-40B4-BE49-F238E27FC236}">
                <a16:creationId xmlns:a16="http://schemas.microsoft.com/office/drawing/2014/main" id="{DD39F452-F205-21C0-5578-B7519A84CA15}"/>
              </a:ext>
            </a:extLst>
          </p:cNvPr>
          <p:cNvSpPr txBox="1">
            <a:spLocks/>
          </p:cNvSpPr>
          <p:nvPr userDrawn="1"/>
        </p:nvSpPr>
        <p:spPr>
          <a:xfrm>
            <a:off x="9413660" y="6490228"/>
            <a:ext cx="2555648" cy="14605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1533455588"/>
      </p:ext>
    </p:extLst>
  </p:cSld>
  <p:clrMap bg1="lt1" tx1="dk1" bg2="lt2" tx2="dk2" accent1="accent1" accent2="accent2" accent3="accent3" accent4="accent4" accent5="accent5" accent6="accent6" hlink="hlink" folHlink="folHlink"/>
  <p:sldLayoutIdLst>
    <p:sldLayoutId id="2147483684" r:id="rId1"/>
    <p:sldLayoutId id="2147483721" r:id="rId2"/>
    <p:sldLayoutId id="2147483739" r:id="rId3"/>
    <p:sldLayoutId id="2147483674" r:id="rId4"/>
    <p:sldLayoutId id="2147483697" r:id="rId5"/>
    <p:sldLayoutId id="2147483734" r:id="rId6"/>
    <p:sldLayoutId id="2147483714" r:id="rId7"/>
    <p:sldLayoutId id="2147483696" r:id="rId8"/>
    <p:sldLayoutId id="2147483705" r:id="rId9"/>
    <p:sldLayoutId id="2147483718" r:id="rId10"/>
    <p:sldLayoutId id="2147483694" r:id="rId11"/>
    <p:sldLayoutId id="2147483738" r:id="rId12"/>
    <p:sldLayoutId id="2147483740" r:id="rId13"/>
    <p:sldLayoutId id="2147483746" r:id="rId14"/>
    <p:sldLayoutId id="2147483701" r:id="rId15"/>
    <p:sldLayoutId id="2147483744" r:id="rId16"/>
    <p:sldLayoutId id="2147483745" r:id="rId17"/>
    <p:sldLayoutId id="2147483743" r:id="rId18"/>
    <p:sldLayoutId id="2147483711" r:id="rId19"/>
    <p:sldLayoutId id="2147483742" r:id="rId20"/>
    <p:sldLayoutId id="2147483719" r:id="rId21"/>
    <p:sldLayoutId id="2147483677" r:id="rId22"/>
    <p:sldLayoutId id="2147483720" r:id="rId23"/>
    <p:sldLayoutId id="2147483678" r:id="rId24"/>
    <p:sldLayoutId id="2147483737" r:id="rId25"/>
  </p:sldLayoutIdLst>
  <p:hf sldNum="0" hdr="0" ftr="0" dt="0"/>
  <p:txStyles>
    <p:titleStyle>
      <a:lvl1pPr algn="l" defTabSz="1097280" rtl="0" eaLnBrk="1" latinLnBrk="0" hangingPunct="1">
        <a:lnSpc>
          <a:spcPct val="90000"/>
        </a:lnSpc>
        <a:spcBef>
          <a:spcPct val="0"/>
        </a:spcBef>
        <a:buNone/>
        <a:defRPr sz="3600" kern="1200" cap="all" baseline="0">
          <a:solidFill>
            <a:schemeClr val="tx1"/>
          </a:solidFill>
          <a:latin typeface="GT Standard L Extended" pitchFamily="50" charset="0"/>
          <a:ea typeface="Inter Medium" panose="02000603000000020004" pitchFamily="50" charset="0"/>
          <a:cs typeface="Inter Medium" panose="02000603000000020004" pitchFamily="50" charset="0"/>
        </a:defRPr>
      </a:lvl1pPr>
    </p:titleStyle>
    <p:bodyStyle>
      <a:lvl1pPr marL="0" indent="0" algn="l" defTabSz="1097280" rtl="0" eaLnBrk="1" latinLnBrk="0" hangingPunct="1">
        <a:lnSpc>
          <a:spcPct val="100000"/>
        </a:lnSpc>
        <a:spcBef>
          <a:spcPts val="600"/>
        </a:spcBef>
        <a:spcAft>
          <a:spcPts val="400"/>
        </a:spcAft>
        <a:buFont typeface="Arial" panose="020B0604020202020204" pitchFamily="34" charset="0"/>
        <a:buNone/>
        <a:defRPr sz="16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marL="0" indent="0" algn="l" defTabSz="1097280" rtl="0" eaLnBrk="1" latinLnBrk="0" hangingPunct="1">
        <a:lnSpc>
          <a:spcPct val="100000"/>
        </a:lnSpc>
        <a:spcBef>
          <a:spcPts val="600"/>
        </a:spcBef>
        <a:spcAft>
          <a:spcPts val="400"/>
        </a:spcAft>
        <a:buFont typeface="Arial" panose="020B0604020202020204" pitchFamily="34" charset="0"/>
        <a:buNone/>
        <a:defRPr sz="16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2pPr>
      <a:lvl3pPr marL="228600" indent="-228600"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3pPr>
      <a:lvl4pPr marL="517525" indent="-288925"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4pPr>
      <a:lvl5pPr marL="800100" indent="-273050"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guide id="4" pos="8928">
          <p15:clr>
            <a:srgbClr val="F26B43"/>
          </p15:clr>
        </p15:guide>
        <p15:guide id="5" orient="horz" pos="384">
          <p15:clr>
            <a:srgbClr val="F26B43"/>
          </p15:clr>
        </p15:guide>
        <p15:guide id="6" orient="horz" pos="5034" userDrawn="1">
          <p15:clr>
            <a:srgbClr val="F26B43"/>
          </p15:clr>
        </p15:guide>
        <p15:guide id="7" pos="288">
          <p15:clr>
            <a:srgbClr val="F26B43"/>
          </p15:clr>
        </p15:guide>
        <p15:guide id="8" pos="1836" userDrawn="1">
          <p15:clr>
            <a:srgbClr val="F26B43"/>
          </p15:clr>
        </p15:guide>
        <p15:guide id="9" pos="1956" userDrawn="1">
          <p15:clr>
            <a:srgbClr val="F26B43"/>
          </p15:clr>
        </p15:guide>
        <p15:guide id="10" pos="3648" userDrawn="1">
          <p15:clr>
            <a:srgbClr val="F26B43"/>
          </p15:clr>
        </p15:guide>
        <p15:guide id="11" pos="3768" userDrawn="1">
          <p15:clr>
            <a:srgbClr val="F26B43"/>
          </p15:clr>
        </p15:guide>
        <p15:guide id="12" pos="5448" userDrawn="1">
          <p15:clr>
            <a:srgbClr val="F26B43"/>
          </p15:clr>
        </p15:guide>
        <p15:guide id="13" pos="5568" userDrawn="1">
          <p15:clr>
            <a:srgbClr val="F26B43"/>
          </p15:clr>
        </p15:guide>
        <p15:guide id="14" pos="7248" userDrawn="1">
          <p15:clr>
            <a:srgbClr val="F26B43"/>
          </p15:clr>
        </p15:guide>
        <p15:guide id="15" pos="7368" userDrawn="1">
          <p15:clr>
            <a:srgbClr val="F26B43"/>
          </p15:clr>
        </p15:guide>
        <p15:guide id="16" pos="168" userDrawn="1">
          <p15:clr>
            <a:srgbClr val="F26B43"/>
          </p15:clr>
        </p15:guide>
        <p15:guide id="17" pos="9048" userDrawn="1">
          <p15:clr>
            <a:srgbClr val="F26B43"/>
          </p15:clr>
        </p15:guide>
        <p15:guide id="18" orient="horz" pos="4848" userDrawn="1">
          <p15:clr>
            <a:srgbClr val="F26B43"/>
          </p15:clr>
        </p15:guide>
      </p15:sldGuideLst>
    </p:ext>
  </p:ext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48c483bc223cf1f.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solidFill>
              <a:srgbClr val="0E1020">
                <a:alpha val="62000"/>
              </a:srgbClr>
            </a:solidFill>
            <a:ln>
              <a:noFill/>
            </a:ln>
          </p:spPr>
        </p:sp>
      </p:grpSp>
      <p:grpSp>
        <p:nvGrpSpPr>
          <p:cNvPr id="7" name="Group 7"/>
          <p:cNvGrpSpPr/>
          <p:nvPr/>
        </p:nvGrpSpPr>
        <p:grpSpPr>
          <a:xfrm>
            <a:off x="457200" y="1714500"/>
            <a:ext cx="7067550" cy="2400300"/>
            <a:chOff x="457200" y="1714500"/>
            <a:chExt cx="7067550" cy="2400300"/>
          </a:xfrm>
        </p:grpSpPr>
        <p:sp>
          <p:nvSpPr>
            <p:cNvPr id="5" name="Rectangle 5"/>
            <p:cNvSpPr/>
            <p:nvPr/>
          </p:nvSpPr>
          <p:spPr>
            <a:xfrm>
              <a:off x="457200" y="1714500"/>
              <a:ext cx="57150" cy="2400300"/>
            </a:xfrm>
            <a:prstGeom prst="roundRect">
              <a:avLst>
                <a:gd name="adj" fmla="val 50000"/>
              </a:avLst>
            </a:prstGeom>
            <a:solidFill>
              <a:srgbClr val="FFAE41"/>
            </a:solidFill>
            <a:ln>
              <a:noFill/>
            </a:ln>
          </p:spPr>
        </p:sp>
        <p:sp>
          <p:nvSpPr>
            <p:cNvPr id="6" name="Line 6"/>
            <p:cNvSpPr/>
            <p:nvPr/>
          </p:nvSpPr>
          <p:spPr>
            <a:xfrm>
              <a:off x="704850" y="3429000"/>
              <a:ext cx="6819900" cy="9525"/>
            </a:xfrm>
            <a:custGeom>
              <a:avLst/>
              <a:gdLst/>
              <a:ahLst/>
              <a:cxnLst/>
              <a:rect l="l" t="t" r="r" b="b"/>
              <a:pathLst>
                <a:path w="6819900" h="9525">
                  <a:moveTo>
                    <a:pt x="0" y="0"/>
                  </a:moveTo>
                  <a:lnTo>
                    <a:pt x="6819900" y="0"/>
                  </a:lnTo>
                </a:path>
              </a:pathLst>
            </a:custGeom>
            <a:noFill/>
            <a:ln w="14288">
              <a:solidFill>
                <a:srgbClr val="FFAE41">
                  <a:alpha val="72000"/>
                </a:srgbClr>
              </a:solidFill>
            </a:ln>
          </p:spPr>
        </p:sp>
      </p:grpSp>
      <p:grpSp>
        <p:nvGrpSpPr>
          <p:cNvPr id="12" name="Group 12"/>
          <p:cNvGrpSpPr/>
          <p:nvPr/>
        </p:nvGrpSpPr>
        <p:grpSpPr>
          <a:xfrm>
            <a:off x="659130" y="1935480"/>
            <a:ext cx="5831395" cy="1974532"/>
            <a:chOff x="659130" y="1935480"/>
            <a:chExt cx="5831395" cy="1974532"/>
          </a:xfrm>
        </p:grpSpPr>
        <p:sp>
          <p:nvSpPr>
            <p:cNvPr id="8" name="TextBox 8"/>
            <p:cNvSpPr txBox="1"/>
            <p:nvPr/>
          </p:nvSpPr>
          <p:spPr>
            <a:xfrm>
              <a:off x="659130" y="1935480"/>
              <a:ext cx="2875788" cy="731520"/>
            </a:xfrm>
            <a:prstGeom prst="rect">
              <a:avLst/>
            </a:prstGeom>
            <a:noFill/>
            <a:ln>
              <a:noFill/>
            </a:ln>
          </p:spPr>
          <p:txBody>
            <a:bodyPr wrap="none" lIns="0" tIns="0" rIns="0" bIns="0" anchor="t" anchorCtr="0">
              <a:spAutoFit/>
            </a:bodyPr>
            <a:lstStyle/>
            <a:p>
              <a:pPr algn="l"/>
              <a:r>
                <a:rPr lang="zh-CN" sz="3600" dirty="0">
                  <a:solidFill>
                    <a:srgbClr val="FFFFFF"/>
                  </a:solidFill>
                  <a:latin typeface="Calibri Light"/>
                  <a:ea typeface="Microsoft YaHei"/>
                  <a:cs typeface="Calibri Light"/>
                </a:rPr>
                <a:t>第 4 讲：RAG</a:t>
              </a:r>
            </a:p>
          </p:txBody>
        </p:sp>
        <p:sp>
          <p:nvSpPr>
            <p:cNvPr id="9" name="TextBox 9"/>
            <p:cNvSpPr txBox="1"/>
            <p:nvPr/>
          </p:nvSpPr>
          <p:spPr>
            <a:xfrm>
              <a:off x="659130" y="2487930"/>
              <a:ext cx="2491740" cy="731520"/>
            </a:xfrm>
            <a:prstGeom prst="rect">
              <a:avLst/>
            </a:prstGeom>
            <a:noFill/>
            <a:ln>
              <a:noFill/>
            </a:ln>
          </p:spPr>
          <p:txBody>
            <a:bodyPr wrap="none" lIns="0" tIns="0" rIns="0" bIns="0" anchor="t" anchorCtr="0">
              <a:spAutoFit/>
            </a:bodyPr>
            <a:lstStyle/>
            <a:p>
              <a:pPr algn="l"/>
              <a:r>
                <a:rPr lang="zh-CN" sz="3600" dirty="0">
                  <a:solidFill>
                    <a:srgbClr val="FFFFFF"/>
                  </a:solidFill>
                  <a:latin typeface="Calibri Light"/>
                  <a:ea typeface="Microsoft YaHei"/>
                  <a:cs typeface="Calibri Light"/>
                </a:rPr>
                <a:t>调优与评估</a:t>
              </a:r>
            </a:p>
          </p:txBody>
        </p:sp>
        <p:sp>
          <p:nvSpPr>
            <p:cNvPr id="10" name="TextBox 10"/>
            <p:cNvSpPr txBox="1"/>
            <p:nvPr/>
          </p:nvSpPr>
          <p:spPr>
            <a:xfrm>
              <a:off x="683895" y="3022282"/>
              <a:ext cx="4939722" cy="335280"/>
            </a:xfrm>
            <a:prstGeom prst="rect">
              <a:avLst/>
            </a:prstGeom>
            <a:noFill/>
            <a:ln>
              <a:noFill/>
            </a:ln>
          </p:spPr>
          <p:txBody>
            <a:bodyPr wrap="none" lIns="0" tIns="0" rIns="0" bIns="0" anchor="t" anchorCtr="0">
              <a:spAutoFit/>
            </a:bodyPr>
            <a:lstStyle/>
            <a:p>
              <a:pPr algn="l"/>
              <a:r>
                <a:rPr lang="zh-CN" sz="1650" b="1" dirty="0">
                  <a:solidFill>
                    <a:srgbClr val="FFAE41"/>
                  </a:solidFill>
                  <a:latin typeface="Calibri"/>
                  <a:ea typeface="Microsoft YaHei"/>
                  <a:cs typeface="Calibri"/>
                </a:rPr>
                <a:t>从“能检索”走向“可衡量、可定位、可持续优化”</a:t>
              </a:r>
            </a:p>
          </p:txBody>
        </p:sp>
        <p:sp>
          <p:nvSpPr>
            <p:cNvPr id="11" name="TextBox 11"/>
            <p:cNvSpPr txBox="1"/>
            <p:nvPr/>
          </p:nvSpPr>
          <p:spPr>
            <a:xfrm>
              <a:off x="683895" y="3574732"/>
              <a:ext cx="5806630" cy="335280"/>
            </a:xfrm>
            <a:prstGeom prst="rect">
              <a:avLst/>
            </a:prstGeom>
            <a:noFill/>
            <a:ln>
              <a:noFill/>
            </a:ln>
          </p:spPr>
          <p:txBody>
            <a:bodyPr wrap="none" lIns="0" tIns="0" rIns="0" bIns="0" anchor="t" anchorCtr="0">
              <a:spAutoFit/>
            </a:bodyPr>
            <a:lstStyle/>
            <a:p>
              <a:pPr algn="l"/>
              <a:r>
                <a:rPr lang="zh-CN" sz="1650" dirty="0">
                  <a:solidFill>
                    <a:srgbClr val="F6F3F0"/>
                  </a:solidFill>
                  <a:latin typeface="Calibri"/>
                  <a:ea typeface="Microsoft YaHei"/>
                  <a:cs typeface="Calibri"/>
                </a:rPr>
                <a:t>把知识增强系统从“能跑”推进到“能评估、能解释、能优化”</a:t>
              </a:r>
            </a:p>
          </p:txBody>
        </p:sp>
      </p:grpSp>
      <p:grpSp>
        <p:nvGrpSpPr>
          <p:cNvPr id="16" name="Group 16"/>
          <p:cNvGrpSpPr/>
          <p:nvPr/>
        </p:nvGrpSpPr>
        <p:grpSpPr>
          <a:xfrm>
            <a:off x="704850" y="4171950"/>
            <a:ext cx="5740527" cy="742950"/>
            <a:chOff x="704850" y="4171950"/>
            <a:chExt cx="5740527" cy="742950"/>
          </a:xfrm>
        </p:grpSpPr>
        <p:sp>
          <p:nvSpPr>
            <p:cNvPr id="13" name="Rectangle 13"/>
            <p:cNvSpPr/>
            <p:nvPr/>
          </p:nvSpPr>
          <p:spPr>
            <a:xfrm>
              <a:off x="704850" y="4171950"/>
              <a:ext cx="5219700" cy="742950"/>
            </a:xfrm>
            <a:prstGeom prst="roundRect">
              <a:avLst>
                <a:gd name="adj" fmla="val 15385"/>
              </a:avLst>
            </a:prstGeom>
            <a:solidFill>
              <a:srgbClr val="FFFFFF">
                <a:alpha val="8000"/>
              </a:srgbClr>
            </a:solidFill>
            <a:ln w="9525">
              <a:solidFill>
                <a:srgbClr val="FFFFFF">
                  <a:alpha val="16000"/>
                </a:srgbClr>
              </a:solidFill>
            </a:ln>
          </p:spPr>
        </p:sp>
        <p:sp>
          <p:nvSpPr>
            <p:cNvPr id="14" name="TextBox 14"/>
            <p:cNvSpPr txBox="1"/>
            <p:nvPr/>
          </p:nvSpPr>
          <p:spPr>
            <a:xfrm>
              <a:off x="918210" y="4347210"/>
              <a:ext cx="5527167"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Calibri"/>
                  <a:ea typeface="Microsoft YaHei"/>
                  <a:cs typeface="Calibri"/>
                </a:rPr>
                <a:t>前 3 讲把 RAG 主线搭起来了，这一讲开始要求学员像看工程系统一样看 RAG。</a:t>
              </a:r>
            </a:p>
          </p:txBody>
        </p:sp>
        <p:sp>
          <p:nvSpPr>
            <p:cNvPr id="15" name="TextBox 15"/>
            <p:cNvSpPr txBox="1"/>
            <p:nvPr/>
          </p:nvSpPr>
          <p:spPr>
            <a:xfrm>
              <a:off x="918210" y="4575810"/>
              <a:ext cx="4223004"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Calibri"/>
                  <a:ea typeface="Microsoft YaHei"/>
                  <a:cs typeface="Calibri"/>
                </a:rPr>
                <a:t>重点不再是“能不能回答”，而是“如何衡量、诊断和优化”。</a:t>
              </a:r>
            </a:p>
          </p:txBody>
        </p:sp>
      </p:grpSp>
      <p:grpSp>
        <p:nvGrpSpPr>
          <p:cNvPr id="19" name="Group 19"/>
          <p:cNvGrpSpPr/>
          <p:nvPr/>
        </p:nvGrpSpPr>
        <p:grpSpPr>
          <a:xfrm>
            <a:off x="10306050" y="5886450"/>
            <a:ext cx="1504950" cy="361950"/>
            <a:chOff x="10306050" y="5886450"/>
            <a:chExt cx="1504950" cy="361950"/>
          </a:xfrm>
        </p:grpSpPr>
        <p:sp>
          <p:nvSpPr>
            <p:cNvPr id="17" name="Rectangle 17"/>
            <p:cNvSpPr/>
            <p:nvPr/>
          </p:nvSpPr>
          <p:spPr>
            <a:xfrm>
              <a:off x="10306050" y="5886450"/>
              <a:ext cx="1504950" cy="361950"/>
            </a:xfrm>
            <a:prstGeom prst="roundRect">
              <a:avLst>
                <a:gd name="adj" fmla="val 50000"/>
              </a:avLst>
            </a:prstGeom>
            <a:solidFill>
              <a:srgbClr val="004AAC">
                <a:alpha val="84000"/>
              </a:srgbClr>
            </a:solidFill>
            <a:ln>
              <a:noFill/>
            </a:ln>
          </p:spPr>
        </p:sp>
        <p:sp>
          <p:nvSpPr>
            <p:cNvPr id="18" name="TextBox 18"/>
            <p:cNvSpPr txBox="1"/>
            <p:nvPr/>
          </p:nvSpPr>
          <p:spPr>
            <a:xfrm>
              <a:off x="10431388" y="6011228"/>
              <a:ext cx="125427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libri"/>
                  <a:ea typeface="Microsoft YaHei"/>
                  <a:cs typeface="Calibri"/>
                </a:rPr>
                <a:t>DXC Training Deck</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6"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7023735" cy="716756"/>
            <a:chOff x="457200" y="647700"/>
            <a:chExt cx="7023735"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6865620"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接上知识库只是开始，效果管理才是工程起点</a:t>
              </a:r>
            </a:p>
          </p:txBody>
        </p:sp>
        <p:sp>
          <p:nvSpPr>
            <p:cNvPr id="5" name="TextBox 5"/>
            <p:cNvSpPr txBox="1"/>
            <p:nvPr/>
          </p:nvSpPr>
          <p:spPr>
            <a:xfrm>
              <a:off x="633412" y="1135856"/>
              <a:ext cx="6036826"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RAG 不是“接上就结束”，而是要持续回答效果如何衡量、问题如何定位、下一步如何改进。</a:t>
              </a:r>
            </a:p>
          </p:txBody>
        </p:sp>
      </p:grpSp>
      <p:grpSp>
        <p:nvGrpSpPr>
          <p:cNvPr id="17" name="Group 17"/>
          <p:cNvGrpSpPr/>
          <p:nvPr/>
        </p:nvGrpSpPr>
        <p:grpSpPr>
          <a:xfrm>
            <a:off x="457200" y="1771650"/>
            <a:ext cx="3458337" cy="3505200"/>
            <a:chOff x="457200" y="1771650"/>
            <a:chExt cx="3458337" cy="3505200"/>
          </a:xfrm>
        </p:grpSpPr>
        <p:sp>
          <p:nvSpPr>
            <p:cNvPr id="7" name="Rectangle 7"/>
            <p:cNvSpPr/>
            <p:nvPr/>
          </p:nvSpPr>
          <p:spPr>
            <a:xfrm>
              <a:off x="457200" y="1771650"/>
              <a:ext cx="3429000" cy="3505200"/>
            </a:xfrm>
            <a:prstGeom prst="roundRect">
              <a:avLst>
                <a:gd name="adj" fmla="val 3889"/>
              </a:avLst>
            </a:prstGeom>
            <a:solidFill>
              <a:srgbClr val="0E1020"/>
            </a:solidFill>
            <a:ln>
              <a:noFill/>
            </a:ln>
          </p:spPr>
        </p:sp>
        <p:grpSp>
          <p:nvGrpSpPr>
            <p:cNvPr id="11" name="Group 11"/>
            <p:cNvGrpSpPr/>
            <p:nvPr/>
          </p:nvGrpSpPr>
          <p:grpSpPr>
            <a:xfrm>
              <a:off x="759619" y="2074069"/>
              <a:ext cx="214312" cy="214312"/>
              <a:chOff x="759619" y="2074069"/>
              <a:chExt cx="214312" cy="214312"/>
            </a:xfrm>
          </p:grpSpPr>
          <p:sp>
            <p:nvSpPr>
              <p:cNvPr id="8" name="Freeform 8"/>
              <p:cNvSpPr/>
              <p:nvPr/>
            </p:nvSpPr>
            <p:spPr>
              <a:xfrm>
                <a:off x="854869" y="2169319"/>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9050">
                <a:solidFill>
                  <a:srgbClr val="FFAE41"/>
                </a:solidFill>
              </a:ln>
            </p:spPr>
          </p:sp>
          <p:sp>
            <p:nvSpPr>
              <p:cNvPr id="9" name="Freeform 9"/>
              <p:cNvSpPr/>
              <p:nvPr/>
            </p:nvSpPr>
            <p:spPr>
              <a:xfrm>
                <a:off x="807244" y="2121694"/>
                <a:ext cx="119062" cy="119062"/>
              </a:xfrm>
              <a:custGeom>
                <a:avLst/>
                <a:gdLst/>
                <a:ahLst/>
                <a:cxnLst/>
                <a:rect l="l" t="t" r="r" b="b"/>
                <a:pathLst>
                  <a:path w="119062" h="119062">
                    <a:moveTo>
                      <a:pt x="0" y="59531"/>
                    </a:moveTo>
                    <a:cubicBezTo>
                      <a:pt x="0" y="92409"/>
                      <a:pt x="26653" y="119062"/>
                      <a:pt x="59531" y="119062"/>
                    </a:cubicBezTo>
                    <a:cubicBezTo>
                      <a:pt x="92409" y="119062"/>
                      <a:pt x="119062" y="92409"/>
                      <a:pt x="119062" y="59531"/>
                    </a:cubicBezTo>
                    <a:cubicBezTo>
                      <a:pt x="119062" y="26653"/>
                      <a:pt x="92409" y="0"/>
                      <a:pt x="59531" y="0"/>
                    </a:cubicBezTo>
                    <a:cubicBezTo>
                      <a:pt x="26653" y="0"/>
                      <a:pt x="0" y="26653"/>
                      <a:pt x="0" y="59531"/>
                    </a:cubicBezTo>
                  </a:path>
                </a:pathLst>
              </a:custGeom>
              <a:noFill/>
              <a:ln w="19050">
                <a:solidFill>
                  <a:srgbClr val="FFAE41"/>
                </a:solidFill>
              </a:ln>
            </p:spPr>
          </p:sp>
          <p:sp>
            <p:nvSpPr>
              <p:cNvPr id="10" name="Freeform 10"/>
              <p:cNvSpPr/>
              <p:nvPr/>
            </p:nvSpPr>
            <p:spPr>
              <a:xfrm>
                <a:off x="759619" y="207406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19050">
                <a:solidFill>
                  <a:srgbClr val="FFAE41"/>
                </a:solidFill>
              </a:ln>
            </p:spPr>
          </p:sp>
        </p:grpSp>
        <p:sp>
          <p:nvSpPr>
            <p:cNvPr id="12" name="TextBox 12"/>
            <p:cNvSpPr txBox="1"/>
            <p:nvPr/>
          </p:nvSpPr>
          <p:spPr>
            <a:xfrm>
              <a:off x="1144905" y="2102168"/>
              <a:ext cx="135745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为什么必须评估</a:t>
              </a:r>
            </a:p>
          </p:txBody>
        </p:sp>
        <p:sp>
          <p:nvSpPr>
            <p:cNvPr id="13" name="TextBox 13"/>
            <p:cNvSpPr txBox="1"/>
            <p:nvPr/>
          </p:nvSpPr>
          <p:spPr>
            <a:xfrm>
              <a:off x="708660" y="2670810"/>
              <a:ext cx="2566797" cy="243840"/>
            </a:xfrm>
            <a:prstGeom prst="rect">
              <a:avLst/>
            </a:prstGeom>
            <a:noFill/>
            <a:ln>
              <a:noFill/>
            </a:ln>
          </p:spPr>
          <p:txBody>
            <a:bodyPr wrap="none" lIns="0" tIns="0" rIns="0" bIns="0" anchor="t" anchorCtr="0">
              <a:spAutoFit/>
            </a:bodyPr>
            <a:lstStyle/>
            <a:p>
              <a:pPr algn="l"/>
              <a:r>
                <a:rPr lang="zh-CN" sz="1200" dirty="0">
                  <a:solidFill>
                    <a:srgbClr val="F6F3F0"/>
                  </a:solidFill>
                  <a:latin typeface="Calibri"/>
                  <a:ea typeface="Microsoft YaHei"/>
                  <a:cs typeface="Calibri"/>
                </a:rPr>
                <a:t>• 同样能回答，不代表系统质量相同</a:t>
              </a:r>
            </a:p>
          </p:txBody>
        </p:sp>
        <p:sp>
          <p:nvSpPr>
            <p:cNvPr id="14" name="TextBox 14"/>
            <p:cNvSpPr txBox="1"/>
            <p:nvPr/>
          </p:nvSpPr>
          <p:spPr>
            <a:xfrm>
              <a:off x="708660" y="2937510"/>
              <a:ext cx="2726817" cy="243840"/>
            </a:xfrm>
            <a:prstGeom prst="rect">
              <a:avLst/>
            </a:prstGeom>
            <a:noFill/>
            <a:ln>
              <a:noFill/>
            </a:ln>
          </p:spPr>
          <p:txBody>
            <a:bodyPr wrap="none" lIns="0" tIns="0" rIns="0" bIns="0" anchor="t" anchorCtr="0">
              <a:spAutoFit/>
            </a:bodyPr>
            <a:lstStyle/>
            <a:p>
              <a:pPr algn="l"/>
              <a:r>
                <a:rPr lang="zh-CN" sz="1200" dirty="0">
                  <a:solidFill>
                    <a:srgbClr val="F6F3F0"/>
                  </a:solidFill>
                  <a:latin typeface="Calibri"/>
                  <a:ea typeface="Microsoft YaHei"/>
                  <a:cs typeface="Calibri"/>
                </a:rPr>
                <a:t>• 没有评估，就无法稳定定位问题层级</a:t>
              </a:r>
            </a:p>
          </p:txBody>
        </p:sp>
        <p:sp>
          <p:nvSpPr>
            <p:cNvPr id="15" name="TextBox 15"/>
            <p:cNvSpPr txBox="1"/>
            <p:nvPr/>
          </p:nvSpPr>
          <p:spPr>
            <a:xfrm>
              <a:off x="708660" y="3204210"/>
              <a:ext cx="2742819" cy="243840"/>
            </a:xfrm>
            <a:prstGeom prst="rect">
              <a:avLst/>
            </a:prstGeom>
            <a:noFill/>
            <a:ln>
              <a:noFill/>
            </a:ln>
          </p:spPr>
          <p:txBody>
            <a:bodyPr wrap="none" lIns="0" tIns="0" rIns="0" bIns="0" anchor="t" anchorCtr="0">
              <a:spAutoFit/>
            </a:bodyPr>
            <a:lstStyle/>
            <a:p>
              <a:pPr algn="l"/>
              <a:r>
                <a:rPr lang="zh-CN" sz="1200" dirty="0">
                  <a:solidFill>
                    <a:srgbClr val="F6F3F0"/>
                  </a:solidFill>
                  <a:latin typeface="Calibri"/>
                  <a:ea typeface="Microsoft YaHei"/>
                  <a:cs typeface="Calibri"/>
                </a:rPr>
                <a:t>• 企业项目一定要回答“效果如何衡量”</a:t>
              </a:r>
            </a:p>
          </p:txBody>
        </p:sp>
        <p:sp>
          <p:nvSpPr>
            <p:cNvPr id="16" name="TextBox 16"/>
            <p:cNvSpPr txBox="1"/>
            <p:nvPr/>
          </p:nvSpPr>
          <p:spPr>
            <a:xfrm>
              <a:off x="708660" y="3470910"/>
              <a:ext cx="3206877" cy="243840"/>
            </a:xfrm>
            <a:prstGeom prst="rect">
              <a:avLst/>
            </a:prstGeom>
            <a:noFill/>
            <a:ln>
              <a:noFill/>
            </a:ln>
          </p:spPr>
          <p:txBody>
            <a:bodyPr wrap="none" lIns="0" tIns="0" rIns="0" bIns="0" anchor="t" anchorCtr="0">
              <a:spAutoFit/>
            </a:bodyPr>
            <a:lstStyle/>
            <a:p>
              <a:pPr algn="l"/>
              <a:r>
                <a:rPr lang="zh-CN" sz="1200" dirty="0">
                  <a:solidFill>
                    <a:srgbClr val="F6F3F0"/>
                  </a:solidFill>
                  <a:latin typeface="Calibri"/>
                  <a:ea typeface="Microsoft YaHei"/>
                  <a:cs typeface="Calibri"/>
                </a:rPr>
                <a:t>• 没有指标和样本记录，优化几乎只能靠感觉</a:t>
              </a:r>
            </a:p>
          </p:txBody>
        </p:sp>
      </p:grpSp>
      <p:grpSp>
        <p:nvGrpSpPr>
          <p:cNvPr id="24" name="Group 24"/>
          <p:cNvGrpSpPr/>
          <p:nvPr/>
        </p:nvGrpSpPr>
        <p:grpSpPr>
          <a:xfrm>
            <a:off x="4210050" y="1771650"/>
            <a:ext cx="2381250" cy="1600200"/>
            <a:chOff x="4210050" y="1771650"/>
            <a:chExt cx="2381250" cy="1600200"/>
          </a:xfrm>
        </p:grpSpPr>
        <p:sp>
          <p:nvSpPr>
            <p:cNvPr id="18" name="Rectangle 18"/>
            <p:cNvSpPr/>
            <p:nvPr/>
          </p:nvSpPr>
          <p:spPr>
            <a:xfrm>
              <a:off x="4210050" y="1771650"/>
              <a:ext cx="2381250" cy="1600200"/>
            </a:xfrm>
            <a:prstGeom prst="roundRect">
              <a:avLst>
                <a:gd name="adj" fmla="val 7143"/>
              </a:avLst>
            </a:prstGeom>
            <a:solidFill>
              <a:srgbClr val="FFFFFF"/>
            </a:solidFill>
            <a:ln>
              <a:noFill/>
            </a:ln>
          </p:spPr>
        </p:sp>
        <p:sp>
          <p:nvSpPr>
            <p:cNvPr id="19" name="Rectangle 19"/>
            <p:cNvSpPr/>
            <p:nvPr/>
          </p:nvSpPr>
          <p:spPr>
            <a:xfrm>
              <a:off x="4210050" y="1771650"/>
              <a:ext cx="2381250" cy="457200"/>
            </a:xfrm>
            <a:prstGeom prst="roundRect">
              <a:avLst>
                <a:gd name="adj" fmla="val 25000"/>
              </a:avLst>
            </a:prstGeom>
            <a:solidFill>
              <a:srgbClr val="004AAC"/>
            </a:solidFill>
            <a:ln>
              <a:noFill/>
            </a:ln>
          </p:spPr>
        </p:sp>
        <p:sp>
          <p:nvSpPr>
            <p:cNvPr id="20" name="TextBox 20"/>
            <p:cNvSpPr txBox="1"/>
            <p:nvPr/>
          </p:nvSpPr>
          <p:spPr>
            <a:xfrm>
              <a:off x="4442460" y="1927860"/>
              <a:ext cx="1374648"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质量不是单一答案</a:t>
              </a:r>
            </a:p>
          </p:txBody>
        </p:sp>
        <p:sp>
          <p:nvSpPr>
            <p:cNvPr id="21" name="TextBox 21"/>
            <p:cNvSpPr txBox="1"/>
            <p:nvPr/>
          </p:nvSpPr>
          <p:spPr>
            <a:xfrm>
              <a:off x="4444365" y="2515552"/>
              <a:ext cx="1566863"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能答出来只是最低门槛，</a:t>
              </a:r>
            </a:p>
          </p:txBody>
        </p:sp>
        <p:sp>
          <p:nvSpPr>
            <p:cNvPr id="22" name="TextBox 22"/>
            <p:cNvSpPr txBox="1"/>
            <p:nvPr/>
          </p:nvSpPr>
          <p:spPr>
            <a:xfrm>
              <a:off x="4444365" y="2744152"/>
              <a:ext cx="170688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命中、排序、延迟和稳定性</a:t>
              </a:r>
            </a:p>
          </p:txBody>
        </p:sp>
        <p:sp>
          <p:nvSpPr>
            <p:cNvPr id="23" name="TextBox 23"/>
            <p:cNvSpPr txBox="1"/>
            <p:nvPr/>
          </p:nvSpPr>
          <p:spPr>
            <a:xfrm>
              <a:off x="4444365" y="2972752"/>
              <a:ext cx="1286828"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一起决定系统质量。</a:t>
              </a:r>
            </a:p>
          </p:txBody>
        </p:sp>
      </p:grpSp>
      <p:grpSp>
        <p:nvGrpSpPr>
          <p:cNvPr id="31" name="Group 31"/>
          <p:cNvGrpSpPr/>
          <p:nvPr/>
        </p:nvGrpSpPr>
        <p:grpSpPr>
          <a:xfrm>
            <a:off x="6877050" y="1771650"/>
            <a:ext cx="2515267" cy="1600200"/>
            <a:chOff x="6877050" y="1771650"/>
            <a:chExt cx="2515267" cy="1600200"/>
          </a:xfrm>
        </p:grpSpPr>
        <p:sp>
          <p:nvSpPr>
            <p:cNvPr id="25" name="Rectangle 25"/>
            <p:cNvSpPr/>
            <p:nvPr/>
          </p:nvSpPr>
          <p:spPr>
            <a:xfrm>
              <a:off x="6877050" y="1771650"/>
              <a:ext cx="2381250" cy="1600200"/>
            </a:xfrm>
            <a:prstGeom prst="roundRect">
              <a:avLst>
                <a:gd name="adj" fmla="val 7143"/>
              </a:avLst>
            </a:prstGeom>
            <a:solidFill>
              <a:srgbClr val="FFFFFF"/>
            </a:solidFill>
            <a:ln>
              <a:noFill/>
            </a:ln>
          </p:spPr>
        </p:sp>
        <p:sp>
          <p:nvSpPr>
            <p:cNvPr id="26" name="Rectangle 26"/>
            <p:cNvSpPr/>
            <p:nvPr/>
          </p:nvSpPr>
          <p:spPr>
            <a:xfrm>
              <a:off x="6877050" y="1771650"/>
              <a:ext cx="2381250" cy="457200"/>
            </a:xfrm>
            <a:prstGeom prst="roundRect">
              <a:avLst>
                <a:gd name="adj" fmla="val 25000"/>
              </a:avLst>
            </a:prstGeom>
            <a:solidFill>
              <a:srgbClr val="FFAE41"/>
            </a:solidFill>
            <a:ln>
              <a:noFill/>
            </a:ln>
          </p:spPr>
        </p:sp>
        <p:sp>
          <p:nvSpPr>
            <p:cNvPr id="27" name="TextBox 27"/>
            <p:cNvSpPr txBox="1"/>
            <p:nvPr/>
          </p:nvSpPr>
          <p:spPr>
            <a:xfrm>
              <a:off x="7109460" y="1927860"/>
              <a:ext cx="1206627" cy="243840"/>
            </a:xfrm>
            <a:prstGeom prst="rect">
              <a:avLst/>
            </a:prstGeom>
            <a:noFill/>
            <a:ln>
              <a:noFill/>
            </a:ln>
          </p:spPr>
          <p:txBody>
            <a:bodyPr wrap="none" lIns="0" tIns="0" rIns="0" bIns="0" anchor="t" anchorCtr="0">
              <a:spAutoFit/>
            </a:bodyPr>
            <a:lstStyle/>
            <a:p>
              <a:pPr algn="l"/>
              <a:r>
                <a:rPr lang="zh-CN" sz="1200" b="1" dirty="0">
                  <a:solidFill>
                    <a:srgbClr val="0E1020"/>
                  </a:solidFill>
                  <a:latin typeface="Calibri"/>
                  <a:ea typeface="Microsoft YaHei"/>
                  <a:cs typeface="Calibri"/>
                </a:rPr>
                <a:t>问题必须可定位</a:t>
              </a:r>
            </a:p>
          </p:txBody>
        </p:sp>
        <p:sp>
          <p:nvSpPr>
            <p:cNvPr id="28" name="TextBox 28"/>
            <p:cNvSpPr txBox="1"/>
            <p:nvPr/>
          </p:nvSpPr>
          <p:spPr>
            <a:xfrm>
              <a:off x="7111365" y="2515552"/>
              <a:ext cx="1286828"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如果不知道问题出在</a:t>
              </a:r>
            </a:p>
          </p:txBody>
        </p:sp>
        <p:sp>
          <p:nvSpPr>
            <p:cNvPr id="29" name="TextBox 29"/>
            <p:cNvSpPr txBox="1"/>
            <p:nvPr/>
          </p:nvSpPr>
          <p:spPr>
            <a:xfrm>
              <a:off x="7111365" y="2744152"/>
              <a:ext cx="228095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Query、Chunking、检索还是输出，</a:t>
              </a:r>
            </a:p>
          </p:txBody>
        </p:sp>
        <p:sp>
          <p:nvSpPr>
            <p:cNvPr id="30" name="TextBox 30"/>
            <p:cNvSpPr txBox="1"/>
            <p:nvPr/>
          </p:nvSpPr>
          <p:spPr>
            <a:xfrm>
              <a:off x="7111365" y="2972752"/>
              <a:ext cx="170688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后续调优就无法稳定推进。</a:t>
              </a:r>
            </a:p>
          </p:txBody>
        </p:sp>
      </p:grpSp>
      <p:grpSp>
        <p:nvGrpSpPr>
          <p:cNvPr id="38" name="Group 38"/>
          <p:cNvGrpSpPr/>
          <p:nvPr/>
        </p:nvGrpSpPr>
        <p:grpSpPr>
          <a:xfrm>
            <a:off x="9544050" y="1771650"/>
            <a:ext cx="2190750" cy="1600200"/>
            <a:chOff x="9544050" y="1771650"/>
            <a:chExt cx="2190750" cy="1600200"/>
          </a:xfrm>
        </p:grpSpPr>
        <p:sp>
          <p:nvSpPr>
            <p:cNvPr id="32" name="Rectangle 32"/>
            <p:cNvSpPr/>
            <p:nvPr/>
          </p:nvSpPr>
          <p:spPr>
            <a:xfrm>
              <a:off x="9544050" y="1771650"/>
              <a:ext cx="2190750" cy="1600200"/>
            </a:xfrm>
            <a:prstGeom prst="roundRect">
              <a:avLst>
                <a:gd name="adj" fmla="val 7143"/>
              </a:avLst>
            </a:prstGeom>
            <a:solidFill>
              <a:srgbClr val="FFFFFF"/>
            </a:solidFill>
            <a:ln>
              <a:noFill/>
            </a:ln>
          </p:spPr>
        </p:sp>
        <p:sp>
          <p:nvSpPr>
            <p:cNvPr id="33" name="Rectangle 33"/>
            <p:cNvSpPr/>
            <p:nvPr/>
          </p:nvSpPr>
          <p:spPr>
            <a:xfrm>
              <a:off x="9544050" y="1771650"/>
              <a:ext cx="2190750" cy="457200"/>
            </a:xfrm>
            <a:prstGeom prst="roundRect">
              <a:avLst>
                <a:gd name="adj" fmla="val 25000"/>
              </a:avLst>
            </a:prstGeom>
            <a:solidFill>
              <a:srgbClr val="FF7E51"/>
            </a:solidFill>
            <a:ln>
              <a:noFill/>
            </a:ln>
          </p:spPr>
        </p:sp>
        <p:sp>
          <p:nvSpPr>
            <p:cNvPr id="34" name="TextBox 34"/>
            <p:cNvSpPr txBox="1"/>
            <p:nvPr/>
          </p:nvSpPr>
          <p:spPr>
            <a:xfrm>
              <a:off x="9776460" y="1927860"/>
              <a:ext cx="1206627"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优化必须可追踪</a:t>
              </a:r>
            </a:p>
          </p:txBody>
        </p:sp>
        <p:sp>
          <p:nvSpPr>
            <p:cNvPr id="35" name="TextBox 35"/>
            <p:cNvSpPr txBox="1"/>
            <p:nvPr/>
          </p:nvSpPr>
          <p:spPr>
            <a:xfrm>
              <a:off x="9778365" y="2515552"/>
              <a:ext cx="142684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每一次策略调整都要能</a:t>
              </a:r>
            </a:p>
          </p:txBody>
        </p:sp>
        <p:sp>
          <p:nvSpPr>
            <p:cNvPr id="36" name="TextBox 36"/>
            <p:cNvSpPr txBox="1"/>
            <p:nvPr/>
          </p:nvSpPr>
          <p:spPr>
            <a:xfrm>
              <a:off x="9778365" y="2744152"/>
              <a:ext cx="142684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回到样本和指标上验证</a:t>
              </a:r>
            </a:p>
          </p:txBody>
        </p:sp>
        <p:sp>
          <p:nvSpPr>
            <p:cNvPr id="37" name="TextBox 37"/>
            <p:cNvSpPr txBox="1"/>
            <p:nvPr/>
          </p:nvSpPr>
          <p:spPr>
            <a:xfrm>
              <a:off x="9778365" y="2972752"/>
              <a:ext cx="100679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是否真的变好。</a:t>
              </a:r>
            </a:p>
          </p:txBody>
        </p:sp>
      </p:grpSp>
      <p:grpSp>
        <p:nvGrpSpPr>
          <p:cNvPr id="43" name="Group 43"/>
          <p:cNvGrpSpPr/>
          <p:nvPr/>
        </p:nvGrpSpPr>
        <p:grpSpPr>
          <a:xfrm>
            <a:off x="4210050" y="3733800"/>
            <a:ext cx="7924442" cy="1543050"/>
            <a:chOff x="4210050" y="3733800"/>
            <a:chExt cx="7924442" cy="1543050"/>
          </a:xfrm>
        </p:grpSpPr>
        <p:sp>
          <p:nvSpPr>
            <p:cNvPr id="39" name="Rectangle 39"/>
            <p:cNvSpPr/>
            <p:nvPr/>
          </p:nvSpPr>
          <p:spPr>
            <a:xfrm>
              <a:off x="4210050" y="3733800"/>
              <a:ext cx="7524750" cy="1543050"/>
            </a:xfrm>
            <a:prstGeom prst="roundRect">
              <a:avLst>
                <a:gd name="adj" fmla="val 7407"/>
              </a:avLst>
            </a:prstGeom>
            <a:solidFill>
              <a:srgbClr val="FFFFFF"/>
            </a:solidFill>
            <a:ln>
              <a:noFill/>
            </a:ln>
          </p:spPr>
        </p:sp>
        <p:sp>
          <p:nvSpPr>
            <p:cNvPr id="40" name="Rectangle 40"/>
            <p:cNvSpPr/>
            <p:nvPr/>
          </p:nvSpPr>
          <p:spPr>
            <a:xfrm>
              <a:off x="4210050" y="3733800"/>
              <a:ext cx="57150" cy="1543050"/>
            </a:xfrm>
            <a:prstGeom prst="rect">
              <a:avLst/>
            </a:prstGeom>
            <a:solidFill>
              <a:srgbClr val="FFAE41"/>
            </a:solidFill>
            <a:ln>
              <a:noFill/>
            </a:ln>
          </p:spPr>
        </p:sp>
        <p:sp>
          <p:nvSpPr>
            <p:cNvPr id="41" name="TextBox 41"/>
            <p:cNvSpPr txBox="1"/>
            <p:nvPr/>
          </p:nvSpPr>
          <p:spPr>
            <a:xfrm>
              <a:off x="4461510" y="3966210"/>
              <a:ext cx="702564" cy="243840"/>
            </a:xfrm>
            <a:prstGeom prst="rect">
              <a:avLst/>
            </a:prstGeom>
            <a:noFill/>
            <a:ln>
              <a:noFill/>
            </a:ln>
          </p:spPr>
          <p:txBody>
            <a:bodyPr wrap="none" lIns="0" tIns="0" rIns="0" bIns="0" anchor="t" anchorCtr="0">
              <a:spAutoFit/>
            </a:bodyPr>
            <a:lstStyle/>
            <a:p>
              <a:pPr algn="l"/>
              <a:r>
                <a:rPr lang="zh-CN" sz="1200" b="1" dirty="0">
                  <a:solidFill>
                    <a:srgbClr val="0E1020"/>
                  </a:solidFill>
                  <a:latin typeface="Calibri"/>
                  <a:ea typeface="Microsoft YaHei"/>
                  <a:cs typeface="Calibri"/>
                </a:rPr>
                <a:t>工程结论</a:t>
              </a:r>
            </a:p>
          </p:txBody>
        </p:sp>
        <p:sp>
          <p:nvSpPr>
            <p:cNvPr id="42" name="TextBox 42"/>
            <p:cNvSpPr txBox="1"/>
            <p:nvPr/>
          </p:nvSpPr>
          <p:spPr>
            <a:xfrm>
              <a:off x="4462462" y="4260056"/>
              <a:ext cx="7672030" cy="228600"/>
            </a:xfrm>
            <a:prstGeom prst="rect">
              <a:avLst/>
            </a:prstGeom>
            <a:noFill/>
            <a:ln>
              <a:noFill/>
            </a:ln>
          </p:spPr>
          <p:txBody>
            <a:bodyPr wrap="none" lIns="0" tIns="0" rIns="0" bIns="0" anchor="t" anchorCtr="0">
              <a:spAutoFit/>
            </a:bodyPr>
            <a:lstStyle/>
            <a:p>
              <a:pPr algn="l"/>
              <a:r>
                <a:rPr lang="zh-CN" sz="1125" dirty="0">
                  <a:solidFill>
                    <a:srgbClr val="0E1020"/>
                  </a:solidFill>
                  <a:latin typeface="Calibri"/>
                  <a:ea typeface="Microsoft YaHei"/>
                  <a:cs typeface="Calibri"/>
                </a:rPr>
                <a:t>RAG 不是接上知识库就结束，而是从那一刻起开始接受工程化管理：要衡量，要诊断，要留下证据，要能持续优化。</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400"/>
                                        <p:tgtEl>
                                          <p:spTgt spid="1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lide(fromBottom)">
                                      <p:cBhvr>
                                        <p:cTn id="19" dur="400"/>
                                        <p:tgtEl>
                                          <p:spTgt spid="31"/>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slide(fromBottom)">
                                      <p:cBhvr>
                                        <p:cTn id="23" dur="400"/>
                                        <p:tgtEl>
                                          <p:spTgt spid="38"/>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24" grpId="0"/>
      <p:bldP spid="31" grpId="0"/>
      <p:bldP spid="38" grpId="0"/>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5663565" cy="716756"/>
            <a:chOff x="457200" y="647700"/>
            <a:chExt cx="5663565"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5505450"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当回答不好时，不要第一反应怪模型</a:t>
              </a:r>
            </a:p>
          </p:txBody>
        </p:sp>
        <p:sp>
          <p:nvSpPr>
            <p:cNvPr id="5" name="TextBox 5"/>
            <p:cNvSpPr txBox="1"/>
            <p:nvPr/>
          </p:nvSpPr>
          <p:spPr>
            <a:xfrm>
              <a:off x="633412" y="1135856"/>
              <a:ext cx="4371618"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RAG 质量问题最怕一把抓，先把因子拆开，团队才可能稳定改进。</a:t>
              </a:r>
            </a:p>
          </p:txBody>
        </p:sp>
      </p:grpSp>
      <p:grpSp>
        <p:nvGrpSpPr>
          <p:cNvPr id="12" name="Group 12"/>
          <p:cNvGrpSpPr/>
          <p:nvPr/>
        </p:nvGrpSpPr>
        <p:grpSpPr>
          <a:xfrm>
            <a:off x="457200" y="1790700"/>
            <a:ext cx="5391150" cy="1562100"/>
            <a:chOff x="457200" y="1790700"/>
            <a:chExt cx="5391150" cy="1562100"/>
          </a:xfrm>
        </p:grpSpPr>
        <p:sp>
          <p:nvSpPr>
            <p:cNvPr id="7" name="Rectangle 7"/>
            <p:cNvSpPr/>
            <p:nvPr/>
          </p:nvSpPr>
          <p:spPr>
            <a:xfrm>
              <a:off x="457200" y="1790700"/>
              <a:ext cx="5391150" cy="1562100"/>
            </a:xfrm>
            <a:prstGeom prst="roundRect">
              <a:avLst>
                <a:gd name="adj" fmla="val 7317"/>
              </a:avLst>
            </a:prstGeom>
            <a:solidFill>
              <a:srgbClr val="FFFFFF"/>
            </a:solidFill>
            <a:ln>
              <a:noFill/>
            </a:ln>
          </p:spPr>
        </p:sp>
        <p:sp>
          <p:nvSpPr>
            <p:cNvPr id="8" name="Rectangle 8"/>
            <p:cNvSpPr/>
            <p:nvPr/>
          </p:nvSpPr>
          <p:spPr>
            <a:xfrm>
              <a:off x="457200" y="1790700"/>
              <a:ext cx="5391150" cy="476250"/>
            </a:xfrm>
            <a:prstGeom prst="roundRect">
              <a:avLst>
                <a:gd name="adj" fmla="val 24000"/>
              </a:avLst>
            </a:prstGeom>
            <a:solidFill>
              <a:srgbClr val="004AAC"/>
            </a:solidFill>
            <a:ln>
              <a:noFill/>
            </a:ln>
          </p:spPr>
        </p:sp>
        <p:sp>
          <p:nvSpPr>
            <p:cNvPr id="9" name="TextBox 9"/>
            <p:cNvSpPr txBox="1"/>
            <p:nvPr/>
          </p:nvSpPr>
          <p:spPr>
            <a:xfrm>
              <a:off x="707708" y="1957864"/>
              <a:ext cx="1326672"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一｜Query 表达</a:t>
              </a:r>
            </a:p>
          </p:txBody>
        </p:sp>
        <p:sp>
          <p:nvSpPr>
            <p:cNvPr id="10" name="TextBox 10"/>
            <p:cNvSpPr txBox="1"/>
            <p:nvPr/>
          </p:nvSpPr>
          <p:spPr>
            <a:xfrm>
              <a:off x="710565" y="2534602"/>
              <a:ext cx="450723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用户问题是否完整、是否贴近知识库表述、是否需要改写或补足上下文。</a:t>
              </a:r>
            </a:p>
          </p:txBody>
        </p:sp>
        <p:sp>
          <p:nvSpPr>
            <p:cNvPr id="11" name="TextBox 11"/>
            <p:cNvSpPr txBox="1"/>
            <p:nvPr/>
          </p:nvSpPr>
          <p:spPr>
            <a:xfrm>
              <a:off x="710565" y="2763202"/>
              <a:ext cx="310705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问题没进对门，后面的检索链路就很难稳定命中。</a:t>
              </a:r>
            </a:p>
          </p:txBody>
        </p:sp>
      </p:grpSp>
      <p:grpSp>
        <p:nvGrpSpPr>
          <p:cNvPr id="18" name="Group 18"/>
          <p:cNvGrpSpPr/>
          <p:nvPr/>
        </p:nvGrpSpPr>
        <p:grpSpPr>
          <a:xfrm>
            <a:off x="6343650" y="1790700"/>
            <a:ext cx="5391150" cy="1562100"/>
            <a:chOff x="6343650" y="1790700"/>
            <a:chExt cx="5391150" cy="1562100"/>
          </a:xfrm>
        </p:grpSpPr>
        <p:sp>
          <p:nvSpPr>
            <p:cNvPr id="13" name="Rectangle 13"/>
            <p:cNvSpPr/>
            <p:nvPr/>
          </p:nvSpPr>
          <p:spPr>
            <a:xfrm>
              <a:off x="6343650" y="1790700"/>
              <a:ext cx="5391150" cy="1562100"/>
            </a:xfrm>
            <a:prstGeom prst="roundRect">
              <a:avLst>
                <a:gd name="adj" fmla="val 7317"/>
              </a:avLst>
            </a:prstGeom>
            <a:solidFill>
              <a:srgbClr val="FFFFFF"/>
            </a:solidFill>
            <a:ln>
              <a:noFill/>
            </a:ln>
          </p:spPr>
        </p:sp>
        <p:sp>
          <p:nvSpPr>
            <p:cNvPr id="14" name="Rectangle 14"/>
            <p:cNvSpPr/>
            <p:nvPr/>
          </p:nvSpPr>
          <p:spPr>
            <a:xfrm>
              <a:off x="6343650" y="1790700"/>
              <a:ext cx="5391150" cy="476250"/>
            </a:xfrm>
            <a:prstGeom prst="roundRect">
              <a:avLst>
                <a:gd name="adj" fmla="val 24000"/>
              </a:avLst>
            </a:prstGeom>
            <a:solidFill>
              <a:srgbClr val="FFAE41"/>
            </a:solidFill>
            <a:ln>
              <a:noFill/>
            </a:ln>
          </p:spPr>
        </p:sp>
        <p:sp>
          <p:nvSpPr>
            <p:cNvPr id="15" name="TextBox 15"/>
            <p:cNvSpPr txBox="1"/>
            <p:nvPr/>
          </p:nvSpPr>
          <p:spPr>
            <a:xfrm>
              <a:off x="6594158" y="1957864"/>
              <a:ext cx="2076465" cy="259080"/>
            </a:xfrm>
            <a:prstGeom prst="rect">
              <a:avLst/>
            </a:prstGeom>
            <a:noFill/>
            <a:ln>
              <a:noFill/>
            </a:ln>
          </p:spPr>
          <p:txBody>
            <a:bodyPr wrap="none" lIns="0" tIns="0" rIns="0" bIns="0" anchor="t" anchorCtr="0">
              <a:spAutoFit/>
            </a:bodyPr>
            <a:lstStyle/>
            <a:p>
              <a:pPr algn="l"/>
              <a:r>
                <a:rPr lang="zh-CN" sz="1275" b="1" dirty="0">
                  <a:solidFill>
                    <a:srgbClr val="0E1020"/>
                  </a:solidFill>
                  <a:latin typeface="Calibri"/>
                  <a:ea typeface="Microsoft YaHei"/>
                  <a:cs typeface="Calibri"/>
                </a:rPr>
                <a:t>二｜Chunking 与知识片段</a:t>
              </a:r>
            </a:p>
          </p:txBody>
        </p:sp>
        <p:sp>
          <p:nvSpPr>
            <p:cNvPr id="16" name="TextBox 16"/>
            <p:cNvSpPr txBox="1"/>
            <p:nvPr/>
          </p:nvSpPr>
          <p:spPr>
            <a:xfrm>
              <a:off x="6597015" y="2534602"/>
              <a:ext cx="338709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知识切得太碎会失去语义，切得太粗又会稀释相关性。</a:t>
              </a:r>
            </a:p>
          </p:txBody>
        </p:sp>
        <p:sp>
          <p:nvSpPr>
            <p:cNvPr id="17" name="TextBox 17"/>
            <p:cNvSpPr txBox="1"/>
            <p:nvPr/>
          </p:nvSpPr>
          <p:spPr>
            <a:xfrm>
              <a:off x="6597015" y="2763202"/>
              <a:ext cx="2406968"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知识组织方式本身就决定了检索上限。</a:t>
              </a:r>
            </a:p>
          </p:txBody>
        </p:sp>
      </p:grpSp>
      <p:grpSp>
        <p:nvGrpSpPr>
          <p:cNvPr id="24" name="Group 24"/>
          <p:cNvGrpSpPr/>
          <p:nvPr/>
        </p:nvGrpSpPr>
        <p:grpSpPr>
          <a:xfrm>
            <a:off x="457200" y="3695700"/>
            <a:ext cx="5391150" cy="1562100"/>
            <a:chOff x="457200" y="3695700"/>
            <a:chExt cx="5391150" cy="1562100"/>
          </a:xfrm>
        </p:grpSpPr>
        <p:sp>
          <p:nvSpPr>
            <p:cNvPr id="19" name="Rectangle 19"/>
            <p:cNvSpPr/>
            <p:nvPr/>
          </p:nvSpPr>
          <p:spPr>
            <a:xfrm>
              <a:off x="457200" y="3695700"/>
              <a:ext cx="5391150" cy="1562100"/>
            </a:xfrm>
            <a:prstGeom prst="roundRect">
              <a:avLst>
                <a:gd name="adj" fmla="val 7317"/>
              </a:avLst>
            </a:prstGeom>
            <a:solidFill>
              <a:srgbClr val="FFFFFF"/>
            </a:solidFill>
            <a:ln>
              <a:noFill/>
            </a:ln>
          </p:spPr>
        </p:sp>
        <p:sp>
          <p:nvSpPr>
            <p:cNvPr id="20" name="Rectangle 20"/>
            <p:cNvSpPr/>
            <p:nvPr/>
          </p:nvSpPr>
          <p:spPr>
            <a:xfrm>
              <a:off x="457200" y="3695700"/>
              <a:ext cx="5391150" cy="476250"/>
            </a:xfrm>
            <a:prstGeom prst="roundRect">
              <a:avLst>
                <a:gd name="adj" fmla="val 24000"/>
              </a:avLst>
            </a:prstGeom>
            <a:solidFill>
              <a:srgbClr val="FF7E51"/>
            </a:solidFill>
            <a:ln>
              <a:noFill/>
            </a:ln>
          </p:spPr>
        </p:sp>
        <p:sp>
          <p:nvSpPr>
            <p:cNvPr id="21" name="TextBox 21"/>
            <p:cNvSpPr txBox="1"/>
            <p:nvPr/>
          </p:nvSpPr>
          <p:spPr>
            <a:xfrm>
              <a:off x="707708" y="3862864"/>
              <a:ext cx="128204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三｜检索与排序</a:t>
              </a:r>
            </a:p>
          </p:txBody>
        </p:sp>
        <p:sp>
          <p:nvSpPr>
            <p:cNvPr id="22" name="TextBox 22"/>
            <p:cNvSpPr txBox="1"/>
            <p:nvPr/>
          </p:nvSpPr>
          <p:spPr>
            <a:xfrm>
              <a:off x="710565" y="4439602"/>
              <a:ext cx="492728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检索策略是否单一、初步召回是否足够、排序是否把真正相关结果放到了前面。</a:t>
              </a:r>
            </a:p>
          </p:txBody>
        </p:sp>
        <p:sp>
          <p:nvSpPr>
            <p:cNvPr id="23" name="TextBox 23"/>
            <p:cNvSpPr txBox="1"/>
            <p:nvPr/>
          </p:nvSpPr>
          <p:spPr>
            <a:xfrm>
              <a:off x="710565" y="4668202"/>
              <a:ext cx="2981039"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很多“回答不好”的本质，其实是检索排序不好。</a:t>
              </a:r>
            </a:p>
          </p:txBody>
        </p:sp>
      </p:grpSp>
      <p:grpSp>
        <p:nvGrpSpPr>
          <p:cNvPr id="30" name="Group 30"/>
          <p:cNvGrpSpPr/>
          <p:nvPr/>
        </p:nvGrpSpPr>
        <p:grpSpPr>
          <a:xfrm>
            <a:off x="6343650" y="3695700"/>
            <a:ext cx="6314789" cy="1562100"/>
            <a:chOff x="6343650" y="3695700"/>
            <a:chExt cx="6314789" cy="1562100"/>
          </a:xfrm>
        </p:grpSpPr>
        <p:sp>
          <p:nvSpPr>
            <p:cNvPr id="25" name="Rectangle 25"/>
            <p:cNvSpPr/>
            <p:nvPr/>
          </p:nvSpPr>
          <p:spPr>
            <a:xfrm>
              <a:off x="6343650" y="3695700"/>
              <a:ext cx="5391150" cy="1562100"/>
            </a:xfrm>
            <a:prstGeom prst="roundRect">
              <a:avLst>
                <a:gd name="adj" fmla="val 7317"/>
              </a:avLst>
            </a:prstGeom>
            <a:solidFill>
              <a:srgbClr val="FFFFFF"/>
            </a:solidFill>
            <a:ln>
              <a:noFill/>
            </a:ln>
          </p:spPr>
        </p:sp>
        <p:sp>
          <p:nvSpPr>
            <p:cNvPr id="26" name="Rectangle 26"/>
            <p:cNvSpPr/>
            <p:nvPr/>
          </p:nvSpPr>
          <p:spPr>
            <a:xfrm>
              <a:off x="6343650" y="3695700"/>
              <a:ext cx="5391150" cy="476250"/>
            </a:xfrm>
            <a:prstGeom prst="roundRect">
              <a:avLst>
                <a:gd name="adj" fmla="val 24000"/>
              </a:avLst>
            </a:prstGeom>
            <a:solidFill>
              <a:srgbClr val="0E1020"/>
            </a:solidFill>
            <a:ln>
              <a:noFill/>
            </a:ln>
          </p:spPr>
        </p:sp>
        <p:sp>
          <p:nvSpPr>
            <p:cNvPr id="27" name="TextBox 27"/>
            <p:cNvSpPr txBox="1"/>
            <p:nvPr/>
          </p:nvSpPr>
          <p:spPr>
            <a:xfrm>
              <a:off x="6594158" y="3862864"/>
              <a:ext cx="1996130"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四｜输出约束与回答组织</a:t>
              </a:r>
            </a:p>
          </p:txBody>
        </p:sp>
        <p:sp>
          <p:nvSpPr>
            <p:cNvPr id="28" name="TextBox 28"/>
            <p:cNvSpPr txBox="1"/>
            <p:nvPr/>
          </p:nvSpPr>
          <p:spPr>
            <a:xfrm>
              <a:off x="6597015" y="4439602"/>
              <a:ext cx="6061424"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输出模板是否掩盖了检索问题、是否把依据和风险表达清楚、是否造成“看起来不错但不可验收”。</a:t>
              </a:r>
            </a:p>
          </p:txBody>
        </p:sp>
        <p:sp>
          <p:nvSpPr>
            <p:cNvPr id="29" name="TextBox 29"/>
            <p:cNvSpPr txBox="1"/>
            <p:nvPr/>
          </p:nvSpPr>
          <p:spPr>
            <a:xfrm>
              <a:off x="6597015" y="4668202"/>
              <a:ext cx="3247073"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最后一层表达，同样会影响团队对系统质量的判断。</a:t>
              </a:r>
            </a:p>
          </p:txBody>
        </p:sp>
      </p:grpSp>
      <p:grpSp>
        <p:nvGrpSpPr>
          <p:cNvPr id="33" name="Group 33"/>
          <p:cNvGrpSpPr/>
          <p:nvPr/>
        </p:nvGrpSpPr>
        <p:grpSpPr>
          <a:xfrm>
            <a:off x="457200" y="5581650"/>
            <a:ext cx="11277600" cy="400050"/>
            <a:chOff x="457200" y="5581650"/>
            <a:chExt cx="11277600" cy="400050"/>
          </a:xfrm>
        </p:grpSpPr>
        <p:sp>
          <p:nvSpPr>
            <p:cNvPr id="31" name="Rectangle 31"/>
            <p:cNvSpPr/>
            <p:nvPr/>
          </p:nvSpPr>
          <p:spPr>
            <a:xfrm>
              <a:off x="457200" y="5581650"/>
              <a:ext cx="11277600" cy="400050"/>
            </a:xfrm>
            <a:prstGeom prst="roundRect">
              <a:avLst>
                <a:gd name="adj" fmla="val 23810"/>
              </a:avLst>
            </a:prstGeom>
            <a:solidFill>
              <a:srgbClr val="0E1020"/>
            </a:solidFill>
            <a:ln>
              <a:noFill/>
            </a:ln>
          </p:spPr>
        </p:sp>
        <p:sp>
          <p:nvSpPr>
            <p:cNvPr id="32" name="TextBox 32"/>
            <p:cNvSpPr txBox="1"/>
            <p:nvPr/>
          </p:nvSpPr>
          <p:spPr>
            <a:xfrm>
              <a:off x="3730169" y="5717381"/>
              <a:ext cx="4731663"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Calibri"/>
                  <a:ea typeface="Microsoft YaHei"/>
                  <a:cs typeface="Calibri"/>
                </a:rPr>
                <a:t>先拆因子，再改系统；这是 RAG 调优能否走出“拍脑袋优化”的分水岭。</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slide(fromBottom)">
                                      <p:cBhvr>
                                        <p:cTn id="11" dur="400"/>
                                        <p:tgtEl>
                                          <p:spTgt spid="1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slide(fromBottom)">
                                      <p:cBhvr>
                                        <p:cTn id="15" dur="400"/>
                                        <p:tgtEl>
                                          <p:spTgt spid="18"/>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lide(fromBottom)">
                                      <p:cBhvr>
                                        <p:cTn id="19" dur="400"/>
                                        <p:tgtEl>
                                          <p:spTgt spid="24"/>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slide(fromBottom)">
                                      <p:cBhvr>
                                        <p:cTn id="23" dur="400"/>
                                        <p:tgtEl>
                                          <p:spTgt spid="30"/>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imag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8" grpId="0"/>
      <p:bldP spid="24" grpId="0"/>
      <p:bldP spid="30"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7023735" cy="716756"/>
            <a:chOff x="457200" y="647700"/>
            <a:chExt cx="7023735"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6865620"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它不是润色问题，而是在帮检索链路争取召回</a:t>
              </a:r>
            </a:p>
          </p:txBody>
        </p:sp>
        <p:sp>
          <p:nvSpPr>
            <p:cNvPr id="5" name="TextBox 5"/>
            <p:cNvSpPr txBox="1"/>
            <p:nvPr/>
          </p:nvSpPr>
          <p:spPr>
            <a:xfrm>
              <a:off x="633412" y="1135856"/>
              <a:ext cx="6216848"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Query 改写的目标不是让问题更漂亮，而是让问题更贴近知识表达方式并进入正确检索路径。</a:t>
              </a:r>
            </a:p>
          </p:txBody>
        </p:sp>
      </p:grpSp>
      <p:grpSp>
        <p:nvGrpSpPr>
          <p:cNvPr id="15" name="Group 15"/>
          <p:cNvGrpSpPr/>
          <p:nvPr/>
        </p:nvGrpSpPr>
        <p:grpSpPr>
          <a:xfrm>
            <a:off x="457200" y="1866900"/>
            <a:ext cx="3543300" cy="2686050"/>
            <a:chOff x="457200" y="1866900"/>
            <a:chExt cx="3543300" cy="2686050"/>
          </a:xfrm>
        </p:grpSpPr>
        <p:sp>
          <p:nvSpPr>
            <p:cNvPr id="7" name="Rectangle 7"/>
            <p:cNvSpPr/>
            <p:nvPr/>
          </p:nvSpPr>
          <p:spPr>
            <a:xfrm>
              <a:off x="457200" y="1866900"/>
              <a:ext cx="3543300" cy="2686050"/>
            </a:xfrm>
            <a:prstGeom prst="roundRect">
              <a:avLst>
                <a:gd name="adj" fmla="val 4255"/>
              </a:avLst>
            </a:prstGeom>
            <a:solidFill>
              <a:srgbClr val="FFFFFF"/>
            </a:solidFill>
            <a:ln>
              <a:noFill/>
            </a:ln>
          </p:spPr>
        </p:sp>
        <p:sp>
          <p:nvSpPr>
            <p:cNvPr id="8" name="Rectangle 8"/>
            <p:cNvSpPr/>
            <p:nvPr/>
          </p:nvSpPr>
          <p:spPr>
            <a:xfrm>
              <a:off x="457200" y="1866900"/>
              <a:ext cx="3543300" cy="552450"/>
            </a:xfrm>
            <a:prstGeom prst="roundRect">
              <a:avLst>
                <a:gd name="adj" fmla="val 20690"/>
              </a:avLst>
            </a:prstGeom>
            <a:solidFill>
              <a:srgbClr val="004AAC"/>
            </a:solidFill>
            <a:ln>
              <a:noFill/>
            </a:ln>
          </p:spPr>
        </p:sp>
        <p:sp>
          <p:nvSpPr>
            <p:cNvPr id="9" name="TextBox 9"/>
            <p:cNvSpPr txBox="1"/>
            <p:nvPr/>
          </p:nvSpPr>
          <p:spPr>
            <a:xfrm>
              <a:off x="707708" y="2053114"/>
              <a:ext cx="924997"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为什么有用</a:t>
              </a:r>
            </a:p>
          </p:txBody>
        </p:sp>
        <p:sp>
          <p:nvSpPr>
            <p:cNvPr id="10" name="TextBox 10"/>
            <p:cNvSpPr txBox="1"/>
            <p:nvPr/>
          </p:nvSpPr>
          <p:spPr>
            <a:xfrm>
              <a:off x="710565" y="2610802"/>
              <a:ext cx="140584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用户提问常常不完整</a:t>
              </a:r>
            </a:p>
          </p:txBody>
        </p:sp>
        <p:sp>
          <p:nvSpPr>
            <p:cNvPr id="11" name="TextBox 11"/>
            <p:cNvSpPr txBox="1"/>
            <p:nvPr/>
          </p:nvSpPr>
          <p:spPr>
            <a:xfrm>
              <a:off x="710565" y="2839402"/>
              <a:ext cx="182589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表述不一定贴近知识库语言</a:t>
              </a:r>
            </a:p>
          </p:txBody>
        </p:sp>
        <p:sp>
          <p:nvSpPr>
            <p:cNvPr id="12" name="TextBox 12"/>
            <p:cNvSpPr txBox="1"/>
            <p:nvPr/>
          </p:nvSpPr>
          <p:spPr>
            <a:xfrm>
              <a:off x="710565" y="3068002"/>
              <a:ext cx="1685877"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术语缺失会直接影响召回</a:t>
              </a:r>
            </a:p>
          </p:txBody>
        </p:sp>
        <p:sp>
          <p:nvSpPr>
            <p:cNvPr id="13" name="Rectangle 13"/>
            <p:cNvSpPr/>
            <p:nvPr/>
          </p:nvSpPr>
          <p:spPr>
            <a:xfrm>
              <a:off x="723900" y="3771900"/>
              <a:ext cx="3009900" cy="457200"/>
            </a:xfrm>
            <a:prstGeom prst="roundRect">
              <a:avLst>
                <a:gd name="adj" fmla="val 16667"/>
              </a:avLst>
            </a:prstGeom>
            <a:solidFill>
              <a:srgbClr val="DCEBFF"/>
            </a:solidFill>
            <a:ln>
              <a:noFill/>
            </a:ln>
          </p:spPr>
        </p:sp>
        <p:sp>
          <p:nvSpPr>
            <p:cNvPr id="14" name="TextBox 14"/>
            <p:cNvSpPr txBox="1"/>
            <p:nvPr/>
          </p:nvSpPr>
          <p:spPr>
            <a:xfrm>
              <a:off x="902018" y="3952399"/>
              <a:ext cx="2072521" cy="198120"/>
            </a:xfrm>
            <a:prstGeom prst="rect">
              <a:avLst/>
            </a:prstGeom>
            <a:noFill/>
            <a:ln>
              <a:noFill/>
            </a:ln>
          </p:spPr>
          <p:txBody>
            <a:bodyPr wrap="none" lIns="0" tIns="0" rIns="0" bIns="0" anchor="t" anchorCtr="0">
              <a:spAutoFit/>
            </a:bodyPr>
            <a:lstStyle/>
            <a:p>
              <a:pPr algn="l"/>
              <a:r>
                <a:rPr lang="zh-CN" sz="975" b="1" dirty="0">
                  <a:solidFill>
                    <a:srgbClr val="004AAC"/>
                  </a:solidFill>
                  <a:latin typeface="Calibri"/>
                  <a:ea typeface="Microsoft YaHei"/>
                  <a:cs typeface="Calibri"/>
                </a:rPr>
                <a:t>改写是在为召回争取更好的入口。</a:t>
              </a:r>
            </a:p>
          </p:txBody>
        </p:sp>
      </p:grpSp>
      <p:grpSp>
        <p:nvGrpSpPr>
          <p:cNvPr id="24" name="Group 24"/>
          <p:cNvGrpSpPr/>
          <p:nvPr/>
        </p:nvGrpSpPr>
        <p:grpSpPr>
          <a:xfrm>
            <a:off x="4324350" y="1866900"/>
            <a:ext cx="3543300" cy="2686050"/>
            <a:chOff x="4324350" y="1866900"/>
            <a:chExt cx="3543300" cy="2686050"/>
          </a:xfrm>
        </p:grpSpPr>
        <p:sp>
          <p:nvSpPr>
            <p:cNvPr id="16" name="Rectangle 16"/>
            <p:cNvSpPr/>
            <p:nvPr/>
          </p:nvSpPr>
          <p:spPr>
            <a:xfrm>
              <a:off x="4324350" y="1866900"/>
              <a:ext cx="3543300" cy="2686050"/>
            </a:xfrm>
            <a:prstGeom prst="roundRect">
              <a:avLst>
                <a:gd name="adj" fmla="val 4255"/>
              </a:avLst>
            </a:prstGeom>
            <a:solidFill>
              <a:srgbClr val="FFFFFF"/>
            </a:solidFill>
            <a:ln>
              <a:noFill/>
            </a:ln>
          </p:spPr>
        </p:sp>
        <p:sp>
          <p:nvSpPr>
            <p:cNvPr id="17" name="Rectangle 17"/>
            <p:cNvSpPr/>
            <p:nvPr/>
          </p:nvSpPr>
          <p:spPr>
            <a:xfrm>
              <a:off x="4324350" y="1866900"/>
              <a:ext cx="3543300" cy="552450"/>
            </a:xfrm>
            <a:prstGeom prst="roundRect">
              <a:avLst>
                <a:gd name="adj" fmla="val 20690"/>
              </a:avLst>
            </a:prstGeom>
            <a:solidFill>
              <a:srgbClr val="FFAE41"/>
            </a:solidFill>
            <a:ln>
              <a:noFill/>
            </a:ln>
          </p:spPr>
        </p:sp>
        <p:sp>
          <p:nvSpPr>
            <p:cNvPr id="18" name="TextBox 18"/>
            <p:cNvSpPr txBox="1"/>
            <p:nvPr/>
          </p:nvSpPr>
          <p:spPr>
            <a:xfrm>
              <a:off x="4574858" y="2053114"/>
              <a:ext cx="924997" cy="259080"/>
            </a:xfrm>
            <a:prstGeom prst="rect">
              <a:avLst/>
            </a:prstGeom>
            <a:noFill/>
            <a:ln>
              <a:noFill/>
            </a:ln>
          </p:spPr>
          <p:txBody>
            <a:bodyPr wrap="none" lIns="0" tIns="0" rIns="0" bIns="0" anchor="t" anchorCtr="0">
              <a:spAutoFit/>
            </a:bodyPr>
            <a:lstStyle/>
            <a:p>
              <a:pPr algn="l"/>
              <a:r>
                <a:rPr lang="zh-CN" sz="1275" b="1" dirty="0">
                  <a:solidFill>
                    <a:srgbClr val="0E1020"/>
                  </a:solidFill>
                  <a:latin typeface="Calibri"/>
                  <a:ea typeface="Microsoft YaHei"/>
                  <a:cs typeface="Calibri"/>
                </a:rPr>
                <a:t>它改变什么</a:t>
              </a:r>
            </a:p>
          </p:txBody>
        </p:sp>
        <p:sp>
          <p:nvSpPr>
            <p:cNvPr id="19" name="TextBox 19"/>
            <p:cNvSpPr txBox="1"/>
            <p:nvPr/>
          </p:nvSpPr>
          <p:spPr>
            <a:xfrm>
              <a:off x="4577715" y="2610802"/>
              <a:ext cx="98579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补足隐含条件</a:t>
              </a:r>
            </a:p>
          </p:txBody>
        </p:sp>
        <p:sp>
          <p:nvSpPr>
            <p:cNvPr id="20" name="TextBox 20"/>
            <p:cNvSpPr txBox="1"/>
            <p:nvPr/>
          </p:nvSpPr>
          <p:spPr>
            <a:xfrm>
              <a:off x="4577715" y="2839402"/>
              <a:ext cx="1125807"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对齐知识库术语</a:t>
              </a:r>
            </a:p>
          </p:txBody>
        </p:sp>
        <p:sp>
          <p:nvSpPr>
            <p:cNvPr id="21" name="TextBox 21"/>
            <p:cNvSpPr txBox="1"/>
            <p:nvPr/>
          </p:nvSpPr>
          <p:spPr>
            <a:xfrm>
              <a:off x="4577715" y="3068002"/>
              <a:ext cx="1685877"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让问题结构更适合检索链</a:t>
              </a:r>
            </a:p>
          </p:txBody>
        </p:sp>
        <p:sp>
          <p:nvSpPr>
            <p:cNvPr id="22" name="Rectangle 22"/>
            <p:cNvSpPr/>
            <p:nvPr/>
          </p:nvSpPr>
          <p:spPr>
            <a:xfrm>
              <a:off x="4591050" y="3771900"/>
              <a:ext cx="3009900" cy="457200"/>
            </a:xfrm>
            <a:prstGeom prst="roundRect">
              <a:avLst>
                <a:gd name="adj" fmla="val 16667"/>
              </a:avLst>
            </a:prstGeom>
            <a:solidFill>
              <a:srgbClr val="FFF8E7"/>
            </a:solidFill>
            <a:ln>
              <a:noFill/>
            </a:ln>
          </p:spPr>
        </p:sp>
        <p:sp>
          <p:nvSpPr>
            <p:cNvPr id="23" name="TextBox 23"/>
            <p:cNvSpPr txBox="1"/>
            <p:nvPr/>
          </p:nvSpPr>
          <p:spPr>
            <a:xfrm>
              <a:off x="4769168" y="3952399"/>
              <a:ext cx="2072521" cy="198120"/>
            </a:xfrm>
            <a:prstGeom prst="rect">
              <a:avLst/>
            </a:prstGeom>
            <a:noFill/>
            <a:ln>
              <a:noFill/>
            </a:ln>
          </p:spPr>
          <p:txBody>
            <a:bodyPr wrap="none" lIns="0" tIns="0" rIns="0" bIns="0" anchor="t" anchorCtr="0">
              <a:spAutoFit/>
            </a:bodyPr>
            <a:lstStyle/>
            <a:p>
              <a:pPr algn="l"/>
              <a:r>
                <a:rPr lang="zh-CN" sz="975" b="1" dirty="0">
                  <a:solidFill>
                    <a:srgbClr val="B8860B"/>
                  </a:solidFill>
                  <a:latin typeface="Calibri"/>
                  <a:ea typeface="Microsoft YaHei"/>
                  <a:cs typeface="Calibri"/>
                </a:rPr>
                <a:t>改写是检索前的结构化准备动作。</a:t>
              </a:r>
            </a:p>
          </p:txBody>
        </p:sp>
      </p:grpSp>
      <p:grpSp>
        <p:nvGrpSpPr>
          <p:cNvPr id="33" name="Group 33"/>
          <p:cNvGrpSpPr/>
          <p:nvPr/>
        </p:nvGrpSpPr>
        <p:grpSpPr>
          <a:xfrm>
            <a:off x="8191500" y="1866900"/>
            <a:ext cx="3543300" cy="2686050"/>
            <a:chOff x="8191500" y="1866900"/>
            <a:chExt cx="3543300" cy="2686050"/>
          </a:xfrm>
        </p:grpSpPr>
        <p:sp>
          <p:nvSpPr>
            <p:cNvPr id="25" name="Rectangle 25"/>
            <p:cNvSpPr/>
            <p:nvPr/>
          </p:nvSpPr>
          <p:spPr>
            <a:xfrm>
              <a:off x="8191500" y="1866900"/>
              <a:ext cx="3543300" cy="2686050"/>
            </a:xfrm>
            <a:prstGeom prst="roundRect">
              <a:avLst>
                <a:gd name="adj" fmla="val 4255"/>
              </a:avLst>
            </a:prstGeom>
            <a:solidFill>
              <a:srgbClr val="FFFFFF"/>
            </a:solidFill>
            <a:ln>
              <a:noFill/>
            </a:ln>
          </p:spPr>
        </p:sp>
        <p:sp>
          <p:nvSpPr>
            <p:cNvPr id="26" name="Rectangle 26"/>
            <p:cNvSpPr/>
            <p:nvPr/>
          </p:nvSpPr>
          <p:spPr>
            <a:xfrm>
              <a:off x="8191500" y="1866900"/>
              <a:ext cx="3543300" cy="552450"/>
            </a:xfrm>
            <a:prstGeom prst="roundRect">
              <a:avLst>
                <a:gd name="adj" fmla="val 20690"/>
              </a:avLst>
            </a:prstGeom>
            <a:solidFill>
              <a:srgbClr val="FF7E51"/>
            </a:solidFill>
            <a:ln>
              <a:noFill/>
            </a:ln>
          </p:spPr>
        </p:sp>
        <p:sp>
          <p:nvSpPr>
            <p:cNvPr id="27" name="TextBox 27"/>
            <p:cNvSpPr txBox="1"/>
            <p:nvPr/>
          </p:nvSpPr>
          <p:spPr>
            <a:xfrm>
              <a:off x="8442008" y="2053114"/>
              <a:ext cx="924997"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风险与边界</a:t>
              </a:r>
            </a:p>
          </p:txBody>
        </p:sp>
        <p:sp>
          <p:nvSpPr>
            <p:cNvPr id="28" name="TextBox 28"/>
            <p:cNvSpPr txBox="1"/>
            <p:nvPr/>
          </p:nvSpPr>
          <p:spPr>
            <a:xfrm>
              <a:off x="8444865" y="2610802"/>
              <a:ext cx="154586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改写过度会改偏原问题</a:t>
              </a:r>
            </a:p>
          </p:txBody>
        </p:sp>
        <p:sp>
          <p:nvSpPr>
            <p:cNvPr id="29" name="TextBox 29"/>
            <p:cNvSpPr txBox="1"/>
            <p:nvPr/>
          </p:nvSpPr>
          <p:spPr>
            <a:xfrm>
              <a:off x="8444865" y="2839402"/>
              <a:ext cx="1685877"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无约束改写会引入新偏差</a:t>
              </a:r>
            </a:p>
          </p:txBody>
        </p:sp>
        <p:sp>
          <p:nvSpPr>
            <p:cNvPr id="30" name="TextBox 30"/>
            <p:cNvSpPr txBox="1"/>
            <p:nvPr/>
          </p:nvSpPr>
          <p:spPr>
            <a:xfrm>
              <a:off x="8444865" y="3068002"/>
              <a:ext cx="140584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必须能回溯改写过程</a:t>
              </a:r>
            </a:p>
          </p:txBody>
        </p:sp>
        <p:sp>
          <p:nvSpPr>
            <p:cNvPr id="31" name="Rectangle 31"/>
            <p:cNvSpPr/>
            <p:nvPr/>
          </p:nvSpPr>
          <p:spPr>
            <a:xfrm>
              <a:off x="8458200" y="3771900"/>
              <a:ext cx="3009900" cy="457200"/>
            </a:xfrm>
            <a:prstGeom prst="roundRect">
              <a:avLst>
                <a:gd name="adj" fmla="val 16667"/>
              </a:avLst>
            </a:prstGeom>
            <a:solidFill>
              <a:srgbClr val="FFE0D5"/>
            </a:solidFill>
            <a:ln>
              <a:noFill/>
            </a:ln>
          </p:spPr>
        </p:sp>
        <p:sp>
          <p:nvSpPr>
            <p:cNvPr id="32" name="TextBox 32"/>
            <p:cNvSpPr txBox="1"/>
            <p:nvPr/>
          </p:nvSpPr>
          <p:spPr>
            <a:xfrm>
              <a:off x="8636318" y="3952399"/>
              <a:ext cx="2209038"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Calibri"/>
                  <a:ea typeface="Microsoft YaHei"/>
                  <a:cs typeface="Calibri"/>
                </a:rPr>
                <a:t>改写不是越多越好，而是越稳越好。</a:t>
              </a:r>
            </a:p>
          </p:txBody>
        </p:sp>
      </p:grpSp>
      <p:grpSp>
        <p:nvGrpSpPr>
          <p:cNvPr id="37" name="Group 37"/>
          <p:cNvGrpSpPr/>
          <p:nvPr/>
        </p:nvGrpSpPr>
        <p:grpSpPr>
          <a:xfrm>
            <a:off x="457200" y="4953000"/>
            <a:ext cx="11277600" cy="819150"/>
            <a:chOff x="457200" y="4953000"/>
            <a:chExt cx="11277600" cy="819150"/>
          </a:xfrm>
        </p:grpSpPr>
        <p:sp>
          <p:nvSpPr>
            <p:cNvPr id="34" name="Rectangle 34"/>
            <p:cNvSpPr/>
            <p:nvPr/>
          </p:nvSpPr>
          <p:spPr>
            <a:xfrm>
              <a:off x="457200" y="4953000"/>
              <a:ext cx="11277600" cy="819150"/>
            </a:xfrm>
            <a:prstGeom prst="roundRect">
              <a:avLst>
                <a:gd name="adj" fmla="val 13953"/>
              </a:avLst>
            </a:prstGeom>
            <a:solidFill>
              <a:srgbClr val="0E1020"/>
            </a:solidFill>
            <a:ln>
              <a:noFill/>
            </a:ln>
          </p:spPr>
        </p:sp>
        <p:sp>
          <p:nvSpPr>
            <p:cNvPr id="35" name="TextBox 35"/>
            <p:cNvSpPr txBox="1"/>
            <p:nvPr/>
          </p:nvSpPr>
          <p:spPr>
            <a:xfrm>
              <a:off x="701040" y="5101590"/>
              <a:ext cx="7546658" cy="365760"/>
            </a:xfrm>
            <a:prstGeom prst="rect">
              <a:avLst/>
            </a:prstGeom>
            <a:noFill/>
            <a:ln>
              <a:noFill/>
            </a:ln>
          </p:spPr>
          <p:txBody>
            <a:bodyPr wrap="none" lIns="0" tIns="0" rIns="0" bIns="0" anchor="t" anchorCtr="0">
              <a:spAutoFit/>
            </a:bodyPr>
            <a:lstStyle/>
            <a:p>
              <a:pPr algn="l"/>
              <a:r>
                <a:rPr lang="zh-CN" sz="1800" dirty="0">
                  <a:solidFill>
                    <a:srgbClr val="FFFFFF"/>
                  </a:solidFill>
                  <a:latin typeface="Calibri Light"/>
                  <a:ea typeface="Microsoft YaHei"/>
                  <a:cs typeface="Calibri Light"/>
                </a:rPr>
                <a:t>Query 改写最有价值的时候，不是让模型更会说，而是让检索更会找。</a:t>
              </a:r>
            </a:p>
          </p:txBody>
        </p:sp>
        <p:sp>
          <p:nvSpPr>
            <p:cNvPr id="36" name="TextBox 36"/>
            <p:cNvSpPr txBox="1"/>
            <p:nvPr/>
          </p:nvSpPr>
          <p:spPr>
            <a:xfrm>
              <a:off x="709612" y="5460206"/>
              <a:ext cx="5129212" cy="228600"/>
            </a:xfrm>
            <a:prstGeom prst="rect">
              <a:avLst/>
            </a:prstGeom>
            <a:noFill/>
            <a:ln>
              <a:noFill/>
            </a:ln>
          </p:spPr>
          <p:txBody>
            <a:bodyPr wrap="none" lIns="0" tIns="0" rIns="0" bIns="0" anchor="t" anchorCtr="0">
              <a:spAutoFit/>
            </a:bodyPr>
            <a:lstStyle/>
            <a:p>
              <a:pPr algn="l"/>
              <a:r>
                <a:rPr lang="zh-CN" sz="1125" dirty="0">
                  <a:solidFill>
                    <a:srgbClr val="F6F3F0"/>
                  </a:solidFill>
                  <a:latin typeface="Calibri"/>
                  <a:ea typeface="Microsoft YaHei"/>
                  <a:cs typeface="Calibri"/>
                </a:rPr>
                <a:t>这一步如果没有证据回溯和约束边界，反而可能把系统带到另一个错误方向。</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400"/>
                                        <p:tgtEl>
                                          <p:spTgt spid="1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slide(fromBottom)">
                                      <p:cBhvr>
                                        <p:cTn id="19" dur="400"/>
                                        <p:tgtEl>
                                          <p:spTgt spid="33"/>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24" grpId="0"/>
      <p:bldP spid="33"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6438066" cy="716756"/>
            <a:chOff x="457200" y="647700"/>
            <a:chExt cx="6438066"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4825365"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单一路径很难覆盖所有问题类型</a:t>
              </a:r>
            </a:p>
          </p:txBody>
        </p:sp>
        <p:sp>
          <p:nvSpPr>
            <p:cNvPr id="5" name="TextBox 5"/>
            <p:cNvSpPr txBox="1"/>
            <p:nvPr/>
          </p:nvSpPr>
          <p:spPr>
            <a:xfrm>
              <a:off x="633412" y="1135856"/>
              <a:ext cx="6261854"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Hybrid Search 解决召回覆盖，Rerank 解决最终排序质量，多路径协作的目标是让系统更稳。</a:t>
              </a:r>
            </a:p>
          </p:txBody>
        </p:sp>
      </p:grpSp>
      <p:grpSp>
        <p:nvGrpSpPr>
          <p:cNvPr id="15" name="Group 15"/>
          <p:cNvGrpSpPr/>
          <p:nvPr/>
        </p:nvGrpSpPr>
        <p:grpSpPr>
          <a:xfrm>
            <a:off x="457200" y="2038350"/>
            <a:ext cx="3048000" cy="2343150"/>
            <a:chOff x="457200" y="2038350"/>
            <a:chExt cx="3048000" cy="2343150"/>
          </a:xfrm>
        </p:grpSpPr>
        <p:sp>
          <p:nvSpPr>
            <p:cNvPr id="7" name="Rectangle 7"/>
            <p:cNvSpPr/>
            <p:nvPr/>
          </p:nvSpPr>
          <p:spPr>
            <a:xfrm>
              <a:off x="457200" y="2038350"/>
              <a:ext cx="3048000" cy="2343150"/>
            </a:xfrm>
            <a:prstGeom prst="roundRect">
              <a:avLst>
                <a:gd name="adj" fmla="val 4878"/>
              </a:avLst>
            </a:prstGeom>
            <a:solidFill>
              <a:srgbClr val="FFFFFF"/>
            </a:solidFill>
            <a:ln>
              <a:noFill/>
            </a:ln>
          </p:spPr>
        </p:sp>
        <p:sp>
          <p:nvSpPr>
            <p:cNvPr id="8" name="Rectangle 8"/>
            <p:cNvSpPr/>
            <p:nvPr/>
          </p:nvSpPr>
          <p:spPr>
            <a:xfrm>
              <a:off x="457200" y="2038350"/>
              <a:ext cx="3048000" cy="514350"/>
            </a:xfrm>
            <a:prstGeom prst="roundRect">
              <a:avLst>
                <a:gd name="adj" fmla="val 22222"/>
              </a:avLst>
            </a:prstGeom>
            <a:solidFill>
              <a:srgbClr val="004AAC"/>
            </a:solidFill>
            <a:ln>
              <a:noFill/>
            </a:ln>
          </p:spPr>
        </p:sp>
        <p:sp>
          <p:nvSpPr>
            <p:cNvPr id="9" name="TextBox 9"/>
            <p:cNvSpPr txBox="1"/>
            <p:nvPr/>
          </p:nvSpPr>
          <p:spPr>
            <a:xfrm>
              <a:off x="707708" y="2215039"/>
              <a:ext cx="74647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向量检索</a:t>
              </a:r>
            </a:p>
          </p:txBody>
        </p:sp>
        <p:sp>
          <p:nvSpPr>
            <p:cNvPr id="10" name="TextBox 10"/>
            <p:cNvSpPr txBox="1"/>
            <p:nvPr/>
          </p:nvSpPr>
          <p:spPr>
            <a:xfrm>
              <a:off x="710565" y="2763202"/>
              <a:ext cx="126582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擅长语义相近问题</a:t>
              </a:r>
            </a:p>
          </p:txBody>
        </p:sp>
        <p:sp>
          <p:nvSpPr>
            <p:cNvPr id="11" name="TextBox 11"/>
            <p:cNvSpPr txBox="1"/>
            <p:nvPr/>
          </p:nvSpPr>
          <p:spPr>
            <a:xfrm>
              <a:off x="710565" y="2991802"/>
              <a:ext cx="1979914"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能覆盖“说法不同但意思接近”</a:t>
              </a:r>
            </a:p>
          </p:txBody>
        </p:sp>
        <p:sp>
          <p:nvSpPr>
            <p:cNvPr id="12" name="TextBox 12"/>
            <p:cNvSpPr txBox="1"/>
            <p:nvPr/>
          </p:nvSpPr>
          <p:spPr>
            <a:xfrm>
              <a:off x="710565" y="3220402"/>
              <a:ext cx="1685877"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对术语编号不一定最敏感</a:t>
              </a:r>
            </a:p>
          </p:txBody>
        </p:sp>
        <p:sp>
          <p:nvSpPr>
            <p:cNvPr id="13" name="Rectangle 13"/>
            <p:cNvSpPr/>
            <p:nvPr/>
          </p:nvSpPr>
          <p:spPr>
            <a:xfrm>
              <a:off x="723900" y="3848100"/>
              <a:ext cx="2514600" cy="323850"/>
            </a:xfrm>
            <a:prstGeom prst="roundRect">
              <a:avLst>
                <a:gd name="adj" fmla="val 23529"/>
              </a:avLst>
            </a:prstGeom>
            <a:solidFill>
              <a:srgbClr val="DCEBFF"/>
            </a:solidFill>
            <a:ln>
              <a:noFill/>
            </a:ln>
          </p:spPr>
        </p:sp>
        <p:sp>
          <p:nvSpPr>
            <p:cNvPr id="14" name="TextBox 14"/>
            <p:cNvSpPr txBox="1"/>
            <p:nvPr/>
          </p:nvSpPr>
          <p:spPr>
            <a:xfrm>
              <a:off x="902018" y="3952399"/>
              <a:ext cx="1267070" cy="198120"/>
            </a:xfrm>
            <a:prstGeom prst="rect">
              <a:avLst/>
            </a:prstGeom>
            <a:noFill/>
            <a:ln>
              <a:noFill/>
            </a:ln>
          </p:spPr>
          <p:txBody>
            <a:bodyPr wrap="none" lIns="0" tIns="0" rIns="0" bIns="0" anchor="t" anchorCtr="0">
              <a:spAutoFit/>
            </a:bodyPr>
            <a:lstStyle/>
            <a:p>
              <a:pPr algn="l"/>
              <a:r>
                <a:rPr lang="zh-CN" sz="975" b="1" dirty="0">
                  <a:solidFill>
                    <a:srgbClr val="004AAC"/>
                  </a:solidFill>
                  <a:latin typeface="Calibri"/>
                  <a:ea typeface="Microsoft YaHei"/>
                  <a:cs typeface="Calibri"/>
                </a:rPr>
                <a:t>解决“语义召回”问题</a:t>
              </a:r>
            </a:p>
          </p:txBody>
        </p:sp>
      </p:grpSp>
      <p:grpSp>
        <p:nvGrpSpPr>
          <p:cNvPr id="24" name="Group 24"/>
          <p:cNvGrpSpPr/>
          <p:nvPr/>
        </p:nvGrpSpPr>
        <p:grpSpPr>
          <a:xfrm>
            <a:off x="4572000" y="2038350"/>
            <a:ext cx="3048000" cy="2343150"/>
            <a:chOff x="4572000" y="2038350"/>
            <a:chExt cx="3048000" cy="2343150"/>
          </a:xfrm>
        </p:grpSpPr>
        <p:sp>
          <p:nvSpPr>
            <p:cNvPr id="16" name="Rectangle 16"/>
            <p:cNvSpPr/>
            <p:nvPr/>
          </p:nvSpPr>
          <p:spPr>
            <a:xfrm>
              <a:off x="4572000" y="2038350"/>
              <a:ext cx="3048000" cy="2343150"/>
            </a:xfrm>
            <a:prstGeom prst="roundRect">
              <a:avLst>
                <a:gd name="adj" fmla="val 4878"/>
              </a:avLst>
            </a:prstGeom>
            <a:solidFill>
              <a:srgbClr val="FFFFFF"/>
            </a:solidFill>
            <a:ln>
              <a:noFill/>
            </a:ln>
          </p:spPr>
        </p:sp>
        <p:sp>
          <p:nvSpPr>
            <p:cNvPr id="17" name="Rectangle 17"/>
            <p:cNvSpPr/>
            <p:nvPr/>
          </p:nvSpPr>
          <p:spPr>
            <a:xfrm>
              <a:off x="4572000" y="2038350"/>
              <a:ext cx="3048000" cy="514350"/>
            </a:xfrm>
            <a:prstGeom prst="roundRect">
              <a:avLst>
                <a:gd name="adj" fmla="val 22222"/>
              </a:avLst>
            </a:prstGeom>
            <a:solidFill>
              <a:srgbClr val="FFAE41"/>
            </a:solidFill>
            <a:ln>
              <a:noFill/>
            </a:ln>
          </p:spPr>
        </p:sp>
        <p:sp>
          <p:nvSpPr>
            <p:cNvPr id="18" name="TextBox 18"/>
            <p:cNvSpPr txBox="1"/>
            <p:nvPr/>
          </p:nvSpPr>
          <p:spPr>
            <a:xfrm>
              <a:off x="4822508" y="2215039"/>
              <a:ext cx="924997" cy="259080"/>
            </a:xfrm>
            <a:prstGeom prst="rect">
              <a:avLst/>
            </a:prstGeom>
            <a:noFill/>
            <a:ln>
              <a:noFill/>
            </a:ln>
          </p:spPr>
          <p:txBody>
            <a:bodyPr wrap="none" lIns="0" tIns="0" rIns="0" bIns="0" anchor="t" anchorCtr="0">
              <a:spAutoFit/>
            </a:bodyPr>
            <a:lstStyle/>
            <a:p>
              <a:pPr algn="l"/>
              <a:r>
                <a:rPr lang="zh-CN" sz="1275" b="1" dirty="0">
                  <a:solidFill>
                    <a:srgbClr val="0E1020"/>
                  </a:solidFill>
                  <a:latin typeface="Calibri"/>
                  <a:ea typeface="Microsoft YaHei"/>
                  <a:cs typeface="Calibri"/>
                </a:rPr>
                <a:t>关键词检索</a:t>
              </a:r>
            </a:p>
          </p:txBody>
        </p:sp>
        <p:sp>
          <p:nvSpPr>
            <p:cNvPr id="19" name="TextBox 19"/>
            <p:cNvSpPr txBox="1"/>
            <p:nvPr/>
          </p:nvSpPr>
          <p:spPr>
            <a:xfrm>
              <a:off x="4825365" y="2763202"/>
              <a:ext cx="182589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擅长术语、编号、精确词面</a:t>
              </a:r>
            </a:p>
          </p:txBody>
        </p:sp>
        <p:sp>
          <p:nvSpPr>
            <p:cNvPr id="20" name="TextBox 20"/>
            <p:cNvSpPr txBox="1"/>
            <p:nvPr/>
          </p:nvSpPr>
          <p:spPr>
            <a:xfrm>
              <a:off x="4825365" y="2991802"/>
              <a:ext cx="154586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对显式关键词非常敏感</a:t>
              </a:r>
            </a:p>
          </p:txBody>
        </p:sp>
        <p:sp>
          <p:nvSpPr>
            <p:cNvPr id="21" name="TextBox 21"/>
            <p:cNvSpPr txBox="1"/>
            <p:nvPr/>
          </p:nvSpPr>
          <p:spPr>
            <a:xfrm>
              <a:off x="4825365" y="3220402"/>
              <a:ext cx="126582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容易漏掉语义变体</a:t>
              </a:r>
            </a:p>
          </p:txBody>
        </p:sp>
        <p:sp>
          <p:nvSpPr>
            <p:cNvPr id="22" name="Rectangle 22"/>
            <p:cNvSpPr/>
            <p:nvPr/>
          </p:nvSpPr>
          <p:spPr>
            <a:xfrm>
              <a:off x="4838700" y="3848100"/>
              <a:ext cx="2514600" cy="323850"/>
            </a:xfrm>
            <a:prstGeom prst="roundRect">
              <a:avLst>
                <a:gd name="adj" fmla="val 23529"/>
              </a:avLst>
            </a:prstGeom>
            <a:solidFill>
              <a:srgbClr val="FFF8E7"/>
            </a:solidFill>
            <a:ln>
              <a:noFill/>
            </a:ln>
          </p:spPr>
        </p:sp>
        <p:sp>
          <p:nvSpPr>
            <p:cNvPr id="23" name="TextBox 23"/>
            <p:cNvSpPr txBox="1"/>
            <p:nvPr/>
          </p:nvSpPr>
          <p:spPr>
            <a:xfrm>
              <a:off x="5016818" y="3952399"/>
              <a:ext cx="1267070" cy="198120"/>
            </a:xfrm>
            <a:prstGeom prst="rect">
              <a:avLst/>
            </a:prstGeom>
            <a:noFill/>
            <a:ln>
              <a:noFill/>
            </a:ln>
          </p:spPr>
          <p:txBody>
            <a:bodyPr wrap="none" lIns="0" tIns="0" rIns="0" bIns="0" anchor="t" anchorCtr="0">
              <a:spAutoFit/>
            </a:bodyPr>
            <a:lstStyle/>
            <a:p>
              <a:pPr algn="l"/>
              <a:r>
                <a:rPr lang="zh-CN" sz="975" b="1" dirty="0">
                  <a:solidFill>
                    <a:srgbClr val="B8860B"/>
                  </a:solidFill>
                  <a:latin typeface="Calibri"/>
                  <a:ea typeface="Microsoft YaHei"/>
                  <a:cs typeface="Calibri"/>
                </a:rPr>
                <a:t>解决“词面命中”问题</a:t>
              </a:r>
            </a:p>
          </p:txBody>
        </p:sp>
      </p:grpSp>
      <p:grpSp>
        <p:nvGrpSpPr>
          <p:cNvPr id="33" name="Group 33"/>
          <p:cNvGrpSpPr/>
          <p:nvPr/>
        </p:nvGrpSpPr>
        <p:grpSpPr>
          <a:xfrm>
            <a:off x="8686800" y="2038350"/>
            <a:ext cx="3048000" cy="2343150"/>
            <a:chOff x="8686800" y="2038350"/>
            <a:chExt cx="3048000" cy="2343150"/>
          </a:xfrm>
        </p:grpSpPr>
        <p:sp>
          <p:nvSpPr>
            <p:cNvPr id="25" name="Rectangle 25"/>
            <p:cNvSpPr/>
            <p:nvPr/>
          </p:nvSpPr>
          <p:spPr>
            <a:xfrm>
              <a:off x="8686800" y="2038350"/>
              <a:ext cx="3048000" cy="2343150"/>
            </a:xfrm>
            <a:prstGeom prst="roundRect">
              <a:avLst>
                <a:gd name="adj" fmla="val 4878"/>
              </a:avLst>
            </a:prstGeom>
            <a:solidFill>
              <a:srgbClr val="FFFFFF"/>
            </a:solidFill>
            <a:ln>
              <a:noFill/>
            </a:ln>
          </p:spPr>
        </p:sp>
        <p:sp>
          <p:nvSpPr>
            <p:cNvPr id="26" name="Rectangle 26"/>
            <p:cNvSpPr/>
            <p:nvPr/>
          </p:nvSpPr>
          <p:spPr>
            <a:xfrm>
              <a:off x="8686800" y="2038350"/>
              <a:ext cx="3048000" cy="514350"/>
            </a:xfrm>
            <a:prstGeom prst="roundRect">
              <a:avLst>
                <a:gd name="adj" fmla="val 22222"/>
              </a:avLst>
            </a:prstGeom>
            <a:solidFill>
              <a:srgbClr val="FF7E51"/>
            </a:solidFill>
            <a:ln>
              <a:noFill/>
            </a:ln>
          </p:spPr>
        </p:sp>
        <p:sp>
          <p:nvSpPr>
            <p:cNvPr id="27" name="TextBox 27"/>
            <p:cNvSpPr txBox="1"/>
            <p:nvPr/>
          </p:nvSpPr>
          <p:spPr>
            <a:xfrm>
              <a:off x="8937308" y="2215039"/>
              <a:ext cx="62150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Rerank</a:t>
              </a:r>
            </a:p>
          </p:txBody>
        </p:sp>
        <p:sp>
          <p:nvSpPr>
            <p:cNvPr id="28" name="TextBox 28"/>
            <p:cNvSpPr txBox="1"/>
            <p:nvPr/>
          </p:nvSpPr>
          <p:spPr>
            <a:xfrm>
              <a:off x="8940165" y="2763202"/>
              <a:ext cx="1685877"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对初步召回结果重新排序</a:t>
              </a:r>
            </a:p>
          </p:txBody>
        </p:sp>
        <p:sp>
          <p:nvSpPr>
            <p:cNvPr id="29" name="TextBox 29"/>
            <p:cNvSpPr txBox="1"/>
            <p:nvPr/>
          </p:nvSpPr>
          <p:spPr>
            <a:xfrm>
              <a:off x="8940165" y="2991802"/>
              <a:ext cx="182589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把真正相关的内容推到前面</a:t>
              </a:r>
            </a:p>
          </p:txBody>
        </p:sp>
        <p:sp>
          <p:nvSpPr>
            <p:cNvPr id="30" name="TextBox 30"/>
            <p:cNvSpPr txBox="1"/>
            <p:nvPr/>
          </p:nvSpPr>
          <p:spPr>
            <a:xfrm>
              <a:off x="8940165" y="3220402"/>
              <a:ext cx="2014919"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 让 Top-K 更接近最终可用结果</a:t>
              </a:r>
            </a:p>
          </p:txBody>
        </p:sp>
        <p:sp>
          <p:nvSpPr>
            <p:cNvPr id="31" name="Rectangle 31"/>
            <p:cNvSpPr/>
            <p:nvPr/>
          </p:nvSpPr>
          <p:spPr>
            <a:xfrm>
              <a:off x="8953500" y="3848100"/>
              <a:ext cx="2514600" cy="323850"/>
            </a:xfrm>
            <a:prstGeom prst="roundRect">
              <a:avLst>
                <a:gd name="adj" fmla="val 23529"/>
              </a:avLst>
            </a:prstGeom>
            <a:solidFill>
              <a:srgbClr val="FFE0D5"/>
            </a:solidFill>
            <a:ln>
              <a:noFill/>
            </a:ln>
          </p:spPr>
        </p:sp>
        <p:sp>
          <p:nvSpPr>
            <p:cNvPr id="32" name="TextBox 32"/>
            <p:cNvSpPr txBox="1"/>
            <p:nvPr/>
          </p:nvSpPr>
          <p:spPr>
            <a:xfrm>
              <a:off x="9131618" y="3952399"/>
              <a:ext cx="1267070"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Calibri"/>
                  <a:ea typeface="Microsoft YaHei"/>
                  <a:cs typeface="Calibri"/>
                </a:rPr>
                <a:t>解决“最终排序”问题</a:t>
              </a:r>
            </a:p>
          </p:txBody>
        </p:sp>
      </p:grpSp>
      <p:grpSp>
        <p:nvGrpSpPr>
          <p:cNvPr id="42" name="Group 42"/>
          <p:cNvGrpSpPr/>
          <p:nvPr/>
        </p:nvGrpSpPr>
        <p:grpSpPr>
          <a:xfrm>
            <a:off x="3798094" y="3109912"/>
            <a:ext cx="4348162" cy="200025"/>
            <a:chOff x="3798094" y="3109912"/>
            <a:chExt cx="4348162" cy="200025"/>
          </a:xfrm>
        </p:grpSpPr>
        <p:grpSp>
          <p:nvGrpSpPr>
            <p:cNvPr id="37" name="Group 37"/>
            <p:cNvGrpSpPr/>
            <p:nvPr/>
          </p:nvGrpSpPr>
          <p:grpSpPr>
            <a:xfrm>
              <a:off x="3798094" y="3109912"/>
              <a:ext cx="233362" cy="200025"/>
              <a:chOff x="3798094" y="3109912"/>
              <a:chExt cx="233362" cy="200025"/>
            </a:xfrm>
          </p:grpSpPr>
          <p:sp>
            <p:nvSpPr>
              <p:cNvPr id="34" name="Freeform 34"/>
              <p:cNvSpPr/>
              <p:nvPr/>
            </p:nvSpPr>
            <p:spPr>
              <a:xfrm>
                <a:off x="3798094" y="3209925"/>
                <a:ext cx="233362" cy="9525"/>
              </a:xfrm>
              <a:custGeom>
                <a:avLst/>
                <a:gdLst/>
                <a:ahLst/>
                <a:cxnLst/>
                <a:rect l="l" t="t" r="r" b="b"/>
                <a:pathLst>
                  <a:path w="233362" h="9525">
                    <a:moveTo>
                      <a:pt x="0" y="0"/>
                    </a:moveTo>
                    <a:lnTo>
                      <a:pt x="233362" y="0"/>
                    </a:lnTo>
                  </a:path>
                </a:pathLst>
              </a:custGeom>
              <a:noFill/>
              <a:ln w="19050">
                <a:solidFill>
                  <a:srgbClr val="004AAC"/>
                </a:solidFill>
              </a:ln>
            </p:spPr>
          </p:sp>
          <p:sp>
            <p:nvSpPr>
              <p:cNvPr id="35" name="Freeform 35"/>
              <p:cNvSpPr/>
              <p:nvPr/>
            </p:nvSpPr>
            <p:spPr>
              <a:xfrm>
                <a:off x="3931444" y="3209925"/>
                <a:ext cx="100012" cy="100012"/>
              </a:xfrm>
              <a:custGeom>
                <a:avLst/>
                <a:gdLst/>
                <a:ahLst/>
                <a:cxnLst/>
                <a:rect l="l" t="t" r="r" b="b"/>
                <a:pathLst>
                  <a:path w="100012" h="100012">
                    <a:moveTo>
                      <a:pt x="0" y="100012"/>
                    </a:moveTo>
                    <a:lnTo>
                      <a:pt x="100012" y="0"/>
                    </a:lnTo>
                  </a:path>
                </a:pathLst>
              </a:custGeom>
              <a:noFill/>
              <a:ln w="19050">
                <a:solidFill>
                  <a:srgbClr val="004AAC"/>
                </a:solidFill>
              </a:ln>
            </p:spPr>
          </p:sp>
          <p:sp>
            <p:nvSpPr>
              <p:cNvPr id="36" name="Freeform 36"/>
              <p:cNvSpPr/>
              <p:nvPr/>
            </p:nvSpPr>
            <p:spPr>
              <a:xfrm>
                <a:off x="3931444" y="3109912"/>
                <a:ext cx="100012" cy="100012"/>
              </a:xfrm>
              <a:custGeom>
                <a:avLst/>
                <a:gdLst/>
                <a:ahLst/>
                <a:cxnLst/>
                <a:rect l="l" t="t" r="r" b="b"/>
                <a:pathLst>
                  <a:path w="100012" h="100012">
                    <a:moveTo>
                      <a:pt x="0" y="0"/>
                    </a:moveTo>
                    <a:lnTo>
                      <a:pt x="100012" y="100012"/>
                    </a:lnTo>
                  </a:path>
                </a:pathLst>
              </a:custGeom>
              <a:noFill/>
              <a:ln w="19050">
                <a:solidFill>
                  <a:srgbClr val="004AAC"/>
                </a:solidFill>
              </a:ln>
            </p:spPr>
          </p:sp>
        </p:grpSp>
        <p:grpSp>
          <p:nvGrpSpPr>
            <p:cNvPr id="41" name="Group 41"/>
            <p:cNvGrpSpPr/>
            <p:nvPr/>
          </p:nvGrpSpPr>
          <p:grpSpPr>
            <a:xfrm>
              <a:off x="7912894" y="3109912"/>
              <a:ext cx="233362" cy="200025"/>
              <a:chOff x="7912894" y="3109912"/>
              <a:chExt cx="233362" cy="200025"/>
            </a:xfrm>
          </p:grpSpPr>
          <p:sp>
            <p:nvSpPr>
              <p:cNvPr id="38" name="Freeform 38"/>
              <p:cNvSpPr/>
              <p:nvPr/>
            </p:nvSpPr>
            <p:spPr>
              <a:xfrm>
                <a:off x="7912894" y="3209925"/>
                <a:ext cx="233362" cy="9525"/>
              </a:xfrm>
              <a:custGeom>
                <a:avLst/>
                <a:gdLst/>
                <a:ahLst/>
                <a:cxnLst/>
                <a:rect l="l" t="t" r="r" b="b"/>
                <a:pathLst>
                  <a:path w="233362" h="9525">
                    <a:moveTo>
                      <a:pt x="0" y="0"/>
                    </a:moveTo>
                    <a:lnTo>
                      <a:pt x="233362" y="0"/>
                    </a:lnTo>
                  </a:path>
                </a:pathLst>
              </a:custGeom>
              <a:noFill/>
              <a:ln w="19050">
                <a:solidFill>
                  <a:srgbClr val="FF7E51"/>
                </a:solidFill>
              </a:ln>
            </p:spPr>
          </p:sp>
          <p:sp>
            <p:nvSpPr>
              <p:cNvPr id="39" name="Freeform 39"/>
              <p:cNvSpPr/>
              <p:nvPr/>
            </p:nvSpPr>
            <p:spPr>
              <a:xfrm>
                <a:off x="8046244" y="3209925"/>
                <a:ext cx="100012" cy="100012"/>
              </a:xfrm>
              <a:custGeom>
                <a:avLst/>
                <a:gdLst/>
                <a:ahLst/>
                <a:cxnLst/>
                <a:rect l="l" t="t" r="r" b="b"/>
                <a:pathLst>
                  <a:path w="100012" h="100012">
                    <a:moveTo>
                      <a:pt x="0" y="100012"/>
                    </a:moveTo>
                    <a:lnTo>
                      <a:pt x="100012" y="0"/>
                    </a:lnTo>
                  </a:path>
                </a:pathLst>
              </a:custGeom>
              <a:noFill/>
              <a:ln w="19050">
                <a:solidFill>
                  <a:srgbClr val="FF7E51"/>
                </a:solidFill>
              </a:ln>
            </p:spPr>
          </p:sp>
          <p:sp>
            <p:nvSpPr>
              <p:cNvPr id="40" name="Freeform 40"/>
              <p:cNvSpPr/>
              <p:nvPr/>
            </p:nvSpPr>
            <p:spPr>
              <a:xfrm>
                <a:off x="8046244" y="3109912"/>
                <a:ext cx="100012" cy="100012"/>
              </a:xfrm>
              <a:custGeom>
                <a:avLst/>
                <a:gdLst/>
                <a:ahLst/>
                <a:cxnLst/>
                <a:rect l="l" t="t" r="r" b="b"/>
                <a:pathLst>
                  <a:path w="100012" h="100012">
                    <a:moveTo>
                      <a:pt x="0" y="0"/>
                    </a:moveTo>
                    <a:lnTo>
                      <a:pt x="100012" y="100012"/>
                    </a:lnTo>
                  </a:path>
                </a:pathLst>
              </a:custGeom>
              <a:noFill/>
              <a:ln w="19050">
                <a:solidFill>
                  <a:srgbClr val="FF7E51"/>
                </a:solidFill>
              </a:ln>
            </p:spPr>
          </p:sp>
        </p:grpSp>
      </p:grpSp>
      <p:grpSp>
        <p:nvGrpSpPr>
          <p:cNvPr id="47" name="Group 47"/>
          <p:cNvGrpSpPr/>
          <p:nvPr/>
        </p:nvGrpSpPr>
        <p:grpSpPr>
          <a:xfrm>
            <a:off x="457200" y="4819650"/>
            <a:ext cx="11277600" cy="933450"/>
            <a:chOff x="457200" y="4819650"/>
            <a:chExt cx="11277600" cy="933450"/>
          </a:xfrm>
        </p:grpSpPr>
        <p:sp>
          <p:nvSpPr>
            <p:cNvPr id="43" name="Rectangle 43"/>
            <p:cNvSpPr/>
            <p:nvPr/>
          </p:nvSpPr>
          <p:spPr>
            <a:xfrm>
              <a:off x="457200" y="4819650"/>
              <a:ext cx="11277600" cy="933450"/>
            </a:xfrm>
            <a:prstGeom prst="roundRect">
              <a:avLst>
                <a:gd name="adj" fmla="val 12245"/>
              </a:avLst>
            </a:prstGeom>
            <a:solidFill>
              <a:srgbClr val="FFFFFF"/>
            </a:solidFill>
            <a:ln>
              <a:noFill/>
            </a:ln>
          </p:spPr>
        </p:sp>
        <p:sp>
          <p:nvSpPr>
            <p:cNvPr id="44" name="Rectangle 44"/>
            <p:cNvSpPr/>
            <p:nvPr/>
          </p:nvSpPr>
          <p:spPr>
            <a:xfrm>
              <a:off x="457200" y="4819650"/>
              <a:ext cx="57150" cy="933450"/>
            </a:xfrm>
            <a:prstGeom prst="rect">
              <a:avLst/>
            </a:prstGeom>
            <a:solidFill>
              <a:srgbClr val="FFAE41"/>
            </a:solidFill>
            <a:ln>
              <a:noFill/>
            </a:ln>
          </p:spPr>
        </p:sp>
        <p:sp>
          <p:nvSpPr>
            <p:cNvPr id="45" name="TextBox 45"/>
            <p:cNvSpPr txBox="1"/>
            <p:nvPr/>
          </p:nvSpPr>
          <p:spPr>
            <a:xfrm>
              <a:off x="708660" y="5033010"/>
              <a:ext cx="702564" cy="243840"/>
            </a:xfrm>
            <a:prstGeom prst="rect">
              <a:avLst/>
            </a:prstGeom>
            <a:noFill/>
            <a:ln>
              <a:noFill/>
            </a:ln>
          </p:spPr>
          <p:txBody>
            <a:bodyPr wrap="none" lIns="0" tIns="0" rIns="0" bIns="0" anchor="t" anchorCtr="0">
              <a:spAutoFit/>
            </a:bodyPr>
            <a:lstStyle/>
            <a:p>
              <a:pPr algn="l"/>
              <a:r>
                <a:rPr lang="zh-CN" sz="1200" b="1" dirty="0">
                  <a:solidFill>
                    <a:srgbClr val="0E1020"/>
                  </a:solidFill>
                  <a:latin typeface="Calibri"/>
                  <a:ea typeface="Microsoft YaHei"/>
                  <a:cs typeface="Calibri"/>
                </a:rPr>
                <a:t>系统判断</a:t>
              </a:r>
            </a:p>
          </p:txBody>
        </p:sp>
        <p:sp>
          <p:nvSpPr>
            <p:cNvPr id="46" name="TextBox 46"/>
            <p:cNvSpPr txBox="1"/>
            <p:nvPr/>
          </p:nvSpPr>
          <p:spPr>
            <a:xfrm>
              <a:off x="709612" y="5326856"/>
              <a:ext cx="10762417" cy="228600"/>
            </a:xfrm>
            <a:prstGeom prst="rect">
              <a:avLst/>
            </a:prstGeom>
            <a:noFill/>
            <a:ln>
              <a:noFill/>
            </a:ln>
          </p:spPr>
          <p:txBody>
            <a:bodyPr wrap="none" lIns="0" tIns="0" rIns="0" bIns="0" anchor="t" anchorCtr="0">
              <a:spAutoFit/>
            </a:bodyPr>
            <a:lstStyle/>
            <a:p>
              <a:pPr algn="l"/>
              <a:r>
                <a:rPr lang="zh-CN" sz="1125" dirty="0">
                  <a:solidFill>
                    <a:srgbClr val="0E1020"/>
                  </a:solidFill>
                  <a:latin typeface="Calibri"/>
                  <a:ea typeface="Microsoft YaHei"/>
                  <a:cs typeface="Calibri"/>
                </a:rPr>
                <a:t>这页的重点不是算法细节，而是为什么多路径协作比单一方案更稳。Hybrid Search 解决覆盖面，Rerank 解决最终排序，二者协同才更接近企业系统的真实要求。</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400"/>
                                        <p:tgtEl>
                                          <p:spTgt spid="1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slide(fromBottom)">
                                      <p:cBhvr>
                                        <p:cTn id="19" dur="400"/>
                                        <p:tgtEl>
                                          <p:spTgt spid="3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left)">
                                      <p:cBhvr>
                                        <p:cTn id="23" dur="400"/>
                                        <p:tgtEl>
                                          <p:spTgt spid="42"/>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slide(fromBottom)">
                                      <p:cBhvr>
                                        <p:cTn id="2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24" grpId="0"/>
      <p:bldP spid="33" grpId="0"/>
      <p:bldP spid="42"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6683693" cy="716756"/>
            <a:chOff x="457200" y="647700"/>
            <a:chExt cx="6683693"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6525578"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命中率、排序质量、延迟和稳定性要一起看</a:t>
              </a:r>
            </a:p>
          </p:txBody>
        </p:sp>
        <p:sp>
          <p:nvSpPr>
            <p:cNvPr id="5" name="TextBox 5"/>
            <p:cNvSpPr txBox="1"/>
            <p:nvPr/>
          </p:nvSpPr>
          <p:spPr>
            <a:xfrm>
              <a:off x="633412" y="1135856"/>
              <a:ext cx="5879306"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工程评估不能只看回答顺不顺眼，至少要把客观指标和主观可用性放进同一个观察面板。</a:t>
              </a:r>
            </a:p>
          </p:txBody>
        </p:sp>
      </p:grpSp>
      <p:grpSp>
        <p:nvGrpSpPr>
          <p:cNvPr id="11" name="Group 11"/>
          <p:cNvGrpSpPr/>
          <p:nvPr/>
        </p:nvGrpSpPr>
        <p:grpSpPr>
          <a:xfrm>
            <a:off x="457200" y="1847850"/>
            <a:ext cx="2571750" cy="2400300"/>
            <a:chOff x="457200" y="1847850"/>
            <a:chExt cx="2571750" cy="2400300"/>
          </a:xfrm>
        </p:grpSpPr>
        <p:sp>
          <p:nvSpPr>
            <p:cNvPr id="7" name="Rectangle 7"/>
            <p:cNvSpPr/>
            <p:nvPr/>
          </p:nvSpPr>
          <p:spPr>
            <a:xfrm>
              <a:off x="457200" y="1847850"/>
              <a:ext cx="2571750" cy="2400300"/>
            </a:xfrm>
            <a:prstGeom prst="roundRect">
              <a:avLst>
                <a:gd name="adj" fmla="val 4762"/>
              </a:avLst>
            </a:prstGeom>
            <a:solidFill>
              <a:srgbClr val="FFFFFF"/>
            </a:solidFill>
            <a:ln>
              <a:noFill/>
            </a:ln>
          </p:spPr>
        </p:sp>
        <p:sp>
          <p:nvSpPr>
            <p:cNvPr id="8" name="TextBox 8"/>
            <p:cNvSpPr txBox="1"/>
            <p:nvPr/>
          </p:nvSpPr>
          <p:spPr>
            <a:xfrm>
              <a:off x="687705" y="2102168"/>
              <a:ext cx="771482" cy="274320"/>
            </a:xfrm>
            <a:prstGeom prst="rect">
              <a:avLst/>
            </a:prstGeom>
            <a:noFill/>
            <a:ln>
              <a:noFill/>
            </a:ln>
          </p:spPr>
          <p:txBody>
            <a:bodyPr wrap="none" lIns="0" tIns="0" rIns="0" bIns="0" anchor="t" anchorCtr="0">
              <a:spAutoFit/>
            </a:bodyPr>
            <a:lstStyle/>
            <a:p>
              <a:pPr algn="l"/>
              <a:r>
                <a:rPr lang="zh-CN" sz="1350" b="1" dirty="0">
                  <a:solidFill>
                    <a:srgbClr val="004AAC"/>
                  </a:solidFill>
                  <a:latin typeface="Calibri"/>
                  <a:ea typeface="Microsoft YaHei"/>
                  <a:cs typeface="Calibri"/>
                </a:rPr>
                <a:t>hit rate</a:t>
              </a:r>
            </a:p>
          </p:txBody>
        </p:sp>
        <p:sp>
          <p:nvSpPr>
            <p:cNvPr id="9" name="TextBox 9"/>
            <p:cNvSpPr txBox="1"/>
            <p:nvPr/>
          </p:nvSpPr>
          <p:spPr>
            <a:xfrm>
              <a:off x="691515" y="2496502"/>
              <a:ext cx="1566863"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相关内容有没有被召回，</a:t>
              </a:r>
            </a:p>
          </p:txBody>
        </p:sp>
        <p:sp>
          <p:nvSpPr>
            <p:cNvPr id="10" name="TextBox 10"/>
            <p:cNvSpPr txBox="1"/>
            <p:nvPr/>
          </p:nvSpPr>
          <p:spPr>
            <a:xfrm>
              <a:off x="691515" y="2725102"/>
              <a:ext cx="170688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是最直接的召回质量指标。</a:t>
              </a:r>
            </a:p>
          </p:txBody>
        </p:sp>
      </p:grpSp>
      <p:grpSp>
        <p:nvGrpSpPr>
          <p:cNvPr id="16" name="Group 16"/>
          <p:cNvGrpSpPr/>
          <p:nvPr/>
        </p:nvGrpSpPr>
        <p:grpSpPr>
          <a:xfrm>
            <a:off x="3276600" y="1847850"/>
            <a:ext cx="2571750" cy="2400300"/>
            <a:chOff x="3276600" y="1847850"/>
            <a:chExt cx="2571750" cy="2400300"/>
          </a:xfrm>
        </p:grpSpPr>
        <p:sp>
          <p:nvSpPr>
            <p:cNvPr id="12" name="Rectangle 12"/>
            <p:cNvSpPr/>
            <p:nvPr/>
          </p:nvSpPr>
          <p:spPr>
            <a:xfrm>
              <a:off x="3276600" y="1847850"/>
              <a:ext cx="2571750" cy="2400300"/>
            </a:xfrm>
            <a:prstGeom prst="roundRect">
              <a:avLst>
                <a:gd name="adj" fmla="val 4762"/>
              </a:avLst>
            </a:prstGeom>
            <a:solidFill>
              <a:srgbClr val="FFFFFF"/>
            </a:solidFill>
            <a:ln>
              <a:noFill/>
            </a:ln>
          </p:spPr>
        </p:sp>
        <p:sp>
          <p:nvSpPr>
            <p:cNvPr id="13" name="TextBox 13"/>
            <p:cNvSpPr txBox="1"/>
            <p:nvPr/>
          </p:nvSpPr>
          <p:spPr>
            <a:xfrm>
              <a:off x="3507105" y="2102168"/>
              <a:ext cx="383984" cy="274320"/>
            </a:xfrm>
            <a:prstGeom prst="rect">
              <a:avLst/>
            </a:prstGeom>
            <a:noFill/>
            <a:ln>
              <a:noFill/>
            </a:ln>
          </p:spPr>
          <p:txBody>
            <a:bodyPr wrap="none" lIns="0" tIns="0" rIns="0" bIns="0" anchor="t" anchorCtr="0">
              <a:spAutoFit/>
            </a:bodyPr>
            <a:lstStyle/>
            <a:p>
              <a:pPr algn="l"/>
              <a:r>
                <a:rPr lang="zh-CN" sz="1350" b="1" dirty="0">
                  <a:solidFill>
                    <a:srgbClr val="B8860B"/>
                  </a:solidFill>
                  <a:latin typeface="Calibri"/>
                  <a:ea typeface="Microsoft YaHei"/>
                  <a:cs typeface="Calibri"/>
                </a:rPr>
                <a:t>MRR</a:t>
              </a:r>
            </a:p>
          </p:txBody>
        </p:sp>
        <p:sp>
          <p:nvSpPr>
            <p:cNvPr id="14" name="TextBox 14"/>
            <p:cNvSpPr txBox="1"/>
            <p:nvPr/>
          </p:nvSpPr>
          <p:spPr>
            <a:xfrm>
              <a:off x="3510915" y="2496502"/>
              <a:ext cx="1566863"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相关结果是否足够靠前，</a:t>
              </a:r>
            </a:p>
          </p:txBody>
        </p:sp>
        <p:sp>
          <p:nvSpPr>
            <p:cNvPr id="15" name="TextBox 15"/>
            <p:cNvSpPr txBox="1"/>
            <p:nvPr/>
          </p:nvSpPr>
          <p:spPr>
            <a:xfrm>
              <a:off x="3510915" y="2725102"/>
              <a:ext cx="212693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体现排序质量而不只是是否命中。</a:t>
              </a:r>
            </a:p>
          </p:txBody>
        </p:sp>
      </p:grpSp>
      <p:grpSp>
        <p:nvGrpSpPr>
          <p:cNvPr id="21" name="Group 21"/>
          <p:cNvGrpSpPr/>
          <p:nvPr/>
        </p:nvGrpSpPr>
        <p:grpSpPr>
          <a:xfrm>
            <a:off x="6096000" y="1847850"/>
            <a:ext cx="2571750" cy="2400300"/>
            <a:chOff x="6096000" y="1847850"/>
            <a:chExt cx="2571750" cy="2400300"/>
          </a:xfrm>
        </p:grpSpPr>
        <p:sp>
          <p:nvSpPr>
            <p:cNvPr id="17" name="Rectangle 17"/>
            <p:cNvSpPr/>
            <p:nvPr/>
          </p:nvSpPr>
          <p:spPr>
            <a:xfrm>
              <a:off x="6096000" y="1847850"/>
              <a:ext cx="2571750" cy="2400300"/>
            </a:xfrm>
            <a:prstGeom prst="roundRect">
              <a:avLst>
                <a:gd name="adj" fmla="val 4762"/>
              </a:avLst>
            </a:prstGeom>
            <a:solidFill>
              <a:srgbClr val="FFFFFF"/>
            </a:solidFill>
            <a:ln>
              <a:noFill/>
            </a:ln>
          </p:spPr>
        </p:sp>
        <p:sp>
          <p:nvSpPr>
            <p:cNvPr id="18" name="TextBox 18"/>
            <p:cNvSpPr txBox="1"/>
            <p:nvPr/>
          </p:nvSpPr>
          <p:spPr>
            <a:xfrm>
              <a:off x="6326505" y="2102168"/>
              <a:ext cx="714775" cy="274320"/>
            </a:xfrm>
            <a:prstGeom prst="rect">
              <a:avLst/>
            </a:prstGeom>
            <a:noFill/>
            <a:ln>
              <a:noFill/>
            </a:ln>
          </p:spPr>
          <p:txBody>
            <a:bodyPr wrap="none" lIns="0" tIns="0" rIns="0" bIns="0" anchor="t" anchorCtr="0">
              <a:spAutoFit/>
            </a:bodyPr>
            <a:lstStyle/>
            <a:p>
              <a:pPr algn="l"/>
              <a:r>
                <a:rPr lang="zh-CN" sz="1350" b="1" dirty="0">
                  <a:solidFill>
                    <a:srgbClr val="C0392B"/>
                  </a:solidFill>
                  <a:latin typeface="Calibri"/>
                  <a:ea typeface="Microsoft YaHei"/>
                  <a:cs typeface="Calibri"/>
                </a:rPr>
                <a:t>latency</a:t>
              </a:r>
            </a:p>
          </p:txBody>
        </p:sp>
        <p:sp>
          <p:nvSpPr>
            <p:cNvPr id="19" name="TextBox 19"/>
            <p:cNvSpPr txBox="1"/>
            <p:nvPr/>
          </p:nvSpPr>
          <p:spPr>
            <a:xfrm>
              <a:off x="6330315" y="2496502"/>
              <a:ext cx="1846898"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系统是否还能满足交互体验，</a:t>
              </a:r>
            </a:p>
          </p:txBody>
        </p:sp>
        <p:sp>
          <p:nvSpPr>
            <p:cNvPr id="20" name="TextBox 20"/>
            <p:cNvSpPr txBox="1"/>
            <p:nvPr/>
          </p:nvSpPr>
          <p:spPr>
            <a:xfrm>
              <a:off x="6330315" y="2725102"/>
              <a:ext cx="1860899"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避免“效果好但根本用不起”。</a:t>
              </a:r>
            </a:p>
          </p:txBody>
        </p:sp>
      </p:grpSp>
      <p:grpSp>
        <p:nvGrpSpPr>
          <p:cNvPr id="26" name="Group 26"/>
          <p:cNvGrpSpPr/>
          <p:nvPr/>
        </p:nvGrpSpPr>
        <p:grpSpPr>
          <a:xfrm>
            <a:off x="8915400" y="1847850"/>
            <a:ext cx="2819400" cy="2400300"/>
            <a:chOff x="8915400" y="1847850"/>
            <a:chExt cx="2819400" cy="2400300"/>
          </a:xfrm>
        </p:grpSpPr>
        <p:sp>
          <p:nvSpPr>
            <p:cNvPr id="22" name="Rectangle 22"/>
            <p:cNvSpPr/>
            <p:nvPr/>
          </p:nvSpPr>
          <p:spPr>
            <a:xfrm>
              <a:off x="8915400" y="1847850"/>
              <a:ext cx="2819400" cy="2400300"/>
            </a:xfrm>
            <a:prstGeom prst="roundRect">
              <a:avLst>
                <a:gd name="adj" fmla="val 4762"/>
              </a:avLst>
            </a:prstGeom>
            <a:solidFill>
              <a:srgbClr val="FFFFFF"/>
            </a:solidFill>
            <a:ln>
              <a:noFill/>
            </a:ln>
          </p:spPr>
        </p:sp>
        <p:sp>
          <p:nvSpPr>
            <p:cNvPr id="23" name="TextBox 23"/>
            <p:cNvSpPr txBox="1"/>
            <p:nvPr/>
          </p:nvSpPr>
          <p:spPr>
            <a:xfrm>
              <a:off x="9145905" y="2102168"/>
              <a:ext cx="979408" cy="274320"/>
            </a:xfrm>
            <a:prstGeom prst="rect">
              <a:avLst/>
            </a:prstGeom>
            <a:noFill/>
            <a:ln>
              <a:noFill/>
            </a:ln>
          </p:spPr>
          <p:txBody>
            <a:bodyPr wrap="none" lIns="0" tIns="0" rIns="0" bIns="0" anchor="t" anchorCtr="0">
              <a:spAutoFit/>
            </a:bodyPr>
            <a:lstStyle/>
            <a:p>
              <a:pPr algn="l"/>
              <a:r>
                <a:rPr lang="zh-CN" sz="1350" b="1" dirty="0">
                  <a:solidFill>
                    <a:srgbClr val="004AAC"/>
                  </a:solidFill>
                  <a:latin typeface="Calibri"/>
                  <a:ea typeface="Microsoft YaHei"/>
                  <a:cs typeface="Calibri"/>
                </a:rPr>
                <a:t>主观可用性</a:t>
              </a:r>
            </a:p>
          </p:txBody>
        </p:sp>
        <p:sp>
          <p:nvSpPr>
            <p:cNvPr id="24" name="TextBox 24"/>
            <p:cNvSpPr txBox="1"/>
            <p:nvPr/>
          </p:nvSpPr>
          <p:spPr>
            <a:xfrm>
              <a:off x="9149715" y="2496502"/>
              <a:ext cx="1846898"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回答是否真的可用、可解释、</a:t>
              </a:r>
            </a:p>
          </p:txBody>
        </p:sp>
        <p:sp>
          <p:nvSpPr>
            <p:cNvPr id="25" name="TextBox 25"/>
            <p:cNvSpPr txBox="1"/>
            <p:nvPr/>
          </p:nvSpPr>
          <p:spPr>
            <a:xfrm>
              <a:off x="9149715" y="2725102"/>
              <a:ext cx="198691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是否符合业务场景与验收要求。</a:t>
              </a:r>
            </a:p>
          </p:txBody>
        </p:sp>
      </p:grpSp>
      <p:grpSp>
        <p:nvGrpSpPr>
          <p:cNvPr id="30" name="Group 30"/>
          <p:cNvGrpSpPr/>
          <p:nvPr/>
        </p:nvGrpSpPr>
        <p:grpSpPr>
          <a:xfrm>
            <a:off x="457200" y="4705350"/>
            <a:ext cx="11277600" cy="1066800"/>
            <a:chOff x="457200" y="4705350"/>
            <a:chExt cx="11277600" cy="1066800"/>
          </a:xfrm>
        </p:grpSpPr>
        <p:sp>
          <p:nvSpPr>
            <p:cNvPr id="27" name="Rectangle 27"/>
            <p:cNvSpPr/>
            <p:nvPr/>
          </p:nvSpPr>
          <p:spPr>
            <a:xfrm>
              <a:off x="457200" y="4705350"/>
              <a:ext cx="11277600" cy="1066800"/>
            </a:xfrm>
            <a:prstGeom prst="roundRect">
              <a:avLst>
                <a:gd name="adj" fmla="val 10714"/>
              </a:avLst>
            </a:prstGeom>
            <a:solidFill>
              <a:srgbClr val="0E1020"/>
            </a:solidFill>
            <a:ln>
              <a:noFill/>
            </a:ln>
          </p:spPr>
        </p:sp>
        <p:sp>
          <p:nvSpPr>
            <p:cNvPr id="28" name="TextBox 28"/>
            <p:cNvSpPr txBox="1"/>
            <p:nvPr/>
          </p:nvSpPr>
          <p:spPr>
            <a:xfrm>
              <a:off x="708660" y="4937760"/>
              <a:ext cx="103860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本讲评估原则</a:t>
              </a:r>
            </a:p>
          </p:txBody>
        </p:sp>
        <p:sp>
          <p:nvSpPr>
            <p:cNvPr id="29" name="TextBox 29"/>
            <p:cNvSpPr txBox="1"/>
            <p:nvPr/>
          </p:nvSpPr>
          <p:spPr>
            <a:xfrm>
              <a:off x="709612" y="5250656"/>
              <a:ext cx="9389745" cy="228600"/>
            </a:xfrm>
            <a:prstGeom prst="rect">
              <a:avLst/>
            </a:prstGeom>
            <a:noFill/>
            <a:ln>
              <a:noFill/>
            </a:ln>
          </p:spPr>
          <p:txBody>
            <a:bodyPr wrap="none" lIns="0" tIns="0" rIns="0" bIns="0" anchor="t" anchorCtr="0">
              <a:spAutoFit/>
            </a:bodyPr>
            <a:lstStyle/>
            <a:p>
              <a:pPr algn="l"/>
              <a:r>
                <a:rPr lang="zh-CN" sz="1125" dirty="0">
                  <a:solidFill>
                    <a:srgbClr val="F6F3F0"/>
                  </a:solidFill>
                  <a:latin typeface="Calibri"/>
                  <a:ea typeface="Microsoft YaHei"/>
                  <a:cs typeface="Calibri"/>
                </a:rPr>
                <a:t>只看最终答案像不像样，会让团队错过很多本该能定位的问题。真正稳定的工程评估，一定是“客观指标 + 样本记录 + 主观可用性”一起存在。</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400"/>
                                        <p:tgtEl>
                                          <p:spTgt spid="1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slide(fromBottom)">
                                      <p:cBhvr>
                                        <p:cTn id="19" dur="400"/>
                                        <p:tgtEl>
                                          <p:spTgt spid="21"/>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image">
                                      <p:cBhvr>
                                        <p:cTn id="23" dur="400"/>
                                        <p:tgtEl>
                                          <p:spTgt spid="2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6" grpId="0"/>
      <p:bldP spid="21" grpId="0"/>
      <p:bldP spid="26"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7363777" cy="716756"/>
            <a:chOff x="457200" y="647700"/>
            <a:chExt cx="7363777"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7205662"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用一张表把问题、召回、排序和调优建议串起来</a:t>
              </a:r>
            </a:p>
          </p:txBody>
        </p:sp>
        <p:sp>
          <p:nvSpPr>
            <p:cNvPr id="5" name="TextBox 5"/>
            <p:cNvSpPr txBox="1"/>
            <p:nvPr/>
          </p:nvSpPr>
          <p:spPr>
            <a:xfrm>
              <a:off x="633412" y="1135856"/>
              <a:ext cx="5459254"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一旦有了评估表，讨论就会从“感觉不好”变成“这里命中率差、这里排序有问题”。</a:t>
              </a:r>
            </a:p>
          </p:txBody>
        </p:sp>
      </p:grpSp>
      <p:grpSp>
        <p:nvGrpSpPr>
          <p:cNvPr id="29" name="Group 29"/>
          <p:cNvGrpSpPr/>
          <p:nvPr/>
        </p:nvGrpSpPr>
        <p:grpSpPr>
          <a:xfrm>
            <a:off x="457200" y="1733550"/>
            <a:ext cx="7734300" cy="3695700"/>
            <a:chOff x="457200" y="1733550"/>
            <a:chExt cx="7734300" cy="3695700"/>
          </a:xfrm>
        </p:grpSpPr>
        <p:sp>
          <p:nvSpPr>
            <p:cNvPr id="7" name="Rectangle 7"/>
            <p:cNvSpPr/>
            <p:nvPr/>
          </p:nvSpPr>
          <p:spPr>
            <a:xfrm>
              <a:off x="457200" y="1733550"/>
              <a:ext cx="7734300" cy="3695700"/>
            </a:xfrm>
            <a:prstGeom prst="roundRect">
              <a:avLst>
                <a:gd name="adj" fmla="val 3093"/>
              </a:avLst>
            </a:prstGeom>
            <a:solidFill>
              <a:srgbClr val="FFFFFF"/>
            </a:solidFill>
            <a:ln>
              <a:noFill/>
            </a:ln>
          </p:spPr>
        </p:sp>
        <p:sp>
          <p:nvSpPr>
            <p:cNvPr id="8" name="Rectangle 8"/>
            <p:cNvSpPr/>
            <p:nvPr/>
          </p:nvSpPr>
          <p:spPr>
            <a:xfrm>
              <a:off x="457200" y="1733550"/>
              <a:ext cx="7734300" cy="514350"/>
            </a:xfrm>
            <a:prstGeom prst="roundRect">
              <a:avLst>
                <a:gd name="adj" fmla="val 22222"/>
              </a:avLst>
            </a:prstGeom>
            <a:solidFill>
              <a:srgbClr val="0E1020"/>
            </a:solidFill>
            <a:ln>
              <a:noFill/>
            </a:ln>
          </p:spPr>
        </p:sp>
        <p:sp>
          <p:nvSpPr>
            <p:cNvPr id="9" name="TextBox 9"/>
            <p:cNvSpPr txBox="1"/>
            <p:nvPr/>
          </p:nvSpPr>
          <p:spPr>
            <a:xfrm>
              <a:off x="670560" y="1927860"/>
              <a:ext cx="1206627"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最小可用评估表</a:t>
              </a:r>
            </a:p>
          </p:txBody>
        </p:sp>
        <p:sp>
          <p:nvSpPr>
            <p:cNvPr id="10" name="Rectangle 10"/>
            <p:cNvSpPr/>
            <p:nvPr/>
          </p:nvSpPr>
          <p:spPr>
            <a:xfrm>
              <a:off x="685800" y="2457450"/>
              <a:ext cx="1143000" cy="400050"/>
            </a:xfrm>
            <a:prstGeom prst="rect">
              <a:avLst/>
            </a:prstGeom>
            <a:solidFill>
              <a:srgbClr val="F6F3F0"/>
            </a:solidFill>
            <a:ln>
              <a:noFill/>
            </a:ln>
          </p:spPr>
        </p:sp>
        <p:sp>
          <p:nvSpPr>
            <p:cNvPr id="11" name="Rectangle 11"/>
            <p:cNvSpPr/>
            <p:nvPr/>
          </p:nvSpPr>
          <p:spPr>
            <a:xfrm>
              <a:off x="1828800" y="2457450"/>
              <a:ext cx="1809750" cy="400050"/>
            </a:xfrm>
            <a:prstGeom prst="rect">
              <a:avLst/>
            </a:prstGeom>
            <a:solidFill>
              <a:srgbClr val="F6F3F0"/>
            </a:solidFill>
            <a:ln>
              <a:noFill/>
            </a:ln>
          </p:spPr>
        </p:sp>
        <p:sp>
          <p:nvSpPr>
            <p:cNvPr id="12" name="Rectangle 12"/>
            <p:cNvSpPr/>
            <p:nvPr/>
          </p:nvSpPr>
          <p:spPr>
            <a:xfrm>
              <a:off x="3638550" y="2457450"/>
              <a:ext cx="1619250" cy="400050"/>
            </a:xfrm>
            <a:prstGeom prst="rect">
              <a:avLst/>
            </a:prstGeom>
            <a:solidFill>
              <a:srgbClr val="F6F3F0"/>
            </a:solidFill>
            <a:ln>
              <a:noFill/>
            </a:ln>
          </p:spPr>
        </p:sp>
        <p:sp>
          <p:nvSpPr>
            <p:cNvPr id="13" name="Rectangle 13"/>
            <p:cNvSpPr/>
            <p:nvPr/>
          </p:nvSpPr>
          <p:spPr>
            <a:xfrm>
              <a:off x="5257800" y="2457450"/>
              <a:ext cx="1047750" cy="400050"/>
            </a:xfrm>
            <a:prstGeom prst="rect">
              <a:avLst/>
            </a:prstGeom>
            <a:solidFill>
              <a:srgbClr val="F6F3F0"/>
            </a:solidFill>
            <a:ln>
              <a:noFill/>
            </a:ln>
          </p:spPr>
        </p:sp>
        <p:sp>
          <p:nvSpPr>
            <p:cNvPr id="14" name="Rectangle 14"/>
            <p:cNvSpPr/>
            <p:nvPr/>
          </p:nvSpPr>
          <p:spPr>
            <a:xfrm>
              <a:off x="6305550" y="2457450"/>
              <a:ext cx="1619250" cy="400050"/>
            </a:xfrm>
            <a:prstGeom prst="rect">
              <a:avLst/>
            </a:prstGeom>
            <a:solidFill>
              <a:srgbClr val="F6F3F0"/>
            </a:solidFill>
            <a:ln>
              <a:noFill/>
            </a:ln>
          </p:spPr>
        </p:sp>
        <p:sp>
          <p:nvSpPr>
            <p:cNvPr id="15" name="TextBox 15"/>
            <p:cNvSpPr txBox="1"/>
            <p:nvPr/>
          </p:nvSpPr>
          <p:spPr>
            <a:xfrm>
              <a:off x="825818" y="2599849"/>
              <a:ext cx="570833" cy="198120"/>
            </a:xfrm>
            <a:prstGeom prst="rect">
              <a:avLst/>
            </a:prstGeom>
            <a:noFill/>
            <a:ln>
              <a:noFill/>
            </a:ln>
          </p:spPr>
          <p:txBody>
            <a:bodyPr wrap="none" lIns="0" tIns="0" rIns="0" bIns="0" anchor="t" anchorCtr="0">
              <a:spAutoFit/>
            </a:bodyPr>
            <a:lstStyle/>
            <a:p>
              <a:pPr algn="l"/>
              <a:r>
                <a:rPr lang="zh-CN" sz="975" b="1" dirty="0">
                  <a:solidFill>
                    <a:srgbClr val="0E1020"/>
                  </a:solidFill>
                  <a:latin typeface="Calibri"/>
                  <a:ea typeface="Microsoft YaHei"/>
                  <a:cs typeface="Calibri"/>
                </a:rPr>
                <a:t>问题编号</a:t>
              </a:r>
            </a:p>
          </p:txBody>
        </p:sp>
        <p:sp>
          <p:nvSpPr>
            <p:cNvPr id="16" name="TextBox 16"/>
            <p:cNvSpPr txBox="1"/>
            <p:nvPr/>
          </p:nvSpPr>
          <p:spPr>
            <a:xfrm>
              <a:off x="1968818" y="2599849"/>
              <a:ext cx="570833" cy="198120"/>
            </a:xfrm>
            <a:prstGeom prst="rect">
              <a:avLst/>
            </a:prstGeom>
            <a:noFill/>
            <a:ln>
              <a:noFill/>
            </a:ln>
          </p:spPr>
          <p:txBody>
            <a:bodyPr wrap="none" lIns="0" tIns="0" rIns="0" bIns="0" anchor="t" anchorCtr="0">
              <a:spAutoFit/>
            </a:bodyPr>
            <a:lstStyle/>
            <a:p>
              <a:pPr algn="l"/>
              <a:r>
                <a:rPr lang="zh-CN" sz="975" b="1" dirty="0">
                  <a:solidFill>
                    <a:srgbClr val="0E1020"/>
                  </a:solidFill>
                  <a:latin typeface="Calibri"/>
                  <a:ea typeface="Microsoft YaHei"/>
                  <a:cs typeface="Calibri"/>
                </a:rPr>
                <a:t>期望命中</a:t>
              </a:r>
            </a:p>
          </p:txBody>
        </p:sp>
        <p:sp>
          <p:nvSpPr>
            <p:cNvPr id="17" name="TextBox 17"/>
            <p:cNvSpPr txBox="1"/>
            <p:nvPr/>
          </p:nvSpPr>
          <p:spPr>
            <a:xfrm>
              <a:off x="3778568" y="2599849"/>
              <a:ext cx="714176" cy="198120"/>
            </a:xfrm>
            <a:prstGeom prst="rect">
              <a:avLst/>
            </a:prstGeom>
            <a:noFill/>
            <a:ln>
              <a:noFill/>
            </a:ln>
          </p:spPr>
          <p:txBody>
            <a:bodyPr wrap="none" lIns="0" tIns="0" rIns="0" bIns="0" anchor="t" anchorCtr="0">
              <a:spAutoFit/>
            </a:bodyPr>
            <a:lstStyle/>
            <a:p>
              <a:pPr algn="l"/>
              <a:r>
                <a:rPr lang="zh-CN" sz="975" b="1" dirty="0">
                  <a:solidFill>
                    <a:srgbClr val="0E1020"/>
                  </a:solidFill>
                  <a:latin typeface="Calibri"/>
                  <a:ea typeface="Microsoft YaHei"/>
                  <a:cs typeface="Calibri"/>
                </a:rPr>
                <a:t>实际 Top-K</a:t>
              </a:r>
            </a:p>
          </p:txBody>
        </p:sp>
        <p:sp>
          <p:nvSpPr>
            <p:cNvPr id="18" name="TextBox 18"/>
            <p:cNvSpPr txBox="1"/>
            <p:nvPr/>
          </p:nvSpPr>
          <p:spPr>
            <a:xfrm>
              <a:off x="5397818" y="2599849"/>
              <a:ext cx="297799" cy="198120"/>
            </a:xfrm>
            <a:prstGeom prst="rect">
              <a:avLst/>
            </a:prstGeom>
            <a:noFill/>
            <a:ln>
              <a:noFill/>
            </a:ln>
          </p:spPr>
          <p:txBody>
            <a:bodyPr wrap="none" lIns="0" tIns="0" rIns="0" bIns="0" anchor="t" anchorCtr="0">
              <a:spAutoFit/>
            </a:bodyPr>
            <a:lstStyle/>
            <a:p>
              <a:pPr algn="l"/>
              <a:r>
                <a:rPr lang="zh-CN" sz="975" b="1" dirty="0">
                  <a:solidFill>
                    <a:srgbClr val="0E1020"/>
                  </a:solidFill>
                  <a:latin typeface="Calibri"/>
                  <a:ea typeface="Microsoft YaHei"/>
                  <a:cs typeface="Calibri"/>
                </a:rPr>
                <a:t>指标</a:t>
              </a:r>
            </a:p>
          </p:txBody>
        </p:sp>
        <p:sp>
          <p:nvSpPr>
            <p:cNvPr id="19" name="TextBox 19"/>
            <p:cNvSpPr txBox="1"/>
            <p:nvPr/>
          </p:nvSpPr>
          <p:spPr>
            <a:xfrm>
              <a:off x="6445568" y="2599849"/>
              <a:ext cx="570833" cy="198120"/>
            </a:xfrm>
            <a:prstGeom prst="rect">
              <a:avLst/>
            </a:prstGeom>
            <a:noFill/>
            <a:ln>
              <a:noFill/>
            </a:ln>
          </p:spPr>
          <p:txBody>
            <a:bodyPr wrap="none" lIns="0" tIns="0" rIns="0" bIns="0" anchor="t" anchorCtr="0">
              <a:spAutoFit/>
            </a:bodyPr>
            <a:lstStyle/>
            <a:p>
              <a:pPr algn="l"/>
              <a:r>
                <a:rPr lang="zh-CN" sz="975" b="1" dirty="0">
                  <a:solidFill>
                    <a:srgbClr val="0E1020"/>
                  </a:solidFill>
                  <a:latin typeface="Calibri"/>
                  <a:ea typeface="Microsoft YaHei"/>
                  <a:cs typeface="Calibri"/>
                </a:rPr>
                <a:t>调优建议</a:t>
              </a:r>
            </a:p>
          </p:txBody>
        </p:sp>
        <p:sp>
          <p:nvSpPr>
            <p:cNvPr id="20" name="Rectangle 20"/>
            <p:cNvSpPr/>
            <p:nvPr/>
          </p:nvSpPr>
          <p:spPr>
            <a:xfrm>
              <a:off x="685800" y="2933700"/>
              <a:ext cx="7239000" cy="552450"/>
            </a:xfrm>
            <a:prstGeom prst="rect">
              <a:avLst/>
            </a:prstGeom>
            <a:solidFill>
              <a:srgbClr val="FFFFFF"/>
            </a:solidFill>
            <a:ln w="9525">
              <a:solidFill>
                <a:srgbClr val="D7D2CD"/>
              </a:solidFill>
            </a:ln>
          </p:spPr>
        </p:sp>
        <p:sp>
          <p:nvSpPr>
            <p:cNvPr id="21" name="Rectangle 21"/>
            <p:cNvSpPr/>
            <p:nvPr/>
          </p:nvSpPr>
          <p:spPr>
            <a:xfrm>
              <a:off x="685800" y="3486150"/>
              <a:ext cx="7239000" cy="552450"/>
            </a:xfrm>
            <a:prstGeom prst="rect">
              <a:avLst/>
            </a:prstGeom>
            <a:solidFill>
              <a:srgbClr val="F6F3F0"/>
            </a:solidFill>
            <a:ln w="9525">
              <a:solidFill>
                <a:srgbClr val="D7D2CD"/>
              </a:solidFill>
            </a:ln>
          </p:spPr>
        </p:sp>
        <p:sp>
          <p:nvSpPr>
            <p:cNvPr id="22" name="Rectangle 22"/>
            <p:cNvSpPr/>
            <p:nvPr/>
          </p:nvSpPr>
          <p:spPr>
            <a:xfrm>
              <a:off x="685800" y="4038600"/>
              <a:ext cx="7239000" cy="552450"/>
            </a:xfrm>
            <a:prstGeom prst="rect">
              <a:avLst/>
            </a:prstGeom>
            <a:solidFill>
              <a:srgbClr val="FFFFFF"/>
            </a:solidFill>
            <a:ln w="9525">
              <a:solidFill>
                <a:srgbClr val="D7D2CD"/>
              </a:solidFill>
            </a:ln>
          </p:spPr>
        </p:sp>
        <p:sp>
          <p:nvSpPr>
            <p:cNvPr id="23" name="Rectangle 23"/>
            <p:cNvSpPr/>
            <p:nvPr/>
          </p:nvSpPr>
          <p:spPr>
            <a:xfrm>
              <a:off x="685800" y="4591050"/>
              <a:ext cx="7239000" cy="552450"/>
            </a:xfrm>
            <a:prstGeom prst="rect">
              <a:avLst/>
            </a:prstGeom>
            <a:solidFill>
              <a:srgbClr val="F6F3F0"/>
            </a:solidFill>
            <a:ln w="9525">
              <a:solidFill>
                <a:srgbClr val="D7D2CD"/>
              </a:solidFill>
            </a:ln>
          </p:spPr>
        </p:sp>
        <p:sp>
          <p:nvSpPr>
            <p:cNvPr id="24" name="TextBox 24"/>
            <p:cNvSpPr txBox="1"/>
            <p:nvPr/>
          </p:nvSpPr>
          <p:spPr>
            <a:xfrm>
              <a:off x="825818" y="3152299"/>
              <a:ext cx="232791" cy="198120"/>
            </a:xfrm>
            <a:prstGeom prst="rect">
              <a:avLst/>
            </a:prstGeom>
            <a:noFill/>
            <a:ln>
              <a:noFill/>
            </a:ln>
          </p:spPr>
          <p:txBody>
            <a:bodyPr wrap="none" lIns="0" tIns="0" rIns="0" bIns="0" anchor="t" anchorCtr="0">
              <a:spAutoFit/>
            </a:bodyPr>
            <a:lstStyle/>
            <a:p>
              <a:pPr algn="l"/>
              <a:r>
                <a:rPr lang="zh-CN" sz="975" dirty="0">
                  <a:solidFill>
                    <a:srgbClr val="0E1020"/>
                  </a:solidFill>
                  <a:latin typeface="Calibri"/>
                  <a:ea typeface="Microsoft YaHei"/>
                  <a:cs typeface="Calibri"/>
                </a:rPr>
                <a:t>Q01</a:t>
              </a:r>
            </a:p>
          </p:txBody>
        </p:sp>
        <p:sp>
          <p:nvSpPr>
            <p:cNvPr id="25" name="TextBox 25"/>
            <p:cNvSpPr txBox="1"/>
            <p:nvPr/>
          </p:nvSpPr>
          <p:spPr>
            <a:xfrm>
              <a:off x="1968818" y="3152299"/>
              <a:ext cx="804862" cy="198120"/>
            </a:xfrm>
            <a:prstGeom prst="rect">
              <a:avLst/>
            </a:prstGeom>
            <a:noFill/>
            <a:ln>
              <a:noFill/>
            </a:ln>
          </p:spPr>
          <p:txBody>
            <a:bodyPr wrap="none" lIns="0" tIns="0" rIns="0" bIns="0" anchor="t" anchorCtr="0">
              <a:spAutoFit/>
            </a:bodyPr>
            <a:lstStyle/>
            <a:p>
              <a:pPr algn="l"/>
              <a:r>
                <a:rPr lang="zh-CN" sz="975" dirty="0">
                  <a:solidFill>
                    <a:srgbClr val="0E1020"/>
                  </a:solidFill>
                  <a:latin typeface="Calibri"/>
                  <a:ea typeface="Microsoft YaHei"/>
                  <a:cs typeface="Calibri"/>
                </a:rPr>
                <a:t>客服退款规则</a:t>
              </a:r>
            </a:p>
          </p:txBody>
        </p:sp>
        <p:sp>
          <p:nvSpPr>
            <p:cNvPr id="26" name="TextBox 26"/>
            <p:cNvSpPr txBox="1"/>
            <p:nvPr/>
          </p:nvSpPr>
          <p:spPr>
            <a:xfrm>
              <a:off x="3778568" y="3152299"/>
              <a:ext cx="1363932" cy="198120"/>
            </a:xfrm>
            <a:prstGeom prst="rect">
              <a:avLst/>
            </a:prstGeom>
            <a:noFill/>
            <a:ln>
              <a:noFill/>
            </a:ln>
          </p:spPr>
          <p:txBody>
            <a:bodyPr wrap="none" lIns="0" tIns="0" rIns="0" bIns="0" anchor="t" anchorCtr="0">
              <a:spAutoFit/>
            </a:bodyPr>
            <a:lstStyle/>
            <a:p>
              <a:pPr algn="l"/>
              <a:r>
                <a:rPr lang="zh-CN" sz="975" dirty="0">
                  <a:solidFill>
                    <a:srgbClr val="0E1020"/>
                  </a:solidFill>
                  <a:latin typeface="Calibri"/>
                  <a:ea typeface="Microsoft YaHei"/>
                  <a:cs typeface="Calibri"/>
                </a:rPr>
                <a:t>doc12 / doc08 / doc03</a:t>
              </a:r>
            </a:p>
          </p:txBody>
        </p:sp>
        <p:sp>
          <p:nvSpPr>
            <p:cNvPr id="27" name="TextBox 27"/>
            <p:cNvSpPr txBox="1"/>
            <p:nvPr/>
          </p:nvSpPr>
          <p:spPr>
            <a:xfrm>
              <a:off x="5397818" y="3152299"/>
              <a:ext cx="1006388" cy="198120"/>
            </a:xfrm>
            <a:prstGeom prst="rect">
              <a:avLst/>
            </a:prstGeom>
            <a:noFill/>
            <a:ln>
              <a:noFill/>
            </a:ln>
          </p:spPr>
          <p:txBody>
            <a:bodyPr wrap="none" lIns="0" tIns="0" rIns="0" bIns="0" anchor="t" anchorCtr="0">
              <a:spAutoFit/>
            </a:bodyPr>
            <a:lstStyle/>
            <a:p>
              <a:pPr algn="l"/>
              <a:r>
                <a:rPr lang="zh-CN" sz="975" dirty="0">
                  <a:solidFill>
                    <a:srgbClr val="0E1020"/>
                  </a:solidFill>
                  <a:latin typeface="Calibri"/>
                  <a:ea typeface="Microsoft YaHei"/>
                  <a:cs typeface="Calibri"/>
                </a:rPr>
                <a:t>hit / MRR / 延迟</a:t>
              </a:r>
            </a:p>
          </p:txBody>
        </p:sp>
        <p:sp>
          <p:nvSpPr>
            <p:cNvPr id="28" name="TextBox 28"/>
            <p:cNvSpPr txBox="1"/>
            <p:nvPr/>
          </p:nvSpPr>
          <p:spPr>
            <a:xfrm>
              <a:off x="6445568" y="3152299"/>
              <a:ext cx="707350" cy="198120"/>
            </a:xfrm>
            <a:prstGeom prst="rect">
              <a:avLst/>
            </a:prstGeom>
            <a:noFill/>
            <a:ln>
              <a:noFill/>
            </a:ln>
          </p:spPr>
          <p:txBody>
            <a:bodyPr wrap="none" lIns="0" tIns="0" rIns="0" bIns="0" anchor="t" anchorCtr="0">
              <a:spAutoFit/>
            </a:bodyPr>
            <a:lstStyle/>
            <a:p>
              <a:pPr algn="l"/>
              <a:r>
                <a:rPr lang="zh-CN" sz="975" dirty="0">
                  <a:solidFill>
                    <a:srgbClr val="0E1020"/>
                  </a:solidFill>
                  <a:latin typeface="Calibri"/>
                  <a:ea typeface="Microsoft YaHei"/>
                  <a:cs typeface="Calibri"/>
                </a:rPr>
                <a:t>改写 Query</a:t>
              </a:r>
            </a:p>
          </p:txBody>
        </p:sp>
      </p:grpSp>
      <p:grpSp>
        <p:nvGrpSpPr>
          <p:cNvPr id="36" name="Group 36"/>
          <p:cNvGrpSpPr/>
          <p:nvPr/>
        </p:nvGrpSpPr>
        <p:grpSpPr>
          <a:xfrm>
            <a:off x="8515350" y="1733550"/>
            <a:ext cx="3219450" cy="3695700"/>
            <a:chOff x="8515350" y="1733550"/>
            <a:chExt cx="3219450" cy="3695700"/>
          </a:xfrm>
        </p:grpSpPr>
        <p:sp>
          <p:nvSpPr>
            <p:cNvPr id="30" name="Rectangle 30"/>
            <p:cNvSpPr/>
            <p:nvPr/>
          </p:nvSpPr>
          <p:spPr>
            <a:xfrm>
              <a:off x="8515350" y="1733550"/>
              <a:ext cx="3219450" cy="3695700"/>
            </a:xfrm>
            <a:prstGeom prst="roundRect">
              <a:avLst>
                <a:gd name="adj" fmla="val 3550"/>
              </a:avLst>
            </a:prstGeom>
            <a:solidFill>
              <a:srgbClr val="0E1020"/>
            </a:solidFill>
            <a:ln>
              <a:noFill/>
            </a:ln>
          </p:spPr>
        </p:sp>
        <p:sp>
          <p:nvSpPr>
            <p:cNvPr id="31" name="TextBox 31"/>
            <p:cNvSpPr txBox="1"/>
            <p:nvPr/>
          </p:nvSpPr>
          <p:spPr>
            <a:xfrm>
              <a:off x="8765858" y="1957864"/>
              <a:ext cx="146056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为什么这张表重要</a:t>
              </a:r>
            </a:p>
          </p:txBody>
        </p:sp>
        <p:sp>
          <p:nvSpPr>
            <p:cNvPr id="32" name="TextBox 32"/>
            <p:cNvSpPr txBox="1"/>
            <p:nvPr/>
          </p:nvSpPr>
          <p:spPr>
            <a:xfrm>
              <a:off x="8768715" y="2534602"/>
              <a:ext cx="211993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它把“感觉不好”转成可观察证据</a:t>
              </a:r>
            </a:p>
          </p:txBody>
        </p:sp>
        <p:sp>
          <p:nvSpPr>
            <p:cNvPr id="33" name="TextBox 33"/>
            <p:cNvSpPr txBox="1"/>
            <p:nvPr/>
          </p:nvSpPr>
          <p:spPr>
            <a:xfrm>
              <a:off x="8768715" y="2763202"/>
              <a:ext cx="2666000"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把问题、召回、排序和建议串进同一视图</a:t>
              </a:r>
            </a:p>
          </p:txBody>
        </p:sp>
        <p:sp>
          <p:nvSpPr>
            <p:cNvPr id="34" name="TextBox 34"/>
            <p:cNvSpPr txBox="1"/>
            <p:nvPr/>
          </p:nvSpPr>
          <p:spPr>
            <a:xfrm>
              <a:off x="8768715" y="2991802"/>
              <a:ext cx="252598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每次调优都能回到同一套记录面板验证</a:t>
              </a:r>
            </a:p>
          </p:txBody>
        </p:sp>
        <p:sp>
          <p:nvSpPr>
            <p:cNvPr id="35" name="TextBox 35"/>
            <p:cNvSpPr txBox="1"/>
            <p:nvPr/>
          </p:nvSpPr>
          <p:spPr>
            <a:xfrm>
              <a:off x="8768715" y="3220402"/>
              <a:ext cx="2946035"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课堂实验、阶段报告和团队复盘都能直接复用</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00"/>
                                        <p:tgtEl>
                                          <p:spTgt spid="2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9"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7108746" cy="716756"/>
            <a:chOff x="457200" y="647700"/>
            <a:chExt cx="7108746"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6950631"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对比不同检索策略，完成一次真正的 RAG 诊断</a:t>
              </a:r>
            </a:p>
          </p:txBody>
        </p:sp>
        <p:sp>
          <p:nvSpPr>
            <p:cNvPr id="5" name="TextBox 5"/>
            <p:cNvSpPr txBox="1"/>
            <p:nvPr/>
          </p:nvSpPr>
          <p:spPr>
            <a:xfrm>
              <a:off x="633412" y="1135856"/>
              <a:ext cx="6344364"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课堂实验的重点不是“谁更好”这一句话，而是学会记录证据、定位问题并写出下一步调优建议。</a:t>
              </a:r>
            </a:p>
          </p:txBody>
        </p:sp>
      </p:grpSp>
      <p:grpSp>
        <p:nvGrpSpPr>
          <p:cNvPr id="18" name="Group 18"/>
          <p:cNvGrpSpPr/>
          <p:nvPr/>
        </p:nvGrpSpPr>
        <p:grpSpPr>
          <a:xfrm>
            <a:off x="457200" y="1752600"/>
            <a:ext cx="6858000" cy="3943350"/>
            <a:chOff x="457200" y="1752600"/>
            <a:chExt cx="6858000" cy="3943350"/>
          </a:xfrm>
        </p:grpSpPr>
        <p:sp>
          <p:nvSpPr>
            <p:cNvPr id="7" name="Rectangle 7"/>
            <p:cNvSpPr/>
            <p:nvPr/>
          </p:nvSpPr>
          <p:spPr>
            <a:xfrm>
              <a:off x="457200" y="1752600"/>
              <a:ext cx="6858000" cy="3943350"/>
            </a:xfrm>
            <a:prstGeom prst="roundRect">
              <a:avLst>
                <a:gd name="adj" fmla="val 3382"/>
              </a:avLst>
            </a:prstGeom>
            <a:solidFill>
              <a:srgbClr val="FFFFFF"/>
            </a:solidFill>
            <a:ln>
              <a:noFill/>
            </a:ln>
          </p:spPr>
        </p:sp>
        <p:sp>
          <p:nvSpPr>
            <p:cNvPr id="8" name="Rectangle 8"/>
            <p:cNvSpPr/>
            <p:nvPr/>
          </p:nvSpPr>
          <p:spPr>
            <a:xfrm>
              <a:off x="457200" y="1752600"/>
              <a:ext cx="6858000" cy="533400"/>
            </a:xfrm>
            <a:prstGeom prst="roundRect">
              <a:avLst>
                <a:gd name="adj" fmla="val 25000"/>
              </a:avLst>
            </a:prstGeom>
            <a:solidFill>
              <a:srgbClr val="004AAC"/>
            </a:solidFill>
            <a:ln>
              <a:noFill/>
            </a:ln>
          </p:spPr>
        </p:sp>
        <p:sp>
          <p:nvSpPr>
            <p:cNvPr id="9" name="TextBox 9"/>
            <p:cNvSpPr txBox="1"/>
            <p:nvPr/>
          </p:nvSpPr>
          <p:spPr>
            <a:xfrm>
              <a:off x="707708" y="1938814"/>
              <a:ext cx="74647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实验步骤</a:t>
              </a:r>
            </a:p>
          </p:txBody>
        </p:sp>
        <p:sp>
          <p:nvSpPr>
            <p:cNvPr id="10" name="Rectangle 10"/>
            <p:cNvSpPr/>
            <p:nvPr/>
          </p:nvSpPr>
          <p:spPr>
            <a:xfrm>
              <a:off x="704850" y="2533650"/>
              <a:ext cx="6362700" cy="552450"/>
            </a:xfrm>
            <a:prstGeom prst="roundRect">
              <a:avLst>
                <a:gd name="adj" fmla="val 17241"/>
              </a:avLst>
            </a:prstGeom>
            <a:solidFill>
              <a:srgbClr val="F6F3F0"/>
            </a:solidFill>
            <a:ln>
              <a:noFill/>
            </a:ln>
          </p:spPr>
        </p:sp>
        <p:sp>
          <p:nvSpPr>
            <p:cNvPr id="11" name="TextBox 11"/>
            <p:cNvSpPr txBox="1"/>
            <p:nvPr/>
          </p:nvSpPr>
          <p:spPr>
            <a:xfrm>
              <a:off x="901065" y="2763202"/>
              <a:ext cx="307905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Step 1：固定一组问题样本，避免边测边换问题。</a:t>
              </a:r>
            </a:p>
          </p:txBody>
        </p:sp>
        <p:sp>
          <p:nvSpPr>
            <p:cNvPr id="12" name="Rectangle 12"/>
            <p:cNvSpPr/>
            <p:nvPr/>
          </p:nvSpPr>
          <p:spPr>
            <a:xfrm>
              <a:off x="704850" y="3219450"/>
              <a:ext cx="6362700" cy="552450"/>
            </a:xfrm>
            <a:prstGeom prst="roundRect">
              <a:avLst>
                <a:gd name="adj" fmla="val 17241"/>
              </a:avLst>
            </a:prstGeom>
            <a:solidFill>
              <a:srgbClr val="FFF8E7"/>
            </a:solidFill>
            <a:ln>
              <a:noFill/>
            </a:ln>
          </p:spPr>
        </p:sp>
        <p:sp>
          <p:nvSpPr>
            <p:cNvPr id="13" name="TextBox 13"/>
            <p:cNvSpPr txBox="1"/>
            <p:nvPr/>
          </p:nvSpPr>
          <p:spPr>
            <a:xfrm>
              <a:off x="901065" y="3449002"/>
              <a:ext cx="4283202"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Step 2：对比纯向量检索与混合检索，记录每个问题的 Top-K 结果。</a:t>
              </a:r>
            </a:p>
          </p:txBody>
        </p:sp>
        <p:sp>
          <p:nvSpPr>
            <p:cNvPr id="14" name="Rectangle 14"/>
            <p:cNvSpPr/>
            <p:nvPr/>
          </p:nvSpPr>
          <p:spPr>
            <a:xfrm>
              <a:off x="704850" y="3905250"/>
              <a:ext cx="6362700" cy="552450"/>
            </a:xfrm>
            <a:prstGeom prst="roundRect">
              <a:avLst>
                <a:gd name="adj" fmla="val 17241"/>
              </a:avLst>
            </a:prstGeom>
            <a:solidFill>
              <a:srgbClr val="DCEBFF"/>
            </a:solidFill>
            <a:ln>
              <a:noFill/>
            </a:ln>
          </p:spPr>
        </p:sp>
        <p:sp>
          <p:nvSpPr>
            <p:cNvPr id="15" name="TextBox 15"/>
            <p:cNvSpPr txBox="1"/>
            <p:nvPr/>
          </p:nvSpPr>
          <p:spPr>
            <a:xfrm>
              <a:off x="901065" y="4134802"/>
              <a:ext cx="4416219"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Step 3：记录 hit rate、排序情况和延迟，不只记录“有没有答出来”。</a:t>
              </a:r>
            </a:p>
          </p:txBody>
        </p:sp>
        <p:sp>
          <p:nvSpPr>
            <p:cNvPr id="16" name="Rectangle 16"/>
            <p:cNvSpPr/>
            <p:nvPr/>
          </p:nvSpPr>
          <p:spPr>
            <a:xfrm>
              <a:off x="704850" y="4591050"/>
              <a:ext cx="6362700" cy="552450"/>
            </a:xfrm>
            <a:prstGeom prst="roundRect">
              <a:avLst>
                <a:gd name="adj" fmla="val 17241"/>
              </a:avLst>
            </a:prstGeom>
            <a:solidFill>
              <a:srgbClr val="FFE0D5"/>
            </a:solidFill>
            <a:ln>
              <a:noFill/>
            </a:ln>
          </p:spPr>
        </p:sp>
        <p:sp>
          <p:nvSpPr>
            <p:cNvPr id="17" name="TextBox 17"/>
            <p:cNvSpPr txBox="1"/>
            <p:nvPr/>
          </p:nvSpPr>
          <p:spPr>
            <a:xfrm>
              <a:off x="901065" y="4820602"/>
              <a:ext cx="4535234"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Step 4：写出至少 2 条有证据支撑的调优建议，并说明下一步该改哪里。</a:t>
              </a:r>
            </a:p>
          </p:txBody>
        </p:sp>
      </p:grpSp>
      <p:grpSp>
        <p:nvGrpSpPr>
          <p:cNvPr id="31" name="Group 31"/>
          <p:cNvGrpSpPr/>
          <p:nvPr/>
        </p:nvGrpSpPr>
        <p:grpSpPr>
          <a:xfrm>
            <a:off x="7639050" y="1752600"/>
            <a:ext cx="4095750" cy="3943350"/>
            <a:chOff x="7639050" y="1752600"/>
            <a:chExt cx="4095750" cy="3943350"/>
          </a:xfrm>
        </p:grpSpPr>
        <p:sp>
          <p:nvSpPr>
            <p:cNvPr id="19" name="Rectangle 19"/>
            <p:cNvSpPr/>
            <p:nvPr/>
          </p:nvSpPr>
          <p:spPr>
            <a:xfrm>
              <a:off x="7639050" y="1752600"/>
              <a:ext cx="4095750" cy="3943350"/>
            </a:xfrm>
            <a:prstGeom prst="roundRect">
              <a:avLst>
                <a:gd name="adj" fmla="val 3382"/>
              </a:avLst>
            </a:prstGeom>
            <a:solidFill>
              <a:srgbClr val="0E1020"/>
            </a:solidFill>
            <a:ln>
              <a:noFill/>
            </a:ln>
          </p:spPr>
        </p:sp>
        <p:grpSp>
          <p:nvGrpSpPr>
            <p:cNvPr id="24" name="Group 24"/>
            <p:cNvGrpSpPr/>
            <p:nvPr/>
          </p:nvGrpSpPr>
          <p:grpSpPr>
            <a:xfrm>
              <a:off x="7946231" y="1971675"/>
              <a:ext cx="178595" cy="202406"/>
              <a:chOff x="7946231" y="1971675"/>
              <a:chExt cx="178595" cy="202406"/>
            </a:xfrm>
          </p:grpSpPr>
          <p:sp>
            <p:nvSpPr>
              <p:cNvPr id="20" name="Freeform 20"/>
              <p:cNvSpPr/>
              <p:nvPr/>
            </p:nvSpPr>
            <p:spPr>
              <a:xfrm>
                <a:off x="7946231" y="1971675"/>
                <a:ext cx="142875" cy="190500"/>
              </a:xfrm>
              <a:custGeom>
                <a:avLst/>
                <a:gdLst/>
                <a:ahLst/>
                <a:cxnLst/>
                <a:rect l="l" t="t" r="r" b="b"/>
                <a:pathLst>
                  <a:path w="142875" h="190500">
                    <a:moveTo>
                      <a:pt x="54947" y="190500"/>
                    </a:moveTo>
                    <a:lnTo>
                      <a:pt x="23812" y="190500"/>
                    </a:lnTo>
                    <a:cubicBezTo>
                      <a:pt x="10661" y="190500"/>
                      <a:pt x="0" y="179839"/>
                      <a:pt x="0" y="166688"/>
                    </a:cubicBezTo>
                    <a:lnTo>
                      <a:pt x="0" y="23812"/>
                    </a:lnTo>
                    <a:cubicBezTo>
                      <a:pt x="0" y="10661"/>
                      <a:pt x="10661" y="0"/>
                      <a:pt x="23812" y="0"/>
                    </a:cubicBezTo>
                    <a:lnTo>
                      <a:pt x="119062" y="0"/>
                    </a:lnTo>
                    <a:cubicBezTo>
                      <a:pt x="132214" y="0"/>
                      <a:pt x="142875" y="10661"/>
                      <a:pt x="142875" y="23812"/>
                    </a:cubicBezTo>
                    <a:lnTo>
                      <a:pt x="142875" y="119062"/>
                    </a:lnTo>
                  </a:path>
                </a:pathLst>
              </a:custGeom>
              <a:noFill/>
              <a:ln w="19050">
                <a:solidFill>
                  <a:srgbClr val="FFAE41"/>
                </a:solidFill>
              </a:ln>
            </p:spPr>
          </p:sp>
          <p:sp>
            <p:nvSpPr>
              <p:cNvPr id="21" name="Freeform 21"/>
              <p:cNvSpPr/>
              <p:nvPr/>
            </p:nvSpPr>
            <p:spPr>
              <a:xfrm>
                <a:off x="8053388" y="2126456"/>
                <a:ext cx="71438" cy="47625"/>
              </a:xfrm>
              <a:custGeom>
                <a:avLst/>
                <a:gdLst/>
                <a:ahLst/>
                <a:cxnLst/>
                <a:rect l="l" t="t" r="r" b="b"/>
                <a:pathLst>
                  <a:path w="71438" h="47625">
                    <a:moveTo>
                      <a:pt x="0" y="23812"/>
                    </a:moveTo>
                    <a:lnTo>
                      <a:pt x="23812" y="47625"/>
                    </a:lnTo>
                    <a:lnTo>
                      <a:pt x="71438" y="0"/>
                    </a:lnTo>
                  </a:path>
                </a:pathLst>
              </a:custGeom>
              <a:noFill/>
              <a:ln w="19050">
                <a:solidFill>
                  <a:srgbClr val="FFAE41"/>
                </a:solidFill>
              </a:ln>
            </p:spPr>
          </p:sp>
          <p:sp>
            <p:nvSpPr>
              <p:cNvPr id="22" name="Freeform 22"/>
              <p:cNvSpPr/>
              <p:nvPr/>
            </p:nvSpPr>
            <p:spPr>
              <a:xfrm>
                <a:off x="7993856" y="2019300"/>
                <a:ext cx="47625" cy="9525"/>
              </a:xfrm>
              <a:custGeom>
                <a:avLst/>
                <a:gdLst/>
                <a:ahLst/>
                <a:cxnLst/>
                <a:rect l="l" t="t" r="r" b="b"/>
                <a:pathLst>
                  <a:path w="47625" h="9525">
                    <a:moveTo>
                      <a:pt x="0" y="0"/>
                    </a:moveTo>
                    <a:lnTo>
                      <a:pt x="47625" y="0"/>
                    </a:lnTo>
                  </a:path>
                </a:pathLst>
              </a:custGeom>
              <a:noFill/>
              <a:ln w="19050">
                <a:solidFill>
                  <a:srgbClr val="FFAE41"/>
                </a:solidFill>
              </a:ln>
            </p:spPr>
          </p:sp>
          <p:sp>
            <p:nvSpPr>
              <p:cNvPr id="23" name="Freeform 23"/>
              <p:cNvSpPr/>
              <p:nvPr/>
            </p:nvSpPr>
            <p:spPr>
              <a:xfrm>
                <a:off x="7993856" y="2066925"/>
                <a:ext cx="23812" cy="9525"/>
              </a:xfrm>
              <a:custGeom>
                <a:avLst/>
                <a:gdLst/>
                <a:ahLst/>
                <a:cxnLst/>
                <a:rect l="l" t="t" r="r" b="b"/>
                <a:pathLst>
                  <a:path w="23812" h="9525">
                    <a:moveTo>
                      <a:pt x="0" y="0"/>
                    </a:moveTo>
                    <a:lnTo>
                      <a:pt x="23812" y="0"/>
                    </a:lnTo>
                  </a:path>
                </a:pathLst>
              </a:custGeom>
              <a:noFill/>
              <a:ln w="19050">
                <a:solidFill>
                  <a:srgbClr val="FFAE41"/>
                </a:solidFill>
              </a:ln>
            </p:spPr>
          </p:sp>
        </p:grpSp>
        <p:sp>
          <p:nvSpPr>
            <p:cNvPr id="25" name="TextBox 25"/>
            <p:cNvSpPr txBox="1"/>
            <p:nvPr/>
          </p:nvSpPr>
          <p:spPr>
            <a:xfrm>
              <a:off x="8289608" y="1995964"/>
              <a:ext cx="110351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提交物与验收</a:t>
              </a:r>
            </a:p>
          </p:txBody>
        </p:sp>
        <p:sp>
          <p:nvSpPr>
            <p:cNvPr id="26" name="TextBox 26"/>
            <p:cNvSpPr txBox="1"/>
            <p:nvPr/>
          </p:nvSpPr>
          <p:spPr>
            <a:xfrm>
              <a:off x="7873365" y="2610802"/>
              <a:ext cx="84577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问题样本表</a:t>
              </a:r>
            </a:p>
          </p:txBody>
        </p:sp>
        <p:sp>
          <p:nvSpPr>
            <p:cNvPr id="27" name="TextBox 27"/>
            <p:cNvSpPr txBox="1"/>
            <p:nvPr/>
          </p:nvSpPr>
          <p:spPr>
            <a:xfrm>
              <a:off x="7873365" y="2839402"/>
              <a:ext cx="1594866"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不同策略的 Top-K 记录</a:t>
              </a:r>
            </a:p>
          </p:txBody>
        </p:sp>
        <p:sp>
          <p:nvSpPr>
            <p:cNvPr id="28" name="TextBox 28"/>
            <p:cNvSpPr txBox="1"/>
            <p:nvPr/>
          </p:nvSpPr>
          <p:spPr>
            <a:xfrm>
              <a:off x="7873365" y="3068002"/>
              <a:ext cx="1727883"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命中率 / 排序 / 延迟记录</a:t>
              </a:r>
            </a:p>
          </p:txBody>
        </p:sp>
        <p:sp>
          <p:nvSpPr>
            <p:cNvPr id="29" name="TextBox 29"/>
            <p:cNvSpPr txBox="1"/>
            <p:nvPr/>
          </p:nvSpPr>
          <p:spPr>
            <a:xfrm>
              <a:off x="7873365" y="3296602"/>
              <a:ext cx="180489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2 条以上带证据的调优建议</a:t>
              </a:r>
            </a:p>
          </p:txBody>
        </p:sp>
        <p:sp>
          <p:nvSpPr>
            <p:cNvPr id="30" name="TextBox 30"/>
            <p:cNvSpPr txBox="1"/>
            <p:nvPr/>
          </p:nvSpPr>
          <p:spPr>
            <a:xfrm>
              <a:off x="7873365" y="3525202"/>
              <a:ext cx="2105930"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一段简短结论：下一步先改哪里</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slide(fromBottom)">
                                      <p:cBhvr>
                                        <p:cTn id="15"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542925"/>
            <a:ext cx="12192000" cy="5895975"/>
          </a:xfrm>
          <a:prstGeom prst="rect">
            <a:avLst/>
          </a:prstGeom>
          <a:solidFill>
            <a:srgbClr val="F6F3F0"/>
          </a:solidFill>
          <a:ln>
            <a:noFill/>
          </a:ln>
        </p:spPr>
      </p:sp>
      <p:grpSp>
        <p:nvGrpSpPr>
          <p:cNvPr id="6" name="Group 6"/>
          <p:cNvGrpSpPr/>
          <p:nvPr/>
        </p:nvGrpSpPr>
        <p:grpSpPr>
          <a:xfrm>
            <a:off x="457200" y="647700"/>
            <a:ext cx="8043863" cy="716756"/>
            <a:chOff x="457200" y="647700"/>
            <a:chExt cx="8043863" cy="716756"/>
          </a:xfrm>
        </p:grpSpPr>
        <p:sp>
          <p:nvSpPr>
            <p:cNvPr id="3" name="Rectangle 3"/>
            <p:cNvSpPr/>
            <p:nvPr/>
          </p:nvSpPr>
          <p:spPr>
            <a:xfrm>
              <a:off x="457200" y="647700"/>
              <a:ext cx="57150" cy="457200"/>
            </a:xfrm>
            <a:prstGeom prst="roundRect">
              <a:avLst>
                <a:gd name="adj" fmla="val 33333"/>
              </a:avLst>
            </a:prstGeom>
            <a:solidFill>
              <a:srgbClr val="FFAE41"/>
            </a:solidFill>
            <a:ln>
              <a:noFill/>
            </a:ln>
          </p:spPr>
        </p:sp>
        <p:sp>
          <p:nvSpPr>
            <p:cNvPr id="4" name="TextBox 4"/>
            <p:cNvSpPr txBox="1"/>
            <p:nvPr/>
          </p:nvSpPr>
          <p:spPr>
            <a:xfrm>
              <a:off x="615315" y="715328"/>
              <a:ext cx="7885748" cy="518160"/>
            </a:xfrm>
            <a:prstGeom prst="rect">
              <a:avLst/>
            </a:prstGeom>
            <a:noFill/>
            <a:ln>
              <a:noFill/>
            </a:ln>
          </p:spPr>
          <p:txBody>
            <a:bodyPr wrap="none" lIns="0" tIns="0" rIns="0" bIns="0" anchor="t" anchorCtr="0">
              <a:spAutoFit/>
            </a:bodyPr>
            <a:lstStyle/>
            <a:p>
              <a:pPr algn="l"/>
              <a:r>
                <a:rPr lang="zh-CN" sz="2550" dirty="0">
                  <a:solidFill>
                    <a:srgbClr val="0E1020"/>
                  </a:solidFill>
                  <a:latin typeface="Calibri Light"/>
                  <a:ea typeface="Microsoft YaHei"/>
                  <a:cs typeface="Calibri Light"/>
                </a:rPr>
                <a:t>从数据、查询、检索、排序和输出五个方向落地行动</a:t>
              </a:r>
            </a:p>
          </p:txBody>
        </p:sp>
        <p:sp>
          <p:nvSpPr>
            <p:cNvPr id="5" name="TextBox 5"/>
            <p:cNvSpPr txBox="1"/>
            <p:nvPr/>
          </p:nvSpPr>
          <p:spPr>
            <a:xfrm>
              <a:off x="633412" y="1135856"/>
              <a:ext cx="4544139"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Calibri"/>
                  <a:ea typeface="Microsoft YaHei"/>
                  <a:cs typeface="Calibri"/>
                </a:rPr>
                <a:t>好的调优清单必须能直接指导下一步行动，而不只是写“继续优化”。</a:t>
              </a:r>
            </a:p>
          </p:txBody>
        </p:sp>
      </p:grpSp>
      <p:grpSp>
        <p:nvGrpSpPr>
          <p:cNvPr id="11" name="Group 11"/>
          <p:cNvGrpSpPr/>
          <p:nvPr/>
        </p:nvGrpSpPr>
        <p:grpSpPr>
          <a:xfrm>
            <a:off x="457200" y="1809750"/>
            <a:ext cx="11277600" cy="590550"/>
            <a:chOff x="457200" y="1809750"/>
            <a:chExt cx="11277600" cy="590550"/>
          </a:xfrm>
        </p:grpSpPr>
        <p:sp>
          <p:nvSpPr>
            <p:cNvPr id="7" name="Rectangle 7"/>
            <p:cNvSpPr/>
            <p:nvPr/>
          </p:nvSpPr>
          <p:spPr>
            <a:xfrm>
              <a:off x="457200" y="1809750"/>
              <a:ext cx="11277600" cy="590550"/>
            </a:xfrm>
            <a:prstGeom prst="roundRect">
              <a:avLst>
                <a:gd name="adj" fmla="val 16129"/>
              </a:avLst>
            </a:prstGeom>
            <a:solidFill>
              <a:srgbClr val="FFFFFF"/>
            </a:solidFill>
            <a:ln>
              <a:noFill/>
            </a:ln>
          </p:spPr>
        </p:sp>
        <p:sp>
          <p:nvSpPr>
            <p:cNvPr id="8" name="Rectangle 8"/>
            <p:cNvSpPr/>
            <p:nvPr/>
          </p:nvSpPr>
          <p:spPr>
            <a:xfrm>
              <a:off x="457200" y="1809750"/>
              <a:ext cx="1714500" cy="590550"/>
            </a:xfrm>
            <a:prstGeom prst="roundRect">
              <a:avLst>
                <a:gd name="adj" fmla="val 16129"/>
              </a:avLst>
            </a:prstGeom>
            <a:solidFill>
              <a:srgbClr val="004AAC"/>
            </a:solidFill>
            <a:ln>
              <a:noFill/>
            </a:ln>
          </p:spPr>
        </p:sp>
        <p:sp>
          <p:nvSpPr>
            <p:cNvPr id="9" name="TextBox 9"/>
            <p:cNvSpPr txBox="1"/>
            <p:nvPr/>
          </p:nvSpPr>
          <p:spPr>
            <a:xfrm>
              <a:off x="727710" y="2032635"/>
              <a:ext cx="912590"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Query 改写</a:t>
              </a:r>
            </a:p>
          </p:txBody>
        </p:sp>
        <p:sp>
          <p:nvSpPr>
            <p:cNvPr id="10" name="TextBox 10"/>
            <p:cNvSpPr txBox="1"/>
            <p:nvPr/>
          </p:nvSpPr>
          <p:spPr>
            <a:xfrm>
              <a:off x="2386965" y="2048828"/>
              <a:ext cx="4367213"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是否需要补足术语、上下文或问题结构，让检索更贴近知识表达方式。</a:t>
              </a:r>
            </a:p>
          </p:txBody>
        </p:sp>
      </p:grpSp>
      <p:grpSp>
        <p:nvGrpSpPr>
          <p:cNvPr id="16" name="Group 16"/>
          <p:cNvGrpSpPr/>
          <p:nvPr/>
        </p:nvGrpSpPr>
        <p:grpSpPr>
          <a:xfrm>
            <a:off x="457200" y="2571750"/>
            <a:ext cx="11277600" cy="590550"/>
            <a:chOff x="457200" y="2571750"/>
            <a:chExt cx="11277600" cy="590550"/>
          </a:xfrm>
        </p:grpSpPr>
        <p:sp>
          <p:nvSpPr>
            <p:cNvPr id="12" name="Rectangle 12"/>
            <p:cNvSpPr/>
            <p:nvPr/>
          </p:nvSpPr>
          <p:spPr>
            <a:xfrm>
              <a:off x="457200" y="2571750"/>
              <a:ext cx="11277600" cy="590550"/>
            </a:xfrm>
            <a:prstGeom prst="roundRect">
              <a:avLst>
                <a:gd name="adj" fmla="val 16129"/>
              </a:avLst>
            </a:prstGeom>
            <a:solidFill>
              <a:srgbClr val="FFFFFF"/>
            </a:solidFill>
            <a:ln>
              <a:noFill/>
            </a:ln>
          </p:spPr>
        </p:sp>
        <p:sp>
          <p:nvSpPr>
            <p:cNvPr id="13" name="Rectangle 13"/>
            <p:cNvSpPr/>
            <p:nvPr/>
          </p:nvSpPr>
          <p:spPr>
            <a:xfrm>
              <a:off x="457200" y="2571750"/>
              <a:ext cx="1714500" cy="590550"/>
            </a:xfrm>
            <a:prstGeom prst="roundRect">
              <a:avLst>
                <a:gd name="adj" fmla="val 16129"/>
              </a:avLst>
            </a:prstGeom>
            <a:solidFill>
              <a:srgbClr val="FFAE41"/>
            </a:solidFill>
            <a:ln>
              <a:noFill/>
            </a:ln>
          </p:spPr>
        </p:sp>
        <p:sp>
          <p:nvSpPr>
            <p:cNvPr id="14" name="TextBox 14"/>
            <p:cNvSpPr txBox="1"/>
            <p:nvPr/>
          </p:nvSpPr>
          <p:spPr>
            <a:xfrm>
              <a:off x="727710" y="2794635"/>
              <a:ext cx="727767" cy="243840"/>
            </a:xfrm>
            <a:prstGeom prst="rect">
              <a:avLst/>
            </a:prstGeom>
            <a:noFill/>
            <a:ln>
              <a:noFill/>
            </a:ln>
          </p:spPr>
          <p:txBody>
            <a:bodyPr wrap="none" lIns="0" tIns="0" rIns="0" bIns="0" anchor="t" anchorCtr="0">
              <a:spAutoFit/>
            </a:bodyPr>
            <a:lstStyle/>
            <a:p>
              <a:pPr algn="l"/>
              <a:r>
                <a:rPr lang="zh-CN" sz="1200" b="1" dirty="0">
                  <a:solidFill>
                    <a:srgbClr val="0E1020"/>
                  </a:solidFill>
                  <a:latin typeface="Calibri"/>
                  <a:ea typeface="Microsoft YaHei"/>
                  <a:cs typeface="Calibri"/>
                </a:rPr>
                <a:t>Chunking</a:t>
              </a:r>
            </a:p>
          </p:txBody>
        </p:sp>
        <p:sp>
          <p:nvSpPr>
            <p:cNvPr id="15" name="TextBox 15"/>
            <p:cNvSpPr txBox="1"/>
            <p:nvPr/>
          </p:nvSpPr>
          <p:spPr>
            <a:xfrm>
              <a:off x="2386965" y="2810828"/>
              <a:ext cx="450723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知识切片是否太碎或太粗，是否导致语义丢失、召回噪声或证据不完整。</a:t>
              </a:r>
            </a:p>
          </p:txBody>
        </p:sp>
      </p:grpSp>
      <p:grpSp>
        <p:nvGrpSpPr>
          <p:cNvPr id="21" name="Group 21"/>
          <p:cNvGrpSpPr/>
          <p:nvPr/>
        </p:nvGrpSpPr>
        <p:grpSpPr>
          <a:xfrm>
            <a:off x="457200" y="3333750"/>
            <a:ext cx="11277600" cy="590550"/>
            <a:chOff x="457200" y="3333750"/>
            <a:chExt cx="11277600" cy="590550"/>
          </a:xfrm>
        </p:grpSpPr>
        <p:sp>
          <p:nvSpPr>
            <p:cNvPr id="17" name="Rectangle 17"/>
            <p:cNvSpPr/>
            <p:nvPr/>
          </p:nvSpPr>
          <p:spPr>
            <a:xfrm>
              <a:off x="457200" y="3333750"/>
              <a:ext cx="11277600" cy="590550"/>
            </a:xfrm>
            <a:prstGeom prst="roundRect">
              <a:avLst>
                <a:gd name="adj" fmla="val 16129"/>
              </a:avLst>
            </a:prstGeom>
            <a:solidFill>
              <a:srgbClr val="FFFFFF"/>
            </a:solidFill>
            <a:ln>
              <a:noFill/>
            </a:ln>
          </p:spPr>
        </p:sp>
        <p:sp>
          <p:nvSpPr>
            <p:cNvPr id="18" name="Rectangle 18"/>
            <p:cNvSpPr/>
            <p:nvPr/>
          </p:nvSpPr>
          <p:spPr>
            <a:xfrm>
              <a:off x="457200" y="3333750"/>
              <a:ext cx="1714500" cy="590550"/>
            </a:xfrm>
            <a:prstGeom prst="roundRect">
              <a:avLst>
                <a:gd name="adj" fmla="val 16129"/>
              </a:avLst>
            </a:prstGeom>
            <a:solidFill>
              <a:srgbClr val="FF7E51"/>
            </a:solidFill>
            <a:ln>
              <a:noFill/>
            </a:ln>
          </p:spPr>
        </p:sp>
        <p:sp>
          <p:nvSpPr>
            <p:cNvPr id="19" name="TextBox 19"/>
            <p:cNvSpPr txBox="1"/>
            <p:nvPr/>
          </p:nvSpPr>
          <p:spPr>
            <a:xfrm>
              <a:off x="727710" y="355663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检索策略</a:t>
              </a:r>
            </a:p>
          </p:txBody>
        </p:sp>
        <p:sp>
          <p:nvSpPr>
            <p:cNvPr id="20" name="TextBox 20"/>
            <p:cNvSpPr txBox="1"/>
            <p:nvPr/>
          </p:nvSpPr>
          <p:spPr>
            <a:xfrm>
              <a:off x="2386965" y="3572828"/>
              <a:ext cx="5340334"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是否需要从单一路径升级到 Hybrid Search，是否需要更合理的召回组合与过滤条件。</a:t>
              </a:r>
            </a:p>
          </p:txBody>
        </p:sp>
      </p:grpSp>
      <p:grpSp>
        <p:nvGrpSpPr>
          <p:cNvPr id="26" name="Group 26"/>
          <p:cNvGrpSpPr/>
          <p:nvPr/>
        </p:nvGrpSpPr>
        <p:grpSpPr>
          <a:xfrm>
            <a:off x="457200" y="4095750"/>
            <a:ext cx="11277600" cy="590550"/>
            <a:chOff x="457200" y="4095750"/>
            <a:chExt cx="11277600" cy="590550"/>
          </a:xfrm>
        </p:grpSpPr>
        <p:sp>
          <p:nvSpPr>
            <p:cNvPr id="22" name="Rectangle 22"/>
            <p:cNvSpPr/>
            <p:nvPr/>
          </p:nvSpPr>
          <p:spPr>
            <a:xfrm>
              <a:off x="457200" y="4095750"/>
              <a:ext cx="11277600" cy="590550"/>
            </a:xfrm>
            <a:prstGeom prst="roundRect">
              <a:avLst>
                <a:gd name="adj" fmla="val 16129"/>
              </a:avLst>
            </a:prstGeom>
            <a:solidFill>
              <a:srgbClr val="FFFFFF"/>
            </a:solidFill>
            <a:ln>
              <a:noFill/>
            </a:ln>
          </p:spPr>
        </p:sp>
        <p:sp>
          <p:nvSpPr>
            <p:cNvPr id="23" name="Rectangle 23"/>
            <p:cNvSpPr/>
            <p:nvPr/>
          </p:nvSpPr>
          <p:spPr>
            <a:xfrm>
              <a:off x="457200" y="4095750"/>
              <a:ext cx="1714500" cy="590550"/>
            </a:xfrm>
            <a:prstGeom prst="roundRect">
              <a:avLst>
                <a:gd name="adj" fmla="val 16129"/>
              </a:avLst>
            </a:prstGeom>
            <a:solidFill>
              <a:srgbClr val="0E1020"/>
            </a:solidFill>
            <a:ln>
              <a:noFill/>
            </a:ln>
          </p:spPr>
        </p:sp>
        <p:sp>
          <p:nvSpPr>
            <p:cNvPr id="24" name="TextBox 24"/>
            <p:cNvSpPr txBox="1"/>
            <p:nvPr/>
          </p:nvSpPr>
          <p:spPr>
            <a:xfrm>
              <a:off x="727710" y="431863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排序重排</a:t>
              </a:r>
            </a:p>
          </p:txBody>
        </p:sp>
        <p:sp>
          <p:nvSpPr>
            <p:cNvPr id="25" name="TextBox 25"/>
            <p:cNvSpPr txBox="1"/>
            <p:nvPr/>
          </p:nvSpPr>
          <p:spPr>
            <a:xfrm>
              <a:off x="2386965" y="4334828"/>
              <a:ext cx="4745260"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是否需要 Rerank，把真正相关的结果推到前面，而不是只满足“召回到了”。</a:t>
              </a:r>
            </a:p>
          </p:txBody>
        </p:sp>
      </p:grpSp>
      <p:grpSp>
        <p:nvGrpSpPr>
          <p:cNvPr id="31" name="Group 31"/>
          <p:cNvGrpSpPr/>
          <p:nvPr/>
        </p:nvGrpSpPr>
        <p:grpSpPr>
          <a:xfrm>
            <a:off x="457200" y="4857750"/>
            <a:ext cx="11277600" cy="590550"/>
            <a:chOff x="457200" y="4857750"/>
            <a:chExt cx="11277600" cy="590550"/>
          </a:xfrm>
        </p:grpSpPr>
        <p:sp>
          <p:nvSpPr>
            <p:cNvPr id="27" name="Rectangle 27"/>
            <p:cNvSpPr/>
            <p:nvPr/>
          </p:nvSpPr>
          <p:spPr>
            <a:xfrm>
              <a:off x="457200" y="4857750"/>
              <a:ext cx="11277600" cy="590550"/>
            </a:xfrm>
            <a:prstGeom prst="roundRect">
              <a:avLst>
                <a:gd name="adj" fmla="val 16129"/>
              </a:avLst>
            </a:prstGeom>
            <a:solidFill>
              <a:srgbClr val="FFFFFF"/>
            </a:solidFill>
            <a:ln>
              <a:noFill/>
            </a:ln>
          </p:spPr>
        </p:sp>
        <p:sp>
          <p:nvSpPr>
            <p:cNvPr id="28" name="Rectangle 28"/>
            <p:cNvSpPr/>
            <p:nvPr/>
          </p:nvSpPr>
          <p:spPr>
            <a:xfrm>
              <a:off x="457200" y="4857750"/>
              <a:ext cx="1714500" cy="590550"/>
            </a:xfrm>
            <a:prstGeom prst="roundRect">
              <a:avLst>
                <a:gd name="adj" fmla="val 16129"/>
              </a:avLst>
            </a:prstGeom>
            <a:solidFill>
              <a:srgbClr val="004AAC"/>
            </a:solidFill>
            <a:ln>
              <a:noFill/>
            </a:ln>
          </p:spPr>
        </p:sp>
        <p:sp>
          <p:nvSpPr>
            <p:cNvPr id="29" name="TextBox 29"/>
            <p:cNvSpPr txBox="1"/>
            <p:nvPr/>
          </p:nvSpPr>
          <p:spPr>
            <a:xfrm>
              <a:off x="727710" y="508063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libri"/>
                  <a:ea typeface="Microsoft YaHei"/>
                  <a:cs typeface="Calibri"/>
                </a:rPr>
                <a:t>输出模板</a:t>
              </a:r>
            </a:p>
          </p:txBody>
        </p:sp>
        <p:sp>
          <p:nvSpPr>
            <p:cNvPr id="30" name="TextBox 30"/>
            <p:cNvSpPr txBox="1"/>
            <p:nvPr/>
          </p:nvSpPr>
          <p:spPr>
            <a:xfrm>
              <a:off x="2386965" y="5096828"/>
              <a:ext cx="5347335" cy="213360"/>
            </a:xfrm>
            <a:prstGeom prst="rect">
              <a:avLst/>
            </a:prstGeom>
            <a:noFill/>
            <a:ln>
              <a:noFill/>
            </a:ln>
          </p:spPr>
          <p:txBody>
            <a:bodyPr wrap="none" lIns="0" tIns="0" rIns="0" bIns="0" anchor="t" anchorCtr="0">
              <a:spAutoFit/>
            </a:bodyPr>
            <a:lstStyle/>
            <a:p>
              <a:pPr algn="l"/>
              <a:r>
                <a:rPr lang="zh-CN" sz="1050" dirty="0">
                  <a:solidFill>
                    <a:srgbClr val="0E1020"/>
                  </a:solidFill>
                  <a:latin typeface="Calibri"/>
                  <a:ea typeface="Microsoft YaHei"/>
                  <a:cs typeface="Calibri"/>
                </a:rPr>
                <a:t>输出结构是否掩盖了检索问题，是否让系统看起来正确但实际上缺少依据和可验收性。</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400"/>
                                        <p:tgtEl>
                                          <p:spTgt spid="1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slide(fromBottom)">
                                      <p:cBhvr>
                                        <p:cTn id="19" dur="400"/>
                                        <p:tgtEl>
                                          <p:spTgt spid="21"/>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image">
                                      <p:cBhvr>
                                        <p:cTn id="23" dur="400"/>
                                        <p:tgtEl>
                                          <p:spTgt spid="2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6" grpId="0"/>
      <p:bldP spid="21" grpId="0"/>
      <p:bldP spid="26"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020"/>
          </a:solidFill>
          <a:ln>
            <a:noFill/>
          </a:ln>
        </p:spPr>
      </p:sp>
      <p:grpSp>
        <p:nvGrpSpPr>
          <p:cNvPr id="8" name="Group 8"/>
          <p:cNvGrpSpPr/>
          <p:nvPr/>
        </p:nvGrpSpPr>
        <p:grpSpPr>
          <a:xfrm>
            <a:off x="457200" y="1028700"/>
            <a:ext cx="5521452" cy="2090738"/>
            <a:chOff x="457200" y="1028700"/>
            <a:chExt cx="5521452" cy="2090738"/>
          </a:xfrm>
        </p:grpSpPr>
        <p:sp>
          <p:nvSpPr>
            <p:cNvPr id="3" name="Rectangle 3"/>
            <p:cNvSpPr/>
            <p:nvPr/>
          </p:nvSpPr>
          <p:spPr>
            <a:xfrm>
              <a:off x="457200" y="1028700"/>
              <a:ext cx="57150" cy="1943100"/>
            </a:xfrm>
            <a:prstGeom prst="roundRect">
              <a:avLst>
                <a:gd name="adj" fmla="val 50000"/>
              </a:avLst>
            </a:prstGeom>
            <a:solidFill>
              <a:srgbClr val="FFAE41"/>
            </a:solidFill>
            <a:ln>
              <a:noFill/>
            </a:ln>
          </p:spPr>
        </p:sp>
        <p:sp>
          <p:nvSpPr>
            <p:cNvPr id="4" name="TextBox 4"/>
            <p:cNvSpPr txBox="1"/>
            <p:nvPr/>
          </p:nvSpPr>
          <p:spPr>
            <a:xfrm>
              <a:off x="659130" y="1173480"/>
              <a:ext cx="2971800" cy="731520"/>
            </a:xfrm>
            <a:prstGeom prst="rect">
              <a:avLst/>
            </a:prstGeom>
            <a:noFill/>
            <a:ln>
              <a:noFill/>
            </a:ln>
          </p:spPr>
          <p:txBody>
            <a:bodyPr wrap="none" lIns="0" tIns="0" rIns="0" bIns="0" anchor="t" anchorCtr="0">
              <a:spAutoFit/>
            </a:bodyPr>
            <a:lstStyle/>
            <a:p>
              <a:pPr algn="l"/>
              <a:r>
                <a:rPr lang="zh-CN" sz="3600" dirty="0">
                  <a:solidFill>
                    <a:srgbClr val="FFFFFF"/>
                  </a:solidFill>
                  <a:latin typeface="Calibri Light"/>
                  <a:ea typeface="Microsoft YaHei"/>
                  <a:cs typeface="Calibri Light"/>
                </a:rPr>
                <a:t>今天建立的是</a:t>
              </a:r>
            </a:p>
          </p:txBody>
        </p:sp>
        <p:sp>
          <p:nvSpPr>
            <p:cNvPr id="5" name="TextBox 5"/>
            <p:cNvSpPr txBox="1"/>
            <p:nvPr/>
          </p:nvSpPr>
          <p:spPr>
            <a:xfrm>
              <a:off x="659130" y="1706880"/>
              <a:ext cx="3427857" cy="731520"/>
            </a:xfrm>
            <a:prstGeom prst="rect">
              <a:avLst/>
            </a:prstGeom>
            <a:noFill/>
            <a:ln>
              <a:noFill/>
            </a:ln>
          </p:spPr>
          <p:txBody>
            <a:bodyPr wrap="none" lIns="0" tIns="0" rIns="0" bIns="0" anchor="t" anchorCtr="0">
              <a:spAutoFit/>
            </a:bodyPr>
            <a:lstStyle/>
            <a:p>
              <a:pPr algn="l"/>
              <a:r>
                <a:rPr lang="zh-CN" sz="3600" dirty="0">
                  <a:solidFill>
                    <a:srgbClr val="FFFFFF"/>
                  </a:solidFill>
                  <a:latin typeface="Calibri Light"/>
                  <a:ea typeface="Microsoft YaHei"/>
                  <a:cs typeface="Calibri Light"/>
                </a:rPr>
                <a:t>RAG 的评估闭环</a:t>
              </a:r>
            </a:p>
          </p:txBody>
        </p:sp>
        <p:sp>
          <p:nvSpPr>
            <p:cNvPr id="6" name="TextBox 6"/>
            <p:cNvSpPr txBox="1"/>
            <p:nvPr/>
          </p:nvSpPr>
          <p:spPr>
            <a:xfrm>
              <a:off x="683895" y="2431732"/>
              <a:ext cx="5136097" cy="335280"/>
            </a:xfrm>
            <a:prstGeom prst="rect">
              <a:avLst/>
            </a:prstGeom>
            <a:noFill/>
            <a:ln>
              <a:noFill/>
            </a:ln>
          </p:spPr>
          <p:txBody>
            <a:bodyPr wrap="none" lIns="0" tIns="0" rIns="0" bIns="0" anchor="t" anchorCtr="0">
              <a:spAutoFit/>
            </a:bodyPr>
            <a:lstStyle/>
            <a:p>
              <a:pPr algn="l"/>
              <a:r>
                <a:rPr lang="zh-CN" sz="1650" b="1" dirty="0">
                  <a:solidFill>
                    <a:srgbClr val="FFAE41"/>
                  </a:solidFill>
                  <a:latin typeface="Calibri"/>
                  <a:ea typeface="Microsoft YaHei"/>
                  <a:cs typeface="Calibri"/>
                </a:rPr>
                <a:t>后续进入工具调用、MCP、Agent 规划与 Harness</a:t>
              </a:r>
            </a:p>
          </p:txBody>
        </p:sp>
        <p:sp>
          <p:nvSpPr>
            <p:cNvPr id="7" name="TextBox 7"/>
            <p:cNvSpPr txBox="1"/>
            <p:nvPr/>
          </p:nvSpPr>
          <p:spPr>
            <a:xfrm>
              <a:off x="687705" y="2845118"/>
              <a:ext cx="5290947" cy="274320"/>
            </a:xfrm>
            <a:prstGeom prst="rect">
              <a:avLst/>
            </a:prstGeom>
            <a:noFill/>
            <a:ln>
              <a:noFill/>
            </a:ln>
          </p:spPr>
          <p:txBody>
            <a:bodyPr wrap="none" lIns="0" tIns="0" rIns="0" bIns="0" anchor="t" anchorCtr="0">
              <a:spAutoFit/>
            </a:bodyPr>
            <a:lstStyle/>
            <a:p>
              <a:pPr algn="l"/>
              <a:r>
                <a:rPr lang="zh-CN" sz="1350" dirty="0">
                  <a:solidFill>
                    <a:srgbClr val="F6F3F0"/>
                  </a:solidFill>
                  <a:latin typeface="Calibri"/>
                  <a:ea typeface="Microsoft YaHei"/>
                  <a:cs typeface="Calibri"/>
                </a:rPr>
                <a:t>从“知识增强是否可用”继续推进到“系统如何行动、约束与协作”。</a:t>
              </a:r>
            </a:p>
          </p:txBody>
        </p:sp>
      </p:grpSp>
      <p:grpSp>
        <p:nvGrpSpPr>
          <p:cNvPr id="24" name="Group 24"/>
          <p:cNvGrpSpPr/>
          <p:nvPr/>
        </p:nvGrpSpPr>
        <p:grpSpPr>
          <a:xfrm>
            <a:off x="457200" y="3733800"/>
            <a:ext cx="11277600" cy="1485900"/>
            <a:chOff x="457200" y="3733800"/>
            <a:chExt cx="11277600" cy="1485900"/>
          </a:xfrm>
        </p:grpSpPr>
        <p:sp>
          <p:nvSpPr>
            <p:cNvPr id="9" name="Rectangle 9"/>
            <p:cNvSpPr/>
            <p:nvPr/>
          </p:nvSpPr>
          <p:spPr>
            <a:xfrm>
              <a:off x="457200" y="3733800"/>
              <a:ext cx="3371850" cy="1485900"/>
            </a:xfrm>
            <a:prstGeom prst="roundRect">
              <a:avLst>
                <a:gd name="adj" fmla="val 8974"/>
              </a:avLst>
            </a:prstGeom>
            <a:solidFill>
              <a:srgbClr val="FFFFFF">
                <a:alpha val="8000"/>
              </a:srgbClr>
            </a:solidFill>
            <a:ln w="9525">
              <a:solidFill>
                <a:srgbClr val="FFFFFF">
                  <a:alpha val="16000"/>
                </a:srgbClr>
              </a:solidFill>
            </a:ln>
          </p:spPr>
        </p:sp>
        <p:sp>
          <p:nvSpPr>
            <p:cNvPr id="10" name="TextBox 10"/>
            <p:cNvSpPr txBox="1"/>
            <p:nvPr/>
          </p:nvSpPr>
          <p:spPr>
            <a:xfrm>
              <a:off x="707708" y="3958114"/>
              <a:ext cx="74647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本讲产出</a:t>
              </a:r>
            </a:p>
          </p:txBody>
        </p:sp>
        <p:sp>
          <p:nvSpPr>
            <p:cNvPr id="11" name="TextBox 11"/>
            <p:cNvSpPr txBox="1"/>
            <p:nvPr/>
          </p:nvSpPr>
          <p:spPr>
            <a:xfrm>
              <a:off x="710565" y="4287202"/>
              <a:ext cx="83877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RAG 评估表</a:t>
              </a:r>
            </a:p>
          </p:txBody>
        </p:sp>
        <p:sp>
          <p:nvSpPr>
            <p:cNvPr id="12" name="TextBox 12"/>
            <p:cNvSpPr txBox="1"/>
            <p:nvPr/>
          </p:nvSpPr>
          <p:spPr>
            <a:xfrm>
              <a:off x="710565" y="4515802"/>
              <a:ext cx="705755"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调优清单</a:t>
              </a:r>
            </a:p>
          </p:txBody>
        </p:sp>
        <p:sp>
          <p:nvSpPr>
            <p:cNvPr id="13" name="TextBox 13"/>
            <p:cNvSpPr txBox="1"/>
            <p:nvPr/>
          </p:nvSpPr>
          <p:spPr>
            <a:xfrm>
              <a:off x="710565" y="4744402"/>
              <a:ext cx="1125807"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阶段性实验报告</a:t>
              </a:r>
            </a:p>
          </p:txBody>
        </p:sp>
        <p:sp>
          <p:nvSpPr>
            <p:cNvPr id="14" name="Rectangle 14"/>
            <p:cNvSpPr/>
            <p:nvPr/>
          </p:nvSpPr>
          <p:spPr>
            <a:xfrm>
              <a:off x="4171950" y="3733800"/>
              <a:ext cx="3371850" cy="1485900"/>
            </a:xfrm>
            <a:prstGeom prst="roundRect">
              <a:avLst>
                <a:gd name="adj" fmla="val 8974"/>
              </a:avLst>
            </a:prstGeom>
            <a:solidFill>
              <a:srgbClr val="FFFFFF">
                <a:alpha val="8000"/>
              </a:srgbClr>
            </a:solidFill>
            <a:ln w="9525">
              <a:solidFill>
                <a:srgbClr val="FFFFFF">
                  <a:alpha val="16000"/>
                </a:srgbClr>
              </a:solidFill>
            </a:ln>
          </p:spPr>
        </p:sp>
        <p:sp>
          <p:nvSpPr>
            <p:cNvPr id="15" name="TextBox 15"/>
            <p:cNvSpPr txBox="1"/>
            <p:nvPr/>
          </p:nvSpPr>
          <p:spPr>
            <a:xfrm>
              <a:off x="4422458" y="3958114"/>
              <a:ext cx="74647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阶段收获</a:t>
              </a:r>
            </a:p>
          </p:txBody>
        </p:sp>
        <p:sp>
          <p:nvSpPr>
            <p:cNvPr id="16" name="TextBox 16"/>
            <p:cNvSpPr txBox="1"/>
            <p:nvPr/>
          </p:nvSpPr>
          <p:spPr>
            <a:xfrm>
              <a:off x="4425315" y="4287202"/>
              <a:ext cx="1825895"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知道如何评价知识增强系统</a:t>
              </a:r>
            </a:p>
          </p:txBody>
        </p:sp>
        <p:sp>
          <p:nvSpPr>
            <p:cNvPr id="17" name="TextBox 17"/>
            <p:cNvSpPr txBox="1"/>
            <p:nvPr/>
          </p:nvSpPr>
          <p:spPr>
            <a:xfrm>
              <a:off x="4425315" y="4515802"/>
              <a:ext cx="140584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知道问题该怎么定位</a:t>
              </a:r>
            </a:p>
          </p:txBody>
        </p:sp>
        <p:sp>
          <p:nvSpPr>
            <p:cNvPr id="18" name="TextBox 18"/>
            <p:cNvSpPr txBox="1"/>
            <p:nvPr/>
          </p:nvSpPr>
          <p:spPr>
            <a:xfrm>
              <a:off x="4425315" y="4744402"/>
              <a:ext cx="1405842"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 知道下一步该怎么改</a:t>
              </a:r>
            </a:p>
          </p:txBody>
        </p:sp>
        <p:sp>
          <p:nvSpPr>
            <p:cNvPr id="19" name="Rectangle 19"/>
            <p:cNvSpPr/>
            <p:nvPr/>
          </p:nvSpPr>
          <p:spPr>
            <a:xfrm>
              <a:off x="7886700" y="3733800"/>
              <a:ext cx="3848100" cy="1485900"/>
            </a:xfrm>
            <a:prstGeom prst="roundRect">
              <a:avLst>
                <a:gd name="adj" fmla="val 8974"/>
              </a:avLst>
            </a:prstGeom>
            <a:solidFill>
              <a:srgbClr val="FFFFFF">
                <a:alpha val="8000"/>
              </a:srgbClr>
            </a:solidFill>
            <a:ln w="9525">
              <a:solidFill>
                <a:srgbClr val="FFFFFF">
                  <a:alpha val="16000"/>
                </a:srgbClr>
              </a:solidFill>
            </a:ln>
          </p:spPr>
        </p:sp>
        <p:sp>
          <p:nvSpPr>
            <p:cNvPr id="20" name="TextBox 20"/>
            <p:cNvSpPr txBox="1"/>
            <p:nvPr/>
          </p:nvSpPr>
          <p:spPr>
            <a:xfrm>
              <a:off x="8137208" y="3958114"/>
              <a:ext cx="74647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Calibri"/>
                  <a:ea typeface="Microsoft YaHei"/>
                  <a:cs typeface="Calibri"/>
                </a:rPr>
                <a:t>后续衔接</a:t>
              </a:r>
            </a:p>
          </p:txBody>
        </p:sp>
        <p:sp>
          <p:nvSpPr>
            <p:cNvPr id="21" name="TextBox 21"/>
            <p:cNvSpPr txBox="1"/>
            <p:nvPr/>
          </p:nvSpPr>
          <p:spPr>
            <a:xfrm>
              <a:off x="8140065" y="4287202"/>
              <a:ext cx="2105930"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后面课程会进入工具调用、MCP、</a:t>
              </a:r>
            </a:p>
          </p:txBody>
        </p:sp>
        <p:sp>
          <p:nvSpPr>
            <p:cNvPr id="22" name="TextBox 22"/>
            <p:cNvSpPr txBox="1"/>
            <p:nvPr/>
          </p:nvSpPr>
          <p:spPr>
            <a:xfrm>
              <a:off x="8140065" y="4515802"/>
              <a:ext cx="2588990"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Agent 规划与 Harness，把“能判断系统”</a:t>
              </a:r>
            </a:p>
          </p:txBody>
        </p:sp>
        <p:sp>
          <p:nvSpPr>
            <p:cNvPr id="23" name="TextBox 23"/>
            <p:cNvSpPr txBox="1"/>
            <p:nvPr/>
          </p:nvSpPr>
          <p:spPr>
            <a:xfrm>
              <a:off x="8140065" y="4744402"/>
              <a:ext cx="2000917" cy="213360"/>
            </a:xfrm>
            <a:prstGeom prst="rect">
              <a:avLst/>
            </a:prstGeom>
            <a:noFill/>
            <a:ln>
              <a:noFill/>
            </a:ln>
          </p:spPr>
          <p:txBody>
            <a:bodyPr wrap="none" lIns="0" tIns="0" rIns="0" bIns="0" anchor="t" anchorCtr="0">
              <a:spAutoFit/>
            </a:bodyPr>
            <a:lstStyle/>
            <a:p>
              <a:pPr algn="l"/>
              <a:r>
                <a:rPr lang="zh-CN" sz="1050" dirty="0">
                  <a:solidFill>
                    <a:srgbClr val="F6F3F0"/>
                  </a:solidFill>
                  <a:latin typeface="Calibri"/>
                  <a:ea typeface="Microsoft YaHei"/>
                  <a:cs typeface="Calibri"/>
                </a:rPr>
                <a:t>继续推进到“能组织系统行动”。</a:t>
              </a:r>
            </a:p>
          </p:txBody>
        </p:sp>
      </p:grpSp>
      <p:grpSp>
        <p:nvGrpSpPr>
          <p:cNvPr id="27" name="Group 27"/>
          <p:cNvGrpSpPr/>
          <p:nvPr/>
        </p:nvGrpSpPr>
        <p:grpSpPr>
          <a:xfrm>
            <a:off x="687705" y="5657850"/>
            <a:ext cx="10799445" cy="509588"/>
            <a:chOff x="687705" y="5657850"/>
            <a:chExt cx="10799445" cy="509588"/>
          </a:xfrm>
        </p:grpSpPr>
        <p:sp>
          <p:nvSpPr>
            <p:cNvPr id="25" name="Line 25"/>
            <p:cNvSpPr/>
            <p:nvPr/>
          </p:nvSpPr>
          <p:spPr>
            <a:xfrm>
              <a:off x="704850" y="5657850"/>
              <a:ext cx="10782300" cy="9525"/>
            </a:xfrm>
            <a:custGeom>
              <a:avLst/>
              <a:gdLst/>
              <a:ahLst/>
              <a:cxnLst/>
              <a:rect l="l" t="t" r="r" b="b"/>
              <a:pathLst>
                <a:path w="10782300" h="9525">
                  <a:moveTo>
                    <a:pt x="0" y="0"/>
                  </a:moveTo>
                  <a:lnTo>
                    <a:pt x="10782300" y="0"/>
                  </a:lnTo>
                </a:path>
              </a:pathLst>
            </a:custGeom>
            <a:noFill/>
            <a:ln w="14288">
              <a:solidFill>
                <a:srgbClr val="FFAE41">
                  <a:alpha val="70000"/>
                </a:srgbClr>
              </a:solidFill>
            </a:ln>
          </p:spPr>
        </p:sp>
        <p:sp>
          <p:nvSpPr>
            <p:cNvPr id="26" name="TextBox 26"/>
            <p:cNvSpPr txBox="1"/>
            <p:nvPr/>
          </p:nvSpPr>
          <p:spPr>
            <a:xfrm>
              <a:off x="687705" y="5893118"/>
              <a:ext cx="6146054"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Calibri"/>
                  <a:ea typeface="Microsoft YaHei"/>
                  <a:cs typeface="Calibri"/>
                </a:rPr>
                <a:t>RAG 真正走向工程化，不是接上知识库，而是建立评估、诊断和调优的闭环。</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image">
                                      <p:cBhvr>
                                        <p:cTn id="15"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P spid="27" grpId="0"/>
    </p:bldLst>
  </p:timing>
</p:sld>
</file>

<file path=ppt/theme/theme1.xml><?xml version="1.0" encoding="utf-8"?>
<a:theme xmlns:a="http://schemas.openxmlformats.org/drawingml/2006/main" name="DXC">
  <a:themeElements>
    <a:clrScheme name="DXC New Brand">
      <a:dk1>
        <a:srgbClr val="0E1020"/>
      </a:dk1>
      <a:lt1>
        <a:sysClr val="window" lastClr="FFFFFF"/>
      </a:lt1>
      <a:dk2>
        <a:srgbClr val="FFC982"/>
      </a:dk2>
      <a:lt2>
        <a:srgbClr val="F6F3F0"/>
      </a:lt2>
      <a:accent1>
        <a:srgbClr val="FFAE41"/>
      </a:accent1>
      <a:accent2>
        <a:srgbClr val="FF7E51"/>
      </a:accent2>
      <a:accent3>
        <a:srgbClr val="D14600"/>
      </a:accent3>
      <a:accent4>
        <a:srgbClr val="004AAC"/>
      </a:accent4>
      <a:accent5>
        <a:srgbClr val="4995FF"/>
      </a:accent5>
      <a:accent6>
        <a:srgbClr val="A1E6FF"/>
      </a:accent6>
      <a:hlink>
        <a:srgbClr val="0E1020"/>
      </a:hlink>
      <a:folHlink>
        <a:srgbClr val="0E102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latin typeface="Inter Light" panose="02000403000000020004" pitchFamily="50" charset="0"/>
            <a:ea typeface="Inter Light" panose="02000403000000020004" pitchFamily="50" charset="0"/>
            <a:cs typeface="Inter Light" panose="02000403000000020004" pitchFamily="50"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spcAft>
            <a:spcPts val="600"/>
          </a:spcAft>
          <a:defRPr sz="1600" dirty="0" smtClean="0">
            <a:latin typeface="Inter Light" panose="02000403000000020004" pitchFamily="50" charset="0"/>
            <a:ea typeface="Inter Light" panose="02000403000000020004" pitchFamily="50" charset="0"/>
            <a:cs typeface="Inter Light" panose="02000403000000020004" pitchFamily="50" charset="0"/>
          </a:defRPr>
        </a:defPPr>
      </a:lstStyle>
    </a:txDef>
  </a:objectDefaults>
  <a:extraClrSchemeLst/>
  <a:extLst>
    <a:ext uri="{05A4C25C-085E-4340-85A3-A5531E510DB2}">
      <thm15:themeFamily xmlns:thm15="http://schemas.microsoft.com/office/thememl/2012/main" name="ppt-template" id="{372C5D99-EAAE-4CC8-B45C-CB00246BBD47}" vid="{A1EB6840-CA6C-4955-A547-6EAC3A9ADD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493514B828CCB48B02392E14BFF07CD" ma:contentTypeVersion="0" ma:contentTypeDescription="Create a new document." ma:contentTypeScope="" ma:versionID="5a55d2cd0f7ca3f196681850f3d707b9">
  <xsd:schema xmlns:xsd="http://www.w3.org/2001/XMLSchema" xmlns:xs="http://www.w3.org/2001/XMLSchema" xmlns:p="http://schemas.microsoft.com/office/2006/metadata/properties" targetNamespace="http://schemas.microsoft.com/office/2006/metadata/properties" ma:root="true" ma:fieldsID="c8bc42cdcaa82a2071025144403ece7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0B4A852-DCA5-408B-8D0B-862D89A4D668}">
  <ds:schemaRefs>
    <ds:schemaRef ds:uri="http://schemas.microsoft.com/sharepoint/v3/contenttype/forms"/>
  </ds:schemaRefs>
</ds:datastoreItem>
</file>

<file path=customXml/itemProps2.xml><?xml version="1.0" encoding="utf-8"?>
<ds:datastoreItem xmlns:ds="http://schemas.openxmlformats.org/officeDocument/2006/customXml" ds:itemID="{A1310B7F-0459-4DAD-B2BA-A0E66AA5F8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298A58B-876F-42E2-BEC0-1193FE4D620F}">
  <ds:schemaRefs>
    <ds:schemaRef ds:uri="http://schemas.microsoft.com/office/2006/metadata/properties"/>
    <ds:schemaRef ds:uri="http://schemas.microsoft.com/office/infopath/2007/PartnerControls"/>
  </ds:schemaRefs>
</ds:datastoreItem>
</file>

<file path=docProps/app.xml><?xml version="1.0" encoding="utf-8"?>
<ns0:Properties xmlns:ns0="http://schemas.openxmlformats.org/officeDocument/2006/extended-properties" xmlns:vt="http://schemas.openxmlformats.org/officeDocument/2006/docPropsVTypes">
  <ns0:Template/>
  <ns0:TotalTime>2</ns0:TotalTime>
  <ns0:Words>0</ns0:Words>
  <ns0:Application>Microsoft Office PowerPoint</ns0:Application>
  <ns0:PresentationFormat>宽屏</ns0:PresentationFormat>
  <ns0:Paragraphs>0</ns0:Paragraphs>
  <ns0:Slides>10</ns0:Slides>
  <ns0:Notes>10</ns0:Notes>
  <ns0:HiddenSlides>0</ns0:HiddenSlides>
  <ns0:MMClips>0</ns0:MMClips>
  <ns0:ScaleCrop>false</ns0:ScaleCrop>
  <ns0: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ns0:HeadingPairs>
  <ns0:TitlesOfParts>
    <vt:vector size="19" baseType="lpstr">
      <vt:lpstr>Inter Bold</vt:lpstr>
      <vt:lpstr>Inter Medium</vt:lpstr>
      <vt:lpstr>Inter Light</vt:lpstr>
      <vt:lpstr>Inter SemiBold</vt:lpstr>
      <vt:lpstr>GT Standard L Extended</vt:lpstr>
      <vt:lpstr>Arial</vt:lpstr>
      <vt:lpstr>Inter Regular</vt:lpstr>
      <vt:lpstr>Inter</vt:lpstr>
      <vt:lpstr>DXC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ns0:TitlesOfParts>
  <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Cheng, Lu</dc:creator>
  <cp:lastModifiedBy>Cheng, Lu</cp:lastModifiedBy>
  <cp:revision>1</cp:revision>
  <dcterms:created xsi:type="dcterms:W3CDTF">2026-05-22T06:21:56Z</dcterms:created>
  <dcterms:modified xsi:type="dcterms:W3CDTF">2026-05-22T06:25:31Z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94ae5-69af-439d-af88-cb521c31c0c5_Enabled">
    <vt:lpwstr>true</vt:lpwstr>
  </property>
  <property fmtid="{D5CDD505-2E9C-101B-9397-08002B2CF9AE}" pid="3" name="MSIP_Label_15394ae5-69af-439d-af88-cb521c31c0c5_SetDate">
    <vt:lpwstr>2025-12-09T16:07:32Z</vt:lpwstr>
  </property>
  <property fmtid="{D5CDD505-2E9C-101B-9397-08002B2CF9AE}" pid="4" name="MSIP_Label_15394ae5-69af-439d-af88-cb521c31c0c5_Method">
    <vt:lpwstr>Standard</vt:lpwstr>
  </property>
  <property fmtid="{D5CDD505-2E9C-101B-9397-08002B2CF9AE}" pid="5" name="MSIP_Label_15394ae5-69af-439d-af88-cb521c31c0c5_Name">
    <vt:lpwstr>DXC Internal</vt:lpwstr>
  </property>
  <property fmtid="{D5CDD505-2E9C-101B-9397-08002B2CF9AE}" pid="6" name="MSIP_Label_15394ae5-69af-439d-af88-cb521c31c0c5_SiteId">
    <vt:lpwstr>93f33571-550f-43cf-b09f-cd331338d086</vt:lpwstr>
  </property>
  <property fmtid="{D5CDD505-2E9C-101B-9397-08002B2CF9AE}" pid="7" name="MSIP_Label_15394ae5-69af-439d-af88-cb521c31c0c5_ActionId">
    <vt:lpwstr>4b7d9dea-3b11-47e8-b915-12305eea8642</vt:lpwstr>
  </property>
  <property fmtid="{D5CDD505-2E9C-101B-9397-08002B2CF9AE}" pid="8" name="MSIP_Label_15394ae5-69af-439d-af88-cb521c31c0c5_ContentBits">
    <vt:lpwstr>0</vt:lpwstr>
  </property>
  <property fmtid="{D5CDD505-2E9C-101B-9397-08002B2CF9AE}" pid="9" name="MSIP_Label_15394ae5-69af-439d-af88-cb521c31c0c5_Tag">
    <vt:lpwstr>10, 3, 0, 1</vt:lpwstr>
  </property>
  <property fmtid="{D5CDD505-2E9C-101B-9397-08002B2CF9AE}" pid="10" name="ContentTypeId">
    <vt:lpwstr>0x010100B493514B828CCB48B02392E14BFF07CD</vt:lpwstr>
  </property>
</Properties>
</file>