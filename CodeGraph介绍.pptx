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4" r:id="rId18"/>
    <p:sldId id="269" r:id="rId19"/>
    <p:sldId id="270" r:id="rId20"/>
    <p:sldId id="271" r:id="rId21"/>
    <p:sldId id="272" r:id="rId22"/>
    <p:sldId id="273" r:id="rId23"/>
  </p:sldIdLst>
  <p:sldSz cx="12192000" cy="6858000"/>
  <p:notesSz cx="10287000" cy="18288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GT Standard L Extended" pitchFamily="2" charset="0"/>
      <p:bold r:id="rId30"/>
    </p:embeddedFont>
    <p:embeddedFont>
      <p:font typeface="Inter" panose="02000503000000020004" pitchFamily="50" charset="0"/>
      <p:regular r:id="rId31"/>
      <p:bold r:id="rId32"/>
      <p:italic r:id="rId33"/>
      <p:boldItalic r:id="rId34"/>
    </p:embeddedFont>
    <p:embeddedFont>
      <p:font typeface="Inter Bold" panose="020B0604020202020204" charset="0"/>
      <p:regular r:id="rId35"/>
      <p:bold r:id="rId36"/>
      <p:italic r:id="rId37"/>
      <p:boldItalic r:id="rId38"/>
    </p:embeddedFont>
    <p:embeddedFont>
      <p:font typeface="Inter Light" panose="02000403000000020004" pitchFamily="50" charset="0"/>
      <p:regular r:id="rId39"/>
      <p:italic r:id="rId40"/>
    </p:embeddedFont>
    <p:embeddedFont>
      <p:font typeface="Inter Medium" panose="02000603000000020004" pitchFamily="50" charset="0"/>
      <p:regular r:id="rId41"/>
      <p:italic r:id="rId42"/>
    </p:embeddedFont>
    <p:embeddedFont>
      <p:font typeface="Inter Regular" panose="020B0604020202020204" charset="0"/>
      <p:regular r:id="rId43"/>
      <p:bold r:id="rId44"/>
      <p:italic r:id="rId45"/>
      <p:boldItalic r:id="rId46"/>
    </p:embeddedFont>
    <p:embeddedFont>
      <p:font typeface="Inter SemiBold" panose="02000703000000020004" pitchFamily="50" charset="0"/>
      <p:regular r:id="rId47"/>
      <p:bold r:id="rId48"/>
      <p:boldItalic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D6D"/>
    <a:srgbClr val="B4B0AC"/>
    <a:srgbClr val="545454"/>
    <a:srgbClr val="F6F3F0"/>
    <a:srgbClr val="E4E4E4"/>
    <a:srgbClr val="005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5822" autoAdjust="0"/>
  </p:normalViewPr>
  <p:slideViewPr>
    <p:cSldViewPr snapToGrid="0">
      <p:cViewPr varScale="1">
        <p:scale>
          <a:sx n="110" d="100"/>
          <a:sy n="110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6.xml"/><Relationship Id="rId41" Type="http://schemas.openxmlformats.org/officeDocument/2006/relationships/font" Target="fonts/font16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, Lu" userId="11016522-e861-4f6b-8895-c52f0175c405" providerId="ADAL" clId="{BEE2742F-B388-4CE2-91BD-ED9E69FA0998}"/>
    <pc:docChg chg="undo custSel addSld delSld modSld">
      <pc:chgData name="Cheng, Lu" userId="11016522-e861-4f6b-8895-c52f0175c405" providerId="ADAL" clId="{BEE2742F-B388-4CE2-91BD-ED9E69FA0998}" dt="2026-05-28T03:15:42.385" v="23" actId="478"/>
      <pc:docMkLst>
        <pc:docMk/>
      </pc:docMkLst>
      <pc:sldChg chg="delSp mod">
        <pc:chgData name="Cheng, Lu" userId="11016522-e861-4f6b-8895-c52f0175c405" providerId="ADAL" clId="{BEE2742F-B388-4CE2-91BD-ED9E69FA0998}" dt="2026-05-28T03:15:42.385" v="23" actId="478"/>
        <pc:sldMkLst>
          <pc:docMk/>
          <pc:sldMk cId="0" sldId="256"/>
        </pc:sldMkLst>
        <pc:spChg chg="del">
          <ac:chgData name="Cheng, Lu" userId="11016522-e861-4f6b-8895-c52f0175c405" providerId="ADAL" clId="{BEE2742F-B388-4CE2-91BD-ED9E69FA0998}" dt="2026-05-28T02:06:52.372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Cheng, Lu" userId="11016522-e861-4f6b-8895-c52f0175c405" providerId="ADAL" clId="{BEE2742F-B388-4CE2-91BD-ED9E69FA0998}" dt="2026-05-28T03:15:42.385" v="23" actId="478"/>
          <ac:spMkLst>
            <pc:docMk/>
            <pc:sldMk cId="0" sldId="256"/>
            <ac:spMk id="4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7:00.723" v="4" actId="478"/>
        <pc:sldMkLst>
          <pc:docMk/>
          <pc:sldMk cId="0" sldId="257"/>
        </pc:sldMkLst>
        <pc:spChg chg="del">
          <ac:chgData name="Cheng, Lu" userId="11016522-e861-4f6b-8895-c52f0175c405" providerId="ADAL" clId="{BEE2742F-B388-4CE2-91BD-ED9E69FA0998}" dt="2026-05-28T02:06:54.642" v="2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Cheng, Lu" userId="11016522-e861-4f6b-8895-c52f0175c405" providerId="ADAL" clId="{BEE2742F-B388-4CE2-91BD-ED9E69FA0998}" dt="2026-05-28T02:07:00.723" v="4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6:56.969" v="3" actId="478"/>
        <pc:sldMkLst>
          <pc:docMk/>
          <pc:sldMk cId="0" sldId="258"/>
        </pc:sldMkLst>
        <pc:spChg chg="del">
          <ac:chgData name="Cheng, Lu" userId="11016522-e861-4f6b-8895-c52f0175c405" providerId="ADAL" clId="{BEE2742F-B388-4CE2-91BD-ED9E69FA0998}" dt="2026-05-28T02:06:56.969" v="3" actId="478"/>
          <ac:spMkLst>
            <pc:docMk/>
            <pc:sldMk cId="0" sldId="258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6:49.579" v="0" actId="478"/>
        <pc:sldMkLst>
          <pc:docMk/>
          <pc:sldMk cId="0" sldId="259"/>
        </pc:sldMkLst>
        <pc:spChg chg="del">
          <ac:chgData name="Cheng, Lu" userId="11016522-e861-4f6b-8895-c52f0175c405" providerId="ADAL" clId="{BEE2742F-B388-4CE2-91BD-ED9E69FA0998}" dt="2026-05-28T02:06:49.579" v="0" actId="478"/>
          <ac:spMkLst>
            <pc:docMk/>
            <pc:sldMk cId="0" sldId="259"/>
            <ac:spMk id="2" creationId="{00000000-0000-0000-0000-000000000000}"/>
          </ac:spMkLst>
        </pc:spChg>
      </pc:sldChg>
      <pc:sldChg chg="delSp modSp mod">
        <pc:chgData name="Cheng, Lu" userId="11016522-e861-4f6b-8895-c52f0175c405" providerId="ADAL" clId="{BEE2742F-B388-4CE2-91BD-ED9E69FA0998}" dt="2026-05-28T02:07:07.531" v="6" actId="478"/>
        <pc:sldMkLst>
          <pc:docMk/>
          <pc:sldMk cId="0" sldId="260"/>
        </pc:sldMkLst>
        <pc:spChg chg="del">
          <ac:chgData name="Cheng, Lu" userId="11016522-e861-4f6b-8895-c52f0175c405" providerId="ADAL" clId="{BEE2742F-B388-4CE2-91BD-ED9E69FA0998}" dt="2026-05-28T02:07:07.531" v="6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Cheng, Lu" userId="11016522-e861-4f6b-8895-c52f0175c405" providerId="ADAL" clId="{BEE2742F-B388-4CE2-91BD-ED9E69FA0998}" dt="2026-05-28T02:07:06.682" v="5" actId="6549"/>
          <ac:spMkLst>
            <pc:docMk/>
            <pc:sldMk cId="0" sldId="260"/>
            <ac:spMk id="3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7:10.370" v="7" actId="478"/>
        <pc:sldMkLst>
          <pc:docMk/>
          <pc:sldMk cId="0" sldId="261"/>
        </pc:sldMkLst>
        <pc:spChg chg="del">
          <ac:chgData name="Cheng, Lu" userId="11016522-e861-4f6b-8895-c52f0175c405" providerId="ADAL" clId="{BEE2742F-B388-4CE2-91BD-ED9E69FA0998}" dt="2026-05-28T02:07:10.370" v="7" actId="478"/>
          <ac:spMkLst>
            <pc:docMk/>
            <pc:sldMk cId="0" sldId="261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11:19.247" v="19" actId="478"/>
        <pc:sldMkLst>
          <pc:docMk/>
          <pc:sldMk cId="0" sldId="262"/>
        </pc:sldMkLst>
        <pc:spChg chg="del">
          <ac:chgData name="Cheng, Lu" userId="11016522-e861-4f6b-8895-c52f0175c405" providerId="ADAL" clId="{BEE2742F-B388-4CE2-91BD-ED9E69FA0998}" dt="2026-05-28T02:11:19.247" v="19" actId="478"/>
          <ac:spMkLst>
            <pc:docMk/>
            <pc:sldMk cId="0" sldId="262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8:45.126" v="8" actId="478"/>
        <pc:sldMkLst>
          <pc:docMk/>
          <pc:sldMk cId="0" sldId="263"/>
        </pc:sldMkLst>
        <pc:spChg chg="del">
          <ac:chgData name="Cheng, Lu" userId="11016522-e861-4f6b-8895-c52f0175c405" providerId="ADAL" clId="{BEE2742F-B388-4CE2-91BD-ED9E69FA0998}" dt="2026-05-28T02:08:45.126" v="8" actId="478"/>
          <ac:spMkLst>
            <pc:docMk/>
            <pc:sldMk cId="0" sldId="263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8:47.334" v="9" actId="478"/>
        <pc:sldMkLst>
          <pc:docMk/>
          <pc:sldMk cId="0" sldId="264"/>
        </pc:sldMkLst>
        <pc:spChg chg="del">
          <ac:chgData name="Cheng, Lu" userId="11016522-e861-4f6b-8895-c52f0175c405" providerId="ADAL" clId="{BEE2742F-B388-4CE2-91BD-ED9E69FA0998}" dt="2026-05-28T02:08:47.334" v="9" actId="478"/>
          <ac:spMkLst>
            <pc:docMk/>
            <pc:sldMk cId="0" sldId="264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8:50.280" v="10" actId="478"/>
        <pc:sldMkLst>
          <pc:docMk/>
          <pc:sldMk cId="0" sldId="265"/>
        </pc:sldMkLst>
        <pc:spChg chg="del">
          <ac:chgData name="Cheng, Lu" userId="11016522-e861-4f6b-8895-c52f0175c405" providerId="ADAL" clId="{BEE2742F-B388-4CE2-91BD-ED9E69FA0998}" dt="2026-05-28T02:08:50.280" v="10" actId="478"/>
          <ac:spMkLst>
            <pc:docMk/>
            <pc:sldMk cId="0" sldId="265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8:53.032" v="11" actId="478"/>
        <pc:sldMkLst>
          <pc:docMk/>
          <pc:sldMk cId="0" sldId="266"/>
        </pc:sldMkLst>
        <pc:spChg chg="del">
          <ac:chgData name="Cheng, Lu" userId="11016522-e861-4f6b-8895-c52f0175c405" providerId="ADAL" clId="{BEE2742F-B388-4CE2-91BD-ED9E69FA0998}" dt="2026-05-28T02:08:53.032" v="11" actId="478"/>
          <ac:spMkLst>
            <pc:docMk/>
            <pc:sldMk cId="0" sldId="266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8:55.530" v="12" actId="478"/>
        <pc:sldMkLst>
          <pc:docMk/>
          <pc:sldMk cId="0" sldId="267"/>
        </pc:sldMkLst>
        <pc:spChg chg="del">
          <ac:chgData name="Cheng, Lu" userId="11016522-e861-4f6b-8895-c52f0175c405" providerId="ADAL" clId="{BEE2742F-B388-4CE2-91BD-ED9E69FA0998}" dt="2026-05-28T02:08:55.530" v="12" actId="478"/>
          <ac:spMkLst>
            <pc:docMk/>
            <pc:sldMk cId="0" sldId="267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11:11.683" v="18" actId="478"/>
        <pc:sldMkLst>
          <pc:docMk/>
          <pc:sldMk cId="0" sldId="268"/>
        </pc:sldMkLst>
        <pc:spChg chg="del">
          <ac:chgData name="Cheng, Lu" userId="11016522-e861-4f6b-8895-c52f0175c405" providerId="ADAL" clId="{BEE2742F-B388-4CE2-91BD-ED9E69FA0998}" dt="2026-05-28T02:11:11.683" v="18" actId="478"/>
          <ac:spMkLst>
            <pc:docMk/>
            <pc:sldMk cId="0" sldId="268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8:58.167" v="13" actId="478"/>
        <pc:sldMkLst>
          <pc:docMk/>
          <pc:sldMk cId="0" sldId="269"/>
        </pc:sldMkLst>
        <pc:spChg chg="del">
          <ac:chgData name="Cheng, Lu" userId="11016522-e861-4f6b-8895-c52f0175c405" providerId="ADAL" clId="{BEE2742F-B388-4CE2-91BD-ED9E69FA0998}" dt="2026-05-28T02:08:58.167" v="13" actId="478"/>
          <ac:spMkLst>
            <pc:docMk/>
            <pc:sldMk cId="0" sldId="269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9:00.457" v="14" actId="478"/>
        <pc:sldMkLst>
          <pc:docMk/>
          <pc:sldMk cId="0" sldId="270"/>
        </pc:sldMkLst>
        <pc:spChg chg="del">
          <ac:chgData name="Cheng, Lu" userId="11016522-e861-4f6b-8895-c52f0175c405" providerId="ADAL" clId="{BEE2742F-B388-4CE2-91BD-ED9E69FA0998}" dt="2026-05-28T02:09:00.457" v="14" actId="478"/>
          <ac:spMkLst>
            <pc:docMk/>
            <pc:sldMk cId="0" sldId="270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9:02.686" v="15" actId="478"/>
        <pc:sldMkLst>
          <pc:docMk/>
          <pc:sldMk cId="0" sldId="271"/>
        </pc:sldMkLst>
        <pc:spChg chg="del">
          <ac:chgData name="Cheng, Lu" userId="11016522-e861-4f6b-8895-c52f0175c405" providerId="ADAL" clId="{BEE2742F-B388-4CE2-91BD-ED9E69FA0998}" dt="2026-05-28T02:09:02.686" v="15" actId="478"/>
          <ac:spMkLst>
            <pc:docMk/>
            <pc:sldMk cId="0" sldId="271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9:08.408" v="17" actId="478"/>
        <pc:sldMkLst>
          <pc:docMk/>
          <pc:sldMk cId="0" sldId="272"/>
        </pc:sldMkLst>
        <pc:spChg chg="del">
          <ac:chgData name="Cheng, Lu" userId="11016522-e861-4f6b-8895-c52f0175c405" providerId="ADAL" clId="{BEE2742F-B388-4CE2-91BD-ED9E69FA0998}" dt="2026-05-28T02:09:08.408" v="17" actId="478"/>
          <ac:spMkLst>
            <pc:docMk/>
            <pc:sldMk cId="0" sldId="272"/>
            <ac:spMk id="2" creationId="{00000000-0000-0000-0000-000000000000}"/>
          </ac:spMkLst>
        </pc:spChg>
      </pc:sldChg>
      <pc:sldChg chg="delSp mod">
        <pc:chgData name="Cheng, Lu" userId="11016522-e861-4f6b-8895-c52f0175c405" providerId="ADAL" clId="{BEE2742F-B388-4CE2-91BD-ED9E69FA0998}" dt="2026-05-28T02:09:05.781" v="16" actId="478"/>
        <pc:sldMkLst>
          <pc:docMk/>
          <pc:sldMk cId="0" sldId="273"/>
        </pc:sldMkLst>
        <pc:spChg chg="del">
          <ac:chgData name="Cheng, Lu" userId="11016522-e861-4f6b-8895-c52f0175c405" providerId="ADAL" clId="{BEE2742F-B388-4CE2-91BD-ED9E69FA0998}" dt="2026-05-28T02:09:05.781" v="16" actId="478"/>
          <ac:spMkLst>
            <pc:docMk/>
            <pc:sldMk cId="0" sldId="273"/>
            <ac:spMk id="2" creationId="{00000000-0000-0000-0000-000000000000}"/>
          </ac:spMkLst>
        </pc:spChg>
      </pc:sldChg>
      <pc:sldChg chg="new del">
        <pc:chgData name="Cheng, Lu" userId="11016522-e861-4f6b-8895-c52f0175c405" providerId="ADAL" clId="{BEE2742F-B388-4CE2-91BD-ED9E69FA0998}" dt="2026-05-28T02:11:57.493" v="21" actId="680"/>
        <pc:sldMkLst>
          <pc:docMk/>
          <pc:sldMk cId="2019622081" sldId="274"/>
        </pc:sldMkLst>
      </pc:sldChg>
      <pc:sldChg chg="add">
        <pc:chgData name="Cheng, Lu" userId="11016522-e861-4f6b-8895-c52f0175c405" providerId="ADAL" clId="{BEE2742F-B388-4CE2-91BD-ED9E69FA0998}" dt="2026-05-28T02:11:59.648" v="22" actId="2890"/>
        <pc:sldMkLst>
          <pc:docMk/>
          <pc:sldMk cId="3069686305" sldId="2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57DA5-5C22-A353-A65D-369446F87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2189D-F3FF-A988-769A-E7A3CB3608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A25DE-A063-4378-A640-4BC83FB26CA8}" type="datetimeFigureOut">
              <a:rPr lang="en-US" smtClean="0">
                <a:latin typeface="Inter" panose="02000503000000020004" pitchFamily="50" charset="0"/>
              </a:rPr>
              <a:t>5/28/2026</a:t>
            </a:fld>
            <a:endParaRPr lang="en-US">
              <a:latin typeface="Inter" panose="0200050300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2170-6562-13C1-D1D5-286367C321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CDAC3-E48C-8609-85D2-09985FEF5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69C77-B4AD-470F-9F54-5C3D80FAC420}" type="slidenum">
              <a:rPr lang="en-US" smtClean="0">
                <a:latin typeface="Inter" panose="02000503000000020004" pitchFamily="50" charset="0"/>
              </a:rPr>
              <a:t>‹#›</a:t>
            </a:fld>
            <a:endParaRPr lang="en-US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115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4368073D-F6CD-433D-989C-9BCED54B3B21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3EA93470-45FA-43A3-A94A-764F2952A3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6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960" kern="1200">
        <a:solidFill>
          <a:schemeClr val="tx1"/>
        </a:solidFill>
        <a:latin typeface="Inter Medium" panose="02000603000000020004" pitchFamily="50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 CodeGraph —— 一个让 AI 编程助手真正"看透"代码库的工具。CodeGraph 能将 AI 的 grep/glob 工具调用减少 70% 以上，平均节省 35% 的 Token 费用，并且 100% 本地运行，零数据泄露风险。接下来我们从痛点出发，逐步讲解它的原理、功能和实际使用方法。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本次分享共 18 页，分为三大部分：第一部分是"为什么需要 CodeGraph"，第二部分是"怎么用"，第三部分是"在 MyAIStudy 项目中的实战演示"。整体时长约 30 分钟，最后留 10 分钟 Q&amp;A。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CodeGraph 的本质是一个 MCP 服务器，它使用 tree-sitter 解析代码 AST，将所有符号（函数/类/方法）和关系（调用/导入/继承）存入本地 SQLite 数据库，然后通过 Model Context Protocol 向 AI Agent 暴露 10 个高效查询工具。关键点是"预构建"——不是每次 AI 回答都现场扫文件，而是一次建图，后续查询毫秒级响应。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这张图展示了没有 CodeGraph 时 AI 的工作方式。每当用户问一个架构问题，AI 就会产生 Explore 子 Agent，然后调用大量 grep/glob/Read 工具，消耗大量 Token，速度慢，费用高。对于大型代码库，这个问题尤其严重。VS Code 有约 1 万个文件，每次探索都要重新扫描。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这是官方基准测试数据，覆盖 7 个真实开源项目、7 种语言。最显著的效果出现在 TypeScript 和 Rust 代码库，工具调用分别减少 85% 和 92%。规律非常清晰：代码库越大，受益越明显。平均而言，费用节省 35%，Token 减少 57%，速度提升 46%，工具调用减少 71%。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CodeGraph 的工作流程分四步：第一步，tree-sitter 解析所有源文件的 AST，提取节点和边；第二步，写入本地 SQLite，启用 FTS5 全文搜索；第三步，对函数调用、import、继承关系进行语义解析，建立跨文件的调用图谱；第四步，利用操作系统原生的文件事件（FSEvents/inotify 等）实现 2 秒防抖的增量自动同步。整个过程完全本地，不调用任何外部 API。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这张表格总结了 CodeGraph 的 8 大核心能力。特别值得关注的是"框架路由感知"——CodeGraph 能识别 Django、FastAPI、Express 等 14 个主流框架的路由文件，这对理解 Web 服务的请求处理流程非常有帮助。另外，"跨语言桥接"支持 Swift 与 Objective-C 互调，以及 React Native 的 TurboModules，适合混合技术栈的团队。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CodeGraph 提供 10 个 MCP 工具，每个工具都有明确的适用场景。最重要的选择原则在右侧的决策树里：开始一个新功能时，首先调用 `codegraph_context`；需要追踪调用路径时，用 `codegraph_trace` 而不是反复调用 `codegraph_callers`；需要批量读取多个文件时，用 `codegraph_explore` 而不是循环调用 `codegraph_node`。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这三组对比是使用 CodeGraph 最容易踩的坑。第一，用 `codegraph_search` 代替 grep；第二，用 `codegraph_trace` 代替手动循环追踪；第三，用 `codegraph_explore` 批量读取多个文件。最后一点要注意：文件修改后约 1 秒才会同步到索引，如果 AI 响应头出现 ⚠️ 标识，说明对应文件有尚未同步的修改，需要用 Read 工具读取最新内容。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安装非常简单，推荐使用一键安装脚本，Windows 下只需在 PowerShell 运行一行命令。如果已经安装了 Node.js，也可以用 `npx @colbymchenry/codegraph` 零安装体验。安装器会自动检测已安装的 Agent（Claude Code、Cursor、Codex、Gemini CLI 等），并写入对应的 MCP 配置，包括设置自动允许权限，全程无需手动配置。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安装完成后，在项目目录执行 `codegraph init -i` 建立索引，然后重启 AI Agent。之后只要项目根目录存在 `.codegraph/` 文件夹，Agent 就会自动使用 CodeGraph 工具。不需要每次都手动触发，一次初始化，持续受益。卸载也很干净，`codegraph uninstall` 只移除 Agent 配置，不删除索引；`codegraph uninit` 才会删除项目索引。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这张表列出了 CodeGraph 全部 CLI 命令。日常使用中最常用的是 `init`、`index`、`status` 和 `query`。`codegraph affected` 命令特别适合 CI/CD 集成——当某个 PR 修改了特定文件时，用它可以快速找出受影响的测试文件，从而实现智能的测试范围缩减。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这是三个在 MyAIStudy 项目（48 周 AI 工程师培训体系）中使用 CodeGraph 的实际场景。场景 1 展示了如何用 `codegraph_trace` 一次性获取从 `run_example.py` 到具体 demo 函数的完整调用链，无需手动追踪多个文件。场景 2 用 `codegraph_impact` 在重构前预判影响范围。场景 3 用 `codegraph_explore` 批量获取整个模块的公开函数签名。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71CC-77EF-03C9-2E79-E48E67E4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EBA47-A136-81CB-5A40-40489067F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68518-6A34-AA80-AE1C-F6890B0ED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这是三个在 MyAIStudy 项目（48 周 AI 工程师培训体系）中使用 CodeGraph 的实际场景。场景 1 展示了如何用 `codegraph_trace` 一次性获取从 `run_example.py` 到具体 demo 函数的完整调用链，无需手动追踪多个文件。场景 2 用 `codegraph_impact` 在重构前预判影响范围。场景 3 用 `codegraph_explore` 批量获取整个模块的公开函数签名。</a:t>
            </a:r>
          </a:p>
        </p:txBody>
      </p:sp>
    </p:spTree>
    <p:extLst>
      <p:ext uri="{BB962C8B-B14F-4D97-AF65-F5344CB8AC3E}">
        <p14:creationId xmlns:p14="http://schemas.microsoft.com/office/powerpoint/2010/main" val="1618985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CodeGraph 目前支持 8 个主流 AI Agent，涵盖 Claude Code、Cursor、Codex CLI 等，并且在三大平台（Windows/macOS/Linux）的 x64 和 arm64 架构上均可运行。自带 Node 运行时，无需额外安装依赖，真正做到开箱即用。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20+ 种编程语言的支持，基本覆盖了主流开发技术栈。对于混合语言项目，CodeGraph 的跨语言引用解析尤其有价值——例如同时使用 Python 和 Go 的微服务项目，或者使用 Swift 和 Objective-C 混编的 iOS 项目。框架路由感知支持的 14 个框架，涵盖了后端主流框架，路由文件会被优先识别和标注。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这里列出了三个最常见的问题。WSL2 用户注意：需要把项目移到本地磁盘（如 `C:\` 或 `D:\`），而不是通过 `/mnt/c` 挂载路径使用，因为 WAL 模式的 SQLite 在 WSL2 的 `/mnt` 文件系统上无法正常工作。最佳实践部分的四条建议建议打印出来贴到工位上，尤其是"绝不要手动循环 callers"这一条。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三句话总结：CodeGraph 是给 AI 编程助手的"代码地图"；它通过预构建 AST 图谱，让 AI 直接查图而非扫文件；平均节省 35% 费用，减少 71% 工具调用，且 100% 本地运行。适合规模在数百文件以上、日常使用 Claude Code 或 Cursor 进行 AI 辅助开发的团队。立即体验只需一行命令。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欢迎提问。如果大家有兴趣在 MyAIStudy 项目上当场演示 CodeGraph，我可以现场执行 `codegraph init -i` 并通过 Claude Code 展示实际的工具调用对比。参考资源：官方仓库、文档网站和本项目的 `.codegraph/` 目录都已经准备好了。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2" name="Frame 15529" descr="preencoded.png">
            <a:extLst>
              <a:ext uri="{FF2B5EF4-FFF2-40B4-BE49-F238E27FC236}">
                <a16:creationId xmlns:a16="http://schemas.microsoft.com/office/drawing/2014/main" id="{1EF2DDB8-8571-93E4-C67A-35640A82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200" y="203200"/>
            <a:ext cx="11785600" cy="3949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15" name="lookmomnoagency_httpss.mj.runJIcAb0P4040_Ultra-real_cinematic_p_638bfe43-65b2-4354-845b-4351f8df7907" descr="preencoded.png">
            <a:extLst>
              <a:ext uri="{FF2B5EF4-FFF2-40B4-BE49-F238E27FC236}">
                <a16:creationId xmlns:a16="http://schemas.microsoft.com/office/drawing/2014/main" id="{75169228-DC09-412D-D6F7-167D9FF75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03200" y="203200"/>
            <a:ext cx="11785600" cy="40132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0342C94D-B005-C627-CC70-486D6842A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7278" y="4539455"/>
            <a:ext cx="6127859" cy="13970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18" name="Union" descr="preencoded.png">
            <a:extLst>
              <a:ext uri="{FF2B5EF4-FFF2-40B4-BE49-F238E27FC236}">
                <a16:creationId xmlns:a16="http://schemas.microsoft.com/office/drawing/2014/main" id="{4B2C8058-2A52-FBD2-A88A-2B552585CE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01" y="4580489"/>
            <a:ext cx="2235200" cy="36195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B5FEA5F-CB2C-3FF5-0223-355E67B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7278" y="4810124"/>
            <a:ext cx="6127859" cy="8149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264E8B-C17A-16FA-16AB-17DE70932CB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74742" y="5779068"/>
            <a:ext cx="3015457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Union" descr="preencoded.png">
            <a:extLst>
              <a:ext uri="{FF2B5EF4-FFF2-40B4-BE49-F238E27FC236}">
                <a16:creationId xmlns:a16="http://schemas.microsoft.com/office/drawing/2014/main" id="{6EFE4B1B-FBEC-0DBB-F10D-1A7A97DC17F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03200" y="622300"/>
            <a:ext cx="11785600" cy="318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006E1-F854-BAE6-A4A2-9D3947AA8039}"/>
              </a:ext>
            </a:extLst>
          </p:cNvPr>
          <p:cNvSpPr txBox="1"/>
          <p:nvPr userDrawn="1"/>
        </p:nvSpPr>
        <p:spPr>
          <a:xfrm>
            <a:off x="4973638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4B61FB-43AA-F7C6-9DBE-87E8C3498914}"/>
              </a:ext>
            </a:extLst>
          </p:cNvPr>
          <p:cNvSpPr txBox="1">
            <a:spLocks/>
          </p:cNvSpPr>
          <p:nvPr userDrawn="1"/>
        </p:nvSpPr>
        <p:spPr>
          <a:xfrm>
            <a:off x="4973952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402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6C9E5-50FF-1198-36CE-8793878A64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4268" y="515342"/>
            <a:ext cx="5267732" cy="634265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7BB518-013B-58B6-40AD-19FEB608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637" y="2651125"/>
            <a:ext cx="9186863" cy="11588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63D07A-81F1-36DC-EA6A-646757535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398" y="4053679"/>
            <a:ext cx="3133726" cy="1242221"/>
          </a:xfrm>
          <a:prstGeom prst="rect">
            <a:avLst/>
          </a:prstGeom>
        </p:spPr>
        <p:txBody>
          <a:bodyPr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 cap="none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1D1B2-1DC3-890E-96BC-72E7F3451CCA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3050-BD33-7A00-EE49-7F6BC7D27001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405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guide (No Descri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90" y="2089150"/>
            <a:ext cx="442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7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5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rima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7625" y="2089149"/>
            <a:ext cx="922337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B9C8783-1EE1-5F05-94F0-020AC127930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94240" y="2089149"/>
            <a:ext cx="4402908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C207ECF-D4C3-643D-CB6A-041FFB70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C006B6-6F06-D002-5779-598B7A3828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380552" y="2089148"/>
            <a:ext cx="422108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5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25" y="2089148"/>
            <a:ext cx="9223373" cy="430212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Arial" pitchFamily="34" charset="0"/>
              <a:buChar char="•"/>
              <a:defRPr sz="1600"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sz="1600"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9DCC20-00EA-22DD-2AE0-CB3AE03BE68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73ADA15-B0A6-A9E1-1441-0E6F1682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9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717FA4-86CE-556E-68FB-95C761BEC1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569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3CCBB92-4E2E-CA56-141C-71DDE9C9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02B511-3FEB-1B8B-7719-09807E1FF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E713CD5E-96D2-F3B4-7945-151C1A4F88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655C0-EAC8-C1F6-4E1E-A95627EE0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A965AE0-60E2-C612-1BE0-C472996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5DE58E-558F-F5EC-1082-9B720020266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89601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B87AB6-AE03-F48C-7DF9-C5E130FC55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77A56BE-E30D-A604-6EC0-1BA1C7B58F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8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3A8567-14EC-C957-B8D3-E24E11570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2" b="4989"/>
          <a:stretch>
            <a:fillRect/>
          </a:stretch>
        </p:blipFill>
        <p:spPr>
          <a:xfrm>
            <a:off x="4357501" y="145058"/>
            <a:ext cx="7834500" cy="6712942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7B1E6F2-2C2C-C9A9-5AB8-828355364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4750" y="740247"/>
            <a:ext cx="6985000" cy="5651028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AD280C-FC90-5C16-7F3E-4E787A928E0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FF1056-2A2E-EAB8-F36F-EBD7E5F8C0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03490" y="2434308"/>
            <a:ext cx="3617420" cy="39569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40E6F3E-0F98-698F-5249-2672EA9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5"/>
            <a:ext cx="4422511" cy="1346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472F4-F461-80E0-0FB3-EFCB9B5CC08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7D6D-506A-74EA-66C7-80F4746277AA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4338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D2B2-95E0-8691-E903-8A9026CF8261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0455-28DA-FCFA-8ED8-A428ECF25B46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053EBC-3E3E-5CCF-5A5C-C2B528F8E71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72813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B2385-4042-07C0-6BA0-6E264BA5CB68}"/>
              </a:ext>
            </a:extLst>
          </p:cNvPr>
          <p:cNvSpPr/>
          <p:nvPr userDrawn="1"/>
        </p:nvSpPr>
        <p:spPr>
          <a:xfrm>
            <a:off x="0" y="496661"/>
            <a:ext cx="12192000" cy="6361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00A7-BEB6-EC4D-515F-8796DA7764E1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1A3-0CD0-FAEA-5FA7-F851D1A40F17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7835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5" y="2249663"/>
            <a:ext cx="9223373" cy="278606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5000" dirty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2364276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D6C4FC-7347-DEA0-51A8-878E036B73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84749" y="2047462"/>
            <a:ext cx="6173581" cy="424212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03488" y="5774200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3489" y="6047589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089150"/>
            <a:ext cx="3276600" cy="3429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8E15AC9-7292-3D13-6C73-282E69EE8F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991365" y="2089150"/>
            <a:ext cx="4597135" cy="342900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569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119878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119879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D811A-C99D-3B7A-BCC3-66DA844F1C8B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119878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747F1-959A-3806-A11E-FFACEFB693E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119879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1B0D53B-7E9B-3DC3-BA87-003824F65D9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3488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06E116-3C8D-CF15-BA0D-FE1D9DF8D8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008937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EF596F-37D3-8C56-AEC3-A941B57F4B8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8008938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5D416AB-5AB8-3255-9B13-3BFE55B1067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92547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FEF732-87F6-4DAB-0C27-9A712527F2FB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8008937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8E4127-A4BC-BD25-7D63-1979A3E79EF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008938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5C05823-0C0C-A242-FF86-E466B32E92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92547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51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966E7D02-A59E-D77B-34F9-177B59C8C7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9" name="Text Box 115">
            <a:extLst>
              <a:ext uri="{FF2B5EF4-FFF2-40B4-BE49-F238E27FC236}">
                <a16:creationId xmlns:a16="http://schemas.microsoft.com/office/drawing/2014/main" id="{C625C1F0-127F-73C3-7ADA-A6081E5B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10" name="Union" descr="preencoded.png">
            <a:extLst>
              <a:ext uri="{FF2B5EF4-FFF2-40B4-BE49-F238E27FC236}">
                <a16:creationId xmlns:a16="http://schemas.microsoft.com/office/drawing/2014/main" id="{2E0A7C26-1063-DA8C-412A-967875A0E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1" name="COMPANY OVERVIEW">
            <a:extLst>
              <a:ext uri="{FF2B5EF4-FFF2-40B4-BE49-F238E27FC236}">
                <a16:creationId xmlns:a16="http://schemas.microsoft.com/office/drawing/2014/main" id="{460D8598-B6F3-061C-1E91-55DD0B252539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1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Whit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701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F7739-5F3D-DF4D-BE90-E2362F48AC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587625" y="1874793"/>
            <a:ext cx="9223373" cy="2213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988E8C-D038-1253-4258-6D8D58C445F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742530" y="4610791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6F164B-E08C-29C0-7C1E-2FD6BCE1AD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742531" y="4905347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C4B69D7-624C-1666-EA6E-6FA241A2489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87624" y="4376447"/>
            <a:ext cx="928688" cy="92868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89971B2-6DA5-08CA-F7E5-1172BD30B562}"/>
              </a:ext>
            </a:extLst>
          </p:cNvPr>
          <p:cNvSpPr/>
          <p:nvPr/>
        </p:nvSpPr>
        <p:spPr>
          <a:xfrm>
            <a:off x="1107455" y="2004611"/>
            <a:ext cx="1010098" cy="804690"/>
          </a:xfrm>
          <a:custGeom>
            <a:avLst/>
            <a:gdLst>
              <a:gd name="csX0" fmla="*/ 436380 w 1212117"/>
              <a:gd name="csY0" fmla="*/ 528071 h 965628"/>
              <a:gd name="csX1" fmla="*/ 187312 w 1212117"/>
              <a:gd name="csY1" fmla="*/ 528071 h 965628"/>
              <a:gd name="csX2" fmla="*/ 187312 w 1212117"/>
              <a:gd name="csY2" fmla="*/ 409448 h 965628"/>
              <a:gd name="csX3" fmla="*/ 425638 w 1212117"/>
              <a:gd name="csY3" fmla="*/ 172264 h 965628"/>
              <a:gd name="csX4" fmla="*/ 433264 w 1212117"/>
              <a:gd name="csY4" fmla="*/ 172213 h 965628"/>
              <a:gd name="csX5" fmla="*/ 483088 w 1212117"/>
              <a:gd name="csY5" fmla="*/ 172213 h 965628"/>
              <a:gd name="csX6" fmla="*/ 483088 w 1212117"/>
              <a:gd name="csY6" fmla="*/ 13007 h 965628"/>
              <a:gd name="csX7" fmla="*/ 427044 w 1212117"/>
              <a:gd name="csY7" fmla="*/ 13007 h 965628"/>
              <a:gd name="csX8" fmla="*/ 427044 w 1212117"/>
              <a:gd name="csY8" fmla="*/ 0 h 965628"/>
              <a:gd name="csX9" fmla="*/ 496060 w 1212117"/>
              <a:gd name="csY9" fmla="*/ 0 h 965628"/>
              <a:gd name="csX10" fmla="*/ 496060 w 1212117"/>
              <a:gd name="csY10" fmla="*/ 185220 h 965628"/>
              <a:gd name="csX11" fmla="*/ 433264 w 1212117"/>
              <a:gd name="csY11" fmla="*/ 185220 h 965628"/>
              <a:gd name="csX12" fmla="*/ 257797 w 1212117"/>
              <a:gd name="csY12" fmla="*/ 240893 h 965628"/>
              <a:gd name="csX13" fmla="*/ 200284 w 1212117"/>
              <a:gd name="csY13" fmla="*/ 409448 h 965628"/>
              <a:gd name="csX14" fmla="*/ 200284 w 1212117"/>
              <a:gd name="csY14" fmla="*/ 515065 h 965628"/>
              <a:gd name="csX15" fmla="*/ 449352 w 1212117"/>
              <a:gd name="csY15" fmla="*/ 515065 h 965628"/>
              <a:gd name="csX16" fmla="*/ 449352 w 1212117"/>
              <a:gd name="csY16" fmla="*/ 965628 h 965628"/>
              <a:gd name="csX17" fmla="*/ 0 w 1212117"/>
              <a:gd name="csY17" fmla="*/ 965628 h 965628"/>
              <a:gd name="csX18" fmla="*/ 0 w 1212117"/>
              <a:gd name="csY18" fmla="*/ 418822 h 965628"/>
              <a:gd name="csX19" fmla="*/ 106273 w 1212117"/>
              <a:gd name="csY19" fmla="*/ 113340 h 965628"/>
              <a:gd name="csX20" fmla="*/ 106337 w 1212117"/>
              <a:gd name="csY20" fmla="*/ 113263 h 965628"/>
              <a:gd name="csX21" fmla="*/ 106400 w 1212117"/>
              <a:gd name="csY21" fmla="*/ 113200 h 965628"/>
              <a:gd name="csX22" fmla="*/ 427044 w 1212117"/>
              <a:gd name="csY22" fmla="*/ 0 h 965628"/>
              <a:gd name="csX23" fmla="*/ 427044 w 1212117"/>
              <a:gd name="csY23" fmla="*/ 13007 h 965628"/>
              <a:gd name="csX24" fmla="*/ 414300 w 1212117"/>
              <a:gd name="csY24" fmla="*/ 13108 h 965628"/>
              <a:gd name="csX25" fmla="*/ 115711 w 1212117"/>
              <a:gd name="csY25" fmla="*/ 122256 h 965628"/>
              <a:gd name="csX26" fmla="*/ 109390 w 1212117"/>
              <a:gd name="csY26" fmla="*/ 129166 h 965628"/>
              <a:gd name="csX27" fmla="*/ 12972 w 1212117"/>
              <a:gd name="csY27" fmla="*/ 418822 h 965628"/>
              <a:gd name="csX28" fmla="*/ 12972 w 1212117"/>
              <a:gd name="csY28" fmla="*/ 952622 h 965628"/>
              <a:gd name="csX29" fmla="*/ 436380 w 1212117"/>
              <a:gd name="csY29" fmla="*/ 952622 h 965628"/>
              <a:gd name="csX30" fmla="*/ 436380 w 1212117"/>
              <a:gd name="csY30" fmla="*/ 528071 h 965628"/>
              <a:gd name="csX31" fmla="*/ 1152449 w 1212117"/>
              <a:gd name="csY31" fmla="*/ 528071 h 965628"/>
              <a:gd name="csX32" fmla="*/ 903380 w 1212117"/>
              <a:gd name="csY32" fmla="*/ 528071 h 965628"/>
              <a:gd name="csX33" fmla="*/ 903380 w 1212117"/>
              <a:gd name="csY33" fmla="*/ 409448 h 965628"/>
              <a:gd name="csX34" fmla="*/ 1141707 w 1212117"/>
              <a:gd name="csY34" fmla="*/ 172264 h 965628"/>
              <a:gd name="csX35" fmla="*/ 1149333 w 1212117"/>
              <a:gd name="csY35" fmla="*/ 172213 h 965628"/>
              <a:gd name="csX36" fmla="*/ 1199145 w 1212117"/>
              <a:gd name="csY36" fmla="*/ 172213 h 965628"/>
              <a:gd name="csX37" fmla="*/ 1199145 w 1212117"/>
              <a:gd name="csY37" fmla="*/ 13007 h 965628"/>
              <a:gd name="csX38" fmla="*/ 1143113 w 1212117"/>
              <a:gd name="csY38" fmla="*/ 13007 h 965628"/>
              <a:gd name="csX39" fmla="*/ 1143113 w 1212117"/>
              <a:gd name="csY39" fmla="*/ 0 h 965628"/>
              <a:gd name="csX40" fmla="*/ 1212117 w 1212117"/>
              <a:gd name="csY40" fmla="*/ 0 h 965628"/>
              <a:gd name="csX41" fmla="*/ 1212117 w 1212117"/>
              <a:gd name="csY41" fmla="*/ 185220 h 965628"/>
              <a:gd name="csX42" fmla="*/ 1149333 w 1212117"/>
              <a:gd name="csY42" fmla="*/ 185220 h 965628"/>
              <a:gd name="csX43" fmla="*/ 973866 w 1212117"/>
              <a:gd name="csY43" fmla="*/ 240893 h 965628"/>
              <a:gd name="csX44" fmla="*/ 916352 w 1212117"/>
              <a:gd name="csY44" fmla="*/ 409448 h 965628"/>
              <a:gd name="csX45" fmla="*/ 916352 w 1212117"/>
              <a:gd name="csY45" fmla="*/ 515065 h 965628"/>
              <a:gd name="csX46" fmla="*/ 1165421 w 1212117"/>
              <a:gd name="csY46" fmla="*/ 515065 h 965628"/>
              <a:gd name="csX47" fmla="*/ 1165421 w 1212117"/>
              <a:gd name="csY47" fmla="*/ 965628 h 965628"/>
              <a:gd name="csX48" fmla="*/ 716069 w 1212117"/>
              <a:gd name="csY48" fmla="*/ 965628 h 965628"/>
              <a:gd name="csX49" fmla="*/ 716069 w 1212117"/>
              <a:gd name="csY49" fmla="*/ 418822 h 965628"/>
              <a:gd name="csX50" fmla="*/ 822342 w 1212117"/>
              <a:gd name="csY50" fmla="*/ 113340 h 965628"/>
              <a:gd name="csX51" fmla="*/ 822406 w 1212117"/>
              <a:gd name="csY51" fmla="*/ 113263 h 965628"/>
              <a:gd name="csX52" fmla="*/ 822468 w 1212117"/>
              <a:gd name="csY52" fmla="*/ 113200 h 965628"/>
              <a:gd name="csX53" fmla="*/ 1143113 w 1212117"/>
              <a:gd name="csY53" fmla="*/ 0 h 965628"/>
              <a:gd name="csX54" fmla="*/ 1143113 w 1212117"/>
              <a:gd name="csY54" fmla="*/ 13007 h 965628"/>
              <a:gd name="csX55" fmla="*/ 1130369 w 1212117"/>
              <a:gd name="csY55" fmla="*/ 13108 h 965628"/>
              <a:gd name="csX56" fmla="*/ 831780 w 1212117"/>
              <a:gd name="csY56" fmla="*/ 122256 h 965628"/>
              <a:gd name="csX57" fmla="*/ 825458 w 1212117"/>
              <a:gd name="csY57" fmla="*/ 129166 h 965628"/>
              <a:gd name="csX58" fmla="*/ 729041 w 1212117"/>
              <a:gd name="csY58" fmla="*/ 418822 h 965628"/>
              <a:gd name="csX59" fmla="*/ 729041 w 1212117"/>
              <a:gd name="csY59" fmla="*/ 952622 h 965628"/>
              <a:gd name="csX60" fmla="*/ 1152449 w 1212117"/>
              <a:gd name="csY60" fmla="*/ 952622 h 965628"/>
              <a:gd name="csX61" fmla="*/ 1152449 w 1212117"/>
              <a:gd name="csY61" fmla="*/ 528071 h 965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1212117" h="965628">
                <a:moveTo>
                  <a:pt x="436380" y="528071"/>
                </a:moveTo>
                <a:lnTo>
                  <a:pt x="187312" y="528071"/>
                </a:lnTo>
                <a:lnTo>
                  <a:pt x="187312" y="409448"/>
                </a:lnTo>
                <a:cubicBezTo>
                  <a:pt x="187312" y="253760"/>
                  <a:pt x="266758" y="174698"/>
                  <a:pt x="425638" y="172264"/>
                </a:cubicBezTo>
                <a:lnTo>
                  <a:pt x="433264" y="172213"/>
                </a:lnTo>
                <a:lnTo>
                  <a:pt x="483088" y="172213"/>
                </a:lnTo>
                <a:lnTo>
                  <a:pt x="483088" y="13007"/>
                </a:lnTo>
                <a:lnTo>
                  <a:pt x="427044" y="13007"/>
                </a:lnTo>
                <a:lnTo>
                  <a:pt x="427044" y="0"/>
                </a:lnTo>
                <a:lnTo>
                  <a:pt x="496060" y="0"/>
                </a:lnTo>
                <a:lnTo>
                  <a:pt x="496060" y="185220"/>
                </a:lnTo>
                <a:lnTo>
                  <a:pt x="433264" y="185220"/>
                </a:lnTo>
                <a:cubicBezTo>
                  <a:pt x="353159" y="185221"/>
                  <a:pt x="295484" y="204541"/>
                  <a:pt x="257797" y="240893"/>
                </a:cubicBezTo>
                <a:cubicBezTo>
                  <a:pt x="220205" y="277154"/>
                  <a:pt x="200284" y="332505"/>
                  <a:pt x="200284" y="409448"/>
                </a:cubicBezTo>
                <a:lnTo>
                  <a:pt x="200284" y="515065"/>
                </a:lnTo>
                <a:lnTo>
                  <a:pt x="449352" y="515065"/>
                </a:lnTo>
                <a:lnTo>
                  <a:pt x="449352" y="965628"/>
                </a:lnTo>
                <a:lnTo>
                  <a:pt x="0" y="965628"/>
                </a:lnTo>
                <a:lnTo>
                  <a:pt x="0" y="418822"/>
                </a:lnTo>
                <a:cubicBezTo>
                  <a:pt x="0" y="291498"/>
                  <a:pt x="34984" y="189152"/>
                  <a:pt x="106273" y="113340"/>
                </a:cubicBezTo>
                <a:lnTo>
                  <a:pt x="106337" y="113263"/>
                </a:lnTo>
                <a:lnTo>
                  <a:pt x="106400" y="113200"/>
                </a:lnTo>
                <a:cubicBezTo>
                  <a:pt x="180176" y="37051"/>
                  <a:pt x="287829" y="0"/>
                  <a:pt x="427044" y="0"/>
                </a:cubicBezTo>
                <a:lnTo>
                  <a:pt x="427044" y="13007"/>
                </a:lnTo>
                <a:lnTo>
                  <a:pt x="414300" y="13108"/>
                </a:lnTo>
                <a:cubicBezTo>
                  <a:pt x="283605" y="15313"/>
                  <a:pt x="184076" y="51696"/>
                  <a:pt x="115711" y="122256"/>
                </a:cubicBezTo>
                <a:lnTo>
                  <a:pt x="109390" y="129166"/>
                </a:lnTo>
                <a:cubicBezTo>
                  <a:pt x="45110" y="201304"/>
                  <a:pt x="12972" y="297859"/>
                  <a:pt x="12972" y="418822"/>
                </a:cubicBezTo>
                <a:lnTo>
                  <a:pt x="12972" y="952622"/>
                </a:lnTo>
                <a:lnTo>
                  <a:pt x="436380" y="952622"/>
                </a:lnTo>
                <a:lnTo>
                  <a:pt x="436380" y="528071"/>
                </a:lnTo>
                <a:close/>
                <a:moveTo>
                  <a:pt x="1152449" y="528071"/>
                </a:moveTo>
                <a:lnTo>
                  <a:pt x="903380" y="528071"/>
                </a:lnTo>
                <a:lnTo>
                  <a:pt x="903380" y="409448"/>
                </a:lnTo>
                <a:cubicBezTo>
                  <a:pt x="903381" y="253759"/>
                  <a:pt x="982824" y="174697"/>
                  <a:pt x="1141707" y="172264"/>
                </a:cubicBezTo>
                <a:lnTo>
                  <a:pt x="1149333" y="172213"/>
                </a:lnTo>
                <a:lnTo>
                  <a:pt x="1199145" y="172213"/>
                </a:lnTo>
                <a:lnTo>
                  <a:pt x="1199145" y="13007"/>
                </a:lnTo>
                <a:lnTo>
                  <a:pt x="1143113" y="13007"/>
                </a:lnTo>
                <a:lnTo>
                  <a:pt x="1143113" y="0"/>
                </a:lnTo>
                <a:lnTo>
                  <a:pt x="1212117" y="0"/>
                </a:lnTo>
                <a:lnTo>
                  <a:pt x="1212117" y="185220"/>
                </a:lnTo>
                <a:lnTo>
                  <a:pt x="1149333" y="185220"/>
                </a:lnTo>
                <a:cubicBezTo>
                  <a:pt x="1069227" y="185221"/>
                  <a:pt x="1011554" y="204541"/>
                  <a:pt x="973866" y="240893"/>
                </a:cubicBezTo>
                <a:cubicBezTo>
                  <a:pt x="936273" y="277154"/>
                  <a:pt x="916353" y="332504"/>
                  <a:pt x="916352" y="409448"/>
                </a:cubicBezTo>
                <a:lnTo>
                  <a:pt x="916352" y="515065"/>
                </a:lnTo>
                <a:lnTo>
                  <a:pt x="1165421" y="515065"/>
                </a:lnTo>
                <a:lnTo>
                  <a:pt x="1165421" y="965628"/>
                </a:lnTo>
                <a:lnTo>
                  <a:pt x="716069" y="965628"/>
                </a:lnTo>
                <a:lnTo>
                  <a:pt x="716069" y="418822"/>
                </a:lnTo>
                <a:cubicBezTo>
                  <a:pt x="716069" y="291498"/>
                  <a:pt x="751052" y="189152"/>
                  <a:pt x="822342" y="113340"/>
                </a:cubicBezTo>
                <a:lnTo>
                  <a:pt x="822406" y="113263"/>
                </a:lnTo>
                <a:lnTo>
                  <a:pt x="822468" y="113200"/>
                </a:lnTo>
                <a:cubicBezTo>
                  <a:pt x="896245" y="37051"/>
                  <a:pt x="1003897" y="0"/>
                  <a:pt x="1143113" y="0"/>
                </a:cubicBezTo>
                <a:lnTo>
                  <a:pt x="1143113" y="13007"/>
                </a:lnTo>
                <a:lnTo>
                  <a:pt x="1130369" y="13108"/>
                </a:lnTo>
                <a:cubicBezTo>
                  <a:pt x="999674" y="15313"/>
                  <a:pt x="900144" y="51696"/>
                  <a:pt x="831780" y="122256"/>
                </a:cubicBezTo>
                <a:lnTo>
                  <a:pt x="825458" y="129166"/>
                </a:lnTo>
                <a:cubicBezTo>
                  <a:pt x="761178" y="201304"/>
                  <a:pt x="729041" y="297857"/>
                  <a:pt x="729041" y="418822"/>
                </a:cubicBezTo>
                <a:lnTo>
                  <a:pt x="729041" y="952622"/>
                </a:lnTo>
                <a:lnTo>
                  <a:pt x="1152449" y="952622"/>
                </a:lnTo>
                <a:lnTo>
                  <a:pt x="1152449" y="528071"/>
                </a:lnTo>
                <a:close/>
              </a:path>
            </a:pathLst>
          </a:custGeom>
          <a:solidFill>
            <a:schemeClr val="accent5"/>
          </a:solidFill>
          <a:ln w="12970" cap="flat">
            <a:noFill/>
            <a:prstDash val="solid"/>
            <a:miter/>
          </a:ln>
        </p:spPr>
        <p:txBody>
          <a:bodyPr/>
          <a:lstStyle/>
          <a:p>
            <a:endParaRPr lang="en-DE" dirty="0">
              <a:solidFill>
                <a:schemeClr val="accent4"/>
              </a:solidFill>
              <a:latin typeface="Inter" panose="02000503000000020004" pitchFamily="50" charset="0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A048D12D-29DD-D8DF-D0A4-9A36FD29DD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E3E80215-1A0C-AEE9-21D0-C1DFF761B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9" name="Union" descr="preencoded.png">
            <a:extLst>
              <a:ext uri="{FF2B5EF4-FFF2-40B4-BE49-F238E27FC236}">
                <a16:creationId xmlns:a16="http://schemas.microsoft.com/office/drawing/2014/main" id="{84A28516-F244-E772-2F22-00C058D757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0" name="COMPANY OVERVIEW">
            <a:extLst>
              <a:ext uri="{FF2B5EF4-FFF2-40B4-BE49-F238E27FC236}">
                <a16:creationId xmlns:a16="http://schemas.microsoft.com/office/drawing/2014/main" id="{73581848-D525-1749-FBFB-E0E176CEEBC1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46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8104F-AAE6-B720-6AA2-9965E47FA0B2}"/>
              </a:ext>
            </a:extLst>
          </p:cNvPr>
          <p:cNvSpPr/>
          <p:nvPr userDrawn="1"/>
        </p:nvSpPr>
        <p:spPr>
          <a:xfrm>
            <a:off x="0" y="401411"/>
            <a:ext cx="12192000" cy="6456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42B0A81-49C8-FCE9-4620-D42F33FDA2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0082" y="516443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1B71CE-FC70-2F19-3188-ACCD0DB193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17682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4AFB4-FC0D-A2B9-7EC1-DD4D7717C9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30082" y="3540124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EF1DFB8-BC9A-B59F-8B8A-BC5D1016A3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17682" y="3540125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C11F13A-F960-0FFA-2F9F-71D30C7E6C9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84751" y="516443"/>
            <a:ext cx="4603750" cy="5886979"/>
          </a:xfrm>
          <a:prstGeom prst="roundRect">
            <a:avLst>
              <a:gd name="adj" fmla="val 2349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9AEF74C-2790-BA06-A268-BE5922DA3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47250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2D46F34-3342-C2E2-018B-2A1814EC730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50" y="3540124"/>
            <a:ext cx="2208318" cy="2863299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06C4B-AD0F-177E-920A-CFF3206E071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879712-D34B-145B-F968-944F6414925F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9665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Canv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483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540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8630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35225"/>
            <a:ext cx="12192000" cy="1987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057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F4D50-45C8-DA6C-C9B8-13ED37CF3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7500" y="2231508"/>
            <a:ext cx="6477000" cy="2394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DDA3C-197F-4DFB-CFBA-4D8F92B01B89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37062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11" name="HeaderMasthead" descr="preencoded.png">
            <a:extLst>
              <a:ext uri="{FF2B5EF4-FFF2-40B4-BE49-F238E27FC236}">
                <a16:creationId xmlns:a16="http://schemas.microsoft.com/office/drawing/2014/main" id="{7AD18B85-66FF-545C-62C1-1AA3E2F607F2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 t="7407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  <a:solidFill>
            <a:srgbClr val="F6F3F0"/>
          </a:solidFill>
        </p:spPr>
      </p:pic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57FED08E-39F8-715B-3405-179C34F64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COMPANY OVERVIEW">
            <a:extLst>
              <a:ext uri="{FF2B5EF4-FFF2-40B4-BE49-F238E27FC236}">
                <a16:creationId xmlns:a16="http://schemas.microsoft.com/office/drawing/2014/main" id="{7B162524-8505-A661-2881-71985958524A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490" y="2089150"/>
            <a:ext cx="11407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334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21" r:id="rId2"/>
    <p:sldLayoutId id="2147483739" r:id="rId3"/>
    <p:sldLayoutId id="2147483674" r:id="rId4"/>
    <p:sldLayoutId id="2147483697" r:id="rId5"/>
    <p:sldLayoutId id="2147483734" r:id="rId6"/>
    <p:sldLayoutId id="2147483714" r:id="rId7"/>
    <p:sldLayoutId id="2147483696" r:id="rId8"/>
    <p:sldLayoutId id="2147483705" r:id="rId9"/>
    <p:sldLayoutId id="2147483718" r:id="rId10"/>
    <p:sldLayoutId id="2147483694" r:id="rId11"/>
    <p:sldLayoutId id="2147483738" r:id="rId12"/>
    <p:sldLayoutId id="2147483740" r:id="rId13"/>
    <p:sldLayoutId id="2147483746" r:id="rId14"/>
    <p:sldLayoutId id="2147483701" r:id="rId15"/>
    <p:sldLayoutId id="2147483744" r:id="rId16"/>
    <p:sldLayoutId id="2147483745" r:id="rId17"/>
    <p:sldLayoutId id="2147483743" r:id="rId18"/>
    <p:sldLayoutId id="2147483711" r:id="rId19"/>
    <p:sldLayoutId id="2147483742" r:id="rId20"/>
    <p:sldLayoutId id="2147483719" r:id="rId21"/>
    <p:sldLayoutId id="2147483677" r:id="rId22"/>
    <p:sldLayoutId id="2147483720" r:id="rId23"/>
    <p:sldLayoutId id="2147483678" r:id="rId24"/>
    <p:sldLayoutId id="2147483737" r:id="rId2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228600" indent="-22860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517525" indent="-288925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800100" indent="-27305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5034" userDrawn="1">
          <p15:clr>
            <a:srgbClr val="F26B43"/>
          </p15:clr>
        </p15:guide>
        <p15:guide id="7" pos="288">
          <p15:clr>
            <a:srgbClr val="F26B43"/>
          </p15:clr>
        </p15:guide>
        <p15:guide id="8" pos="1836" userDrawn="1">
          <p15:clr>
            <a:srgbClr val="F26B43"/>
          </p15:clr>
        </p15:guide>
        <p15:guide id="9" pos="1956" userDrawn="1">
          <p15:clr>
            <a:srgbClr val="F26B43"/>
          </p15:clr>
        </p15:guide>
        <p15:guide id="10" pos="3648" userDrawn="1">
          <p15:clr>
            <a:srgbClr val="F26B43"/>
          </p15:clr>
        </p15:guide>
        <p15:guide id="11" pos="3768" userDrawn="1">
          <p15:clr>
            <a:srgbClr val="F26B43"/>
          </p15:clr>
        </p15:guide>
        <p15:guide id="12" pos="5448" userDrawn="1">
          <p15:clr>
            <a:srgbClr val="F26B43"/>
          </p15:clr>
        </p15:guide>
        <p15:guide id="13" pos="5568" userDrawn="1">
          <p15:clr>
            <a:srgbClr val="F26B43"/>
          </p15:clr>
        </p15:guide>
        <p15:guide id="14" pos="7248" userDrawn="1">
          <p15:clr>
            <a:srgbClr val="F26B43"/>
          </p15:clr>
        </p15:guide>
        <p15:guide id="15" pos="7368" userDrawn="1">
          <p15:clr>
            <a:srgbClr val="F26B43"/>
          </p15:clr>
        </p15:guide>
        <p15:guide id="16" pos="168" userDrawn="1">
          <p15:clr>
            <a:srgbClr val="F26B43"/>
          </p15:clr>
        </p15:guide>
        <p15:guide id="17" pos="9048" userDrawn="1">
          <p15:clr>
            <a:srgbClr val="F26B43"/>
          </p15:clr>
        </p15:guide>
        <p15:guide id="18" orient="horz" pos="48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09080" y="65812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 / 18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952500"/>
            <a:ext cx="57150" cy="38100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12470" y="1483995"/>
            <a:ext cx="280209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CodeGraph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3425" y="2281238"/>
            <a:ext cx="442269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让 AI 编程助手"看透"你的代码库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952750"/>
            <a:ext cx="10477500" cy="19050"/>
          </a:xfrm>
          <a:prstGeom prst="rect">
            <a:avLst/>
          </a:prstGeom>
          <a:solidFill>
            <a:srgbClr val="FFAE4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762000" y="32385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745390" y="3297555"/>
            <a:ext cx="7002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70%+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2112" y="36776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BD5E1"/>
                </a:solidFill>
                <a:latin typeface="Calibri"/>
                <a:ea typeface="Microsoft YaHei"/>
                <a:cs typeface="Calibri"/>
              </a:rPr>
              <a:t>工具调用减少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619500" y="32385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683750" y="3297555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35%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46103" y="3677602"/>
            <a:ext cx="10137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BD5E1"/>
                </a:solidFill>
                <a:latin typeface="Calibri"/>
                <a:ea typeface="Microsoft YaHei"/>
                <a:cs typeface="Calibri"/>
              </a:rPr>
              <a:t>Token 费用节省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32385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497144" y="3297555"/>
            <a:ext cx="6267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995FF"/>
                </a:solidFill>
                <a:latin typeface="Calibri Light"/>
                <a:ea typeface="Microsoft YaHei"/>
                <a:cs typeface="Calibri Light"/>
              </a:rPr>
              <a:t>100%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17130" y="36776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BD5E1"/>
                </a:solidFill>
                <a:latin typeface="Calibri"/>
                <a:ea typeface="Microsoft YaHei"/>
                <a:cs typeface="Calibri"/>
              </a:rPr>
              <a:t>本地运行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381500"/>
            <a:ext cx="10477500" cy="419100"/>
          </a:xfrm>
          <a:prstGeom prst="roundRect">
            <a:avLst>
              <a:gd name="adj" fmla="val 13636"/>
            </a:avLst>
          </a:prstGeom>
          <a:solidFill>
            <a:srgbClr val="1E293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224915" y="4534852"/>
            <a:ext cx="873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支持 Agent：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63165" y="453485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Claude Code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6665" y="4534852"/>
            <a:ext cx="488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Cursor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49165" y="4534852"/>
            <a:ext cx="4117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Codex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01665" y="4534852"/>
            <a:ext cx="6847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Gemini CLI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165" y="4534852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GitHub ★ 29.9k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5808" y="5196364"/>
            <a:ext cx="31437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团队内部技术分享 / AI 编程效率专题培训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5458778"/>
            <a:ext cx="3653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colbymchenry/codegraph · MIT · v0.9.6 · 2026-05-28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2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目录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5524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457200" y="1285875"/>
            <a:ext cx="57150" cy="47625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35318" y="1352074"/>
            <a:ext cx="9283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 Light"/>
                <a:ea typeface="Microsoft YaHei"/>
                <a:cs typeface="Calibri Light"/>
              </a:rPr>
              <a:t>PART 1 · 为什么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1508" y="1519714"/>
            <a:ext cx="20407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为什么需要 CodeGraph？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57200" y="1876425"/>
            <a:ext cx="5524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35318" y="194262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" y="1918335"/>
            <a:ext cx="15106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什么是 CodeGraph？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318" y="21140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7260" y="208978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痛点分析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2409825"/>
            <a:ext cx="5524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35318" y="247602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7260" y="245173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收益数据（基准测试）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5318" y="26474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7260" y="262318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工作原理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7200" y="3000375"/>
            <a:ext cx="5524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457200" y="3000375"/>
            <a:ext cx="57150" cy="476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35318" y="3066574"/>
            <a:ext cx="960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 Light"/>
                <a:ea typeface="Microsoft YaHei"/>
                <a:cs typeface="Calibri Light"/>
              </a:rPr>
              <a:t>PART 2 · 怎么用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1508" y="3234214"/>
            <a:ext cx="1639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功能详解与上手指南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590925"/>
            <a:ext cx="55245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635318" y="365712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07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7260" y="363283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核心功能一览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5318" y="3828574"/>
            <a:ext cx="382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08-09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7260" y="3804285"/>
            <a:ext cx="18387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MCP 工具详解 &amp; 最佳实践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5318" y="4000024"/>
            <a:ext cx="317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10-12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7260" y="3975735"/>
            <a:ext cx="1766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安装、初始化 &amp; CLI 速查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1285875"/>
            <a:ext cx="54483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34"/>
          <p:cNvSpPr/>
          <p:nvPr/>
        </p:nvSpPr>
        <p:spPr>
          <a:xfrm>
            <a:off x="6286500" y="1285875"/>
            <a:ext cx="57150" cy="476250"/>
          </a:xfrm>
          <a:prstGeom prst="roundRect">
            <a:avLst>
              <a:gd name="adj" fmla="val 50000"/>
            </a:avLst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6464618" y="1352074"/>
            <a:ext cx="12404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 Light"/>
                <a:ea typeface="Microsoft YaHei"/>
                <a:cs typeface="Calibri Light"/>
              </a:rPr>
              <a:t>PART 3 · 实战 &amp; 扩展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0808" y="1519714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落地与扩展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286500" y="1876425"/>
            <a:ext cx="54483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464618" y="1942624"/>
            <a:ext cx="1352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13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85610" y="1918335"/>
            <a:ext cx="16146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实战案例：MyAIStudy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64618" y="2114074"/>
            <a:ext cx="317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14-15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85610" y="2089785"/>
            <a:ext cx="19827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支持的 Agent、平台 &amp; 语言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4618" y="2285524"/>
            <a:ext cx="317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16-17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85610" y="226123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FAQ &amp; 总结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286500" y="3000375"/>
            <a:ext cx="5448300" cy="381000"/>
          </a:xfrm>
          <a:prstGeom prst="roundRect">
            <a:avLst>
              <a:gd name="adj" fmla="val 15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 45"/>
          <p:cNvSpPr/>
          <p:nvPr/>
        </p:nvSpPr>
        <p:spPr>
          <a:xfrm>
            <a:off x="6286500" y="3000375"/>
            <a:ext cx="57150" cy="3810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6462712" y="3107531"/>
            <a:ext cx="26839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⏱ 预计时长：30 分钟分享 + 10 分钟 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3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27731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什么是 CodeGraph？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6858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41998" y="1420654"/>
            <a:ext cx="130016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一句话定义：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7402" y="1436846"/>
            <a:ext cx="320959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CodeGraph 是一个为 AI 编程助手提供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1652" y="1436846"/>
            <a:ext cx="183191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预构建代码知识图谱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1902" y="1436846"/>
            <a:ext cx="12618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的 MCP 服务器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1718310"/>
            <a:ext cx="38229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支持 Claude Code / Cursor / Codex 等主流 AI Agent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" y="2143125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457200" y="2143125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770698" y="23622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知识图谱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2877" y="2696528"/>
            <a:ext cx="1433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tree-sitter 解析 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1512" y="3002756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提取符号：函数 / 类 / 方法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1512" y="3231356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提取边：调用 / 导入 / 继承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1512" y="3459956"/>
            <a:ext cx="17912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存入本地 SQLite + FTS5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1512" y="3688556"/>
            <a:ext cx="1356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跨语言调用链追踪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43400" y="2143125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4343400" y="2143125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5536132" y="2362200"/>
            <a:ext cx="11197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MCP 服务器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1566" y="2696528"/>
            <a:ext cx="1608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Model Context Protocol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7712" y="3002756"/>
            <a:ext cx="14237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暴露 10 个查询工具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7712" y="3231356"/>
            <a:ext cx="1386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AI Agent 直接调用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7712" y="3459956"/>
            <a:ext cx="1371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无需 prompt 注入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7712" y="3688556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毫秒级响应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29600" y="2143125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31"/>
          <p:cNvSpPr/>
          <p:nvPr/>
        </p:nvSpPr>
        <p:spPr>
          <a:xfrm>
            <a:off x="8229600" y="2143125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9648111" y="236220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零配置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38786" y="269652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文件保存后自动同步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43912" y="3002756"/>
            <a:ext cx="10562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无需配置文件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43912" y="3231356"/>
            <a:ext cx="15962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OS 原生文件事件监听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43912" y="3459956"/>
            <a:ext cx="13337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2 秒防抖增量更新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43912" y="3688556"/>
            <a:ext cx="150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一次建图，持续受益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7200" y="4238625"/>
            <a:ext cx="11277600" cy="419100"/>
          </a:xfrm>
          <a:prstGeom prst="roundRect">
            <a:avLst>
              <a:gd name="adj" fmla="val 13636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 39"/>
          <p:cNvSpPr/>
          <p:nvPr/>
        </p:nvSpPr>
        <p:spPr>
          <a:xfrm>
            <a:off x="457200" y="42386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671512" y="436483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开源：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3962" y="4364831"/>
            <a:ext cx="27364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github.com/colbymchenry/codegraph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48212" y="4364831"/>
            <a:ext cx="26764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· 协议：MIT · 版本：v0.9.6 · ★ 29.9k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4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为什么需要 CodeGraph？— 痛点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476250"/>
          </a:xfrm>
          <a:prstGeom prst="roundRect">
            <a:avLst>
              <a:gd name="adj" fmla="val 12000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457200" y="1285875"/>
            <a:ext cx="57150" cy="476250"/>
          </a:xfrm>
          <a:prstGeom prst="roundRect">
            <a:avLst>
              <a:gd name="adj" fmla="val 50000"/>
            </a:avLst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72465" y="1363028"/>
            <a:ext cx="32050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场景：没有 CodeGraph 时，AI 是怎么探索代码的？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655" y="1511618"/>
            <a:ext cx="36446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392B"/>
                </a:solidFill>
                <a:latin typeface="Calibri Light"/>
                <a:ea typeface="Microsoft YaHei"/>
                <a:cs typeface="Calibri Light"/>
              </a:rPr>
              <a:t>用户问："一个请求是怎么到达数据库的？"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1952625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/>
          <p:nvPr/>
        </p:nvSpPr>
        <p:spPr>
          <a:xfrm>
            <a:off x="952500" y="1952625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590675" y="20978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用户提问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7826" y="231409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AI 开始工作</a:t>
            </a:r>
          </a:p>
        </p:txBody>
      </p:sp>
      <p:sp>
        <p:nvSpPr>
          <p:cNvPr id="16" name="Polygon 16"/>
          <p:cNvSpPr/>
          <p:nvPr/>
        </p:nvSpPr>
        <p:spPr>
          <a:xfrm>
            <a:off x="3028950" y="2238375"/>
            <a:ext cx="209550" cy="123825"/>
          </a:xfrm>
          <a:custGeom>
            <a:avLst/>
            <a:gdLst/>
            <a:ahLst/>
            <a:cxnLst/>
            <a:rect l="l" t="t" r="r" b="b"/>
            <a:pathLst>
              <a:path w="209550" h="123825">
                <a:moveTo>
                  <a:pt x="0" y="0"/>
                </a:moveTo>
                <a:lnTo>
                  <a:pt x="209550" y="0"/>
                </a:lnTo>
                <a:lnTo>
                  <a:pt x="104775" y="123825"/>
                </a:ln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7"/>
          <p:cNvSpPr/>
          <p:nvPr/>
        </p:nvSpPr>
        <p:spPr>
          <a:xfrm>
            <a:off x="2857500" y="2200275"/>
            <a:ext cx="285750" cy="762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8"/>
          <p:cNvSpPr/>
          <p:nvPr/>
        </p:nvSpPr>
        <p:spPr>
          <a:xfrm>
            <a:off x="3238500" y="1952625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3238500" y="1952625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3734157" y="2097881"/>
            <a:ext cx="913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产生 Explore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15335" y="2314099"/>
            <a:ext cx="5513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子 Agent</a:t>
            </a:r>
          </a:p>
        </p:txBody>
      </p:sp>
      <p:sp>
        <p:nvSpPr>
          <p:cNvPr id="22" name="Polygon 22"/>
          <p:cNvSpPr/>
          <p:nvPr/>
        </p:nvSpPr>
        <p:spPr>
          <a:xfrm>
            <a:off x="5314950" y="2238375"/>
            <a:ext cx="209550" cy="123825"/>
          </a:xfrm>
          <a:custGeom>
            <a:avLst/>
            <a:gdLst/>
            <a:ahLst/>
            <a:cxnLst/>
            <a:rect l="l" t="t" r="r" b="b"/>
            <a:pathLst>
              <a:path w="209550" h="123825">
                <a:moveTo>
                  <a:pt x="0" y="0"/>
                </a:moveTo>
                <a:lnTo>
                  <a:pt x="209550" y="0"/>
                </a:lnTo>
                <a:lnTo>
                  <a:pt x="104775" y="123825"/>
                </a:ln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5143500" y="2200275"/>
            <a:ext cx="285750" cy="762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24"/>
          <p:cNvSpPr/>
          <p:nvPr/>
        </p:nvSpPr>
        <p:spPr>
          <a:xfrm>
            <a:off x="5524500" y="1952625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5"/>
          <p:cNvSpPr/>
          <p:nvPr/>
        </p:nvSpPr>
        <p:spPr>
          <a:xfrm>
            <a:off x="5524500" y="1952625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6012656" y="209788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大量工具调用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02297" y="2314099"/>
            <a:ext cx="11494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grep / glob / Read</a:t>
            </a:r>
          </a:p>
        </p:txBody>
      </p:sp>
      <p:sp>
        <p:nvSpPr>
          <p:cNvPr id="28" name="Polygon 28"/>
          <p:cNvSpPr/>
          <p:nvPr/>
        </p:nvSpPr>
        <p:spPr>
          <a:xfrm>
            <a:off x="7600950" y="2238375"/>
            <a:ext cx="209550" cy="123825"/>
          </a:xfrm>
          <a:custGeom>
            <a:avLst/>
            <a:gdLst/>
            <a:ahLst/>
            <a:cxnLst/>
            <a:rect l="l" t="t" r="r" b="b"/>
            <a:pathLst>
              <a:path w="209550" h="123825">
                <a:moveTo>
                  <a:pt x="0" y="0"/>
                </a:moveTo>
                <a:lnTo>
                  <a:pt x="209550" y="0"/>
                </a:lnTo>
                <a:lnTo>
                  <a:pt x="104775" y="123825"/>
                </a:ln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29"/>
          <p:cNvSpPr/>
          <p:nvPr/>
        </p:nvSpPr>
        <p:spPr>
          <a:xfrm>
            <a:off x="7429500" y="2200275"/>
            <a:ext cx="285750" cy="762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7810500" y="1952625"/>
            <a:ext cx="2095500" cy="57150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315146" y="2097881"/>
            <a:ext cx="10862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消耗大量 Token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1059" y="2314099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E0D5"/>
                </a:solidFill>
                <a:latin typeface="Calibri"/>
                <a:ea typeface="Microsoft YaHei"/>
                <a:cs typeface="Calibri"/>
              </a:rPr>
              <a:t>速度慢 · 费用高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0550" y="27908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核心痛点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" y="3048000"/>
            <a:ext cx="11277600" cy="19050"/>
          </a:xfrm>
          <a:prstGeom prst="rect">
            <a:avLst/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5"/>
          <p:cNvSpPr/>
          <p:nvPr/>
        </p:nvSpPr>
        <p:spPr>
          <a:xfrm>
            <a:off x="457200" y="3200400"/>
            <a:ext cx="35052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6"/>
          <p:cNvSpPr/>
          <p:nvPr/>
        </p:nvSpPr>
        <p:spPr>
          <a:xfrm>
            <a:off x="457200" y="32004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745808" y="3358039"/>
            <a:ext cx="18354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0392B"/>
                </a:solidFill>
                <a:latin typeface="Calibri Light"/>
                <a:ea typeface="Microsoft YaHei"/>
                <a:cs typeface="Calibri Light"/>
              </a:rPr>
              <a:t>每次都要重新"扫文件"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7712" y="3621881"/>
            <a:ext cx="18513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没有记忆代码结构的能力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7712" y="383143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每次回答独立重建上下文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7712" y="404098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同一个问题重复探索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343400" y="3200400"/>
            <a:ext cx="35052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42"/>
          <p:cNvSpPr/>
          <p:nvPr/>
        </p:nvSpPr>
        <p:spPr>
          <a:xfrm>
            <a:off x="4343400" y="32004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4632008" y="3358039"/>
            <a:ext cx="1639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0392B"/>
                </a:solidFill>
                <a:latin typeface="Calibri Light"/>
                <a:ea typeface="Microsoft YaHei"/>
                <a:cs typeface="Calibri Light"/>
              </a:rPr>
              <a:t>大型代码库尤其严重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33912" y="3621881"/>
            <a:ext cx="16937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VS Code ≈ 10,000 个文件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33912" y="3831431"/>
            <a:ext cx="13112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每次 glob 扫全仓库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33912" y="404098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速度慢且结果噪声大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229600" y="3200400"/>
            <a:ext cx="35052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8229600" y="32004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8518208" y="3358039"/>
            <a:ext cx="1639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C0392B"/>
                </a:solidFill>
                <a:latin typeface="Calibri Light"/>
                <a:ea typeface="Microsoft YaHei"/>
                <a:cs typeface="Calibri Light"/>
              </a:rPr>
              <a:t>跨文件追踪极其困难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20112" y="362188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函数调用链跨越多个文件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20112" y="383143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无法跨语言追踪调用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520112" y="4040981"/>
            <a:ext cx="18513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容易迷失、遗漏关键链路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57200" y="4667250"/>
            <a:ext cx="11277600" cy="457200"/>
          </a:xfrm>
          <a:prstGeom prst="roundRect">
            <a:avLst>
              <a:gd name="adj" fmla="val 12500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54"/>
          <p:cNvSpPr txBox="1"/>
          <p:nvPr/>
        </p:nvSpPr>
        <p:spPr>
          <a:xfrm>
            <a:off x="3712262" y="4815364"/>
            <a:ext cx="47674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结果：AI 回答变慢、费用飙升、精度下降 —— 尤其在大型项目中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55581" y="175260"/>
            <a:ext cx="16523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5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478733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为什么需要 CodeGraph？— 收益数据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218" y="1180624"/>
            <a:ext cx="3775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基准测试：7 个真实开源项目 · 7 种语言 · Claude Code 无头模式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1409700"/>
            <a:ext cx="11277600" cy="3429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925842" y="152352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代码库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03850" y="152352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规模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67583" y="15235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费用节省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19912" y="1523524"/>
            <a:ext cx="7141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Token 减少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06083" y="15235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速度提升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4566" y="1523524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工具调用减少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1752600"/>
            <a:ext cx="112776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865032" y="1858328"/>
            <a:ext cx="555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VS Code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97550" y="1866424"/>
            <a:ext cx="11104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TypeScript · ~10k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8375" y="18583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26%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42375" y="18583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78%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56875" y="18583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52%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334500" y="1828800"/>
            <a:ext cx="1619250" cy="190500"/>
          </a:xfrm>
          <a:prstGeom prst="roundRect">
            <a:avLst>
              <a:gd name="adj" fmla="val 15000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9947017" y="1858328"/>
            <a:ext cx="394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85% ▲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2095500"/>
            <a:ext cx="11277600" cy="3429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47417" y="2201228"/>
            <a:ext cx="791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Excalidraw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81298" y="2209324"/>
            <a:ext cx="1142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TypeScript · ~640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18375" y="22012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52%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42375" y="22012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90%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56875" y="22012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73%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334500" y="2171700"/>
            <a:ext cx="1619250" cy="190500"/>
          </a:xfrm>
          <a:prstGeom prst="roundRect">
            <a:avLst>
              <a:gd name="adj" fmla="val 15000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9947017" y="2201228"/>
            <a:ext cx="394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96% ▲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57200" y="2438400"/>
            <a:ext cx="112776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916138" y="2544128"/>
            <a:ext cx="453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Django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43818" y="2552224"/>
            <a:ext cx="8178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Python · ~3k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41653" y="2544128"/>
            <a:ext cx="22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12%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48151" y="25441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36%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080153" y="2544128"/>
            <a:ext cx="22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19%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015276" y="25441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53%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57200" y="2781300"/>
            <a:ext cx="11277600" cy="3429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945892" y="2887028"/>
            <a:ext cx="394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Tokio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79572" y="2895124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Rust · ~790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18375" y="28870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82%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42375" y="288702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86%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75252" y="2887028"/>
            <a:ext cx="232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71%</a:t>
            </a:r>
          </a:p>
        </p:txBody>
      </p:sp>
      <p:sp>
        <p:nvSpPr>
          <p:cNvPr id="45" name="Rectangle 45"/>
          <p:cNvSpPr/>
          <p:nvPr/>
        </p:nvSpPr>
        <p:spPr>
          <a:xfrm>
            <a:off x="9334500" y="2857500"/>
            <a:ext cx="1619250" cy="190500"/>
          </a:xfrm>
          <a:prstGeom prst="roundRect">
            <a:avLst>
              <a:gd name="adj" fmla="val 15000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9947017" y="2887028"/>
            <a:ext cx="394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92% ▲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57200" y="3124200"/>
            <a:ext cx="112776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884634" y="3229928"/>
            <a:ext cx="5167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OkHttp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79572" y="3238024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Java · ~645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62655" y="32299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2%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65653" y="3229928"/>
            <a:ext cx="22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13%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080153" y="3229928"/>
            <a:ext cx="22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31%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15276" y="32299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45%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57200" y="3467100"/>
            <a:ext cx="11277600" cy="3429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Box 55"/>
          <p:cNvSpPr txBox="1"/>
          <p:nvPr/>
        </p:nvSpPr>
        <p:spPr>
          <a:xfrm>
            <a:off x="1031653" y="3572828"/>
            <a:ext cx="22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Gin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683585" y="3580924"/>
            <a:ext cx="538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Go · ~110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41653" y="3572828"/>
            <a:ext cx="2226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21%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48151" y="35728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34%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062651" y="35728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27%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015276" y="35728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40%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57200" y="3810000"/>
            <a:ext cx="112776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Box 62"/>
          <p:cNvSpPr txBox="1"/>
          <p:nvPr/>
        </p:nvSpPr>
        <p:spPr>
          <a:xfrm>
            <a:off x="804124" y="3915728"/>
            <a:ext cx="677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Alamofire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79572" y="3923824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Swift · ~110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24151" y="39157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47%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348151" y="39157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64%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62651" y="39157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48%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015276" y="391572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83%</a:t>
            </a:r>
          </a:p>
        </p:txBody>
      </p:sp>
      <p:sp>
        <p:nvSpPr>
          <p:cNvPr id="68" name="Rectangle 68"/>
          <p:cNvSpPr/>
          <p:nvPr/>
        </p:nvSpPr>
        <p:spPr>
          <a:xfrm>
            <a:off x="457200" y="4152900"/>
            <a:ext cx="11277600" cy="4191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Box 69"/>
          <p:cNvSpPr txBox="1"/>
          <p:nvPr/>
        </p:nvSpPr>
        <p:spPr>
          <a:xfrm>
            <a:off x="982647" y="42967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平均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904613" y="4304824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—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799143" y="4280535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35%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323143" y="4280535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57%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037643" y="4280535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46%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011270" y="4280535"/>
            <a:ext cx="265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71%</a:t>
            </a:r>
          </a:p>
        </p:txBody>
      </p:sp>
      <p:sp>
        <p:nvSpPr>
          <p:cNvPr id="75" name="Rectangle 75"/>
          <p:cNvSpPr/>
          <p:nvPr/>
        </p:nvSpPr>
        <p:spPr>
          <a:xfrm>
            <a:off x="457200" y="4762500"/>
            <a:ext cx="11277600" cy="4572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Box 76"/>
          <p:cNvSpPr txBox="1"/>
          <p:nvPr/>
        </p:nvSpPr>
        <p:spPr>
          <a:xfrm>
            <a:off x="3146941" y="4891564"/>
            <a:ext cx="58981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规律：代码库越大，受益越显著。TypeScript 大仓库工具调用减少最高达 96%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6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工作原理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5524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457200" y="1285875"/>
            <a:ext cx="5524500" cy="762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962527" y="1433989"/>
            <a:ext cx="25138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Claude Code / Cursor / Codex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2540" y="1697831"/>
            <a:ext cx="19938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"这个函数是怎么被调用的？"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3451" y="1934528"/>
            <a:ext cx="26519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直接调用 CodeGraph 工具 — 无需子 Agent</a:t>
            </a:r>
          </a:p>
        </p:txBody>
      </p:sp>
      <p:sp>
        <p:nvSpPr>
          <p:cNvPr id="13" name="Polygon 13"/>
          <p:cNvSpPr/>
          <p:nvPr/>
        </p:nvSpPr>
        <p:spPr>
          <a:xfrm>
            <a:off x="3086100" y="2400300"/>
            <a:ext cx="266700" cy="171450"/>
          </a:xfrm>
          <a:custGeom>
            <a:avLst/>
            <a:gdLst/>
            <a:ahLst/>
            <a:cxnLst/>
            <a:rect l="l" t="t" r="r" b="b"/>
            <a:pathLst>
              <a:path w="266700" h="171450">
                <a:moveTo>
                  <a:pt x="133350" y="0"/>
                </a:moveTo>
                <a:lnTo>
                  <a:pt x="2667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3143250" y="2333625"/>
            <a:ext cx="152400" cy="238125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457200" y="2619375"/>
            <a:ext cx="5524500" cy="11430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457200" y="2619375"/>
            <a:ext cx="55245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2248163" y="2767489"/>
            <a:ext cx="19425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CodeGraph MCP Server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18181" y="3018949"/>
            <a:ext cx="22025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context · trace · callers · callees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76689" y="3218974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explore · impact · search · files</a:t>
            </a:r>
          </a:p>
        </p:txBody>
      </p:sp>
      <p:sp>
        <p:nvSpPr>
          <p:cNvPr id="20" name="Polygon 20"/>
          <p:cNvSpPr/>
          <p:nvPr/>
        </p:nvSpPr>
        <p:spPr>
          <a:xfrm>
            <a:off x="3086100" y="3810000"/>
            <a:ext cx="266700" cy="171450"/>
          </a:xfrm>
          <a:custGeom>
            <a:avLst/>
            <a:gdLst/>
            <a:ahLst/>
            <a:cxnLst/>
            <a:rect l="l" t="t" r="r" b="b"/>
            <a:pathLst>
              <a:path w="266700" h="171450">
                <a:moveTo>
                  <a:pt x="133350" y="0"/>
                </a:moveTo>
                <a:lnTo>
                  <a:pt x="2667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3143250" y="3743325"/>
            <a:ext cx="152400" cy="2381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2"/>
          <p:cNvSpPr/>
          <p:nvPr/>
        </p:nvSpPr>
        <p:spPr>
          <a:xfrm>
            <a:off x="457200" y="4000500"/>
            <a:ext cx="5524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457200" y="4000500"/>
            <a:ext cx="5524500" cy="762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172291" y="4148614"/>
            <a:ext cx="20943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SQLite 知识图谱（本地）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99977" y="44015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符号节点 · 调用边 · FTS5 全文索引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84715" y="4609624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.codegraph/codegraph.db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48450" y="123825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四步工作流程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0" y="1552575"/>
            <a:ext cx="5067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29"/>
          <p:cNvSpPr/>
          <p:nvPr/>
        </p:nvSpPr>
        <p:spPr>
          <a:xfrm>
            <a:off x="6667500" y="1552575"/>
            <a:ext cx="76200" cy="9525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6881812" y="1707356"/>
            <a:ext cx="4775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① 提取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82765" y="1934528"/>
            <a:ext cx="1433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tree-sitter 解析 AST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82765" y="2125028"/>
            <a:ext cx="29180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提取节点（函数/类）和边（调用/导入/继承）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667500" y="2619375"/>
            <a:ext cx="5067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34"/>
          <p:cNvSpPr/>
          <p:nvPr/>
        </p:nvSpPr>
        <p:spPr>
          <a:xfrm>
            <a:off x="6667500" y="2619375"/>
            <a:ext cx="76200" cy="952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6881812" y="2774156"/>
            <a:ext cx="4775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② 存储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82765" y="3001328"/>
            <a:ext cx="1083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写入本地 SQLite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82765" y="3191828"/>
            <a:ext cx="23789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启用 FTS5 全文搜索，支持跨文件查询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0" y="3686175"/>
            <a:ext cx="5067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 39"/>
          <p:cNvSpPr/>
          <p:nvPr/>
        </p:nvSpPr>
        <p:spPr>
          <a:xfrm>
            <a:off x="6667500" y="3686175"/>
            <a:ext cx="76200" cy="9525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6881812" y="3840956"/>
            <a:ext cx="4775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F5200"/>
                </a:solidFill>
                <a:latin typeface="Calibri Light"/>
                <a:ea typeface="Microsoft YaHei"/>
                <a:cs typeface="Calibri Light"/>
              </a:rPr>
              <a:t>③ 解析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82765" y="406812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语义分析调用链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82765" y="4258628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函数调用→定义 · import→源文件 · 继承关系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667500" y="4752975"/>
            <a:ext cx="5067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 44"/>
          <p:cNvSpPr/>
          <p:nvPr/>
        </p:nvSpPr>
        <p:spPr>
          <a:xfrm>
            <a:off x="6667500" y="4752975"/>
            <a:ext cx="76200" cy="952500"/>
          </a:xfrm>
          <a:prstGeom prst="roundRect">
            <a:avLst>
              <a:gd name="adj" fmla="val 50000"/>
            </a:avLst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6881812" y="49077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7E51"/>
                </a:solidFill>
                <a:latin typeface="Calibri Light"/>
                <a:ea typeface="Microsoft YaHei"/>
                <a:cs typeface="Calibri Light"/>
              </a:rPr>
              <a:t>④ 自动同步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82765" y="5134928"/>
            <a:ext cx="10908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OS 原生文件事件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82765" y="5325428"/>
            <a:ext cx="25329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FSEvents / inotify · 2 秒防抖增量更新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7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核心功能一览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3429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11518" y="13996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功能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26118" y="13996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说明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28775"/>
            <a:ext cx="112776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10565" y="1705928"/>
            <a:ext cx="11807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🔍 智能上下文构建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518" y="1904524"/>
            <a:ext cx="12404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codegraph_context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25165" y="1705928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一次调用返回入口点、相关符号和代码片段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26118" y="1904524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无需昂贵探索 · 适合开始新功能前使用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2124075"/>
            <a:ext cx="11277600" cy="4953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10565" y="2201228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📖 全文搜索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1518" y="2399824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codegraph_search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25165" y="2201228"/>
            <a:ext cx="26169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FTS5 驱动，跨整个代码库按名称秒级查找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6118" y="23998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支持函数、类、方法名模糊匹配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2619375"/>
            <a:ext cx="112776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710565" y="2696528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7E51"/>
                </a:solidFill>
                <a:latin typeface="Calibri"/>
                <a:ea typeface="Microsoft YaHei"/>
                <a:cs typeface="Calibri"/>
              </a:rPr>
              <a:t>🔗 影响分析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1518" y="2895124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codegraph_impact / trace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25165" y="2696528"/>
            <a:ext cx="3107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追踪任意符号的调用方、被调用方和完整影响半径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26118" y="2895124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重构前必用 · 一次调用得完整调用路径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114675"/>
            <a:ext cx="11277600" cy="4953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10565" y="3191828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⚡ 始终新鲜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1518" y="33904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自动同步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25165" y="3191828"/>
            <a:ext cx="26940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原生 OS 文件事件 + 防抖自动同步，零配置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26118" y="3390424"/>
            <a:ext cx="18644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文件保存后约 2 秒完成增量更新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57200" y="3609975"/>
            <a:ext cx="112776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710565" y="3687128"/>
            <a:ext cx="732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🌐 20+ 语言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1518" y="38857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多语言支持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25165" y="3687128"/>
            <a:ext cx="4829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TS/JS/Python/Go/Rust/Java/C#/PHP/Ruby/C/C++/Swift/Kotlin/Dart 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226118" y="38857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覆盖主流开发技术栈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7200" y="4105275"/>
            <a:ext cx="11277600" cy="4953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710565" y="4182428"/>
            <a:ext cx="11146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🛣️ 框架路由感知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1518" y="4381024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14 个框架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25165" y="4182428"/>
            <a:ext cx="40381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识别 Django/Flask/FastAPI/Express/Spring/Rails 等路由文件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26118" y="4381024"/>
            <a:ext cx="1903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快速定位 Web 服务请求处理入口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57200" y="4600575"/>
            <a:ext cx="112776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710565" y="4677728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7E51"/>
                </a:solidFill>
                <a:latin typeface="Calibri"/>
                <a:ea typeface="Microsoft YaHei"/>
                <a:cs typeface="Calibri"/>
              </a:rPr>
              <a:t>🍎 跨语言桥接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11518" y="48763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混合技术栈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25165" y="4677728"/>
            <a:ext cx="43882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Swift↔ObjC · React Native Bridge · TurboModules · Expo Modules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26118" y="4876324"/>
            <a:ext cx="17734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适合 iOS / RN 混合技术栈项目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57200" y="5095875"/>
            <a:ext cx="11277600" cy="4953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710565" y="5173028"/>
            <a:ext cx="77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🔒 100% 本地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11518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隐私安全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25165" y="5173028"/>
            <a:ext cx="24979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数据不出机器，无 API Key，无外部服务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26118" y="5371624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适合企业内部代码库，无需担心数据泄露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8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346416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MCP 工具详解（共 10 个）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6858000" cy="3429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11518" y="139969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工具名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49868" y="13996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核心用途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40618" y="139969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最适合场景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57200" y="1628775"/>
            <a:ext cx="6858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11518" y="176164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codegraph_search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9868" y="17616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按名称查找符号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40618" y="1761649"/>
            <a:ext cx="14289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"找到名叫 X 的函数/类"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2028825"/>
            <a:ext cx="6858000" cy="40005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11518" y="2161699"/>
            <a:ext cx="13012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codegraph_context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49868" y="21616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构建任务相关上下文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40618" y="216169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开始开发某功能前 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7200" y="2428875"/>
            <a:ext cx="6858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711518" y="2561749"/>
            <a:ext cx="1151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codegraph_trace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49868" y="2561749"/>
            <a:ext cx="1227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追踪 X→Y 的调用路径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40618" y="2561749"/>
            <a:ext cx="1708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"请求是怎么到数据库的？" 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2828925"/>
            <a:ext cx="6858000" cy="40005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11518" y="2961799"/>
            <a:ext cx="1232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codegraph_callers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49868" y="29617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谁在调用这个函数？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40618" y="29617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重构前评估影响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57200" y="3228975"/>
            <a:ext cx="6858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711518" y="3361849"/>
            <a:ext cx="1232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codegraph_callees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49868" y="33618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这个函数调用了什么？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40618" y="33618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理解函数内部依赖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57200" y="3629025"/>
            <a:ext cx="6858000" cy="40005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711518" y="3761899"/>
            <a:ext cx="12192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codegraph_impact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49868" y="37618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改动某符号影响哪些代码？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40618" y="37618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变更风险评估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7200" y="4029075"/>
            <a:ext cx="6858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711518" y="4161949"/>
            <a:ext cx="10759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codegraph_node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49868" y="4161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查看某符号的签名/源码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40618" y="41619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快速了解某个具体函数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7200" y="4429125"/>
            <a:ext cx="6858000" cy="40005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711518" y="4561999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codegraph_explore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49868" y="45619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批量返回多个符号的源码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40618" y="45619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阅读模块/区域代码 ⭐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57200" y="4829175"/>
            <a:ext cx="6858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711518" y="4962049"/>
            <a:ext cx="10827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codegraph_files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49868" y="49620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获取已索引的文件结构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40618" y="49620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了解项目目录布局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229225"/>
            <a:ext cx="6858000" cy="40005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711518" y="536209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codegraph_status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49868" y="53620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检查索引健康状态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940618" y="536209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排查问题时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505700" y="1285875"/>
            <a:ext cx="4229100" cy="342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Box 53"/>
          <p:cNvSpPr txBox="1"/>
          <p:nvPr/>
        </p:nvSpPr>
        <p:spPr>
          <a:xfrm>
            <a:off x="9198316" y="13996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选工具决策树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05700" y="1628775"/>
            <a:ext cx="4229100" cy="4000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Box 55"/>
          <p:cNvSpPr txBox="1"/>
          <p:nvPr/>
        </p:nvSpPr>
        <p:spPr>
          <a:xfrm>
            <a:off x="7702868" y="18378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找符号名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941118" y="18378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131618" y="1837849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codegraph_search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02868" y="212359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理解某功能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941118" y="212359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31618" y="2123599"/>
            <a:ext cx="135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AE41"/>
                </a:solidFill>
                <a:latin typeface="Consolas"/>
                <a:ea typeface="Microsoft YaHei"/>
                <a:cs typeface="Consolas"/>
              </a:rPr>
              <a:t>codegraph_context 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702868" y="24093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追踪调用链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941118" y="24093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31618" y="2409349"/>
            <a:ext cx="1207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AE41"/>
                </a:solidFill>
                <a:latin typeface="Consolas"/>
                <a:ea typeface="Microsoft YaHei"/>
                <a:cs typeface="Consolas"/>
              </a:rPr>
              <a:t>codegraph_trace ⭐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702868" y="26950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谁调用它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941118" y="269509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131618" y="269509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codegraph_callers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702868" y="29808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它调用什么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941118" y="29808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131618" y="29808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codegraph_callees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02868" y="32665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改动影响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941118" y="326659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31618" y="3266599"/>
            <a:ext cx="1162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codegraph_impact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702868" y="35523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单个源码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941118" y="355234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131618" y="3552349"/>
            <a:ext cx="10258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codegraph_node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702868" y="38380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多个相关源码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941118" y="3838099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BD5E1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131618" y="3838099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AE41"/>
                </a:solidFill>
                <a:latin typeface="Consolas"/>
                <a:ea typeface="Microsoft YaHei"/>
                <a:cs typeface="Consolas"/>
              </a:rPr>
              <a:t>codegraph_explore 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6576" y="6581299"/>
            <a:ext cx="3563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9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408164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AI 使用 CodeGraph 的正确姿势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71512" y="1354931"/>
            <a:ext cx="30135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✅ 优先用 codegraph，而不是 grep / Read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" y="1571625"/>
            <a:ext cx="54483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73418" y="1637824"/>
            <a:ext cx="2652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❌ 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170" y="16459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grep -r "UserService" . → Read 每个匹配文件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8218" y="1828324"/>
            <a:ext cx="25275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大量文件 I/O · Token 消耗高 · 结果有噪声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0" y="1571625"/>
            <a:ext cx="5638800" cy="762000"/>
          </a:xfrm>
          <a:prstGeom prst="roundRect">
            <a:avLst>
              <a:gd name="adj" fmla="val 7500"/>
            </a:avLst>
          </a:prstGeom>
          <a:solidFill>
            <a:srgbClr val="E0F7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312218" y="1637824"/>
            <a:ext cx="2652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✅ 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17970" y="1645920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codegraph_search("UserService")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12218" y="1828324"/>
            <a:ext cx="21635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直接拿到定义 + 位置 + 签名 · 毫秒级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12218" y="2018824"/>
            <a:ext cx="11104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零额外 Token 消耗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2476500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671512" y="2545556"/>
            <a:ext cx="17927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✅ 用 trace 代替手动追踪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2762250"/>
            <a:ext cx="54483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673418" y="2828449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❌ 慢（循环调用）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370" y="30460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codegraph_search →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4370" y="323659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codegraph_callers →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370" y="3427095"/>
            <a:ext cx="14210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codegraph_callers → ...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96000" y="2762250"/>
            <a:ext cx="5638800" cy="952500"/>
          </a:xfrm>
          <a:prstGeom prst="roundRect">
            <a:avLst>
              <a:gd name="adj" fmla="val 6000"/>
            </a:avLst>
          </a:prstGeom>
          <a:solidFill>
            <a:srgbClr val="E0F7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6312218" y="2828449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✅ 快（一次调用）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3170" y="307467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codegraph_trace(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3170" y="3265170"/>
            <a:ext cx="11750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from="Controller",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3170" y="3455670"/>
            <a:ext cx="946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to="Database")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57200" y="3857625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71512" y="3926681"/>
            <a:ext cx="27457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✅ 批量读取用 explore，不要循环 node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" y="4143375"/>
            <a:ext cx="54483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73418" y="4209574"/>
            <a:ext cx="2652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❌ 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9170" y="4217670"/>
            <a:ext cx="2507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codegraph_node(A), node(B), node(C) ...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418" y="4400074"/>
            <a:ext cx="135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多次往返 · Token 浪费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0" y="4143375"/>
            <a:ext cx="5638800" cy="762000"/>
          </a:xfrm>
          <a:prstGeom prst="roundRect">
            <a:avLst>
              <a:gd name="adj" fmla="val 7500"/>
            </a:avLst>
          </a:prstGeom>
          <a:solidFill>
            <a:srgbClr val="E0F7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312218" y="4209574"/>
            <a:ext cx="2652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✅ 快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17970" y="4217670"/>
            <a:ext cx="17810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codegraph_explore([A, B, C])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12218" y="44000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按文件分组，一次返回，减少往返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57200" y="5067300"/>
            <a:ext cx="11277600" cy="533400"/>
          </a:xfrm>
          <a:prstGeom prst="roundRect">
            <a:avLst>
              <a:gd name="adj" fmla="val 10714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42"/>
          <p:cNvSpPr/>
          <p:nvPr/>
        </p:nvSpPr>
        <p:spPr>
          <a:xfrm>
            <a:off x="457200" y="5067300"/>
            <a:ext cx="57150" cy="5334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671512" y="5136356"/>
            <a:ext cx="1194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⚠️ 注意索引延迟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2465" y="5354002"/>
            <a:ext cx="8469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文件修改后约 1 秒同步。若 AI 响应头出现 "⚠️ Some files were edited since last index sync"，对应文件需用 Read 工具读最新内容。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10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215570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快速上手 — 安装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3429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69608" y="1367314"/>
            <a:ext cx="340645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方式一：一键安装（推荐，无需 Node.js）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" y="1724025"/>
            <a:ext cx="54483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457200" y="1724025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73418" y="1809274"/>
            <a:ext cx="12599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Windows PowerShell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2465" y="2105978"/>
            <a:ext cx="29320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irm https://raw.githubusercontent.com/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2465" y="2315528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colbymchenry/codegraph/main/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2465" y="252507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install.ps1 | iex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1724025"/>
            <a:ext cx="54483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7"/>
          <p:cNvSpPr/>
          <p:nvPr/>
        </p:nvSpPr>
        <p:spPr>
          <a:xfrm>
            <a:off x="6286500" y="1724025"/>
            <a:ext cx="5448300" cy="28575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502718" y="1809274"/>
            <a:ext cx="908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macOS / Linux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1765" y="2220278"/>
            <a:ext cx="29950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curl -fsSL https://raw.githubusercontent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1765" y="2429828"/>
            <a:ext cx="22039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.com/colbymchenry/codegraph/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1765" y="26393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main/install.sh | sh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7200" y="3057525"/>
            <a:ext cx="11277600" cy="3429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69608" y="3138964"/>
            <a:ext cx="2897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方式二：npm 安装（已有 Node.js）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3495675"/>
            <a:ext cx="54483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672465" y="3629978"/>
            <a:ext cx="2063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npx @colbymchenry/codegraph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3418" y="3847624"/>
            <a:ext cx="785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# 零安装体验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3495675"/>
            <a:ext cx="54483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6501765" y="3629978"/>
            <a:ext cx="2371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npm i -g @colbymchenry/codegraph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02718" y="3847624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# 全局安装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429125"/>
            <a:ext cx="11277600" cy="34290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31"/>
          <p:cNvSpPr/>
          <p:nvPr/>
        </p:nvSpPr>
        <p:spPr>
          <a:xfrm>
            <a:off x="457200" y="4429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71512" y="45267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安装器自动完成：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" y="4867275"/>
            <a:ext cx="26670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1084278" y="501110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① 检测已安装的 Agent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7225" y="5209699"/>
            <a:ext cx="15069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Claude / Cursor / Codex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48501" y="5381149"/>
            <a:ext cx="1084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Gemini CLI 等 8 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314700" y="4867275"/>
            <a:ext cx="26670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4123801" y="5011102"/>
            <a:ext cx="10487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② 写入 MCP 配置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01026" y="520969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CLAUDE.md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673697" y="5381149"/>
            <a:ext cx="19490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.cursor/rules/codegraph.mdc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172200" y="4867275"/>
            <a:ext cx="26670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7012805" y="50111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③ 配置自动允许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103269" y="52096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无需每次手动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03269" y="53811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确认工具权限</a:t>
            </a:r>
          </a:p>
        </p:txBody>
      </p:sp>
      <p:sp>
        <p:nvSpPr>
          <p:cNvPr id="45" name="Rectangle 45"/>
          <p:cNvSpPr/>
          <p:nvPr/>
        </p:nvSpPr>
        <p:spPr>
          <a:xfrm>
            <a:off x="9029700" y="4867275"/>
            <a:ext cx="27051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10018871" y="50111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全程零配置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62804" y="5209699"/>
            <a:ext cx="10388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自带 Node 运行时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09835" y="53811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开箱即用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0075" y="6581299"/>
            <a:ext cx="3628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11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30378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快速上手 — 初始化项目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72174" y="1411605"/>
            <a:ext cx="1415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1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219200" y="1285875"/>
            <a:ext cx="105156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450658" y="1367314"/>
            <a:ext cx="13266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安装 CodeGraph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3515" y="15916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（见上一页）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33425" y="1857375"/>
            <a:ext cx="38100" cy="285750"/>
          </a:xfrm>
          <a:prstGeom prst="rect">
            <a:avLst/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457200" y="21431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35420" y="2268855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2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219200" y="2143125"/>
            <a:ext cx="105156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450658" y="2224564"/>
            <a:ext cx="21746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进入项目目录，初始化索引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466850" y="2476500"/>
            <a:ext cx="6667500" cy="3429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644015" y="2582228"/>
            <a:ext cx="24839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cd your-project &amp;&amp; codegraph init -i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69618" y="25903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-i = 同时建立索引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33425" y="2905125"/>
            <a:ext cx="38100" cy="285750"/>
          </a:xfrm>
          <a:prstGeom prst="rect">
            <a:avLst/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2"/>
          <p:cNvSpPr/>
          <p:nvPr/>
        </p:nvSpPr>
        <p:spPr>
          <a:xfrm>
            <a:off x="457200" y="319087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35420" y="3316605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3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219200" y="3190875"/>
            <a:ext cx="105156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450658" y="3272314"/>
            <a:ext cx="11392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F5200"/>
                </a:solidFill>
                <a:latin typeface="Calibri Light"/>
                <a:ea typeface="Microsoft YaHei"/>
                <a:cs typeface="Calibri Light"/>
              </a:rPr>
              <a:t>重启 AI Agent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53515" y="3496628"/>
            <a:ext cx="35341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重启 Claude Code / Cursor 等，让 MCP 服务器加载生效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33425" y="3762375"/>
            <a:ext cx="38100" cy="285750"/>
          </a:xfrm>
          <a:prstGeom prst="rect">
            <a:avLst/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28"/>
          <p:cNvSpPr/>
          <p:nvPr/>
        </p:nvSpPr>
        <p:spPr>
          <a:xfrm>
            <a:off x="457200" y="4048125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635420" y="4173855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4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219200" y="4048125"/>
            <a:ext cx="10515600" cy="5715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450658" y="4129564"/>
            <a:ext cx="2781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B6B"/>
                </a:solidFill>
                <a:latin typeface="Calibri Light"/>
                <a:ea typeface="Microsoft YaHei"/>
                <a:cs typeface="Calibri Light"/>
              </a:rPr>
              <a:t>正常使用 AI，CodeGraph 自动介入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53515" y="4353878"/>
            <a:ext cx="4563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B6B"/>
                </a:solidFill>
                <a:latin typeface="Calibri"/>
                <a:ea typeface="Microsoft YaHei"/>
                <a:cs typeface="Calibri"/>
              </a:rPr>
              <a:t>项目根目录存在 .codegraph/ 文件夹 → Agent 自动使用 CodeGraph 工具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" y="4857750"/>
            <a:ext cx="11277600" cy="342900"/>
          </a:xfrm>
          <a:prstGeom prst="roundRect">
            <a:avLst>
              <a:gd name="adj" fmla="val 16667"/>
            </a:avLst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71512" y="495538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卸载：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7200" y="5286375"/>
            <a:ext cx="53721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6"/>
          <p:cNvSpPr/>
          <p:nvPr/>
        </p:nvSpPr>
        <p:spPr>
          <a:xfrm>
            <a:off x="457200" y="5286375"/>
            <a:ext cx="5372100" cy="76200"/>
          </a:xfrm>
          <a:prstGeom prst="roundRect">
            <a:avLst>
              <a:gd name="adj" fmla="val 50000"/>
            </a:avLst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673418" y="5419249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codegraph uninstall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418" y="5609749"/>
            <a:ext cx="2755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从所有 Agent 移除（保留 .codegraph/ 索引）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19800" y="5286375"/>
            <a:ext cx="5715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40"/>
          <p:cNvSpPr/>
          <p:nvPr/>
        </p:nvSpPr>
        <p:spPr>
          <a:xfrm>
            <a:off x="6019800" y="5286375"/>
            <a:ext cx="5715000" cy="76200"/>
          </a:xfrm>
          <a:prstGeom prst="roundRect">
            <a:avLst>
              <a:gd name="adj" fmla="val 50000"/>
            </a:avLst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6236018" y="54192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onsolas"/>
                <a:ea typeface="Microsoft YaHei"/>
                <a:cs typeface="Consolas"/>
              </a:rPr>
              <a:t>codegraph uninit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36018" y="56097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删除当前项目的索引（彻底清除）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12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202338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CLI 命令速查表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3429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11518" y="13996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命令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9118" y="13996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用途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28775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11518" y="17616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init [path]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68165" y="1753552"/>
            <a:ext cx="2252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初始化项目（</a:t>
            </a:r>
            <a:r>
              <a:rPr lang="zh-CN" sz="9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--index</a:t>
            </a:r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 同时建索引）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" y="2009775"/>
            <a:ext cx="11277600" cy="381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11518" y="2142649"/>
            <a:ext cx="1500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index [path]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8165" y="2134552"/>
            <a:ext cx="2007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全量索引（</a:t>
            </a:r>
            <a:r>
              <a:rPr lang="zh-CN" sz="9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--force</a:t>
            </a:r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 强制重建）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2390775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11518" y="2523649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sync [path]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68165" y="25155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手动增量更新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7200" y="2771775"/>
            <a:ext cx="11277600" cy="381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711518" y="290464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status [path]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68165" y="28965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查看索引统计信息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7200" y="3152775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11518" y="3285649"/>
            <a:ext cx="16759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query &lt;search&gt;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68165" y="32775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搜索符号（</a:t>
            </a:r>
            <a:r>
              <a:rPr lang="zh-CN" sz="9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--kind --limit --json</a:t>
            </a:r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533775"/>
            <a:ext cx="11277600" cy="381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11518" y="3666649"/>
            <a:ext cx="16759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context &lt;task&gt;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68165" y="36585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为任务构建上下文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3914775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711518" y="40476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callers &lt;symbol&gt;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68165" y="403955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查找调用者（CLI 版）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57200" y="4295775"/>
            <a:ext cx="11277600" cy="381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711518" y="4428649"/>
            <a:ext cx="17344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impact &lt;symbol&gt;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68165" y="44205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分析影响范围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7200" y="4676775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711518" y="48096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files [path]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68165" y="48015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显示文件结构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7200" y="5057775"/>
            <a:ext cx="11277600" cy="381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711518" y="51906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AE41"/>
                </a:solidFill>
                <a:latin typeface="Consolas"/>
                <a:ea typeface="Microsoft YaHei"/>
                <a:cs typeface="Consolas"/>
              </a:rPr>
              <a:t>codegraph affected [files]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68165" y="5182552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查找受变更影响的测试文件（CI 集成）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57200" y="5438775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711518" y="55716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 serve --mcp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68165" y="55635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手动启动 MCP 服务器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57200" y="5953125"/>
            <a:ext cx="11277600" cy="34290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 45"/>
          <p:cNvSpPr/>
          <p:nvPr/>
        </p:nvSpPr>
        <p:spPr>
          <a:xfrm>
            <a:off x="457200" y="5953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672465" y="6049328"/>
            <a:ext cx="54523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💡 CI/CD 场景：</a:t>
            </a:r>
            <a:r>
              <a:rPr lang="zh-CN" sz="975" dirty="0">
                <a:solidFill>
                  <a:srgbClr val="6F5200"/>
                </a:solidFill>
                <a:latin typeface="Consolas"/>
                <a:ea typeface="Microsoft YaHei"/>
                <a:cs typeface="Consolas"/>
              </a:rPr>
              <a:t>codegraph affected</a:t>
            </a:r>
            <a:r>
              <a:rPr lang="zh-CN" sz="1050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 可精准缩减每次 PR 的测试范围，降低 CI 运行时间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13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364058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实战案例：MyAIStudy 项目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457200"/>
          </a:xfrm>
          <a:prstGeom prst="roundRect">
            <a:avLst>
              <a:gd name="adj" fmla="val 125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457200" y="128587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71512" y="13549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项目背景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465" y="1544002"/>
            <a:ext cx="6411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MyAIStudy — 48 周 AI 工程师培训体系，4 条路线，多个入口脚本，近 20 个 Python 模块，约 60+ 函数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57200" y="1905000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72465" y="1982152"/>
            <a:ext cx="18791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场景 1：理解某函数的调用链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" y="2190750"/>
            <a:ext cx="54483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73418" y="22950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问题：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9665" y="2286952"/>
            <a:ext cx="39471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run_example.py 是怎么执行到 demo_week9_finetuning 的？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3418" y="250459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2504599"/>
            <a:ext cx="4003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codegraph_trace(from="main", to="demo_week9_finetuning")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3418" y="27141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结果：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1570" y="2722245"/>
            <a:ext cx="1913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4AAC"/>
                </a:solidFill>
                <a:latin typeface="Consolas"/>
                <a:ea typeface="Microsoft YaHei"/>
                <a:cs typeface="Consolas"/>
              </a:rPr>
              <a:t>main → run_route → subprocess 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1570" y="2912745"/>
            <a:ext cx="32212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4AAC"/>
                </a:solidFill>
                <a:latin typeface="Consolas"/>
                <a:ea typeface="Microsoft YaHei"/>
                <a:cs typeface="Consolas"/>
              </a:rPr>
              <a:t>run_application_examples.py → demo_week9_finetuning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3418" y="30570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一次调用，完整路径，无需手动追踪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0" y="2190750"/>
            <a:ext cx="5638800" cy="104775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312218" y="2409349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替代方案（慢）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12218" y="2599849"/>
            <a:ext cx="11299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search("main") 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12218" y="2790349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callers("main") 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12218" y="2980849"/>
            <a:ext cx="1792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callers(...) → ...循环 5+ 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57200" y="3400425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672465" y="3477578"/>
            <a:ext cx="16218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场景 2：重构前影响分析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3686175"/>
            <a:ext cx="112776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73418" y="379047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问题：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9665" y="3782378"/>
            <a:ext cx="37161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如果我修改 run_quick_demo() 函数，哪些地方会受影响？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418" y="400002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0618" y="4000024"/>
            <a:ext cx="24430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codegraph_impact("run_quick_demo")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418" y="420957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结果：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9665" y="4201478"/>
            <a:ext cx="2904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列出所有直接/间接调用方，帮助评估修改范围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" y="4610100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72465" y="4687252"/>
            <a:ext cx="14748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场景 3：理解项目结构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57200" y="4895850"/>
            <a:ext cx="112776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673418" y="50001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问题：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4992052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application/ 目录里有哪些公开函数？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3418" y="520969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618" y="5209699"/>
            <a:ext cx="4874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codegraph_explore(files=["application/week1_4_rag_engineering.py", ...])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3418" y="54192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结果：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9665" y="5411152"/>
            <a:ext cx="33870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按文件分组返回所有导出函数的签名，无需逐文件阅读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5296-4024-5472-9C75-C9739C02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672A13B-A192-4F44-1200-F9351AC49FF7}"/>
              </a:ext>
            </a:extLst>
          </p:cNvPr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6C3E89E-2D95-A8ED-9EC7-E354A563925E}"/>
              </a:ext>
            </a:extLst>
          </p:cNvPr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F3D3CA9-9054-BCA9-AAA7-D12D340C6CDA}"/>
              </a:ext>
            </a:extLst>
          </p:cNvPr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13 / 18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648F47-AE4B-A9AC-8C3E-E9B26CB7D980}"/>
              </a:ext>
            </a:extLst>
          </p:cNvPr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89DFCE-F988-81FB-7AE3-6CFA89556E85}"/>
              </a:ext>
            </a:extLst>
          </p:cNvPr>
          <p:cNvSpPr txBox="1"/>
          <p:nvPr/>
        </p:nvSpPr>
        <p:spPr>
          <a:xfrm>
            <a:off x="582930" y="678180"/>
            <a:ext cx="364058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实战案例：MyAIStudy 项目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C3320FBF-1B82-B356-13C7-4B06C5FF705D}"/>
              </a:ext>
            </a:extLst>
          </p:cNvPr>
          <p:cNvSpPr/>
          <p:nvPr/>
        </p:nvSpPr>
        <p:spPr>
          <a:xfrm>
            <a:off x="457200" y="1285875"/>
            <a:ext cx="11277600" cy="457200"/>
          </a:xfrm>
          <a:prstGeom prst="roundRect">
            <a:avLst>
              <a:gd name="adj" fmla="val 125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801D15A-351C-335E-DD60-87F51C38F96A}"/>
              </a:ext>
            </a:extLst>
          </p:cNvPr>
          <p:cNvSpPr/>
          <p:nvPr/>
        </p:nvSpPr>
        <p:spPr>
          <a:xfrm>
            <a:off x="457200" y="128587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9901515-3C4E-6B67-D763-F88B037247E4}"/>
              </a:ext>
            </a:extLst>
          </p:cNvPr>
          <p:cNvSpPr txBox="1"/>
          <p:nvPr/>
        </p:nvSpPr>
        <p:spPr>
          <a:xfrm>
            <a:off x="671512" y="13549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项目背景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572A57-8C7F-66EC-8F12-F2DA1796079C}"/>
              </a:ext>
            </a:extLst>
          </p:cNvPr>
          <p:cNvSpPr txBox="1"/>
          <p:nvPr/>
        </p:nvSpPr>
        <p:spPr>
          <a:xfrm>
            <a:off x="672465" y="1544002"/>
            <a:ext cx="6411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MyAIStudy — 48 周 AI 工程师培训体系，4 条路线，多个入口脚本，近 20 个 Python 模块，约 60+ 函数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B4D4E886-2347-C134-F053-8E957B12A744}"/>
              </a:ext>
            </a:extLst>
          </p:cNvPr>
          <p:cNvSpPr/>
          <p:nvPr/>
        </p:nvSpPr>
        <p:spPr>
          <a:xfrm>
            <a:off x="457200" y="1905000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5CC4437-2B05-C804-E7FE-1A37336EE511}"/>
              </a:ext>
            </a:extLst>
          </p:cNvPr>
          <p:cNvSpPr txBox="1"/>
          <p:nvPr/>
        </p:nvSpPr>
        <p:spPr>
          <a:xfrm>
            <a:off x="672465" y="1982152"/>
            <a:ext cx="18791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场景 1：理解某函数的调用链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F897D2C-1E5A-0309-ACBD-F19F90BBA392}"/>
              </a:ext>
            </a:extLst>
          </p:cNvPr>
          <p:cNvSpPr/>
          <p:nvPr/>
        </p:nvSpPr>
        <p:spPr>
          <a:xfrm>
            <a:off x="457200" y="2190750"/>
            <a:ext cx="54483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2BEB623-52F4-24F0-430E-CEE97D413BC3}"/>
              </a:ext>
            </a:extLst>
          </p:cNvPr>
          <p:cNvSpPr txBox="1"/>
          <p:nvPr/>
        </p:nvSpPr>
        <p:spPr>
          <a:xfrm>
            <a:off x="673418" y="22950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问题：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DEDAAC2-E3AF-AE03-1232-C9F1869C125E}"/>
              </a:ext>
            </a:extLst>
          </p:cNvPr>
          <p:cNvSpPr txBox="1"/>
          <p:nvPr/>
        </p:nvSpPr>
        <p:spPr>
          <a:xfrm>
            <a:off x="1129665" y="2286952"/>
            <a:ext cx="39471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run_example.py 是怎么执行到 demo_week9_finetuning 的？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1DF9671-0EC0-F1C9-02A5-A969A7EFAD7C}"/>
              </a:ext>
            </a:extLst>
          </p:cNvPr>
          <p:cNvSpPr txBox="1"/>
          <p:nvPr/>
        </p:nvSpPr>
        <p:spPr>
          <a:xfrm>
            <a:off x="673418" y="250459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工具：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6A9C806-AC0E-9F17-D813-AC957207A1E7}"/>
              </a:ext>
            </a:extLst>
          </p:cNvPr>
          <p:cNvSpPr txBox="1"/>
          <p:nvPr/>
        </p:nvSpPr>
        <p:spPr>
          <a:xfrm>
            <a:off x="1130618" y="2504599"/>
            <a:ext cx="4003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codegraph_trace(from="main", to="demo_week9_finetuning")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FBEFC3F-5F11-B7B5-6328-74A155E30DC6}"/>
              </a:ext>
            </a:extLst>
          </p:cNvPr>
          <p:cNvSpPr txBox="1"/>
          <p:nvPr/>
        </p:nvSpPr>
        <p:spPr>
          <a:xfrm>
            <a:off x="673418" y="27141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结果：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903EF9D-B564-DF17-5D26-85939F818190}"/>
              </a:ext>
            </a:extLst>
          </p:cNvPr>
          <p:cNvSpPr txBox="1"/>
          <p:nvPr/>
        </p:nvSpPr>
        <p:spPr>
          <a:xfrm>
            <a:off x="1131570" y="2722245"/>
            <a:ext cx="1913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4AAC"/>
                </a:solidFill>
                <a:latin typeface="Consolas"/>
                <a:ea typeface="Microsoft YaHei"/>
                <a:cs typeface="Consolas"/>
              </a:rPr>
              <a:t>main → run_route → subprocess →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D7A6BB-5A86-9D27-DF39-7165FEB392E2}"/>
              </a:ext>
            </a:extLst>
          </p:cNvPr>
          <p:cNvSpPr txBox="1"/>
          <p:nvPr/>
        </p:nvSpPr>
        <p:spPr>
          <a:xfrm>
            <a:off x="1131570" y="2912745"/>
            <a:ext cx="32212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4AAC"/>
                </a:solidFill>
                <a:latin typeface="Consolas"/>
                <a:ea typeface="Microsoft YaHei"/>
                <a:cs typeface="Consolas"/>
              </a:rPr>
              <a:t>run_application_examples.py → demo_week9_finetuning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1B03CA8-8645-DDA1-9911-0024AA428B50}"/>
              </a:ext>
            </a:extLst>
          </p:cNvPr>
          <p:cNvSpPr txBox="1"/>
          <p:nvPr/>
        </p:nvSpPr>
        <p:spPr>
          <a:xfrm>
            <a:off x="673418" y="30570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一次调用，完整路径，无需手动追踪</a:t>
            </a: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4723E27F-BB80-729B-3A45-99A7A3AC355C}"/>
              </a:ext>
            </a:extLst>
          </p:cNvPr>
          <p:cNvSpPr/>
          <p:nvPr/>
        </p:nvSpPr>
        <p:spPr>
          <a:xfrm>
            <a:off x="6096000" y="2190750"/>
            <a:ext cx="5638800" cy="104775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EF64859-EAED-5200-2A4A-1023FB5D92EE}"/>
              </a:ext>
            </a:extLst>
          </p:cNvPr>
          <p:cNvSpPr txBox="1"/>
          <p:nvPr/>
        </p:nvSpPr>
        <p:spPr>
          <a:xfrm>
            <a:off x="6312218" y="2409349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替代方案（慢）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D6FFFF9-8BCD-6042-ED86-460757245B6C}"/>
              </a:ext>
            </a:extLst>
          </p:cNvPr>
          <p:cNvSpPr txBox="1"/>
          <p:nvPr/>
        </p:nvSpPr>
        <p:spPr>
          <a:xfrm>
            <a:off x="6312218" y="2599849"/>
            <a:ext cx="11299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search("main") →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512E468-144F-2D28-DA5F-E843DC460F41}"/>
              </a:ext>
            </a:extLst>
          </p:cNvPr>
          <p:cNvSpPr txBox="1"/>
          <p:nvPr/>
        </p:nvSpPr>
        <p:spPr>
          <a:xfrm>
            <a:off x="6312218" y="2790349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callers("main") →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04B3BB3-4708-BADD-7C48-43051E39050E}"/>
              </a:ext>
            </a:extLst>
          </p:cNvPr>
          <p:cNvSpPr txBox="1"/>
          <p:nvPr/>
        </p:nvSpPr>
        <p:spPr>
          <a:xfrm>
            <a:off x="6312218" y="2980849"/>
            <a:ext cx="1792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callers(...) → ...循环 5+ 次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C05672F9-5C81-09C1-1852-B7661C5DE70F}"/>
              </a:ext>
            </a:extLst>
          </p:cNvPr>
          <p:cNvSpPr/>
          <p:nvPr/>
        </p:nvSpPr>
        <p:spPr>
          <a:xfrm>
            <a:off x="457200" y="3400425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BA756C7-EECF-0731-01E4-E22D93309276}"/>
              </a:ext>
            </a:extLst>
          </p:cNvPr>
          <p:cNvSpPr txBox="1"/>
          <p:nvPr/>
        </p:nvSpPr>
        <p:spPr>
          <a:xfrm>
            <a:off x="672465" y="3477578"/>
            <a:ext cx="16218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场景 2：重构前影响分析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4E9B95F7-36B6-A2C3-3F8A-996B2ACCB680}"/>
              </a:ext>
            </a:extLst>
          </p:cNvPr>
          <p:cNvSpPr/>
          <p:nvPr/>
        </p:nvSpPr>
        <p:spPr>
          <a:xfrm>
            <a:off x="457200" y="3686175"/>
            <a:ext cx="112776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7366539-187E-1F6F-7546-4654334834C3}"/>
              </a:ext>
            </a:extLst>
          </p:cNvPr>
          <p:cNvSpPr txBox="1"/>
          <p:nvPr/>
        </p:nvSpPr>
        <p:spPr>
          <a:xfrm>
            <a:off x="673418" y="379047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问题：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FFE6EE9-523C-33A6-AD5D-0C439D00FB5C}"/>
              </a:ext>
            </a:extLst>
          </p:cNvPr>
          <p:cNvSpPr txBox="1"/>
          <p:nvPr/>
        </p:nvSpPr>
        <p:spPr>
          <a:xfrm>
            <a:off x="1129665" y="3782378"/>
            <a:ext cx="37161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如果我修改 run_quick_demo() 函数，哪些地方会受影响？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AA06F55-464F-532F-475E-7D3CBFA09489}"/>
              </a:ext>
            </a:extLst>
          </p:cNvPr>
          <p:cNvSpPr txBox="1"/>
          <p:nvPr/>
        </p:nvSpPr>
        <p:spPr>
          <a:xfrm>
            <a:off x="673418" y="400002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工具：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77BEB8FC-D505-7DD1-BBDF-720F550DDEDB}"/>
              </a:ext>
            </a:extLst>
          </p:cNvPr>
          <p:cNvSpPr txBox="1"/>
          <p:nvPr/>
        </p:nvSpPr>
        <p:spPr>
          <a:xfrm>
            <a:off x="1130618" y="4000024"/>
            <a:ext cx="24430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codegraph_impact("run_quick_demo")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CA17FE5-9FFF-1877-B2FA-AD5DA1BEF474}"/>
              </a:ext>
            </a:extLst>
          </p:cNvPr>
          <p:cNvSpPr txBox="1"/>
          <p:nvPr/>
        </p:nvSpPr>
        <p:spPr>
          <a:xfrm>
            <a:off x="673418" y="4209574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结果：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B76E15F-1603-2BCF-AE80-DE6BE020DF28}"/>
              </a:ext>
            </a:extLst>
          </p:cNvPr>
          <p:cNvSpPr txBox="1"/>
          <p:nvPr/>
        </p:nvSpPr>
        <p:spPr>
          <a:xfrm>
            <a:off x="1129665" y="4201478"/>
            <a:ext cx="2904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列出所有直接/间接调用方，帮助评估修改范围</a:t>
            </a:r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F7670409-C869-5FB2-4921-10CC856A6A8D}"/>
              </a:ext>
            </a:extLst>
          </p:cNvPr>
          <p:cNvSpPr/>
          <p:nvPr/>
        </p:nvSpPr>
        <p:spPr>
          <a:xfrm>
            <a:off x="457200" y="4610100"/>
            <a:ext cx="112776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07B5F66-7D63-CEDC-62D5-706E65BCF714}"/>
              </a:ext>
            </a:extLst>
          </p:cNvPr>
          <p:cNvSpPr txBox="1"/>
          <p:nvPr/>
        </p:nvSpPr>
        <p:spPr>
          <a:xfrm>
            <a:off x="672465" y="4687252"/>
            <a:ext cx="14748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场景 3：理解项目结构</a:t>
            </a:r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AF00ED3B-1DAF-11D0-AA8B-3FD78BA77199}"/>
              </a:ext>
            </a:extLst>
          </p:cNvPr>
          <p:cNvSpPr/>
          <p:nvPr/>
        </p:nvSpPr>
        <p:spPr>
          <a:xfrm>
            <a:off x="457200" y="4895850"/>
            <a:ext cx="112776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F6A0641A-1B70-1F5E-1619-6450818C9396}"/>
              </a:ext>
            </a:extLst>
          </p:cNvPr>
          <p:cNvSpPr txBox="1"/>
          <p:nvPr/>
        </p:nvSpPr>
        <p:spPr>
          <a:xfrm>
            <a:off x="673418" y="50001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问题：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7AE286C-1BE2-1230-5E19-37DD1379ED89}"/>
              </a:ext>
            </a:extLst>
          </p:cNvPr>
          <p:cNvSpPr txBox="1"/>
          <p:nvPr/>
        </p:nvSpPr>
        <p:spPr>
          <a:xfrm>
            <a:off x="1129665" y="4992052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application/ 目录里有哪些公开函数？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AA44D153-5DDF-5B22-EAFF-1942FE39C5F3}"/>
              </a:ext>
            </a:extLst>
          </p:cNvPr>
          <p:cNvSpPr txBox="1"/>
          <p:nvPr/>
        </p:nvSpPr>
        <p:spPr>
          <a:xfrm>
            <a:off x="673418" y="520969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工具：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A7BE23A4-08D4-CA9A-D2A9-86B24BE6BAA4}"/>
              </a:ext>
            </a:extLst>
          </p:cNvPr>
          <p:cNvSpPr txBox="1"/>
          <p:nvPr/>
        </p:nvSpPr>
        <p:spPr>
          <a:xfrm>
            <a:off x="1130618" y="5209699"/>
            <a:ext cx="48743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codegraph_explore(files=["application/week1_4_rag_engineering.py", ...])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CB1E3A4-3316-8691-275F-C3AB6E40EB5C}"/>
              </a:ext>
            </a:extLst>
          </p:cNvPr>
          <p:cNvSpPr txBox="1"/>
          <p:nvPr/>
        </p:nvSpPr>
        <p:spPr>
          <a:xfrm>
            <a:off x="673418" y="541924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结果：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B94D563-78F6-C9CA-860B-54FAEF48E29D}"/>
              </a:ext>
            </a:extLst>
          </p:cNvPr>
          <p:cNvSpPr txBox="1"/>
          <p:nvPr/>
        </p:nvSpPr>
        <p:spPr>
          <a:xfrm>
            <a:off x="1129665" y="5411152"/>
            <a:ext cx="33870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按文件分组返回所有导出函数的签名，无需逐文件阅读</a:t>
            </a:r>
          </a:p>
        </p:txBody>
      </p:sp>
    </p:spTree>
    <p:extLst>
      <p:ext uri="{BB962C8B-B14F-4D97-AF65-F5344CB8AC3E}">
        <p14:creationId xmlns:p14="http://schemas.microsoft.com/office/powerpoint/2010/main" val="306968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14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275847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支持的 Agent &amp; 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0550" y="1171575"/>
            <a:ext cx="34090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支持的 AI Agent（8 个，自动检测）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1476375"/>
            <a:ext cx="24384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457200" y="1476375"/>
            <a:ext cx="2438400" cy="5715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164808" y="1662589"/>
            <a:ext cx="10231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Claude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7965" y="1904524"/>
            <a:ext cx="856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Anthropic CLI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048000" y="1476375"/>
            <a:ext cx="24384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3048000" y="1476375"/>
            <a:ext cx="2438400" cy="571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3956446" y="1662589"/>
            <a:ext cx="6215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Cursor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63806" y="1904524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IDE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638800" y="1476375"/>
            <a:ext cx="24384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8"/>
          <p:cNvSpPr/>
          <p:nvPr/>
        </p:nvSpPr>
        <p:spPr>
          <a:xfrm>
            <a:off x="5638800" y="1476375"/>
            <a:ext cx="2438400" cy="5715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444595" y="1662589"/>
            <a:ext cx="8268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6F5200"/>
                </a:solidFill>
                <a:latin typeface="Calibri Light"/>
                <a:ea typeface="Microsoft YaHei"/>
                <a:cs typeface="Calibri Light"/>
              </a:rPr>
              <a:t>Codex CLI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3827" y="1904524"/>
            <a:ext cx="668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OpenAI CLI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229600" y="1476375"/>
            <a:ext cx="35052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2"/>
          <p:cNvSpPr/>
          <p:nvPr/>
        </p:nvSpPr>
        <p:spPr>
          <a:xfrm>
            <a:off x="8229600" y="1476375"/>
            <a:ext cx="3505200" cy="57150"/>
          </a:xfrm>
          <a:prstGeom prst="roundRect">
            <a:avLst>
              <a:gd name="adj" fmla="val 50000"/>
            </a:avLst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9546480" y="1662589"/>
            <a:ext cx="8714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7E51"/>
                </a:solidFill>
                <a:latin typeface="Calibri Light"/>
                <a:ea typeface="Microsoft YaHei"/>
                <a:cs typeface="Calibri Light"/>
              </a:rPr>
              <a:t>Gemini CLI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61029" y="1904524"/>
            <a:ext cx="6423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Google CLI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57200" y="2257425"/>
            <a:ext cx="24384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332071" y="2402681"/>
            <a:ext cx="6886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opencode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3487" y="2609374"/>
            <a:ext cx="5058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开源 CLI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048000" y="2257425"/>
            <a:ext cx="24384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3709095" y="2402681"/>
            <a:ext cx="1116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Antigravity IDE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63806" y="2609374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IDE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638800" y="2257425"/>
            <a:ext cx="24384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352401" y="2402681"/>
            <a:ext cx="1011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Hermes Agent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09863" y="2609374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—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229600" y="2257425"/>
            <a:ext cx="3505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9821644" y="2402681"/>
            <a:ext cx="3211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Kiro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78806" y="2609374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IDE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0550" y="30003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支持的平台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7200" y="3276600"/>
            <a:ext cx="11277600" cy="19050"/>
          </a:xfrm>
          <a:prstGeom prst="rect">
            <a:avLst/>
          </a:prstGeom>
          <a:solidFill>
            <a:srgbClr val="D7D2C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 39"/>
          <p:cNvSpPr/>
          <p:nvPr/>
        </p:nvSpPr>
        <p:spPr>
          <a:xfrm>
            <a:off x="457200" y="3409950"/>
            <a:ext cx="11277600" cy="3429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1756100" y="35237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平台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66100" y="35237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架构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239583" y="35237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安装方式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57200" y="3752850"/>
            <a:ext cx="1127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1575673" y="38885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Windows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99115" y="389667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x64 · arm64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937593" y="3896678"/>
            <a:ext cx="1174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PowerShell / npm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57200" y="4171950"/>
            <a:ext cx="11277600" cy="4191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1642619" y="4307681"/>
            <a:ext cx="524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macOS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299115" y="431577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x64 · arm64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4119" y="43157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shell / npm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57200" y="4591050"/>
            <a:ext cx="1127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2"/>
          <p:cNvSpPr txBox="1"/>
          <p:nvPr/>
        </p:nvSpPr>
        <p:spPr>
          <a:xfrm>
            <a:off x="1693813" y="4726781"/>
            <a:ext cx="4223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Linux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299115" y="473487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x64 · arm64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44119" y="47348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shell / npm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57200" y="5181600"/>
            <a:ext cx="11277600" cy="419100"/>
          </a:xfrm>
          <a:prstGeom prst="roundRect">
            <a:avLst>
              <a:gd name="adj" fmla="val 13636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Rectangle 56"/>
          <p:cNvSpPr/>
          <p:nvPr/>
        </p:nvSpPr>
        <p:spPr>
          <a:xfrm>
            <a:off x="457200" y="518160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671512" y="5307806"/>
            <a:ext cx="40115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💡 自带 Node 运行时，无需预先安装 Node.js，真正开箱即用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15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25967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支持的语言（20+）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28575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72465" y="1363028"/>
            <a:ext cx="13424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完整支持（20+ 种）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" y="1666875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27400" y="175212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TypeScript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619250" y="166687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741825" y="175212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JavaScript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686050" y="1666875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2868716" y="1752124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Python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619500" y="1666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3868984" y="175212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Go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00550" y="1666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578525" y="1752124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Rust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181600" y="1666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5359575" y="1752124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Java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962650" y="1666875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164509" y="175212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C#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48450" y="1666875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6814554" y="17521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PHP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334250" y="1666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512225" y="1752124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Ruby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15300" y="1666875"/>
            <a:ext cx="4762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8305288" y="1752124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C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705850" y="1666875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852904" y="17521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C++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353550" y="1666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9499021" y="1752124"/>
            <a:ext cx="3758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Swift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0134600" y="1666875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10321195" y="1752124"/>
            <a:ext cx="3888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Kotlin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1010900" y="1666875"/>
            <a:ext cx="7239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11197947" y="1752124"/>
            <a:ext cx="3498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Scala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7200" y="2047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635175" y="2133124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Dart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238250" y="2047875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1408593" y="2133124"/>
            <a:ext cx="421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Svelte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114550" y="2047875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2280654" y="21331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Vue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800350" y="2047875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2966454" y="21331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Lua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486150" y="2047875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3664125" y="2133124"/>
            <a:ext cx="3108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Luau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267200" y="2047875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4410266" y="2133124"/>
            <a:ext cx="856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Pascal/Delphi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524500" y="2047875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5711095" y="2133124"/>
            <a:ext cx="3888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Liquid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77000" y="2047875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Box 53"/>
          <p:cNvSpPr txBox="1"/>
          <p:nvPr/>
        </p:nvSpPr>
        <p:spPr>
          <a:xfrm>
            <a:off x="6718649" y="2141220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Obj-C (部分)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57200" y="2524125"/>
            <a:ext cx="11277600" cy="28575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Box 55"/>
          <p:cNvSpPr txBox="1"/>
          <p:nvPr/>
        </p:nvSpPr>
        <p:spPr>
          <a:xfrm>
            <a:off x="672465" y="2601278"/>
            <a:ext cx="1812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框架路由感知（14 个框架）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57200" y="29051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722793" y="2990374"/>
            <a:ext cx="421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Django</a:t>
            </a:r>
          </a:p>
        </p:txBody>
      </p:sp>
      <p:sp>
        <p:nvSpPr>
          <p:cNvPr id="58" name="Rectangle 58"/>
          <p:cNvSpPr/>
          <p:nvPr/>
        </p:nvSpPr>
        <p:spPr>
          <a:xfrm>
            <a:off x="1524000" y="2905125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Box 59"/>
          <p:cNvSpPr txBox="1"/>
          <p:nvPr/>
        </p:nvSpPr>
        <p:spPr>
          <a:xfrm>
            <a:off x="1777722" y="2990374"/>
            <a:ext cx="3498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Flask</a:t>
            </a:r>
          </a:p>
        </p:txBody>
      </p:sp>
      <p:sp>
        <p:nvSpPr>
          <p:cNvPr id="60" name="Rectangle 60"/>
          <p:cNvSpPr/>
          <p:nvPr/>
        </p:nvSpPr>
        <p:spPr>
          <a:xfrm>
            <a:off x="2495550" y="29051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Box 61"/>
          <p:cNvSpPr txBox="1"/>
          <p:nvPr/>
        </p:nvSpPr>
        <p:spPr>
          <a:xfrm>
            <a:off x="2725388" y="2990374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FastAPI</a:t>
            </a:r>
          </a:p>
        </p:txBody>
      </p:sp>
      <p:sp>
        <p:nvSpPr>
          <p:cNvPr id="62" name="Rectangle 62"/>
          <p:cNvSpPr/>
          <p:nvPr/>
        </p:nvSpPr>
        <p:spPr>
          <a:xfrm>
            <a:off x="3562350" y="29051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Box 63"/>
          <p:cNvSpPr txBox="1"/>
          <p:nvPr/>
        </p:nvSpPr>
        <p:spPr>
          <a:xfrm>
            <a:off x="3775936" y="2990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Express</a:t>
            </a:r>
          </a:p>
        </p:txBody>
      </p:sp>
      <p:sp>
        <p:nvSpPr>
          <p:cNvPr id="64" name="Rectangle 64"/>
          <p:cNvSpPr/>
          <p:nvPr/>
        </p:nvSpPr>
        <p:spPr>
          <a:xfrm>
            <a:off x="4629150" y="29051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Box 65"/>
          <p:cNvSpPr txBox="1"/>
          <p:nvPr/>
        </p:nvSpPr>
        <p:spPr>
          <a:xfrm>
            <a:off x="4878491" y="2990374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NestJS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695950" y="29051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Box 67"/>
          <p:cNvSpPr txBox="1"/>
          <p:nvPr/>
        </p:nvSpPr>
        <p:spPr>
          <a:xfrm>
            <a:off x="5925788" y="2990374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Laravel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762750" y="2905125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Box 69"/>
          <p:cNvSpPr txBox="1"/>
          <p:nvPr/>
        </p:nvSpPr>
        <p:spPr>
          <a:xfrm>
            <a:off x="7028343" y="2990374"/>
            <a:ext cx="421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Drupal</a:t>
            </a:r>
          </a:p>
        </p:txBody>
      </p:sp>
      <p:sp>
        <p:nvSpPr>
          <p:cNvPr id="70" name="Rectangle 70"/>
          <p:cNvSpPr/>
          <p:nvPr/>
        </p:nvSpPr>
        <p:spPr>
          <a:xfrm>
            <a:off x="457200" y="3286125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Box 71"/>
          <p:cNvSpPr txBox="1"/>
          <p:nvPr/>
        </p:nvSpPr>
        <p:spPr>
          <a:xfrm>
            <a:off x="708124" y="3371374"/>
            <a:ext cx="317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Rails</a:t>
            </a:r>
          </a:p>
        </p:txBody>
      </p:sp>
      <p:sp>
        <p:nvSpPr>
          <p:cNvPr id="72" name="Rectangle 72"/>
          <p:cNvSpPr/>
          <p:nvPr/>
        </p:nvSpPr>
        <p:spPr>
          <a:xfrm>
            <a:off x="1390650" y="3286125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Box 73"/>
          <p:cNvSpPr txBox="1"/>
          <p:nvPr/>
        </p:nvSpPr>
        <p:spPr>
          <a:xfrm>
            <a:off x="1608618" y="3371374"/>
            <a:ext cx="421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Spring</a:t>
            </a:r>
          </a:p>
        </p:txBody>
      </p:sp>
      <p:sp>
        <p:nvSpPr>
          <p:cNvPr id="74" name="Rectangle 74"/>
          <p:cNvSpPr/>
          <p:nvPr/>
        </p:nvSpPr>
        <p:spPr>
          <a:xfrm>
            <a:off x="2362200" y="3286125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Box 75"/>
          <p:cNvSpPr txBox="1"/>
          <p:nvPr/>
        </p:nvSpPr>
        <p:spPr>
          <a:xfrm>
            <a:off x="2513886" y="33713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Gin/chi/gorilla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714750" y="328612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Box 77"/>
          <p:cNvSpPr txBox="1"/>
          <p:nvPr/>
        </p:nvSpPr>
        <p:spPr>
          <a:xfrm>
            <a:off x="3812167" y="3371374"/>
            <a:ext cx="1233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Axum/actix/Rocket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257800" y="3286125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Box 79"/>
          <p:cNvSpPr txBox="1"/>
          <p:nvPr/>
        </p:nvSpPr>
        <p:spPr>
          <a:xfrm>
            <a:off x="5519011" y="3371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ASP.NET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19850" y="3286125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Box 81"/>
          <p:cNvSpPr txBox="1"/>
          <p:nvPr/>
        </p:nvSpPr>
        <p:spPr>
          <a:xfrm>
            <a:off x="6609695" y="3371374"/>
            <a:ext cx="382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Vapor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96150" y="3286125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Box 83"/>
          <p:cNvSpPr txBox="1"/>
          <p:nvPr/>
        </p:nvSpPr>
        <p:spPr>
          <a:xfrm>
            <a:off x="7355550" y="3371374"/>
            <a:ext cx="1500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React Router/SvelteKit</a:t>
            </a:r>
          </a:p>
        </p:txBody>
      </p:sp>
      <p:sp>
        <p:nvSpPr>
          <p:cNvPr id="84" name="Rectangle 84"/>
          <p:cNvSpPr/>
          <p:nvPr/>
        </p:nvSpPr>
        <p:spPr>
          <a:xfrm>
            <a:off x="457200" y="3762375"/>
            <a:ext cx="11277600" cy="28575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Box 85"/>
          <p:cNvSpPr txBox="1"/>
          <p:nvPr/>
        </p:nvSpPr>
        <p:spPr>
          <a:xfrm>
            <a:off x="672465" y="38395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跨语言桥接</a:t>
            </a:r>
          </a:p>
        </p:txBody>
      </p:sp>
      <p:sp>
        <p:nvSpPr>
          <p:cNvPr id="86" name="Rectangle 86"/>
          <p:cNvSpPr/>
          <p:nvPr/>
        </p:nvSpPr>
        <p:spPr>
          <a:xfrm>
            <a:off x="457200" y="4143375"/>
            <a:ext cx="26670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Box 87"/>
          <p:cNvSpPr txBox="1"/>
          <p:nvPr/>
        </p:nvSpPr>
        <p:spPr>
          <a:xfrm>
            <a:off x="1105281" y="4268152"/>
            <a:ext cx="13708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Swift ↔ Objective-C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15997" y="4485799"/>
            <a:ext cx="11494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类/协议/方法/属性</a:t>
            </a:r>
          </a:p>
        </p:txBody>
      </p:sp>
      <p:sp>
        <p:nvSpPr>
          <p:cNvPr id="89" name="Rectangle 89"/>
          <p:cNvSpPr/>
          <p:nvPr/>
        </p:nvSpPr>
        <p:spPr>
          <a:xfrm>
            <a:off x="3276600" y="4143375"/>
            <a:ext cx="26670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TextBox 90"/>
          <p:cNvSpPr txBox="1"/>
          <p:nvPr/>
        </p:nvSpPr>
        <p:spPr>
          <a:xfrm>
            <a:off x="3935182" y="42681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React Native Bridge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07669" y="44857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原生模块互调</a:t>
            </a:r>
          </a:p>
        </p:txBody>
      </p:sp>
      <p:sp>
        <p:nvSpPr>
          <p:cNvPr id="92" name="Rectangle 92"/>
          <p:cNvSpPr/>
          <p:nvPr/>
        </p:nvSpPr>
        <p:spPr>
          <a:xfrm>
            <a:off x="6096000" y="4143375"/>
            <a:ext cx="26670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Box 93"/>
          <p:cNvSpPr txBox="1"/>
          <p:nvPr/>
        </p:nvSpPr>
        <p:spPr>
          <a:xfrm>
            <a:off x="6957608" y="4268152"/>
            <a:ext cx="943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TurboModules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131082" y="44857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RN 新架构</a:t>
            </a:r>
          </a:p>
        </p:txBody>
      </p:sp>
      <p:sp>
        <p:nvSpPr>
          <p:cNvPr id="95" name="Rectangle 95"/>
          <p:cNvSpPr/>
          <p:nvPr/>
        </p:nvSpPr>
        <p:spPr>
          <a:xfrm>
            <a:off x="8915400" y="4143375"/>
            <a:ext cx="28194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TextBox 96"/>
          <p:cNvSpPr txBox="1"/>
          <p:nvPr/>
        </p:nvSpPr>
        <p:spPr>
          <a:xfrm>
            <a:off x="9870710" y="426815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Expo Modules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890165" y="4485799"/>
            <a:ext cx="869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Expo 扩展模块</a:t>
            </a:r>
          </a:p>
        </p:txBody>
      </p:sp>
      <p:sp>
        <p:nvSpPr>
          <p:cNvPr id="98" name="Rectangle 98"/>
          <p:cNvSpPr/>
          <p:nvPr/>
        </p:nvSpPr>
        <p:spPr>
          <a:xfrm>
            <a:off x="457200" y="4953000"/>
            <a:ext cx="11277600" cy="41910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TextBox 99"/>
          <p:cNvSpPr txBox="1"/>
          <p:nvPr/>
        </p:nvSpPr>
        <p:spPr>
          <a:xfrm>
            <a:off x="4036504" y="5080635"/>
            <a:ext cx="41189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20+ 语言 · 14 个框架路由 · 跨语言桥接 · 覆盖主流技术栈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16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27437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常见问题 &amp; 最佳实践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0550" y="1171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常见问题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1457325"/>
            <a:ext cx="11277600" cy="6477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457200" y="1457325"/>
            <a:ext cx="57150" cy="6477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72465" y="1553528"/>
            <a:ext cx="3077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Q1 初始化时提示 "CodeGraph not initialized"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2465" y="177260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→ 先在项目目录执行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25992" y="1780699"/>
            <a:ext cx="9283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onsolas"/>
                <a:ea typeface="Microsoft YaHei"/>
                <a:cs typeface="Consolas"/>
              </a:rPr>
              <a:t>codegraph init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15665" y="177260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，然后重启 AI Agent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3418" y="1923574"/>
            <a:ext cx="3229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确保在项目根目录下执行，会创建 .codegraph/ 文件夹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2200275"/>
            <a:ext cx="112776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7"/>
          <p:cNvSpPr/>
          <p:nvPr/>
        </p:nvSpPr>
        <p:spPr>
          <a:xfrm>
            <a:off x="457200" y="2200275"/>
            <a:ext cx="57150" cy="762000"/>
          </a:xfrm>
          <a:prstGeom prst="roundRect">
            <a:avLst>
              <a:gd name="adj" fmla="val 50000"/>
            </a:avLst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72465" y="2296478"/>
            <a:ext cx="17541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7E51"/>
                </a:solidFill>
                <a:latin typeface="Calibri"/>
                <a:ea typeface="Microsoft YaHei"/>
                <a:cs typeface="Calibri"/>
              </a:rPr>
              <a:t>Q2 MCP 工具显示符号缺失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465" y="2515552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→ 等 1-2 秒自动同步；或手动执行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54742" y="25236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6B6B"/>
                </a:solidFill>
                <a:latin typeface="Consolas"/>
                <a:ea typeface="Microsoft YaHei"/>
                <a:cs typeface="Consolas"/>
              </a:rPr>
              <a:t>codegraph sync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2465" y="2725102"/>
            <a:ext cx="41851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→ 确认文件不在 .gitignore 或 node_modules / dist 等排除目录中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7200" y="3057525"/>
            <a:ext cx="1127760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457200" y="3057525"/>
            <a:ext cx="57150" cy="85725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72465" y="3153728"/>
            <a:ext cx="2092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Q3 SQLite database is locked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2465" y="3372802"/>
            <a:ext cx="3429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→ 升级到 v0.9+ 版本（内置 Node 运行时 + WAL 模式）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2465" y="3582352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→ WSL2 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6368" y="3590449"/>
            <a:ext cx="336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/mnt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96415" y="3582352"/>
            <a:ext cx="28480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路径不支持 WAL，请将项目移到本地磁盘（如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50368" y="359044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0392B"/>
                </a:solidFill>
                <a:latin typeface="Consolas"/>
                <a:ea typeface="Microsoft YaHei"/>
                <a:cs typeface="Consolas"/>
              </a:rPr>
              <a:t>C:\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30415" y="3582352"/>
            <a:ext cx="166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3418" y="3733324"/>
            <a:ext cx="26770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注意：不是 /mnt/c，而是 Windows 原生路径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0550" y="39909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最佳实践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" y="4267200"/>
            <a:ext cx="11277600" cy="22860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72465" y="4306252"/>
            <a:ext cx="46332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💡 大型项目首次索引后，后续自动增量同步，不需要重复 codegraph index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7200" y="4572000"/>
            <a:ext cx="11277600" cy="22860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672465" y="4611052"/>
            <a:ext cx="427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💡 只有 codegraph_context 才是 AI "开始工作前"最值得调用的工具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" y="4876800"/>
            <a:ext cx="11277600" cy="228600"/>
          </a:xfrm>
          <a:prstGeom prst="roundRect">
            <a:avLst>
              <a:gd name="adj" fmla="val 16667"/>
            </a:avLst>
          </a:prstGeom>
          <a:solidFill>
            <a:srgbClr val="FFE0D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72465" y="4915852"/>
            <a:ext cx="48432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⚠️ 用 codegraph_trace 追踪路径，绝不要手动循环调用 codegraph_callers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57200" y="5181600"/>
            <a:ext cx="11277600" cy="228600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672465" y="5220652"/>
            <a:ext cx="49762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F5200"/>
                </a:solidFill>
                <a:latin typeface="Calibri"/>
                <a:ea typeface="Microsoft YaHei"/>
                <a:cs typeface="Calibri"/>
              </a:rPr>
              <a:t>⚠️ 修改代码后，如果 AI 给出 ⚠️ 标识，相应文件需要用 Read 工具确认最新内容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17 / 18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542925"/>
            <a:ext cx="121920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2930" y="678180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总结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1285875"/>
            <a:ext cx="11277600" cy="6858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903374" y="1422082"/>
            <a:ext cx="43852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CodeGraph 是给 AI 编程助手的"代码地图"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2544" y="1737360"/>
            <a:ext cx="34869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让 AI 直接查图而非扫文件 · 一次建图，持续受益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2162175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457200" y="2162175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748228" y="2135505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35%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5711" y="26574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更省钱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6412" y="29537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平均节省费用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9878" y="3182302"/>
            <a:ext cx="14198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大型仓库最高节省 82%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3821" y="341899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Token 费用 · API 调用成本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42361" y="36094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57% Token 减少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7055" y="379999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尤其适合大型 TypeScript 仓库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43400" y="2162175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4343400" y="2162175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5697436" y="2135505"/>
            <a:ext cx="79712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6B6D4"/>
                </a:solidFill>
                <a:latin typeface="Calibri Light"/>
                <a:ea typeface="Microsoft YaHei"/>
                <a:cs typeface="Calibri Light"/>
              </a:rPr>
              <a:t>71%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61911" y="26574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更快速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62612" y="29537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工具调用减少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26095" y="3182302"/>
            <a:ext cx="1139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回答速度提升 46%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19772" y="3418999"/>
            <a:ext cx="15524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grep/glob/Read 大幅减少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10783" y="360949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子 Agent 探索近乎消除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229600" y="2162175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29"/>
          <p:cNvSpPr/>
          <p:nvPr/>
        </p:nvSpPr>
        <p:spPr>
          <a:xfrm>
            <a:off x="8229600" y="2162175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9445019" y="2135505"/>
            <a:ext cx="107436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100%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48111" y="26574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更精准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8795" y="295370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本地运行，零泄露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293" y="3182302"/>
            <a:ext cx="1181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基于 AST 语义分析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79769" y="34189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企业代码安全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9752" y="36094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7D2CD"/>
                </a:solidFill>
                <a:latin typeface="Calibri"/>
                <a:ea typeface="Microsoft YaHei"/>
                <a:cs typeface="Calibri"/>
              </a:rPr>
              <a:t>跨语言调用链追踪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7200" y="4257675"/>
            <a:ext cx="7429500" cy="762000"/>
          </a:xfrm>
          <a:prstGeom prst="roundRect">
            <a:avLst>
              <a:gd name="adj" fmla="val 7500"/>
            </a:avLst>
          </a:prstGeom>
          <a:solidFill>
            <a:srgbClr val="DCEB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37"/>
          <p:cNvSpPr/>
          <p:nvPr/>
        </p:nvSpPr>
        <p:spPr>
          <a:xfrm>
            <a:off x="457200" y="4257675"/>
            <a:ext cx="57150" cy="76200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71512" y="43267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4AAC"/>
                </a:solidFill>
                <a:latin typeface="Calibri Light"/>
                <a:ea typeface="Microsoft YaHei"/>
                <a:cs typeface="Calibri Light"/>
              </a:rPr>
              <a:t>适用团队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2465" y="4553902"/>
            <a:ext cx="3653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日常使用 Claude Code / Cursor 进行 AI 辅助开发的团队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2465" y="4763452"/>
            <a:ext cx="41081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• 代码库规模 ≥ 数百文件的中大型项目 · 需要频繁重构分析的场景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77200" y="4257675"/>
            <a:ext cx="36576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9192578" y="43824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立即体验（Windows）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76803" y="4638199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irm https://...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15808" y="48096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install.ps1 | iex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4343" y="17526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DXC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7501" y="65812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CodeGraph 使用说明 — 技术分享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7571" y="6581299"/>
            <a:ext cx="395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18 / 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77536" y="1483995"/>
            <a:ext cx="143692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Q &amp;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3080" y="220599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6B6D4"/>
                </a:solidFill>
                <a:latin typeface="Calibri"/>
                <a:ea typeface="Microsoft YaHei"/>
                <a:cs typeface="Calibri"/>
              </a:rPr>
              <a:t>欢迎提问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2571750"/>
            <a:ext cx="3810000" cy="19050"/>
          </a:xfrm>
          <a:prstGeom prst="rect">
            <a:avLst/>
          </a:prstGeom>
          <a:solidFill>
            <a:srgbClr val="FFAE4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2667000" y="2819400"/>
            <a:ext cx="6858000" cy="219075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2667000" y="2819400"/>
            <a:ext cx="68580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5620473" y="2997518"/>
            <a:ext cx="951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📎 参考资源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4665" y="3363278"/>
            <a:ext cx="7057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🔗 官方仓库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78618" y="3371374"/>
            <a:ext cx="29436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https://github.com/colbymchenry/codegraph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4665" y="3649028"/>
            <a:ext cx="7057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🌐 文档网站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78618" y="365712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https://colbymchenry.github.io/codegraph/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4665" y="3934778"/>
            <a:ext cx="845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📁 本项目示例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78618" y="3942874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AE41"/>
                </a:solidFill>
                <a:latin typeface="Consolas"/>
                <a:ea typeface="Microsoft YaHei"/>
                <a:cs typeface="Consolas"/>
              </a:rPr>
              <a:t>MyAIStudy .codegraph/ 目录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34665" y="4220528"/>
            <a:ext cx="7057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📦 当前版本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77665" y="4220528"/>
            <a:ext cx="14198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v0.9.6 · 2026-05-28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34665" y="4506278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Calibri"/>
                <a:ea typeface="Microsoft YaHei"/>
                <a:cs typeface="Calibri"/>
              </a:rPr>
              <a:t>⭐ GitHub Stars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77665" y="4506278"/>
            <a:ext cx="565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29,900+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92662" y="5261610"/>
            <a:ext cx="16066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感谢聆听 · 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template" id="{372C5D99-EAAE-4CC8-B45C-CB00246BBD47}" vid="{A1EB6840-CA6C-4955-A547-6EAC3A9AD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93514B828CCB48B02392E14BFF07CD" ma:contentTypeVersion="0" ma:contentTypeDescription="Create a new document." ma:contentTypeScope="" ma:versionID="5a55d2cd0f7ca3f196681850f3d707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8bc42cdcaa82a2071025144403ece7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310B7F-0459-4DAD-B2BA-A0E66AA5F8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298A58B-876F-42E2-BEC0-1193FE4D62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B4A852-DCA5-408B-8D0B-862D89A4D6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4727</Words>
  <Application>Microsoft Office PowerPoint</Application>
  <PresentationFormat>宽屏</PresentationFormat>
  <Paragraphs>651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Consolas</vt:lpstr>
      <vt:lpstr>Inter SemiBold</vt:lpstr>
      <vt:lpstr>Inter Bold</vt:lpstr>
      <vt:lpstr>GT Standard L Extended</vt:lpstr>
      <vt:lpstr>Inter</vt:lpstr>
      <vt:lpstr>Arial</vt:lpstr>
      <vt:lpstr>Inter Light</vt:lpstr>
      <vt:lpstr>Inter Regular</vt:lpstr>
      <vt:lpstr>Calibri Light</vt:lpstr>
      <vt:lpstr>Inter Medium</vt:lpstr>
      <vt:lpstr>Calibri</vt:lpstr>
      <vt:lpstr>DXC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Cheng, Lu</dc:creator>
  <cp:lastModifiedBy>Cheng, Lu</cp:lastModifiedBy>
  <cp:revision>1</cp:revision>
  <dcterms:created xsi:type="dcterms:W3CDTF">2026-05-22T06:21:56Z</dcterms:created>
  <dcterms:modified xsi:type="dcterms:W3CDTF">2026-05-28T03:15:49Z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2025-12-09T16:07:32Z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4b7d9dea-3b11-47e8-b915-12305eea8642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  <property fmtid="{D5CDD505-2E9C-101B-9397-08002B2CF9AE}" pid="10" name="ContentTypeId">
    <vt:lpwstr>0x010100B493514B828CCB48B02392E14BFF07CD</vt:lpwstr>
  </property>
</Properties>
</file>