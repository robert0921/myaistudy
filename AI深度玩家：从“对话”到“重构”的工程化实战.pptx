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404741-2383-461D-B80A-86F2F594ACC0}" v="19" dt="2025-12-25T07:53:09.6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 varScale="1">
        <p:scale>
          <a:sx n="95" d="100"/>
          <a:sy n="95" d="100"/>
        </p:scale>
        <p:origin x="206" y="72"/>
      </p:cViewPr>
      <p:guideLst>
        <p:guide pos="416"/>
        <p:guide pos="7256"/>
        <p:guide orient="horz" pos="648"/>
        <p:guide orient="horz" pos="712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g, Lu" userId="11016522-e861-4f6b-8895-c52f0175c405" providerId="ADAL" clId="{C1404741-2383-461D-B80A-86F2F594ACC0}"/>
    <pc:docChg chg="undo custSel addSld modSld">
      <pc:chgData name="Cheng, Lu" userId="11016522-e861-4f6b-8895-c52f0175c405" providerId="ADAL" clId="{C1404741-2383-461D-B80A-86F2F594ACC0}" dt="2025-12-25T07:53:09.648" v="60"/>
      <pc:docMkLst>
        <pc:docMk/>
      </pc:docMkLst>
      <pc:sldChg chg="modSp new mod">
        <pc:chgData name="Cheng, Lu" userId="11016522-e861-4f6b-8895-c52f0175c405" providerId="ADAL" clId="{C1404741-2383-461D-B80A-86F2F594ACC0}" dt="2025-12-25T07:53:09.648" v="60"/>
        <pc:sldMkLst>
          <pc:docMk/>
          <pc:sldMk cId="2238462871" sldId="267"/>
        </pc:sldMkLst>
        <pc:spChg chg="mod">
          <ac:chgData name="Cheng, Lu" userId="11016522-e861-4f6b-8895-c52f0175c405" providerId="ADAL" clId="{C1404741-2383-461D-B80A-86F2F594ACC0}" dt="2025-12-24T07:55:14.904" v="44"/>
          <ac:spMkLst>
            <pc:docMk/>
            <pc:sldMk cId="2238462871" sldId="267"/>
            <ac:spMk id="2" creationId="{CD790237-F92F-89DC-D3FE-35207C9B4320}"/>
          </ac:spMkLst>
        </pc:spChg>
        <pc:spChg chg="mod">
          <ac:chgData name="Cheng, Lu" userId="11016522-e861-4f6b-8895-c52f0175c405" providerId="ADAL" clId="{C1404741-2383-461D-B80A-86F2F594ACC0}" dt="2025-12-25T07:53:09.648" v="60"/>
          <ac:spMkLst>
            <pc:docMk/>
            <pc:sldMk cId="2238462871" sldId="267"/>
            <ac:spMk id="3" creationId="{7EC3C317-96B0-82CE-FEC3-41BFF6248DA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E68A75-4D8F-4285-AA7E-8393BFBE9BC0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66637-159D-4275-8E22-57E583220FF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6987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 descr="95ab0961-8b98-4c67-989e-8b7deddcdc69"/>
          <p:cNvGrpSpPr/>
          <p:nvPr/>
        </p:nvGrpSpPr>
        <p:grpSpPr>
          <a:xfrm>
            <a:off x="0" y="0"/>
            <a:ext cx="12206514" cy="6858000"/>
            <a:chOff x="0" y="0"/>
            <a:chExt cx="12206514" cy="6858000"/>
          </a:xfrm>
        </p:grpSpPr>
        <p:sp>
          <p:nvSpPr>
            <p:cNvPr id="7" name="矩形 6" descr="72f2012a-ba3c-4b23-ba76-15b3360bd04d"/>
            <p:cNvSpPr/>
            <p:nvPr/>
          </p:nvSpPr>
          <p:spPr>
            <a:xfrm>
              <a:off x="0" y="0"/>
              <a:ext cx="12206514" cy="6858000"/>
            </a:xfrm>
            <a:prstGeom prst="rect">
              <a:avLst/>
            </a:prstGeom>
            <a:blipFill dpi="0" rotWithShape="1">
              <a:blip r:embed="rId2">
                <a:alphaModFix amt="10000"/>
              </a:blip>
              <a:stretch>
                <a:fillRect t="-11511" b="-11511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任意多边形: 形状 7" descr="01676f26-5592-4a29-83e0-9a49218193f3"/>
            <p:cNvSpPr/>
            <p:nvPr/>
          </p:nvSpPr>
          <p:spPr bwMode="auto">
            <a:xfrm rot="16200000">
              <a:off x="3142957" y="-1372582"/>
              <a:ext cx="2756118" cy="5501283"/>
            </a:xfrm>
            <a:custGeom>
              <a:avLst/>
              <a:gdLst>
                <a:gd name="connsiteX0" fmla="*/ 1196975 w 1198563"/>
                <a:gd name="connsiteY0" fmla="*/ 0 h 2392363"/>
                <a:gd name="connsiteX1" fmla="*/ 1198563 w 1198563"/>
                <a:gd name="connsiteY1" fmla="*/ 1582 h 2392363"/>
                <a:gd name="connsiteX2" fmla="*/ 1198563 w 1198563"/>
                <a:gd name="connsiteY2" fmla="*/ 2390779 h 2392363"/>
                <a:gd name="connsiteX3" fmla="*/ 1196975 w 1198563"/>
                <a:gd name="connsiteY3" fmla="*/ 2392363 h 2392363"/>
                <a:gd name="connsiteX4" fmla="*/ 0 w 1198563"/>
                <a:gd name="connsiteY4" fmla="*/ 1195388 h 23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8563" h="2392363">
                  <a:moveTo>
                    <a:pt x="1196975" y="0"/>
                  </a:moveTo>
                  <a:lnTo>
                    <a:pt x="1198563" y="1582"/>
                  </a:lnTo>
                  <a:lnTo>
                    <a:pt x="1198563" y="2390779"/>
                  </a:lnTo>
                  <a:lnTo>
                    <a:pt x="1196975" y="2392363"/>
                  </a:lnTo>
                  <a:lnTo>
                    <a:pt x="0" y="119538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9" name="任意多边形: 形状 8" descr="283e2f58-16ae-46f6-a11b-05e553aa3107"/>
            <p:cNvSpPr/>
            <p:nvPr/>
          </p:nvSpPr>
          <p:spPr bwMode="auto">
            <a:xfrm>
              <a:off x="2413227" y="0"/>
              <a:ext cx="9742488" cy="4959350"/>
            </a:xfrm>
            <a:custGeom>
              <a:avLst/>
              <a:gdLst>
                <a:gd name="connsiteX0" fmla="*/ 4872039 w 9742488"/>
                <a:gd name="connsiteY0" fmla="*/ 2565400 h 4959350"/>
                <a:gd name="connsiteX1" fmla="*/ 6069014 w 9742488"/>
                <a:gd name="connsiteY1" fmla="*/ 3762375 h 4959350"/>
                <a:gd name="connsiteX2" fmla="*/ 4872039 w 9742488"/>
                <a:gd name="connsiteY2" fmla="*/ 4959350 h 4959350"/>
                <a:gd name="connsiteX3" fmla="*/ 3673476 w 9742488"/>
                <a:gd name="connsiteY3" fmla="*/ 3762375 h 4959350"/>
                <a:gd name="connsiteX4" fmla="*/ 6097587 w 9742488"/>
                <a:gd name="connsiteY4" fmla="*/ 1316038 h 4959350"/>
                <a:gd name="connsiteX5" fmla="*/ 7294562 w 9742488"/>
                <a:gd name="connsiteY5" fmla="*/ 2513013 h 4959350"/>
                <a:gd name="connsiteX6" fmla="*/ 6097587 w 9742488"/>
                <a:gd name="connsiteY6" fmla="*/ 3709988 h 4959350"/>
                <a:gd name="connsiteX7" fmla="*/ 4897437 w 9742488"/>
                <a:gd name="connsiteY7" fmla="*/ 2513013 h 4959350"/>
                <a:gd name="connsiteX8" fmla="*/ 3648075 w 9742488"/>
                <a:gd name="connsiteY8" fmla="*/ 1316038 h 4959350"/>
                <a:gd name="connsiteX9" fmla="*/ 4845050 w 9742488"/>
                <a:gd name="connsiteY9" fmla="*/ 2513013 h 4959350"/>
                <a:gd name="connsiteX10" fmla="*/ 3648075 w 9742488"/>
                <a:gd name="connsiteY10" fmla="*/ 3709988 h 4959350"/>
                <a:gd name="connsiteX11" fmla="*/ 2449512 w 9742488"/>
                <a:gd name="connsiteY11" fmla="*/ 2513013 h 4959350"/>
                <a:gd name="connsiteX12" fmla="*/ 7319963 w 9742488"/>
                <a:gd name="connsiteY12" fmla="*/ 53975 h 4959350"/>
                <a:gd name="connsiteX13" fmla="*/ 8518526 w 9742488"/>
                <a:gd name="connsiteY13" fmla="*/ 1249363 h 4959350"/>
                <a:gd name="connsiteX14" fmla="*/ 7319963 w 9742488"/>
                <a:gd name="connsiteY14" fmla="*/ 2446338 h 4959350"/>
                <a:gd name="connsiteX15" fmla="*/ 6122988 w 9742488"/>
                <a:gd name="connsiteY15" fmla="*/ 1249363 h 4959350"/>
                <a:gd name="connsiteX16" fmla="*/ 4872038 w 9742488"/>
                <a:gd name="connsiteY16" fmla="*/ 53975 h 4959350"/>
                <a:gd name="connsiteX17" fmla="*/ 6069013 w 9742488"/>
                <a:gd name="connsiteY17" fmla="*/ 1249363 h 4959350"/>
                <a:gd name="connsiteX18" fmla="*/ 4872038 w 9742488"/>
                <a:gd name="connsiteY18" fmla="*/ 2446338 h 4959350"/>
                <a:gd name="connsiteX19" fmla="*/ 3673476 w 9742488"/>
                <a:gd name="connsiteY19" fmla="*/ 1249363 h 4959350"/>
                <a:gd name="connsiteX20" fmla="*/ 2424113 w 9742488"/>
                <a:gd name="connsiteY20" fmla="*/ 53975 h 4959350"/>
                <a:gd name="connsiteX21" fmla="*/ 3621088 w 9742488"/>
                <a:gd name="connsiteY21" fmla="*/ 1249363 h 4959350"/>
                <a:gd name="connsiteX22" fmla="*/ 2424113 w 9742488"/>
                <a:gd name="connsiteY22" fmla="*/ 2446338 h 4959350"/>
                <a:gd name="connsiteX23" fmla="*/ 1225550 w 9742488"/>
                <a:gd name="connsiteY23" fmla="*/ 1249363 h 4959350"/>
                <a:gd name="connsiteX24" fmla="*/ 7346950 w 9742488"/>
                <a:gd name="connsiteY24" fmla="*/ 0 h 4959350"/>
                <a:gd name="connsiteX25" fmla="*/ 9742488 w 9742488"/>
                <a:gd name="connsiteY25" fmla="*/ 0 h 4959350"/>
                <a:gd name="connsiteX26" fmla="*/ 8543925 w 9742488"/>
                <a:gd name="connsiteY26" fmla="*/ 1196975 h 4959350"/>
                <a:gd name="connsiteX27" fmla="*/ 4897437 w 9742488"/>
                <a:gd name="connsiteY27" fmla="*/ 0 h 4959350"/>
                <a:gd name="connsiteX28" fmla="*/ 7294562 w 9742488"/>
                <a:gd name="connsiteY28" fmla="*/ 0 h 4959350"/>
                <a:gd name="connsiteX29" fmla="*/ 6097587 w 9742488"/>
                <a:gd name="connsiteY29" fmla="*/ 1196975 h 4959350"/>
                <a:gd name="connsiteX30" fmla="*/ 2449513 w 9742488"/>
                <a:gd name="connsiteY30" fmla="*/ 0 h 4959350"/>
                <a:gd name="connsiteX31" fmla="*/ 4845050 w 9742488"/>
                <a:gd name="connsiteY31" fmla="*/ 0 h 4959350"/>
                <a:gd name="connsiteX32" fmla="*/ 3648076 w 9742488"/>
                <a:gd name="connsiteY32" fmla="*/ 1196975 h 4959350"/>
                <a:gd name="connsiteX33" fmla="*/ 0 w 9742488"/>
                <a:gd name="connsiteY33" fmla="*/ 0 h 4959350"/>
                <a:gd name="connsiteX34" fmla="*/ 2397125 w 9742488"/>
                <a:gd name="connsiteY34" fmla="*/ 0 h 4959350"/>
                <a:gd name="connsiteX35" fmla="*/ 1198562 w 9742488"/>
                <a:gd name="connsiteY35" fmla="*/ 1196975 h 495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9742488" h="4959350">
                  <a:moveTo>
                    <a:pt x="4872039" y="2565400"/>
                  </a:moveTo>
                  <a:lnTo>
                    <a:pt x="6069014" y="3762375"/>
                  </a:lnTo>
                  <a:lnTo>
                    <a:pt x="4872039" y="4959350"/>
                  </a:lnTo>
                  <a:lnTo>
                    <a:pt x="3673476" y="3762375"/>
                  </a:lnTo>
                  <a:close/>
                  <a:moveTo>
                    <a:pt x="6097587" y="1316038"/>
                  </a:moveTo>
                  <a:lnTo>
                    <a:pt x="7294562" y="2513013"/>
                  </a:lnTo>
                  <a:lnTo>
                    <a:pt x="6097587" y="3709988"/>
                  </a:lnTo>
                  <a:lnTo>
                    <a:pt x="4897437" y="2513013"/>
                  </a:lnTo>
                  <a:close/>
                  <a:moveTo>
                    <a:pt x="3648075" y="1316038"/>
                  </a:moveTo>
                  <a:lnTo>
                    <a:pt x="4845050" y="2513013"/>
                  </a:lnTo>
                  <a:lnTo>
                    <a:pt x="3648075" y="3709988"/>
                  </a:lnTo>
                  <a:lnTo>
                    <a:pt x="2449512" y="2513013"/>
                  </a:lnTo>
                  <a:close/>
                  <a:moveTo>
                    <a:pt x="7319963" y="53975"/>
                  </a:moveTo>
                  <a:lnTo>
                    <a:pt x="8518526" y="1249363"/>
                  </a:lnTo>
                  <a:lnTo>
                    <a:pt x="7319963" y="2446338"/>
                  </a:lnTo>
                  <a:lnTo>
                    <a:pt x="6122988" y="1249363"/>
                  </a:lnTo>
                  <a:close/>
                  <a:moveTo>
                    <a:pt x="4872038" y="53975"/>
                  </a:moveTo>
                  <a:lnTo>
                    <a:pt x="6069013" y="1249363"/>
                  </a:lnTo>
                  <a:lnTo>
                    <a:pt x="4872038" y="2446338"/>
                  </a:lnTo>
                  <a:lnTo>
                    <a:pt x="3673476" y="1249363"/>
                  </a:lnTo>
                  <a:close/>
                  <a:moveTo>
                    <a:pt x="2424113" y="53975"/>
                  </a:moveTo>
                  <a:lnTo>
                    <a:pt x="3621088" y="1249363"/>
                  </a:lnTo>
                  <a:lnTo>
                    <a:pt x="2424113" y="2446338"/>
                  </a:lnTo>
                  <a:lnTo>
                    <a:pt x="1225550" y="1249363"/>
                  </a:lnTo>
                  <a:close/>
                  <a:moveTo>
                    <a:pt x="7346950" y="0"/>
                  </a:moveTo>
                  <a:lnTo>
                    <a:pt x="9742488" y="0"/>
                  </a:lnTo>
                  <a:lnTo>
                    <a:pt x="8543925" y="1196975"/>
                  </a:lnTo>
                  <a:close/>
                  <a:moveTo>
                    <a:pt x="4897437" y="0"/>
                  </a:moveTo>
                  <a:lnTo>
                    <a:pt x="7294562" y="0"/>
                  </a:lnTo>
                  <a:lnTo>
                    <a:pt x="6097587" y="1196975"/>
                  </a:lnTo>
                  <a:close/>
                  <a:moveTo>
                    <a:pt x="2449513" y="0"/>
                  </a:moveTo>
                  <a:lnTo>
                    <a:pt x="4845050" y="0"/>
                  </a:lnTo>
                  <a:lnTo>
                    <a:pt x="3648076" y="1196975"/>
                  </a:lnTo>
                  <a:close/>
                  <a:moveTo>
                    <a:pt x="0" y="0"/>
                  </a:moveTo>
                  <a:lnTo>
                    <a:pt x="2397125" y="0"/>
                  </a:lnTo>
                  <a:lnTo>
                    <a:pt x="1198562" y="1196975"/>
                  </a:lnTo>
                  <a:close/>
                </a:path>
              </a:pathLst>
            </a:custGeom>
            <a:blipFill>
              <a:blip r:embed="rId2"/>
              <a:stretch>
                <a:fillRect t="-24663" b="-11117"/>
              </a:stretch>
            </a:blip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10" name="任意多边形: 形状 9" descr="3b1442bf-71aa-4d35-8e42-6c7f00298fbe"/>
            <p:cNvSpPr/>
            <p:nvPr/>
          </p:nvSpPr>
          <p:spPr bwMode="auto">
            <a:xfrm>
              <a:off x="10993437" y="58056"/>
              <a:ext cx="1198563" cy="2392363"/>
            </a:xfrm>
            <a:custGeom>
              <a:avLst/>
              <a:gdLst>
                <a:gd name="connsiteX0" fmla="*/ 1196975 w 1198563"/>
                <a:gd name="connsiteY0" fmla="*/ 0 h 2392363"/>
                <a:gd name="connsiteX1" fmla="*/ 1198563 w 1198563"/>
                <a:gd name="connsiteY1" fmla="*/ 1582 h 2392363"/>
                <a:gd name="connsiteX2" fmla="*/ 1198563 w 1198563"/>
                <a:gd name="connsiteY2" fmla="*/ 2390779 h 2392363"/>
                <a:gd name="connsiteX3" fmla="*/ 1196975 w 1198563"/>
                <a:gd name="connsiteY3" fmla="*/ 2392363 h 2392363"/>
                <a:gd name="connsiteX4" fmla="*/ 0 w 1198563"/>
                <a:gd name="connsiteY4" fmla="*/ 1195388 h 23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8563" h="2392363">
                  <a:moveTo>
                    <a:pt x="1196975" y="0"/>
                  </a:moveTo>
                  <a:lnTo>
                    <a:pt x="1198563" y="1582"/>
                  </a:lnTo>
                  <a:lnTo>
                    <a:pt x="1198563" y="2390779"/>
                  </a:lnTo>
                  <a:lnTo>
                    <a:pt x="1196975" y="2392363"/>
                  </a:lnTo>
                  <a:lnTo>
                    <a:pt x="0" y="1195388"/>
                  </a:lnTo>
                  <a:close/>
                </a:path>
              </a:pathLst>
            </a:custGeom>
            <a:solidFill>
              <a:srgbClr val="7DABE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1" name="任意多边形: 形状 10" descr="2503f902-05c6-4898-b3c9-b9f08f47e31b"/>
            <p:cNvSpPr/>
            <p:nvPr/>
          </p:nvSpPr>
          <p:spPr bwMode="auto">
            <a:xfrm>
              <a:off x="9767434" y="1313769"/>
              <a:ext cx="2395538" cy="2393950"/>
            </a:xfrm>
            <a:custGeom>
              <a:avLst/>
              <a:gdLst>
                <a:gd name="T0" fmla="*/ 754 w 1509"/>
                <a:gd name="T1" fmla="*/ 1508 h 1508"/>
                <a:gd name="T2" fmla="*/ 0 w 1509"/>
                <a:gd name="T3" fmla="*/ 754 h 1508"/>
                <a:gd name="T4" fmla="*/ 754 w 1509"/>
                <a:gd name="T5" fmla="*/ 0 h 1508"/>
                <a:gd name="T6" fmla="*/ 1509 w 1509"/>
                <a:gd name="T7" fmla="*/ 754 h 1508"/>
                <a:gd name="T8" fmla="*/ 754 w 1509"/>
                <a:gd name="T9" fmla="*/ 1508 h 1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09" h="1508">
                  <a:moveTo>
                    <a:pt x="754" y="1508"/>
                  </a:moveTo>
                  <a:lnTo>
                    <a:pt x="0" y="754"/>
                  </a:lnTo>
                  <a:lnTo>
                    <a:pt x="754" y="0"/>
                  </a:lnTo>
                  <a:lnTo>
                    <a:pt x="1509" y="754"/>
                  </a:lnTo>
                  <a:lnTo>
                    <a:pt x="754" y="150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2" name="任意多边形: 形状 11" descr="d716c54b-abcd-45cc-b4ad-666e5a8c34ab"/>
            <p:cNvSpPr/>
            <p:nvPr/>
          </p:nvSpPr>
          <p:spPr bwMode="auto">
            <a:xfrm>
              <a:off x="2413227" y="0"/>
              <a:ext cx="9742488" cy="4959350"/>
            </a:xfrm>
            <a:custGeom>
              <a:avLst/>
              <a:gdLst>
                <a:gd name="connsiteX0" fmla="*/ 4872039 w 9742488"/>
                <a:gd name="connsiteY0" fmla="*/ 2565400 h 4959350"/>
                <a:gd name="connsiteX1" fmla="*/ 6069014 w 9742488"/>
                <a:gd name="connsiteY1" fmla="*/ 3762375 h 4959350"/>
                <a:gd name="connsiteX2" fmla="*/ 4872039 w 9742488"/>
                <a:gd name="connsiteY2" fmla="*/ 4959350 h 4959350"/>
                <a:gd name="connsiteX3" fmla="*/ 3673476 w 9742488"/>
                <a:gd name="connsiteY3" fmla="*/ 3762375 h 4959350"/>
                <a:gd name="connsiteX4" fmla="*/ 6097587 w 9742488"/>
                <a:gd name="connsiteY4" fmla="*/ 1316038 h 4959350"/>
                <a:gd name="connsiteX5" fmla="*/ 7294562 w 9742488"/>
                <a:gd name="connsiteY5" fmla="*/ 2513013 h 4959350"/>
                <a:gd name="connsiteX6" fmla="*/ 6097587 w 9742488"/>
                <a:gd name="connsiteY6" fmla="*/ 3709988 h 4959350"/>
                <a:gd name="connsiteX7" fmla="*/ 4897437 w 9742488"/>
                <a:gd name="connsiteY7" fmla="*/ 2513013 h 4959350"/>
                <a:gd name="connsiteX8" fmla="*/ 3648075 w 9742488"/>
                <a:gd name="connsiteY8" fmla="*/ 1316038 h 4959350"/>
                <a:gd name="connsiteX9" fmla="*/ 4845050 w 9742488"/>
                <a:gd name="connsiteY9" fmla="*/ 2513013 h 4959350"/>
                <a:gd name="connsiteX10" fmla="*/ 3648075 w 9742488"/>
                <a:gd name="connsiteY10" fmla="*/ 3709988 h 4959350"/>
                <a:gd name="connsiteX11" fmla="*/ 2449512 w 9742488"/>
                <a:gd name="connsiteY11" fmla="*/ 2513013 h 4959350"/>
                <a:gd name="connsiteX12" fmla="*/ 7319963 w 9742488"/>
                <a:gd name="connsiteY12" fmla="*/ 53975 h 4959350"/>
                <a:gd name="connsiteX13" fmla="*/ 8518526 w 9742488"/>
                <a:gd name="connsiteY13" fmla="*/ 1249363 h 4959350"/>
                <a:gd name="connsiteX14" fmla="*/ 7319963 w 9742488"/>
                <a:gd name="connsiteY14" fmla="*/ 2446338 h 4959350"/>
                <a:gd name="connsiteX15" fmla="*/ 6122988 w 9742488"/>
                <a:gd name="connsiteY15" fmla="*/ 1249363 h 4959350"/>
                <a:gd name="connsiteX16" fmla="*/ 4872038 w 9742488"/>
                <a:gd name="connsiteY16" fmla="*/ 53975 h 4959350"/>
                <a:gd name="connsiteX17" fmla="*/ 6069013 w 9742488"/>
                <a:gd name="connsiteY17" fmla="*/ 1249363 h 4959350"/>
                <a:gd name="connsiteX18" fmla="*/ 4872038 w 9742488"/>
                <a:gd name="connsiteY18" fmla="*/ 2446338 h 4959350"/>
                <a:gd name="connsiteX19" fmla="*/ 3673476 w 9742488"/>
                <a:gd name="connsiteY19" fmla="*/ 1249363 h 4959350"/>
                <a:gd name="connsiteX20" fmla="*/ 2424113 w 9742488"/>
                <a:gd name="connsiteY20" fmla="*/ 53975 h 4959350"/>
                <a:gd name="connsiteX21" fmla="*/ 3621088 w 9742488"/>
                <a:gd name="connsiteY21" fmla="*/ 1249363 h 4959350"/>
                <a:gd name="connsiteX22" fmla="*/ 2424113 w 9742488"/>
                <a:gd name="connsiteY22" fmla="*/ 2446338 h 4959350"/>
                <a:gd name="connsiteX23" fmla="*/ 1225550 w 9742488"/>
                <a:gd name="connsiteY23" fmla="*/ 1249363 h 4959350"/>
                <a:gd name="connsiteX24" fmla="*/ 7346950 w 9742488"/>
                <a:gd name="connsiteY24" fmla="*/ 0 h 4959350"/>
                <a:gd name="connsiteX25" fmla="*/ 9742488 w 9742488"/>
                <a:gd name="connsiteY25" fmla="*/ 0 h 4959350"/>
                <a:gd name="connsiteX26" fmla="*/ 8543925 w 9742488"/>
                <a:gd name="connsiteY26" fmla="*/ 1196975 h 4959350"/>
                <a:gd name="connsiteX27" fmla="*/ 4897437 w 9742488"/>
                <a:gd name="connsiteY27" fmla="*/ 0 h 4959350"/>
                <a:gd name="connsiteX28" fmla="*/ 7294562 w 9742488"/>
                <a:gd name="connsiteY28" fmla="*/ 0 h 4959350"/>
                <a:gd name="connsiteX29" fmla="*/ 6097587 w 9742488"/>
                <a:gd name="connsiteY29" fmla="*/ 1196975 h 4959350"/>
                <a:gd name="connsiteX30" fmla="*/ 2449513 w 9742488"/>
                <a:gd name="connsiteY30" fmla="*/ 0 h 4959350"/>
                <a:gd name="connsiteX31" fmla="*/ 4845050 w 9742488"/>
                <a:gd name="connsiteY31" fmla="*/ 0 h 4959350"/>
                <a:gd name="connsiteX32" fmla="*/ 3648076 w 9742488"/>
                <a:gd name="connsiteY32" fmla="*/ 1196975 h 4959350"/>
                <a:gd name="connsiteX33" fmla="*/ 0 w 9742488"/>
                <a:gd name="connsiteY33" fmla="*/ 0 h 4959350"/>
                <a:gd name="connsiteX34" fmla="*/ 2397125 w 9742488"/>
                <a:gd name="connsiteY34" fmla="*/ 0 h 4959350"/>
                <a:gd name="connsiteX35" fmla="*/ 1198562 w 9742488"/>
                <a:gd name="connsiteY35" fmla="*/ 1196975 h 495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9742488" h="4959350">
                  <a:moveTo>
                    <a:pt x="4872039" y="2565400"/>
                  </a:moveTo>
                  <a:lnTo>
                    <a:pt x="6069014" y="3762375"/>
                  </a:lnTo>
                  <a:lnTo>
                    <a:pt x="4872039" y="4959350"/>
                  </a:lnTo>
                  <a:lnTo>
                    <a:pt x="3673476" y="3762375"/>
                  </a:lnTo>
                  <a:close/>
                  <a:moveTo>
                    <a:pt x="6097587" y="1316038"/>
                  </a:moveTo>
                  <a:lnTo>
                    <a:pt x="7294562" y="2513013"/>
                  </a:lnTo>
                  <a:lnTo>
                    <a:pt x="6097587" y="3709988"/>
                  </a:lnTo>
                  <a:lnTo>
                    <a:pt x="4897437" y="2513013"/>
                  </a:lnTo>
                  <a:close/>
                  <a:moveTo>
                    <a:pt x="3648075" y="1316038"/>
                  </a:moveTo>
                  <a:lnTo>
                    <a:pt x="4845050" y="2513013"/>
                  </a:lnTo>
                  <a:lnTo>
                    <a:pt x="3648075" y="3709988"/>
                  </a:lnTo>
                  <a:lnTo>
                    <a:pt x="2449512" y="2513013"/>
                  </a:lnTo>
                  <a:close/>
                  <a:moveTo>
                    <a:pt x="7319963" y="53975"/>
                  </a:moveTo>
                  <a:lnTo>
                    <a:pt x="8518526" y="1249363"/>
                  </a:lnTo>
                  <a:lnTo>
                    <a:pt x="7319963" y="2446338"/>
                  </a:lnTo>
                  <a:lnTo>
                    <a:pt x="6122988" y="1249363"/>
                  </a:lnTo>
                  <a:close/>
                  <a:moveTo>
                    <a:pt x="4872038" y="53975"/>
                  </a:moveTo>
                  <a:lnTo>
                    <a:pt x="6069013" y="1249363"/>
                  </a:lnTo>
                  <a:lnTo>
                    <a:pt x="4872038" y="2446338"/>
                  </a:lnTo>
                  <a:lnTo>
                    <a:pt x="3673476" y="1249363"/>
                  </a:lnTo>
                  <a:close/>
                  <a:moveTo>
                    <a:pt x="2424113" y="53975"/>
                  </a:moveTo>
                  <a:lnTo>
                    <a:pt x="3621088" y="1249363"/>
                  </a:lnTo>
                  <a:lnTo>
                    <a:pt x="2424113" y="2446338"/>
                  </a:lnTo>
                  <a:lnTo>
                    <a:pt x="1225550" y="1249363"/>
                  </a:lnTo>
                  <a:close/>
                  <a:moveTo>
                    <a:pt x="7346950" y="0"/>
                  </a:moveTo>
                  <a:lnTo>
                    <a:pt x="9742488" y="0"/>
                  </a:lnTo>
                  <a:lnTo>
                    <a:pt x="8543925" y="1196975"/>
                  </a:lnTo>
                  <a:close/>
                  <a:moveTo>
                    <a:pt x="4897437" y="0"/>
                  </a:moveTo>
                  <a:lnTo>
                    <a:pt x="7294562" y="0"/>
                  </a:lnTo>
                  <a:lnTo>
                    <a:pt x="6097587" y="1196975"/>
                  </a:lnTo>
                  <a:close/>
                  <a:moveTo>
                    <a:pt x="2449513" y="0"/>
                  </a:moveTo>
                  <a:lnTo>
                    <a:pt x="4845050" y="0"/>
                  </a:lnTo>
                  <a:lnTo>
                    <a:pt x="3648076" y="1196975"/>
                  </a:lnTo>
                  <a:close/>
                  <a:moveTo>
                    <a:pt x="0" y="0"/>
                  </a:moveTo>
                  <a:lnTo>
                    <a:pt x="2397125" y="0"/>
                  </a:lnTo>
                  <a:lnTo>
                    <a:pt x="1198562" y="1196975"/>
                  </a:lnTo>
                  <a:close/>
                </a:path>
              </a:pathLst>
            </a:custGeom>
            <a:gradFill>
              <a:gsLst>
                <a:gs pos="8000">
                  <a:srgbClr val="183982">
                    <a:alpha val="0"/>
                  </a:srgbClr>
                </a:gs>
                <a:gs pos="100000">
                  <a:srgbClr val="183982">
                    <a:alpha val="50000"/>
                  </a:srgbClr>
                </a:gs>
              </a:gsLst>
              <a:lin ang="54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p:sp>
        <p:nvSpPr>
          <p:cNvPr id="2" name="标题 1" descr="d2d8ccf9-809c-410b-9009-8db47417cf08"/>
          <p:cNvSpPr>
            <a:spLocks noGrp="1"/>
          </p:cNvSpPr>
          <p:nvPr>
            <p:ph type="ctrTitle" hasCustomPrompt="1"/>
          </p:nvPr>
        </p:nvSpPr>
        <p:spPr>
          <a:xfrm>
            <a:off x="660400" y="2151078"/>
            <a:ext cx="6019800" cy="239395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副标题 2" descr="8c38a780-844d-4cf7-ae10-148296aca9df"/>
          <p:cNvSpPr>
            <a:spLocks noGrp="1"/>
          </p:cNvSpPr>
          <p:nvPr>
            <p:ph type="subTitle" idx="1" hasCustomPrompt="1"/>
          </p:nvPr>
        </p:nvSpPr>
        <p:spPr>
          <a:xfrm>
            <a:off x="660400" y="4644088"/>
            <a:ext cx="6019800" cy="842312"/>
          </a:xfrm>
        </p:spPr>
        <p:txBody>
          <a:bodyPr>
            <a:normAutofit/>
          </a:bodyPr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 descr="7ce31c04-ee10-46d3-b4cd-1f07141bd73f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5585460"/>
            <a:ext cx="3657600" cy="274320"/>
          </a:xfrm>
        </p:spPr>
        <p:txBody>
          <a:bodyPr anchor="ctr"/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文本占位符 4" descr="e4aafbc0-d0a9-448b-97d4-dfa29589e36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859780"/>
            <a:ext cx="3657600" cy="27432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35971407-a1ca-4a4b-9de5-99f38eb773cd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内容占位符 2" descr="da692306-d258-4e33-9346-393301399af7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 descr="76a4f246-8054-44a1-8353-dcdc51f4530c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 descr="fe13ae5e-f4a2-4c2d-b363-5c5d529c220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 descr="27ee73a2-45ca-4b2f-a96f-a363b73be48d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32cbf765-21f1-405d-ab40-f84b8441cee8"/>
          <p:cNvSpPr>
            <a:spLocks noGrp="1"/>
          </p:cNvSpPr>
          <p:nvPr>
            <p:ph type="title" hasCustomPrompt="1"/>
          </p:nvPr>
        </p:nvSpPr>
        <p:spPr>
          <a:xfrm>
            <a:off x="660400" y="1500187"/>
            <a:ext cx="2836562" cy="915667"/>
          </a:xfrm>
        </p:spPr>
        <p:txBody>
          <a:bodyPr anchor="t">
            <a:normAutofit/>
          </a:bodyPr>
          <a:lstStyle>
            <a:lvl1pPr algn="r">
              <a:defRPr sz="2800"/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内容占位符 2" descr="18a696d8-1f4d-427f-b990-30b3eecf91cf"/>
          <p:cNvSpPr>
            <a:spLocks noGrp="1"/>
          </p:cNvSpPr>
          <p:nvPr>
            <p:ph sz="quarter" idx="1" hasCustomPrompt="1"/>
          </p:nvPr>
        </p:nvSpPr>
        <p:spPr>
          <a:xfrm>
            <a:off x="3745078" y="1500188"/>
            <a:ext cx="7773821" cy="4633912"/>
          </a:xfrm>
        </p:spPr>
        <p:txBody>
          <a:bodyPr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 descr="85f85655-99d8-4306-a472-2a3dcd96e8e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 descr="c4e9e47a-d88c-46f3-95f4-4e74b34aed4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 descr="a76401b9-d385-461f-8b63-72d44afca6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直接连接符 6" descr="6420fb73-3986-44cb-af79-1254c282212a"/>
          <p:cNvCxnSpPr/>
          <p:nvPr/>
        </p:nvCxnSpPr>
        <p:spPr>
          <a:xfrm flipH="1">
            <a:off x="3621019" y="1500188"/>
            <a:ext cx="0" cy="4633913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tx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任意多边形: 形状 7" descr="8213e9e2-348c-42fb-9db4-78385cdb3d43"/>
          <p:cNvSpPr>
            <a:spLocks noChangeAspect="1"/>
          </p:cNvSpPr>
          <p:nvPr/>
        </p:nvSpPr>
        <p:spPr bwMode="auto">
          <a:xfrm>
            <a:off x="2626456" y="5219207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 descr="86773604-af2b-414e-8785-17d6193ddcee"/>
          <p:cNvGrpSpPr/>
          <p:nvPr/>
        </p:nvGrpSpPr>
        <p:grpSpPr>
          <a:xfrm>
            <a:off x="0" y="-1"/>
            <a:ext cx="12206514" cy="6858001"/>
            <a:chOff x="0" y="-1"/>
            <a:chExt cx="12206514" cy="6858001"/>
          </a:xfrm>
        </p:grpSpPr>
        <p:sp>
          <p:nvSpPr>
            <p:cNvPr id="7" name="矩形 6" descr="d7d59623-f82f-4f19-a37f-a2c5408756fc"/>
            <p:cNvSpPr/>
            <p:nvPr/>
          </p:nvSpPr>
          <p:spPr>
            <a:xfrm>
              <a:off x="0" y="0"/>
              <a:ext cx="12206514" cy="6858000"/>
            </a:xfrm>
            <a:prstGeom prst="rect">
              <a:avLst/>
            </a:prstGeom>
            <a:blipFill dpi="0" rotWithShape="1">
              <a:blip r:embed="rId2">
                <a:alphaModFix amt="80000"/>
              </a:blip>
              <a:stretch>
                <a:fillRect t="-20580" b="-2442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任意多边形: 形状 9" descr="bf7f07c0-b149-4a4b-95ad-5932a98f2d19"/>
            <p:cNvSpPr/>
            <p:nvPr/>
          </p:nvSpPr>
          <p:spPr bwMode="auto">
            <a:xfrm rot="16200000">
              <a:off x="2667000" y="-2667001"/>
              <a:ext cx="6858000" cy="12192000"/>
            </a:xfrm>
            <a:custGeom>
              <a:avLst/>
              <a:gdLst>
                <a:gd name="connsiteX0" fmla="*/ 6858000 w 6858000"/>
                <a:gd name="connsiteY0" fmla="*/ 0 h 12192000"/>
                <a:gd name="connsiteX1" fmla="*/ 6858000 w 6858000"/>
                <a:gd name="connsiteY1" fmla="*/ 12192000 h 12192000"/>
                <a:gd name="connsiteX2" fmla="*/ 6832610 w 6858000"/>
                <a:gd name="connsiteY2" fmla="*/ 12192000 h 12192000"/>
                <a:gd name="connsiteX3" fmla="*/ 0 w 6858000"/>
                <a:gd name="connsiteY3" fmla="*/ 5359391 h 12192000"/>
                <a:gd name="connsiteX4" fmla="*/ 0 w 6858000"/>
                <a:gd name="connsiteY4" fmla="*/ 2660196 h 12192000"/>
                <a:gd name="connsiteX5" fmla="*/ 2663728 w 6858000"/>
                <a:gd name="connsiteY5" fmla="*/ 0 h 121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8000" h="12192000">
                  <a:moveTo>
                    <a:pt x="6858000" y="0"/>
                  </a:moveTo>
                  <a:lnTo>
                    <a:pt x="6858000" y="12192000"/>
                  </a:lnTo>
                  <a:lnTo>
                    <a:pt x="6832610" y="12192000"/>
                  </a:lnTo>
                  <a:lnTo>
                    <a:pt x="0" y="5359391"/>
                  </a:lnTo>
                  <a:lnTo>
                    <a:pt x="0" y="2660196"/>
                  </a:lnTo>
                  <a:lnTo>
                    <a:pt x="2663728" y="0"/>
                  </a:lnTo>
                  <a:close/>
                </a:path>
              </a:pathLst>
            </a:cu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p:sp>
        <p:nvSpPr>
          <p:cNvPr id="2" name="标题 1" descr="b153fc64-aaed-42e3-a751-5026fcc096bb"/>
          <p:cNvSpPr>
            <a:spLocks noGrp="1"/>
          </p:cNvSpPr>
          <p:nvPr>
            <p:ph type="title" hasCustomPrompt="1"/>
          </p:nvPr>
        </p:nvSpPr>
        <p:spPr>
          <a:xfrm>
            <a:off x="698502" y="2057400"/>
            <a:ext cx="6428012" cy="13716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 descr="1d04c7c0-e0b8-4f6d-be0a-2320a6b99806"/>
          <p:cNvSpPr>
            <a:spLocks noGrp="1"/>
          </p:cNvSpPr>
          <p:nvPr>
            <p:ph type="body" idx="1" hasCustomPrompt="1"/>
          </p:nvPr>
        </p:nvSpPr>
        <p:spPr>
          <a:xfrm>
            <a:off x="698502" y="3434505"/>
            <a:ext cx="6428012" cy="1371600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日期占位符 3" descr="2ca68ad9-3996-4660-b82f-9878404f183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 descr="85b5ec3c-ba1b-4f58-bd76-cf1abd8dc86e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 descr="07387977-81fb-42ad-920a-60b7093a4ba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4c5aba46-18aa-461b-b2ed-f943f6683fd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日期占位符 2" descr="620f9b09-ad25-4f9d-baee-ae0f6986d0f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 descr="17d4ad69-3653-45f9-bf78-e21680df9cdf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 descr="5cbc0a16-550b-4ce1-a673-184d2c430a6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 descr="e0494343-79d2-4a67-9e1c-8bae995f740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 descr="483f1955-fbef-449a-bbe5-01cb7f2ee48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 descr="969ab24b-4a0f-45f6-85dc-c72f7451e38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 descr="e9825c69-b72e-400e-aab6-addba241391a"/>
          <p:cNvGrpSpPr/>
          <p:nvPr/>
        </p:nvGrpSpPr>
        <p:grpSpPr>
          <a:xfrm>
            <a:off x="0" y="0"/>
            <a:ext cx="12206514" cy="6858000"/>
            <a:chOff x="0" y="0"/>
            <a:chExt cx="12206514" cy="6858000"/>
          </a:xfrm>
        </p:grpSpPr>
        <p:sp>
          <p:nvSpPr>
            <p:cNvPr id="6" name="矩形 5" descr="82adb024-0d50-4502-9877-9b3832ab9f1f"/>
            <p:cNvSpPr/>
            <p:nvPr/>
          </p:nvSpPr>
          <p:spPr>
            <a:xfrm>
              <a:off x="0" y="0"/>
              <a:ext cx="12206514" cy="6858000"/>
            </a:xfrm>
            <a:prstGeom prst="rect">
              <a:avLst/>
            </a:prstGeom>
            <a:blipFill dpi="0" rotWithShape="1">
              <a:blip r:embed="rId2">
                <a:alphaModFix amt="10000"/>
              </a:blip>
              <a:stretch>
                <a:fillRect t="-11511" b="-11511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 descr="88eef748-df72-44c9-a9e5-e4c7080977a3"/>
            <p:cNvSpPr/>
            <p:nvPr/>
          </p:nvSpPr>
          <p:spPr bwMode="auto">
            <a:xfrm rot="16200000">
              <a:off x="3142957" y="-1372582"/>
              <a:ext cx="2756118" cy="5501283"/>
            </a:xfrm>
            <a:custGeom>
              <a:avLst/>
              <a:gdLst>
                <a:gd name="connsiteX0" fmla="*/ 1196975 w 1198563"/>
                <a:gd name="connsiteY0" fmla="*/ 0 h 2392363"/>
                <a:gd name="connsiteX1" fmla="*/ 1198563 w 1198563"/>
                <a:gd name="connsiteY1" fmla="*/ 1582 h 2392363"/>
                <a:gd name="connsiteX2" fmla="*/ 1198563 w 1198563"/>
                <a:gd name="connsiteY2" fmla="*/ 2390779 h 2392363"/>
                <a:gd name="connsiteX3" fmla="*/ 1196975 w 1198563"/>
                <a:gd name="connsiteY3" fmla="*/ 2392363 h 2392363"/>
                <a:gd name="connsiteX4" fmla="*/ 0 w 1198563"/>
                <a:gd name="connsiteY4" fmla="*/ 1195388 h 23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8563" h="2392363">
                  <a:moveTo>
                    <a:pt x="1196975" y="0"/>
                  </a:moveTo>
                  <a:lnTo>
                    <a:pt x="1198563" y="1582"/>
                  </a:lnTo>
                  <a:lnTo>
                    <a:pt x="1198563" y="2390779"/>
                  </a:lnTo>
                  <a:lnTo>
                    <a:pt x="1196975" y="2392363"/>
                  </a:lnTo>
                  <a:lnTo>
                    <a:pt x="0" y="119538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8" name="任意多边形: 形状 7" descr="d764ba1a-3816-42da-9db6-9b2ef7cd8783"/>
            <p:cNvSpPr/>
            <p:nvPr/>
          </p:nvSpPr>
          <p:spPr bwMode="auto">
            <a:xfrm>
              <a:off x="2413227" y="0"/>
              <a:ext cx="9742488" cy="4959350"/>
            </a:xfrm>
            <a:custGeom>
              <a:avLst/>
              <a:gdLst>
                <a:gd name="connsiteX0" fmla="*/ 4872039 w 9742488"/>
                <a:gd name="connsiteY0" fmla="*/ 2565400 h 4959350"/>
                <a:gd name="connsiteX1" fmla="*/ 6069014 w 9742488"/>
                <a:gd name="connsiteY1" fmla="*/ 3762375 h 4959350"/>
                <a:gd name="connsiteX2" fmla="*/ 4872039 w 9742488"/>
                <a:gd name="connsiteY2" fmla="*/ 4959350 h 4959350"/>
                <a:gd name="connsiteX3" fmla="*/ 3673476 w 9742488"/>
                <a:gd name="connsiteY3" fmla="*/ 3762375 h 4959350"/>
                <a:gd name="connsiteX4" fmla="*/ 6097587 w 9742488"/>
                <a:gd name="connsiteY4" fmla="*/ 1316038 h 4959350"/>
                <a:gd name="connsiteX5" fmla="*/ 7294562 w 9742488"/>
                <a:gd name="connsiteY5" fmla="*/ 2513013 h 4959350"/>
                <a:gd name="connsiteX6" fmla="*/ 6097587 w 9742488"/>
                <a:gd name="connsiteY6" fmla="*/ 3709988 h 4959350"/>
                <a:gd name="connsiteX7" fmla="*/ 4897437 w 9742488"/>
                <a:gd name="connsiteY7" fmla="*/ 2513013 h 4959350"/>
                <a:gd name="connsiteX8" fmla="*/ 3648075 w 9742488"/>
                <a:gd name="connsiteY8" fmla="*/ 1316038 h 4959350"/>
                <a:gd name="connsiteX9" fmla="*/ 4845050 w 9742488"/>
                <a:gd name="connsiteY9" fmla="*/ 2513013 h 4959350"/>
                <a:gd name="connsiteX10" fmla="*/ 3648075 w 9742488"/>
                <a:gd name="connsiteY10" fmla="*/ 3709988 h 4959350"/>
                <a:gd name="connsiteX11" fmla="*/ 2449512 w 9742488"/>
                <a:gd name="connsiteY11" fmla="*/ 2513013 h 4959350"/>
                <a:gd name="connsiteX12" fmla="*/ 7319963 w 9742488"/>
                <a:gd name="connsiteY12" fmla="*/ 53975 h 4959350"/>
                <a:gd name="connsiteX13" fmla="*/ 8518526 w 9742488"/>
                <a:gd name="connsiteY13" fmla="*/ 1249363 h 4959350"/>
                <a:gd name="connsiteX14" fmla="*/ 7319963 w 9742488"/>
                <a:gd name="connsiteY14" fmla="*/ 2446338 h 4959350"/>
                <a:gd name="connsiteX15" fmla="*/ 6122988 w 9742488"/>
                <a:gd name="connsiteY15" fmla="*/ 1249363 h 4959350"/>
                <a:gd name="connsiteX16" fmla="*/ 4872038 w 9742488"/>
                <a:gd name="connsiteY16" fmla="*/ 53975 h 4959350"/>
                <a:gd name="connsiteX17" fmla="*/ 6069013 w 9742488"/>
                <a:gd name="connsiteY17" fmla="*/ 1249363 h 4959350"/>
                <a:gd name="connsiteX18" fmla="*/ 4872038 w 9742488"/>
                <a:gd name="connsiteY18" fmla="*/ 2446338 h 4959350"/>
                <a:gd name="connsiteX19" fmla="*/ 3673476 w 9742488"/>
                <a:gd name="connsiteY19" fmla="*/ 1249363 h 4959350"/>
                <a:gd name="connsiteX20" fmla="*/ 2424113 w 9742488"/>
                <a:gd name="connsiteY20" fmla="*/ 53975 h 4959350"/>
                <a:gd name="connsiteX21" fmla="*/ 3621088 w 9742488"/>
                <a:gd name="connsiteY21" fmla="*/ 1249363 h 4959350"/>
                <a:gd name="connsiteX22" fmla="*/ 2424113 w 9742488"/>
                <a:gd name="connsiteY22" fmla="*/ 2446338 h 4959350"/>
                <a:gd name="connsiteX23" fmla="*/ 1225550 w 9742488"/>
                <a:gd name="connsiteY23" fmla="*/ 1249363 h 4959350"/>
                <a:gd name="connsiteX24" fmla="*/ 7346950 w 9742488"/>
                <a:gd name="connsiteY24" fmla="*/ 0 h 4959350"/>
                <a:gd name="connsiteX25" fmla="*/ 9742488 w 9742488"/>
                <a:gd name="connsiteY25" fmla="*/ 0 h 4959350"/>
                <a:gd name="connsiteX26" fmla="*/ 8543925 w 9742488"/>
                <a:gd name="connsiteY26" fmla="*/ 1196975 h 4959350"/>
                <a:gd name="connsiteX27" fmla="*/ 4897437 w 9742488"/>
                <a:gd name="connsiteY27" fmla="*/ 0 h 4959350"/>
                <a:gd name="connsiteX28" fmla="*/ 7294562 w 9742488"/>
                <a:gd name="connsiteY28" fmla="*/ 0 h 4959350"/>
                <a:gd name="connsiteX29" fmla="*/ 6097587 w 9742488"/>
                <a:gd name="connsiteY29" fmla="*/ 1196975 h 4959350"/>
                <a:gd name="connsiteX30" fmla="*/ 2449513 w 9742488"/>
                <a:gd name="connsiteY30" fmla="*/ 0 h 4959350"/>
                <a:gd name="connsiteX31" fmla="*/ 4845050 w 9742488"/>
                <a:gd name="connsiteY31" fmla="*/ 0 h 4959350"/>
                <a:gd name="connsiteX32" fmla="*/ 3648076 w 9742488"/>
                <a:gd name="connsiteY32" fmla="*/ 1196975 h 4959350"/>
                <a:gd name="connsiteX33" fmla="*/ 0 w 9742488"/>
                <a:gd name="connsiteY33" fmla="*/ 0 h 4959350"/>
                <a:gd name="connsiteX34" fmla="*/ 2397125 w 9742488"/>
                <a:gd name="connsiteY34" fmla="*/ 0 h 4959350"/>
                <a:gd name="connsiteX35" fmla="*/ 1198562 w 9742488"/>
                <a:gd name="connsiteY35" fmla="*/ 1196975 h 495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9742488" h="4959350">
                  <a:moveTo>
                    <a:pt x="4872039" y="2565400"/>
                  </a:moveTo>
                  <a:lnTo>
                    <a:pt x="6069014" y="3762375"/>
                  </a:lnTo>
                  <a:lnTo>
                    <a:pt x="4872039" y="4959350"/>
                  </a:lnTo>
                  <a:lnTo>
                    <a:pt x="3673476" y="3762375"/>
                  </a:lnTo>
                  <a:close/>
                  <a:moveTo>
                    <a:pt x="6097587" y="1316038"/>
                  </a:moveTo>
                  <a:lnTo>
                    <a:pt x="7294562" y="2513013"/>
                  </a:lnTo>
                  <a:lnTo>
                    <a:pt x="6097587" y="3709988"/>
                  </a:lnTo>
                  <a:lnTo>
                    <a:pt x="4897437" y="2513013"/>
                  </a:lnTo>
                  <a:close/>
                  <a:moveTo>
                    <a:pt x="3648075" y="1316038"/>
                  </a:moveTo>
                  <a:lnTo>
                    <a:pt x="4845050" y="2513013"/>
                  </a:lnTo>
                  <a:lnTo>
                    <a:pt x="3648075" y="3709988"/>
                  </a:lnTo>
                  <a:lnTo>
                    <a:pt x="2449512" y="2513013"/>
                  </a:lnTo>
                  <a:close/>
                  <a:moveTo>
                    <a:pt x="7319963" y="53975"/>
                  </a:moveTo>
                  <a:lnTo>
                    <a:pt x="8518526" y="1249363"/>
                  </a:lnTo>
                  <a:lnTo>
                    <a:pt x="7319963" y="2446338"/>
                  </a:lnTo>
                  <a:lnTo>
                    <a:pt x="6122988" y="1249363"/>
                  </a:lnTo>
                  <a:close/>
                  <a:moveTo>
                    <a:pt x="4872038" y="53975"/>
                  </a:moveTo>
                  <a:lnTo>
                    <a:pt x="6069013" y="1249363"/>
                  </a:lnTo>
                  <a:lnTo>
                    <a:pt x="4872038" y="2446338"/>
                  </a:lnTo>
                  <a:lnTo>
                    <a:pt x="3673476" y="1249363"/>
                  </a:lnTo>
                  <a:close/>
                  <a:moveTo>
                    <a:pt x="2424113" y="53975"/>
                  </a:moveTo>
                  <a:lnTo>
                    <a:pt x="3621088" y="1249363"/>
                  </a:lnTo>
                  <a:lnTo>
                    <a:pt x="2424113" y="2446338"/>
                  </a:lnTo>
                  <a:lnTo>
                    <a:pt x="1225550" y="1249363"/>
                  </a:lnTo>
                  <a:close/>
                  <a:moveTo>
                    <a:pt x="7346950" y="0"/>
                  </a:moveTo>
                  <a:lnTo>
                    <a:pt x="9742488" y="0"/>
                  </a:lnTo>
                  <a:lnTo>
                    <a:pt x="8543925" y="1196975"/>
                  </a:lnTo>
                  <a:close/>
                  <a:moveTo>
                    <a:pt x="4897437" y="0"/>
                  </a:moveTo>
                  <a:lnTo>
                    <a:pt x="7294562" y="0"/>
                  </a:lnTo>
                  <a:lnTo>
                    <a:pt x="6097587" y="1196975"/>
                  </a:lnTo>
                  <a:close/>
                  <a:moveTo>
                    <a:pt x="2449513" y="0"/>
                  </a:moveTo>
                  <a:lnTo>
                    <a:pt x="4845050" y="0"/>
                  </a:lnTo>
                  <a:lnTo>
                    <a:pt x="3648076" y="1196975"/>
                  </a:lnTo>
                  <a:close/>
                  <a:moveTo>
                    <a:pt x="0" y="0"/>
                  </a:moveTo>
                  <a:lnTo>
                    <a:pt x="2397125" y="0"/>
                  </a:lnTo>
                  <a:lnTo>
                    <a:pt x="1198562" y="1196975"/>
                  </a:lnTo>
                  <a:close/>
                </a:path>
              </a:pathLst>
            </a:custGeom>
            <a:blipFill>
              <a:blip r:embed="rId2"/>
              <a:stretch>
                <a:fillRect t="-24663" b="-11117"/>
              </a:stretch>
            </a:blip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9" name="任意多边形: 形状 8" descr="48fbea0d-05d9-4de4-a05a-c1631c49d8b5"/>
            <p:cNvSpPr/>
            <p:nvPr/>
          </p:nvSpPr>
          <p:spPr bwMode="auto">
            <a:xfrm>
              <a:off x="10993437" y="58056"/>
              <a:ext cx="1198563" cy="2392363"/>
            </a:xfrm>
            <a:custGeom>
              <a:avLst/>
              <a:gdLst>
                <a:gd name="connsiteX0" fmla="*/ 1196975 w 1198563"/>
                <a:gd name="connsiteY0" fmla="*/ 0 h 2392363"/>
                <a:gd name="connsiteX1" fmla="*/ 1198563 w 1198563"/>
                <a:gd name="connsiteY1" fmla="*/ 1582 h 2392363"/>
                <a:gd name="connsiteX2" fmla="*/ 1198563 w 1198563"/>
                <a:gd name="connsiteY2" fmla="*/ 2390779 h 2392363"/>
                <a:gd name="connsiteX3" fmla="*/ 1196975 w 1198563"/>
                <a:gd name="connsiteY3" fmla="*/ 2392363 h 2392363"/>
                <a:gd name="connsiteX4" fmla="*/ 0 w 1198563"/>
                <a:gd name="connsiteY4" fmla="*/ 1195388 h 2392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8563" h="2392363">
                  <a:moveTo>
                    <a:pt x="1196975" y="0"/>
                  </a:moveTo>
                  <a:lnTo>
                    <a:pt x="1198563" y="1582"/>
                  </a:lnTo>
                  <a:lnTo>
                    <a:pt x="1198563" y="2390779"/>
                  </a:lnTo>
                  <a:lnTo>
                    <a:pt x="1196975" y="2392363"/>
                  </a:lnTo>
                  <a:lnTo>
                    <a:pt x="0" y="1195388"/>
                  </a:lnTo>
                  <a:close/>
                </a:path>
              </a:pathLst>
            </a:custGeom>
            <a:solidFill>
              <a:srgbClr val="7DABE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0" name="任意多边形: 形状 9" descr="92059305-9e50-4827-895d-936aba4be35d"/>
            <p:cNvSpPr/>
            <p:nvPr/>
          </p:nvSpPr>
          <p:spPr bwMode="auto">
            <a:xfrm>
              <a:off x="9767434" y="1313769"/>
              <a:ext cx="2395538" cy="2393950"/>
            </a:xfrm>
            <a:custGeom>
              <a:avLst/>
              <a:gdLst>
                <a:gd name="T0" fmla="*/ 754 w 1509"/>
                <a:gd name="T1" fmla="*/ 1508 h 1508"/>
                <a:gd name="T2" fmla="*/ 0 w 1509"/>
                <a:gd name="T3" fmla="*/ 754 h 1508"/>
                <a:gd name="T4" fmla="*/ 754 w 1509"/>
                <a:gd name="T5" fmla="*/ 0 h 1508"/>
                <a:gd name="T6" fmla="*/ 1509 w 1509"/>
                <a:gd name="T7" fmla="*/ 754 h 1508"/>
                <a:gd name="T8" fmla="*/ 754 w 1509"/>
                <a:gd name="T9" fmla="*/ 1508 h 1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09" h="1508">
                  <a:moveTo>
                    <a:pt x="754" y="1508"/>
                  </a:moveTo>
                  <a:lnTo>
                    <a:pt x="0" y="754"/>
                  </a:lnTo>
                  <a:lnTo>
                    <a:pt x="754" y="0"/>
                  </a:lnTo>
                  <a:lnTo>
                    <a:pt x="1509" y="754"/>
                  </a:lnTo>
                  <a:lnTo>
                    <a:pt x="754" y="150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1" name="任意多边形: 形状 10" descr="68a073b8-17b1-4859-9d9d-09997a5343a5"/>
            <p:cNvSpPr/>
            <p:nvPr/>
          </p:nvSpPr>
          <p:spPr bwMode="auto">
            <a:xfrm>
              <a:off x="2413227" y="0"/>
              <a:ext cx="9742488" cy="4959350"/>
            </a:xfrm>
            <a:custGeom>
              <a:avLst/>
              <a:gdLst>
                <a:gd name="connsiteX0" fmla="*/ 4872039 w 9742488"/>
                <a:gd name="connsiteY0" fmla="*/ 2565400 h 4959350"/>
                <a:gd name="connsiteX1" fmla="*/ 6069014 w 9742488"/>
                <a:gd name="connsiteY1" fmla="*/ 3762375 h 4959350"/>
                <a:gd name="connsiteX2" fmla="*/ 4872039 w 9742488"/>
                <a:gd name="connsiteY2" fmla="*/ 4959350 h 4959350"/>
                <a:gd name="connsiteX3" fmla="*/ 3673476 w 9742488"/>
                <a:gd name="connsiteY3" fmla="*/ 3762375 h 4959350"/>
                <a:gd name="connsiteX4" fmla="*/ 6097587 w 9742488"/>
                <a:gd name="connsiteY4" fmla="*/ 1316038 h 4959350"/>
                <a:gd name="connsiteX5" fmla="*/ 7294562 w 9742488"/>
                <a:gd name="connsiteY5" fmla="*/ 2513013 h 4959350"/>
                <a:gd name="connsiteX6" fmla="*/ 6097587 w 9742488"/>
                <a:gd name="connsiteY6" fmla="*/ 3709988 h 4959350"/>
                <a:gd name="connsiteX7" fmla="*/ 4897437 w 9742488"/>
                <a:gd name="connsiteY7" fmla="*/ 2513013 h 4959350"/>
                <a:gd name="connsiteX8" fmla="*/ 3648075 w 9742488"/>
                <a:gd name="connsiteY8" fmla="*/ 1316038 h 4959350"/>
                <a:gd name="connsiteX9" fmla="*/ 4845050 w 9742488"/>
                <a:gd name="connsiteY9" fmla="*/ 2513013 h 4959350"/>
                <a:gd name="connsiteX10" fmla="*/ 3648075 w 9742488"/>
                <a:gd name="connsiteY10" fmla="*/ 3709988 h 4959350"/>
                <a:gd name="connsiteX11" fmla="*/ 2449512 w 9742488"/>
                <a:gd name="connsiteY11" fmla="*/ 2513013 h 4959350"/>
                <a:gd name="connsiteX12" fmla="*/ 7319963 w 9742488"/>
                <a:gd name="connsiteY12" fmla="*/ 53975 h 4959350"/>
                <a:gd name="connsiteX13" fmla="*/ 8518526 w 9742488"/>
                <a:gd name="connsiteY13" fmla="*/ 1249363 h 4959350"/>
                <a:gd name="connsiteX14" fmla="*/ 7319963 w 9742488"/>
                <a:gd name="connsiteY14" fmla="*/ 2446338 h 4959350"/>
                <a:gd name="connsiteX15" fmla="*/ 6122988 w 9742488"/>
                <a:gd name="connsiteY15" fmla="*/ 1249363 h 4959350"/>
                <a:gd name="connsiteX16" fmla="*/ 4872038 w 9742488"/>
                <a:gd name="connsiteY16" fmla="*/ 53975 h 4959350"/>
                <a:gd name="connsiteX17" fmla="*/ 6069013 w 9742488"/>
                <a:gd name="connsiteY17" fmla="*/ 1249363 h 4959350"/>
                <a:gd name="connsiteX18" fmla="*/ 4872038 w 9742488"/>
                <a:gd name="connsiteY18" fmla="*/ 2446338 h 4959350"/>
                <a:gd name="connsiteX19" fmla="*/ 3673476 w 9742488"/>
                <a:gd name="connsiteY19" fmla="*/ 1249363 h 4959350"/>
                <a:gd name="connsiteX20" fmla="*/ 2424113 w 9742488"/>
                <a:gd name="connsiteY20" fmla="*/ 53975 h 4959350"/>
                <a:gd name="connsiteX21" fmla="*/ 3621088 w 9742488"/>
                <a:gd name="connsiteY21" fmla="*/ 1249363 h 4959350"/>
                <a:gd name="connsiteX22" fmla="*/ 2424113 w 9742488"/>
                <a:gd name="connsiteY22" fmla="*/ 2446338 h 4959350"/>
                <a:gd name="connsiteX23" fmla="*/ 1225550 w 9742488"/>
                <a:gd name="connsiteY23" fmla="*/ 1249363 h 4959350"/>
                <a:gd name="connsiteX24" fmla="*/ 7346950 w 9742488"/>
                <a:gd name="connsiteY24" fmla="*/ 0 h 4959350"/>
                <a:gd name="connsiteX25" fmla="*/ 9742488 w 9742488"/>
                <a:gd name="connsiteY25" fmla="*/ 0 h 4959350"/>
                <a:gd name="connsiteX26" fmla="*/ 8543925 w 9742488"/>
                <a:gd name="connsiteY26" fmla="*/ 1196975 h 4959350"/>
                <a:gd name="connsiteX27" fmla="*/ 4897437 w 9742488"/>
                <a:gd name="connsiteY27" fmla="*/ 0 h 4959350"/>
                <a:gd name="connsiteX28" fmla="*/ 7294562 w 9742488"/>
                <a:gd name="connsiteY28" fmla="*/ 0 h 4959350"/>
                <a:gd name="connsiteX29" fmla="*/ 6097587 w 9742488"/>
                <a:gd name="connsiteY29" fmla="*/ 1196975 h 4959350"/>
                <a:gd name="connsiteX30" fmla="*/ 2449513 w 9742488"/>
                <a:gd name="connsiteY30" fmla="*/ 0 h 4959350"/>
                <a:gd name="connsiteX31" fmla="*/ 4845050 w 9742488"/>
                <a:gd name="connsiteY31" fmla="*/ 0 h 4959350"/>
                <a:gd name="connsiteX32" fmla="*/ 3648076 w 9742488"/>
                <a:gd name="connsiteY32" fmla="*/ 1196975 h 4959350"/>
                <a:gd name="connsiteX33" fmla="*/ 0 w 9742488"/>
                <a:gd name="connsiteY33" fmla="*/ 0 h 4959350"/>
                <a:gd name="connsiteX34" fmla="*/ 2397125 w 9742488"/>
                <a:gd name="connsiteY34" fmla="*/ 0 h 4959350"/>
                <a:gd name="connsiteX35" fmla="*/ 1198562 w 9742488"/>
                <a:gd name="connsiteY35" fmla="*/ 1196975 h 495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9742488" h="4959350">
                  <a:moveTo>
                    <a:pt x="4872039" y="2565400"/>
                  </a:moveTo>
                  <a:lnTo>
                    <a:pt x="6069014" y="3762375"/>
                  </a:lnTo>
                  <a:lnTo>
                    <a:pt x="4872039" y="4959350"/>
                  </a:lnTo>
                  <a:lnTo>
                    <a:pt x="3673476" y="3762375"/>
                  </a:lnTo>
                  <a:close/>
                  <a:moveTo>
                    <a:pt x="6097587" y="1316038"/>
                  </a:moveTo>
                  <a:lnTo>
                    <a:pt x="7294562" y="2513013"/>
                  </a:lnTo>
                  <a:lnTo>
                    <a:pt x="6097587" y="3709988"/>
                  </a:lnTo>
                  <a:lnTo>
                    <a:pt x="4897437" y="2513013"/>
                  </a:lnTo>
                  <a:close/>
                  <a:moveTo>
                    <a:pt x="3648075" y="1316038"/>
                  </a:moveTo>
                  <a:lnTo>
                    <a:pt x="4845050" y="2513013"/>
                  </a:lnTo>
                  <a:lnTo>
                    <a:pt x="3648075" y="3709988"/>
                  </a:lnTo>
                  <a:lnTo>
                    <a:pt x="2449512" y="2513013"/>
                  </a:lnTo>
                  <a:close/>
                  <a:moveTo>
                    <a:pt x="7319963" y="53975"/>
                  </a:moveTo>
                  <a:lnTo>
                    <a:pt x="8518526" y="1249363"/>
                  </a:lnTo>
                  <a:lnTo>
                    <a:pt x="7319963" y="2446338"/>
                  </a:lnTo>
                  <a:lnTo>
                    <a:pt x="6122988" y="1249363"/>
                  </a:lnTo>
                  <a:close/>
                  <a:moveTo>
                    <a:pt x="4872038" y="53975"/>
                  </a:moveTo>
                  <a:lnTo>
                    <a:pt x="6069013" y="1249363"/>
                  </a:lnTo>
                  <a:lnTo>
                    <a:pt x="4872038" y="2446338"/>
                  </a:lnTo>
                  <a:lnTo>
                    <a:pt x="3673476" y="1249363"/>
                  </a:lnTo>
                  <a:close/>
                  <a:moveTo>
                    <a:pt x="2424113" y="53975"/>
                  </a:moveTo>
                  <a:lnTo>
                    <a:pt x="3621088" y="1249363"/>
                  </a:lnTo>
                  <a:lnTo>
                    <a:pt x="2424113" y="2446338"/>
                  </a:lnTo>
                  <a:lnTo>
                    <a:pt x="1225550" y="1249363"/>
                  </a:lnTo>
                  <a:close/>
                  <a:moveTo>
                    <a:pt x="7346950" y="0"/>
                  </a:moveTo>
                  <a:lnTo>
                    <a:pt x="9742488" y="0"/>
                  </a:lnTo>
                  <a:lnTo>
                    <a:pt x="8543925" y="1196975"/>
                  </a:lnTo>
                  <a:close/>
                  <a:moveTo>
                    <a:pt x="4897437" y="0"/>
                  </a:moveTo>
                  <a:lnTo>
                    <a:pt x="7294562" y="0"/>
                  </a:lnTo>
                  <a:lnTo>
                    <a:pt x="6097587" y="1196975"/>
                  </a:lnTo>
                  <a:close/>
                  <a:moveTo>
                    <a:pt x="2449513" y="0"/>
                  </a:moveTo>
                  <a:lnTo>
                    <a:pt x="4845050" y="0"/>
                  </a:lnTo>
                  <a:lnTo>
                    <a:pt x="3648076" y="1196975"/>
                  </a:lnTo>
                  <a:close/>
                  <a:moveTo>
                    <a:pt x="0" y="0"/>
                  </a:moveTo>
                  <a:lnTo>
                    <a:pt x="2397125" y="0"/>
                  </a:lnTo>
                  <a:lnTo>
                    <a:pt x="1198562" y="1196975"/>
                  </a:lnTo>
                  <a:close/>
                </a:path>
              </a:pathLst>
            </a:custGeom>
            <a:gradFill>
              <a:gsLst>
                <a:gs pos="8000">
                  <a:srgbClr val="183982">
                    <a:alpha val="0"/>
                  </a:srgbClr>
                </a:gs>
                <a:gs pos="100000">
                  <a:srgbClr val="183982">
                    <a:alpha val="50000"/>
                  </a:srgbClr>
                </a:gs>
              </a:gsLst>
              <a:lin ang="54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p:sp>
        <p:nvSpPr>
          <p:cNvPr id="2" name="标题 1" descr="2e72427a-8ca8-4ad2-953f-fa57c39bad24"/>
          <p:cNvSpPr>
            <a:spLocks noGrp="1"/>
          </p:cNvSpPr>
          <p:nvPr>
            <p:ph type="title" hasCustomPrompt="1"/>
          </p:nvPr>
        </p:nvSpPr>
        <p:spPr>
          <a:xfrm>
            <a:off x="660400" y="2946400"/>
            <a:ext cx="4985657" cy="2189480"/>
          </a:xfrm>
        </p:spPr>
        <p:txBody>
          <a:bodyPr anchor="ctr">
            <a:noAutofit/>
          </a:bodyPr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文本占位符 3" descr="b7acbe8b-4469-43ec-91b5-214cbc7f231d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5585460"/>
            <a:ext cx="3657600" cy="274320"/>
          </a:xfrm>
        </p:spPr>
        <p:txBody>
          <a:bodyPr anchor="ctr"/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文本占位符 4" descr="497f8448-d48e-4324-8ca6-09baefa165f8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859780"/>
            <a:ext cx="3657600" cy="27432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endParaRPr 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ransition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roddxcchat.z11.web.core.windows.net/" TargetMode="External"/><Relationship Id="rId2" Type="http://schemas.openxmlformats.org/officeDocument/2006/relationships/hyperlink" Target="https://github.com/robert0921/MyAIStudy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ython.org/downloads/" TargetMode="External"/><Relationship Id="rId4" Type="http://schemas.openxmlformats.org/officeDocument/2006/relationships/hyperlink" Target="https://code.visualstudio.com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d2d8ccf9-809c-410b-9009-8db47417cf08"/>
          <p:cNvSpPr>
            <a:spLocks noGrp="1"/>
          </p:cNvSpPr>
          <p:nvPr>
            <p:ph type="ctr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4800" b="1" i="0" u="none">
                <a:solidFill>
                  <a:srgbClr val="183881"/>
                </a:solidFill>
                <a:latin typeface="Arial"/>
              </a:rPr>
              <a:t>AI深度玩家：从“对话”到“重构”的工程化实战</a:t>
            </a:r>
          </a:p>
        </p:txBody>
      </p:sp>
      <p:sp>
        <p:nvSpPr>
          <p:cNvPr id="3" name="副标题 2" descr="8c38a780-844d-4cf7-ae10-148296aca9df"/>
          <p:cNvSpPr>
            <a:spLocks noGrp="1"/>
          </p:cNvSpPr>
          <p:nvPr>
            <p:ph type="subTitle" idx="1" hasCustomPrompt="1"/>
          </p:nvPr>
        </p:nvSpPr>
        <p:spPr/>
        <p:txBody>
          <a:bodyPr anchorCtr="0"/>
          <a:lstStyle/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en-US" sz="2400" b="0" i="0" u="none">
                <a:solidFill>
                  <a:srgbClr val="000000"/>
                </a:solidFill>
                <a:ea typeface="微软雅黑"/>
              </a:rPr>
              <a:t>驾驭产业智能体与开放计算生态的巅峰浪潮</a:t>
            </a:r>
          </a:p>
        </p:txBody>
      </p:sp>
      <p:sp>
        <p:nvSpPr>
          <p:cNvPr id="4" name="文本占位符 3" descr="7ce31c04-ee10-46d3-b4cd-1f07141bd73f"/>
          <p:cNvSpPr>
            <a:spLocks noGrp="1"/>
          </p:cNvSpPr>
          <p:nvPr>
            <p:ph type="body" sz="quarter" idx="13" hasCustomPrompt="1"/>
          </p:nvPr>
        </p:nvSpPr>
        <p:spPr/>
        <p:txBody>
          <a:bodyPr anchorCtr="0">
            <a:no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zh-CN" altLang="en-US" sz="2000" b="1" dirty="0">
                <a:solidFill>
                  <a:srgbClr val="000000"/>
                </a:solidFill>
                <a:ea typeface="微软雅黑"/>
              </a:rPr>
              <a:t>程璐</a:t>
            </a:r>
            <a:endParaRPr lang="en-US" sz="2000" b="1" i="0" u="none" dirty="0">
              <a:solidFill>
                <a:srgbClr val="000000"/>
              </a:solidFill>
              <a:ea typeface="微软雅黑"/>
            </a:endParaRPr>
          </a:p>
        </p:txBody>
      </p:sp>
      <p:sp>
        <p:nvSpPr>
          <p:cNvPr id="5" name="文本占位符 4" descr="e4aafbc0-d0a9-448b-97d4-dfa29589e366"/>
          <p:cNvSpPr>
            <a:spLocks noGrp="1"/>
          </p:cNvSpPr>
          <p:nvPr>
            <p:ph type="body" sz="quarter" idx="14" hasCustomPrompt="1"/>
          </p:nvPr>
        </p:nvSpPr>
        <p:spPr/>
        <p:txBody>
          <a:bodyPr anchorCtr="0">
            <a:no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en-US" sz="2000" b="1" dirty="0">
                <a:latin typeface="微软雅黑"/>
              </a:rPr>
              <a:t>20</a:t>
            </a:r>
            <a:r>
              <a:rPr lang="en-US" altLang="zh-CN" sz="2000" b="1" dirty="0">
                <a:latin typeface="微软雅黑"/>
              </a:rPr>
              <a:t>25</a:t>
            </a:r>
            <a:r>
              <a:rPr lang="en-US" sz="2000" b="1" dirty="0">
                <a:latin typeface="微软雅黑"/>
              </a:rPr>
              <a:t>.</a:t>
            </a:r>
            <a:r>
              <a:rPr lang="en-US" altLang="zh-CN" sz="2000" b="1" dirty="0">
                <a:latin typeface="微软雅黑"/>
              </a:rPr>
              <a:t>12</a:t>
            </a:r>
            <a:r>
              <a:rPr lang="en-US" sz="2000" b="1" dirty="0">
                <a:latin typeface="微软雅黑"/>
              </a:rPr>
              <a:t>.</a:t>
            </a:r>
            <a:r>
              <a:rPr lang="en-US" altLang="zh-CN" sz="2000" b="1" dirty="0">
                <a:latin typeface="微软雅黑"/>
              </a:rPr>
              <a:t>24</a:t>
            </a:r>
            <a:endParaRPr lang="en-US" sz="2000" b="1" dirty="0"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790237-F92F-89DC-D3FE-35207C9B4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有用的资源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C3C317-96B0-82CE-FEC3-41BFF6248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hlinkClick r:id="rId2"/>
              </a:rPr>
              <a:t>https://github.com/robert0921/MyAIStudy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>
                <a:hlinkClick r:id="rId3"/>
              </a:rPr>
              <a:t>DXC Chat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>
                <a:hlinkClick r:id="rId4"/>
              </a:rPr>
              <a:t>Visual Studio Code - The open source AI code editor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>
                <a:hlinkClick r:id="rId5"/>
              </a:rPr>
              <a:t>Download Python | Python.org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38462871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97b5567-1e53-4734-9ef1-9ffb665bdb55.source.2.zh-Hans.pptx" descr="d0a28f6b-c1d0-4ea7-b1ca-39e8f8f005dd">
            <a:extLst>
              <a:ext uri="{FF2B5EF4-FFF2-40B4-BE49-F238E27FC236}">
                <a16:creationId xmlns:a16="http://schemas.microsoft.com/office/drawing/2014/main" id="{01478AB5-5D40-A33A-F2F9-18509128FC1D}"/>
              </a:ext>
            </a:extLst>
          </p:cNvPr>
          <p:cNvGrpSpPr/>
          <p:nvPr/>
        </p:nvGrpSpPr>
        <p:grpSpPr>
          <a:xfrm>
            <a:off x="660400" y="1130300"/>
            <a:ext cx="10858499" cy="5003800"/>
            <a:chOff x="660400" y="1130300"/>
            <a:chExt cx="10858499" cy="5003800"/>
          </a:xfrm>
        </p:grpSpPr>
        <p:cxnSp>
          <p:nvCxnSpPr>
            <p:cNvPr id="82" name="直接连接符 81" descr="e3fbbbd9-5c13-474b-9e51-2d548c8fd2fb">
              <a:extLst>
                <a:ext uri="{FF2B5EF4-FFF2-40B4-BE49-F238E27FC236}">
                  <a16:creationId xmlns:a16="http://schemas.microsoft.com/office/drawing/2014/main" id="{B544655B-DFE5-A6A4-60D5-7848CA0D168E}"/>
                </a:ext>
              </a:extLst>
            </p:cNvPr>
            <p:cNvCxnSpPr>
              <a:cxnSpLocks/>
            </p:cNvCxnSpPr>
            <p:nvPr/>
          </p:nvCxnSpPr>
          <p:spPr>
            <a:xfrm>
              <a:off x="3684432" y="3489025"/>
              <a:ext cx="7834467" cy="0"/>
            </a:xfrm>
            <a:prstGeom prst="line">
              <a:avLst/>
            </a:prstGeom>
            <a:ln>
              <a:solidFill>
                <a:schemeClr val="tx1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 descr="6f174b44-765a-48ea-a83a-0de25029560a">
              <a:extLst>
                <a:ext uri="{FF2B5EF4-FFF2-40B4-BE49-F238E27FC236}">
                  <a16:creationId xmlns:a16="http://schemas.microsoft.com/office/drawing/2014/main" id="{BE6598B7-82BE-0180-AC67-F5A813B1501A}"/>
                </a:ext>
              </a:extLst>
            </p:cNvPr>
            <p:cNvCxnSpPr>
              <a:cxnSpLocks/>
            </p:cNvCxnSpPr>
            <p:nvPr/>
          </p:nvCxnSpPr>
          <p:spPr>
            <a:xfrm>
              <a:off x="3684432" y="6134098"/>
              <a:ext cx="7834467" cy="0"/>
            </a:xfrm>
            <a:prstGeom prst="line">
              <a:avLst/>
            </a:prstGeom>
            <a:ln>
              <a:solidFill>
                <a:schemeClr val="tx1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itle" descr="5c28ed14-b296-4f26-91a8-48ec84c81676">
              <a:extLst>
                <a:ext uri="{FF2B5EF4-FFF2-40B4-BE49-F238E27FC236}">
                  <a16:creationId xmlns:a16="http://schemas.microsoft.com/office/drawing/2014/main" id="{F7775B6F-C423-10BB-C5A9-DDD9C0B6C90E}"/>
                </a:ext>
              </a:extLst>
            </p:cNvPr>
            <p:cNvSpPr txBox="1"/>
            <p:nvPr/>
          </p:nvSpPr>
          <p:spPr>
            <a:xfrm flipH="1">
              <a:off x="660400" y="1143002"/>
              <a:ext cx="2717872" cy="23460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/>
            </a:p>
          </p:txBody>
        </p:sp>
        <p:grpSp>
          <p:nvGrpSpPr>
            <p:cNvPr id="94" name="组合 93" descr="7d1443d7-0379-46e5-8f6e-a709110d7de6">
              <a:extLst>
                <a:ext uri="{FF2B5EF4-FFF2-40B4-BE49-F238E27FC236}">
                  <a16:creationId xmlns:a16="http://schemas.microsoft.com/office/drawing/2014/main" id="{2D089D77-6350-FFF1-82F3-5354A5B37988}"/>
                </a:ext>
              </a:extLst>
            </p:cNvPr>
            <p:cNvGrpSpPr/>
            <p:nvPr/>
          </p:nvGrpSpPr>
          <p:grpSpPr>
            <a:xfrm>
              <a:off x="673101" y="1130300"/>
              <a:ext cx="10845797" cy="4893129"/>
              <a:chOff x="673101" y="1130300"/>
              <a:chExt cx="10845797" cy="4893129"/>
            </a:xfrm>
          </p:grpSpPr>
          <p:sp>
            <p:nvSpPr>
              <p:cNvPr id="76" name="Bullet1" descr="e45954e0-b4f3-4ef1-9ed0-42bb8890db33">
                <a:extLst>
                  <a:ext uri="{FF2B5EF4-FFF2-40B4-BE49-F238E27FC236}">
                    <a16:creationId xmlns:a16="http://schemas.microsoft.com/office/drawing/2014/main" id="{40E6EDFE-7CF3-4D40-CC0B-54913CA40B0A}"/>
                  </a:ext>
                </a:extLst>
              </p:cNvPr>
              <p:cNvSpPr txBox="1"/>
              <p:nvPr/>
            </p:nvSpPr>
            <p:spPr>
              <a:xfrm>
                <a:off x="4495991" y="1130300"/>
                <a:ext cx="7022907" cy="2358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 strike="noStrike">
                    <a:solidFill>
                      <a:srgbClr val="000000"/>
                    </a:solidFill>
                    <a:ea typeface="微软雅黑"/>
                  </a:rPr>
                  <a:t>第一讲：逻辑重构——从“图灵悖论”到深度推理与智能体设计</a:t>
                </a:r>
              </a:p>
            </p:txBody>
          </p:sp>
          <p:sp>
            <p:nvSpPr>
              <p:cNvPr id="77" name="Number1" descr="002ff822-2c7a-406e-9ad3-87d1e0a6f88d">
                <a:extLst>
                  <a:ext uri="{FF2B5EF4-FFF2-40B4-BE49-F238E27FC236}">
                    <a16:creationId xmlns:a16="http://schemas.microsoft.com/office/drawing/2014/main" id="{CF916961-B5A6-7455-56C3-9838311F5147}"/>
                  </a:ext>
                </a:extLst>
              </p:cNvPr>
              <p:cNvSpPr txBox="1"/>
              <p:nvPr/>
            </p:nvSpPr>
            <p:spPr>
              <a:xfrm>
                <a:off x="3689257" y="1130300"/>
                <a:ext cx="801911" cy="2358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sz="400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defRPr>
                </a:lvl1pPr>
              </a:lstStyle>
              <a:p>
                <a:pPr algn="l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4000" b="0" i="0" u="none">
                    <a:solidFill>
                      <a:srgbClr val="000000"/>
                    </a:solidFill>
                    <a:latin typeface="Arial"/>
                  </a:rPr>
                  <a:t>1.</a:t>
                </a:r>
              </a:p>
            </p:txBody>
          </p:sp>
          <p:sp>
            <p:nvSpPr>
              <p:cNvPr id="89" name="Shape" descr="35ee1b76-5cc9-4256-af21-6cafe706b7f5">
                <a:extLst>
                  <a:ext uri="{FF2B5EF4-FFF2-40B4-BE49-F238E27FC236}">
                    <a16:creationId xmlns:a16="http://schemas.microsoft.com/office/drawing/2014/main" id="{8987E505-E5AC-7B0D-621B-F4CE8F44D534}"/>
                  </a:ext>
                </a:extLst>
              </p:cNvPr>
              <p:cNvSpPr/>
              <p:nvPr/>
            </p:nvSpPr>
            <p:spPr>
              <a:xfrm>
                <a:off x="673101" y="5714998"/>
                <a:ext cx="241299" cy="30843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endParaRPr/>
              </a:p>
            </p:txBody>
          </p:sp>
        </p:grpSp>
        <p:grpSp>
          <p:nvGrpSpPr>
            <p:cNvPr id="95" name="组合 94" descr="b78e5158-cf39-46d4-a1c8-c435bb13c93c">
              <a:extLst>
                <a:ext uri="{FF2B5EF4-FFF2-40B4-BE49-F238E27FC236}">
                  <a16:creationId xmlns:a16="http://schemas.microsoft.com/office/drawing/2014/main" id="{620E4068-7933-6ADB-5E64-B895DB59EC8B}"/>
                </a:ext>
              </a:extLst>
            </p:cNvPr>
            <p:cNvGrpSpPr/>
            <p:nvPr/>
          </p:nvGrpSpPr>
          <p:grpSpPr>
            <a:xfrm>
              <a:off x="3689257" y="3771987"/>
              <a:ext cx="7829641" cy="2362113"/>
              <a:chOff x="3689257" y="3771987"/>
              <a:chExt cx="7829641" cy="2362113"/>
            </a:xfrm>
          </p:grpSpPr>
          <p:sp>
            <p:nvSpPr>
              <p:cNvPr id="78" name="Bullet2" descr="802bfb6a-c7ed-42b4-8dac-6df9954ffe10">
                <a:extLst>
                  <a:ext uri="{FF2B5EF4-FFF2-40B4-BE49-F238E27FC236}">
                    <a16:creationId xmlns:a16="http://schemas.microsoft.com/office/drawing/2014/main" id="{D3A5BAB2-0839-E7AC-8743-8985E8C2182D}"/>
                  </a:ext>
                </a:extLst>
              </p:cNvPr>
              <p:cNvSpPr txBox="1"/>
              <p:nvPr/>
            </p:nvSpPr>
            <p:spPr>
              <a:xfrm>
                <a:off x="4495991" y="3771987"/>
                <a:ext cx="7022907" cy="235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 strike="noStrike">
                    <a:solidFill>
                      <a:srgbClr val="000000"/>
                    </a:solidFill>
                    <a:ea typeface="微软雅黑"/>
                  </a:rPr>
                  <a:t>第二讲：系统进化——构建千倍增效的AI原生工作流与产业赋能系统</a:t>
                </a:r>
              </a:p>
            </p:txBody>
          </p:sp>
          <p:sp>
            <p:nvSpPr>
              <p:cNvPr id="79" name="Number2" descr="077ee0a2-94f0-482a-9a42-d93119af8b88">
                <a:extLst>
                  <a:ext uri="{FF2B5EF4-FFF2-40B4-BE49-F238E27FC236}">
                    <a16:creationId xmlns:a16="http://schemas.microsoft.com/office/drawing/2014/main" id="{82120B68-99F9-B742-06E9-DD53C1E1DF84}"/>
                  </a:ext>
                </a:extLst>
              </p:cNvPr>
              <p:cNvSpPr txBox="1"/>
              <p:nvPr/>
            </p:nvSpPr>
            <p:spPr>
              <a:xfrm>
                <a:off x="3689257" y="3775371"/>
                <a:ext cx="801911" cy="235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sz="400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defRPr>
                </a:lvl1pPr>
              </a:lstStyle>
              <a:p>
                <a:pPr algn="l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4000" b="0" i="0" u="none">
                    <a:solidFill>
                      <a:srgbClr val="000000"/>
                    </a:solidFill>
                    <a:latin typeface="Arial"/>
                  </a:rPr>
                  <a:t>2.</a:t>
                </a:r>
              </a:p>
            </p:txBody>
          </p:sp>
        </p:grpSp>
      </p:grpSp>
      <p:sp>
        <p:nvSpPr>
          <p:cNvPr id="3" name="标题 4294967294" descr="4c5aba46-18aa-461b-b2ed-f943f6683fd5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000000"/>
                </a:solidFill>
                <a:ea typeface="微软雅黑"/>
              </a:rPr>
              <a:t>目录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b153fc64-aaed-42e3-a751-5026fcc096bb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sz="3600" b="1" i="0" u="none">
                <a:solidFill>
                  <a:srgbClr val="000000"/>
                </a:solidFill>
                <a:ea typeface="微软雅黑"/>
              </a:rPr>
              <a:t>第一讲：逻辑重构——从“图灵悖论”到深度推理与智能体设计</a:t>
            </a:r>
          </a:p>
        </p:txBody>
      </p:sp>
      <p:sp>
        <p:nvSpPr>
          <p:cNvPr id="3" name="文本占位符 2" descr="1d04c7c0-e0b8-4f6d-be0a-2320a6b99806"/>
          <p:cNvSpPr>
            <a:spLocks noGrp="1"/>
          </p:cNvSpPr>
          <p:nvPr>
            <p:ph type="body" idx="1" hasCustomPrompt="1"/>
          </p:nvPr>
        </p:nvSpPr>
        <p:spPr/>
        <p:txBody>
          <a:bodyPr anchorCtr="0"/>
          <a:lstStyle/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en-US" sz="1600" b="0" i="0" u="none">
                <a:solidFill>
                  <a:srgbClr val="000000"/>
                </a:solidFill>
                <a:ea typeface="微软雅黑"/>
              </a:rPr>
              <a:t>建立“判断力优于操作力”的认知，从设计Prompt升级为设计智能体工作流。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37e9254f-cd01-4222-a8b3-518de6c71795.source.7.zh-Hans.pptx" descr="ffc34bad-dcb2-470f-a7b0-bcc66c08c873">
            <a:extLst>
              <a:ext uri="{FF2B5EF4-FFF2-40B4-BE49-F238E27FC236}">
                <a16:creationId xmlns:a16="http://schemas.microsoft.com/office/drawing/2014/main" id="{21323A09-14DD-3CE3-D7DA-D14F20234056}"/>
              </a:ext>
            </a:extLst>
          </p:cNvPr>
          <p:cNvGrpSpPr/>
          <p:nvPr/>
        </p:nvGrpSpPr>
        <p:grpSpPr>
          <a:xfrm>
            <a:off x="660399" y="1130301"/>
            <a:ext cx="10858501" cy="5003799"/>
            <a:chOff x="660399" y="1130301"/>
            <a:chExt cx="10858501" cy="5003799"/>
          </a:xfrm>
        </p:grpSpPr>
        <p:sp>
          <p:nvSpPr>
            <p:cNvPr id="10" name="Title" descr="3da429d8-41a6-4088-baf4-08f758e507d9">
              <a:extLst>
                <a:ext uri="{FF2B5EF4-FFF2-40B4-BE49-F238E27FC236}">
                  <a16:creationId xmlns:a16="http://schemas.microsoft.com/office/drawing/2014/main" id="{073D5CD5-2FBC-C69D-1C37-64AF3A24FF03}"/>
                </a:ext>
              </a:extLst>
            </p:cNvPr>
            <p:cNvSpPr>
              <a:spLocks/>
            </p:cNvSpPr>
            <p:nvPr/>
          </p:nvSpPr>
          <p:spPr>
            <a:xfrm>
              <a:off x="660399" y="1130301"/>
              <a:ext cx="10858500" cy="586098"/>
            </a:xfrm>
            <a:prstGeom prst="rect">
              <a:avLst/>
            </a:prstGeom>
            <a:noFill/>
            <a:ln w="7620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 anchorCtr="0">
              <a:normAutofit/>
            </a:bodyPr>
            <a:lstStyle/>
            <a:p>
              <a:pPr algn="l"/>
              <a:r>
                <a:rPr lang="en-US" sz="2400" b="1" i="0" u="none">
                  <a:solidFill>
                    <a:srgbClr val="000000"/>
                  </a:solidFill>
                  <a:ea typeface="微软雅黑"/>
                </a:rPr>
                <a:t>理解AI效能定律，掌握新时代的智能体设计方法。</a:t>
              </a:r>
            </a:p>
          </p:txBody>
        </p:sp>
        <p:grpSp>
          <p:nvGrpSpPr>
            <p:cNvPr id="37" name="组合 36" descr="cb2f670a-a7a2-46ba-b541-99577a4f4e45">
              <a:extLst>
                <a:ext uri="{FF2B5EF4-FFF2-40B4-BE49-F238E27FC236}">
                  <a16:creationId xmlns:a16="http://schemas.microsoft.com/office/drawing/2014/main" id="{1BF83BBA-BDDF-8DCC-DC70-EC8297177551}"/>
                </a:ext>
              </a:extLst>
            </p:cNvPr>
            <p:cNvGrpSpPr/>
            <p:nvPr/>
          </p:nvGrpSpPr>
          <p:grpSpPr>
            <a:xfrm>
              <a:off x="660400" y="1761003"/>
              <a:ext cx="5295900" cy="1012222"/>
              <a:chOff x="885625" y="1931699"/>
              <a:chExt cx="5295900" cy="1012222"/>
            </a:xfrm>
          </p:grpSpPr>
          <p:sp>
            <p:nvSpPr>
              <p:cNvPr id="34" name="Number1" descr="f406da63-33aa-4848-9455-f0848675d1bf">
                <a:extLst>
                  <a:ext uri="{FF2B5EF4-FFF2-40B4-BE49-F238E27FC236}">
                    <a16:creationId xmlns:a16="http://schemas.microsoft.com/office/drawing/2014/main" id="{4E23BAD8-D340-6239-AAD4-4117BC6D4230}"/>
                  </a:ext>
                </a:extLst>
              </p:cNvPr>
              <p:cNvSpPr/>
              <p:nvPr/>
            </p:nvSpPr>
            <p:spPr>
              <a:xfrm flipH="1">
                <a:off x="885625" y="1931699"/>
                <a:ext cx="472502" cy="472662"/>
              </a:xfrm>
              <a:prstGeom prst="ellipse">
                <a:avLst/>
              </a:prstGeom>
              <a:noFill/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 fontScale="92500" lnSpcReduction="10000"/>
              </a:bodyPr>
              <a:lstStyle/>
              <a:p>
                <a:pPr algn="ctr"/>
                <a:r>
                  <a:rPr lang="en-US" sz="1800" b="0" i="0" u="none">
                    <a:solidFill>
                      <a:srgbClr val="183881"/>
                    </a:solidFill>
                    <a:latin typeface="Arial"/>
                  </a:rPr>
                  <a:t>1</a:t>
                </a:r>
              </a:p>
            </p:txBody>
          </p:sp>
          <p:sp>
            <p:nvSpPr>
              <p:cNvPr id="35" name="Bullet1" descr="19e864d4-f1ef-4a52-8cc2-65d017718a0e">
                <a:extLst>
                  <a:ext uri="{FF2B5EF4-FFF2-40B4-BE49-F238E27FC236}">
                    <a16:creationId xmlns:a16="http://schemas.microsoft.com/office/drawing/2014/main" id="{AF61F39A-0487-5339-52DF-E4F4DAF2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1931699"/>
                <a:ext cx="4797998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图灵悖论</a:t>
                </a:r>
              </a:p>
            </p:txBody>
          </p:sp>
          <p:sp>
            <p:nvSpPr>
              <p:cNvPr id="36" name="Text1" descr="15095308-48ee-42fb-8c78-c827eea683be">
                <a:extLst>
                  <a:ext uri="{FF2B5EF4-FFF2-40B4-BE49-F238E27FC236}">
                    <a16:creationId xmlns:a16="http://schemas.microsoft.com/office/drawing/2014/main" id="{487D382C-2068-13C5-B614-897C33D569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2404361"/>
                <a:ext cx="4797998" cy="539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latin typeface="微软雅黑"/>
                  </a:rPr>
                  <a:t>“不犯错的机器不可能是智能的。”（图灵，1947）</a:t>
                </a:r>
              </a:p>
            </p:txBody>
          </p:sp>
        </p:grpSp>
        <p:grpSp>
          <p:nvGrpSpPr>
            <p:cNvPr id="9" name="组合 1" descr="3cb29838-5a64-4dce-b75b-f700a545bc64">
              <a:extLst>
                <a:ext uri="{FF2B5EF4-FFF2-40B4-BE49-F238E27FC236}">
                  <a16:creationId xmlns:a16="http://schemas.microsoft.com/office/drawing/2014/main" id="{26CBB069-303E-8DFE-DA61-D91C2CEA28E2}"/>
                </a:ext>
              </a:extLst>
            </p:cNvPr>
            <p:cNvGrpSpPr/>
            <p:nvPr/>
          </p:nvGrpSpPr>
          <p:grpSpPr>
            <a:xfrm>
              <a:off x="660400" y="2881295"/>
              <a:ext cx="5295900" cy="1012222"/>
              <a:chOff x="885625" y="1931699"/>
              <a:chExt cx="5295900" cy="1012222"/>
            </a:xfrm>
          </p:grpSpPr>
          <p:sp>
            <p:nvSpPr>
              <p:cNvPr id="3" name="Number2" descr="22b96a31-66f5-4a80-b14c-fa2b6e59ef17">
                <a:extLst>
                  <a:ext uri="{FF2B5EF4-FFF2-40B4-BE49-F238E27FC236}">
                    <a16:creationId xmlns:a16="http://schemas.microsoft.com/office/drawing/2014/main" id="{79369B1A-8D35-371D-A110-8F508EA7C697}"/>
                  </a:ext>
                </a:extLst>
              </p:cNvPr>
              <p:cNvSpPr/>
              <p:nvPr/>
            </p:nvSpPr>
            <p:spPr>
              <a:xfrm flipH="1">
                <a:off x="885625" y="1931699"/>
                <a:ext cx="472502" cy="472662"/>
              </a:xfrm>
              <a:prstGeom prst="ellipse">
                <a:avLst/>
              </a:prstGeom>
              <a:noFill/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 fontScale="92500" lnSpcReduction="10000"/>
              </a:bodyPr>
              <a:lstStyle/>
              <a:p>
                <a:pPr algn="ctr"/>
                <a:r>
                  <a:rPr lang="en-US" sz="1800" b="0" i="0" u="none">
                    <a:solidFill>
                      <a:srgbClr val="183881"/>
                    </a:solidFill>
                    <a:latin typeface="Arial"/>
                  </a:rPr>
                  <a:t>2</a:t>
                </a:r>
              </a:p>
            </p:txBody>
          </p:sp>
          <p:sp>
            <p:nvSpPr>
              <p:cNvPr id="4" name="Bullet2" descr="d141b4bc-8e07-4b69-927a-14d46d8bb426">
                <a:extLst>
                  <a:ext uri="{FF2B5EF4-FFF2-40B4-BE49-F238E27FC236}">
                    <a16:creationId xmlns:a16="http://schemas.microsoft.com/office/drawing/2014/main" id="{9E6614C9-E66B-4D6A-7CEF-BC134291005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1931699"/>
                <a:ext cx="4797998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latin typeface="Arial"/>
                  </a:rPr>
                  <a:t>AI效能基本定律（2026版）</a:t>
                </a:r>
              </a:p>
            </p:txBody>
          </p:sp>
          <p:sp>
            <p:nvSpPr>
              <p:cNvPr id="5" name="Text2" descr="d4bf33da-05ab-447c-ac9c-1445838b1a69">
                <a:extLst>
                  <a:ext uri="{FF2B5EF4-FFF2-40B4-BE49-F238E27FC236}">
                    <a16:creationId xmlns:a16="http://schemas.microsoft.com/office/drawing/2014/main" id="{33664AC3-6D3F-F653-FB30-D641B40C60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2404361"/>
                <a:ext cx="4797998" cy="539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公式：AI实际效能 = min(AI理论能力, 使用者判断力, 流程适配度)</a:t>
                </a:r>
              </a:p>
            </p:txBody>
          </p:sp>
        </p:grpSp>
        <p:grpSp>
          <p:nvGrpSpPr>
            <p:cNvPr id="6" name="组合 5" descr="09ec74df-7afc-4bf3-997e-1249686d61fe">
              <a:extLst>
                <a:ext uri="{FF2B5EF4-FFF2-40B4-BE49-F238E27FC236}">
                  <a16:creationId xmlns:a16="http://schemas.microsoft.com/office/drawing/2014/main" id="{AF8023BC-C011-30C6-0085-A9F37D682B59}"/>
                </a:ext>
              </a:extLst>
            </p:cNvPr>
            <p:cNvGrpSpPr/>
            <p:nvPr/>
          </p:nvGrpSpPr>
          <p:grpSpPr>
            <a:xfrm>
              <a:off x="660400" y="4001587"/>
              <a:ext cx="5295900" cy="1012222"/>
              <a:chOff x="885625" y="1931699"/>
              <a:chExt cx="5295900" cy="1012222"/>
            </a:xfrm>
          </p:grpSpPr>
          <p:sp>
            <p:nvSpPr>
              <p:cNvPr id="7" name="Number3" descr="1e3a6956-efcb-4e4e-baf6-4651a3a139d1">
                <a:extLst>
                  <a:ext uri="{FF2B5EF4-FFF2-40B4-BE49-F238E27FC236}">
                    <a16:creationId xmlns:a16="http://schemas.microsoft.com/office/drawing/2014/main" id="{39E4C870-8794-55B0-B2F3-B233776A0AA9}"/>
                  </a:ext>
                </a:extLst>
              </p:cNvPr>
              <p:cNvSpPr/>
              <p:nvPr/>
            </p:nvSpPr>
            <p:spPr>
              <a:xfrm flipH="1">
                <a:off x="885625" y="1931699"/>
                <a:ext cx="472502" cy="472662"/>
              </a:xfrm>
              <a:prstGeom prst="ellipse">
                <a:avLst/>
              </a:prstGeom>
              <a:noFill/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 fontScale="92500" lnSpcReduction="10000"/>
              </a:bodyPr>
              <a:lstStyle/>
              <a:p>
                <a:pPr algn="ctr"/>
                <a:r>
                  <a:rPr lang="en-US" sz="1800" b="0" i="0" u="none">
                    <a:solidFill>
                      <a:srgbClr val="183881"/>
                    </a:solidFill>
                    <a:latin typeface="Arial"/>
                  </a:rPr>
                  <a:t>3</a:t>
                </a:r>
              </a:p>
            </p:txBody>
          </p:sp>
          <p:sp>
            <p:nvSpPr>
              <p:cNvPr id="11" name="Bullet3" descr="622b131e-d958-45e1-a9a2-a834aeeb9948">
                <a:extLst>
                  <a:ext uri="{FF2B5EF4-FFF2-40B4-BE49-F238E27FC236}">
                    <a16:creationId xmlns:a16="http://schemas.microsoft.com/office/drawing/2014/main" id="{7971CD94-7228-9C2A-D9DD-2E44F6E6EF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1931699"/>
                <a:ext cx="4797998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激情解读</a:t>
                </a:r>
              </a:p>
            </p:txBody>
          </p:sp>
          <p:sp>
            <p:nvSpPr>
              <p:cNvPr id="12" name="Text3" descr="25a24fcd-9374-4a06-ab76-71e9ace079a7">
                <a:extLst>
                  <a:ext uri="{FF2B5EF4-FFF2-40B4-BE49-F238E27FC236}">
                    <a16:creationId xmlns:a16="http://schemas.microsoft.com/office/drawing/2014/main" id="{6E9D374B-73B8-EA48-9317-FF773606890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2404361"/>
                <a:ext cx="4797998" cy="539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latin typeface="Arial"/>
                  </a:rPr>
                  <a:t>AI上限是你的判断力，更是将AI“编织”进业务流程的能力。</a:t>
                </a:r>
              </a:p>
            </p:txBody>
          </p:sp>
        </p:grpSp>
        <p:grpSp>
          <p:nvGrpSpPr>
            <p:cNvPr id="13" name="组合 12" descr="7e84ad1c-fb88-41b2-bc9c-51f39a0c05dc">
              <a:extLst>
                <a:ext uri="{FF2B5EF4-FFF2-40B4-BE49-F238E27FC236}">
                  <a16:creationId xmlns:a16="http://schemas.microsoft.com/office/drawing/2014/main" id="{B04F618C-8CDF-CB7F-F9DE-18192D7323C7}"/>
                </a:ext>
              </a:extLst>
            </p:cNvPr>
            <p:cNvGrpSpPr/>
            <p:nvPr/>
          </p:nvGrpSpPr>
          <p:grpSpPr>
            <a:xfrm>
              <a:off x="660400" y="5121878"/>
              <a:ext cx="5295900" cy="1012222"/>
              <a:chOff x="885625" y="1931699"/>
              <a:chExt cx="5295900" cy="1012222"/>
            </a:xfrm>
          </p:grpSpPr>
          <p:sp>
            <p:nvSpPr>
              <p:cNvPr id="14" name="Number4" descr="342a73cd-1f01-4256-93b4-d633f052531b">
                <a:extLst>
                  <a:ext uri="{FF2B5EF4-FFF2-40B4-BE49-F238E27FC236}">
                    <a16:creationId xmlns:a16="http://schemas.microsoft.com/office/drawing/2014/main" id="{8CF42084-3A96-88F8-8C69-E12C85A11543}"/>
                  </a:ext>
                </a:extLst>
              </p:cNvPr>
              <p:cNvSpPr/>
              <p:nvPr/>
            </p:nvSpPr>
            <p:spPr>
              <a:xfrm flipH="1">
                <a:off x="885625" y="1931699"/>
                <a:ext cx="472502" cy="472662"/>
              </a:xfrm>
              <a:prstGeom prst="ellipse">
                <a:avLst/>
              </a:prstGeom>
              <a:noFill/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 fontScale="92500" lnSpcReduction="10000"/>
              </a:bodyPr>
              <a:lstStyle/>
              <a:p>
                <a:pPr algn="ctr"/>
                <a:r>
                  <a:rPr lang="en-US" sz="1800" b="0" i="0" u="none">
                    <a:solidFill>
                      <a:srgbClr val="183881"/>
                    </a:solidFill>
                    <a:latin typeface="Arial"/>
                  </a:rPr>
                  <a:t>4</a:t>
                </a:r>
              </a:p>
            </p:txBody>
          </p:sp>
          <p:sp>
            <p:nvSpPr>
              <p:cNvPr id="15" name="Bullet4" descr="e2c3fad1-c36c-42ca-bcf3-be2e82559231">
                <a:extLst>
                  <a:ext uri="{FF2B5EF4-FFF2-40B4-BE49-F238E27FC236}">
                    <a16:creationId xmlns:a16="http://schemas.microsoft.com/office/drawing/2014/main" id="{A13C3A56-4923-1627-6895-413F1F7BB4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1931699"/>
                <a:ext cx="4797998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技术基石：深度推理与智能体成为主流</a:t>
                </a:r>
              </a:p>
            </p:txBody>
          </p:sp>
          <p:sp>
            <p:nvSpPr>
              <p:cNvPr id="16" name="Text4" descr="b7083bb7-7548-46c2-bfe6-7d70011f8b3a">
                <a:extLst>
                  <a:ext uri="{FF2B5EF4-FFF2-40B4-BE49-F238E27FC236}">
                    <a16:creationId xmlns:a16="http://schemas.microsoft.com/office/drawing/2014/main" id="{86D1C974-76B4-5BED-0285-8D5F005793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2404361"/>
                <a:ext cx="4797998" cy="539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latin typeface="Arial"/>
                  </a:rPr>
                  <a:t>GPT-5、Claude Sonnet 4.5等模型引领，AI转向“流程型智能体”。</a:t>
                </a:r>
              </a:p>
            </p:txBody>
          </p:sp>
        </p:grpSp>
        <p:grpSp>
          <p:nvGrpSpPr>
            <p:cNvPr id="70" name="组合 69" descr="9ef727d6-fbb1-4958-a8f4-690a47fcef0a">
              <a:extLst>
                <a:ext uri="{FF2B5EF4-FFF2-40B4-BE49-F238E27FC236}">
                  <a16:creationId xmlns:a16="http://schemas.microsoft.com/office/drawing/2014/main" id="{2D219125-5CFC-F636-0D7D-548E418E2787}"/>
                </a:ext>
              </a:extLst>
            </p:cNvPr>
            <p:cNvGrpSpPr/>
            <p:nvPr/>
          </p:nvGrpSpPr>
          <p:grpSpPr>
            <a:xfrm>
              <a:off x="6223000" y="1761003"/>
              <a:ext cx="5295900" cy="1012222"/>
              <a:chOff x="885625" y="1931699"/>
              <a:chExt cx="5295900" cy="1012222"/>
            </a:xfrm>
          </p:grpSpPr>
          <p:sp>
            <p:nvSpPr>
              <p:cNvPr id="83" name="Number5" descr="25032c97-b379-476d-8f33-80c4ee2fd37c">
                <a:extLst>
                  <a:ext uri="{FF2B5EF4-FFF2-40B4-BE49-F238E27FC236}">
                    <a16:creationId xmlns:a16="http://schemas.microsoft.com/office/drawing/2014/main" id="{21821081-F6A7-BBFC-F417-B5C7040CA426}"/>
                  </a:ext>
                </a:extLst>
              </p:cNvPr>
              <p:cNvSpPr/>
              <p:nvPr/>
            </p:nvSpPr>
            <p:spPr>
              <a:xfrm flipH="1">
                <a:off x="885625" y="1931699"/>
                <a:ext cx="472502" cy="472662"/>
              </a:xfrm>
              <a:prstGeom prst="ellipse">
                <a:avLst/>
              </a:prstGeom>
              <a:noFill/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 fontScale="92500" lnSpcReduction="10000"/>
              </a:bodyPr>
              <a:lstStyle/>
              <a:p>
                <a:pPr algn="ctr"/>
                <a:r>
                  <a:rPr lang="en-US" sz="1800" b="0" i="0" u="none">
                    <a:solidFill>
                      <a:srgbClr val="183881"/>
                    </a:solidFill>
                    <a:latin typeface="Arial"/>
                  </a:rPr>
                  <a:t>5</a:t>
                </a:r>
              </a:p>
            </p:txBody>
          </p:sp>
          <p:sp>
            <p:nvSpPr>
              <p:cNvPr id="84" name="Bullet5" descr="916069e7-0fe1-4610-b08b-01225b4e61c9">
                <a:extLst>
                  <a:ext uri="{FF2B5EF4-FFF2-40B4-BE49-F238E27FC236}">
                    <a16:creationId xmlns:a16="http://schemas.microsoft.com/office/drawing/2014/main" id="{C995C0E4-B4E3-95D3-A3ED-B4E48B3958F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1931699"/>
                <a:ext cx="4797998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模型标杆</a:t>
                </a:r>
              </a:p>
            </p:txBody>
          </p:sp>
          <p:sp>
            <p:nvSpPr>
              <p:cNvPr id="85" name="Text5" descr="26688fca-39d4-4787-ba7d-595481feb0d0">
                <a:extLst>
                  <a:ext uri="{FF2B5EF4-FFF2-40B4-BE49-F238E27FC236}">
                    <a16:creationId xmlns:a16="http://schemas.microsoft.com/office/drawing/2014/main" id="{F7193E0B-C623-D24F-F8A3-8B8FBF791E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2404361"/>
                <a:ext cx="4797998" cy="539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latin typeface="Arial"/>
                  </a:rPr>
                  <a:t>GPT-5统一快速与深度推理，Claude Sonnet 4.5是代码与智能体新标杆。</a:t>
                </a:r>
              </a:p>
            </p:txBody>
          </p:sp>
        </p:grpSp>
        <p:grpSp>
          <p:nvGrpSpPr>
            <p:cNvPr id="71" name="组合 70" descr="c8fdf162-afb0-482a-9ce4-61735727773a">
              <a:extLst>
                <a:ext uri="{FF2B5EF4-FFF2-40B4-BE49-F238E27FC236}">
                  <a16:creationId xmlns:a16="http://schemas.microsoft.com/office/drawing/2014/main" id="{4945B0F9-6FCC-EA3F-BF85-6EC2F0EFD327}"/>
                </a:ext>
              </a:extLst>
            </p:cNvPr>
            <p:cNvGrpSpPr/>
            <p:nvPr/>
          </p:nvGrpSpPr>
          <p:grpSpPr>
            <a:xfrm>
              <a:off x="6223000" y="2881295"/>
              <a:ext cx="5295900" cy="1012222"/>
              <a:chOff x="885625" y="1931699"/>
              <a:chExt cx="5295900" cy="1012222"/>
            </a:xfrm>
          </p:grpSpPr>
          <p:sp>
            <p:nvSpPr>
              <p:cNvPr id="80" name="Number6" descr="c7439f41-c387-43ae-a4c7-03758b00e14b">
                <a:extLst>
                  <a:ext uri="{FF2B5EF4-FFF2-40B4-BE49-F238E27FC236}">
                    <a16:creationId xmlns:a16="http://schemas.microsoft.com/office/drawing/2014/main" id="{0CAAA8F6-A86C-5FF5-E4A6-CDB34BB280A1}"/>
                  </a:ext>
                </a:extLst>
              </p:cNvPr>
              <p:cNvSpPr/>
              <p:nvPr/>
            </p:nvSpPr>
            <p:spPr>
              <a:xfrm flipH="1">
                <a:off x="885625" y="1931699"/>
                <a:ext cx="472502" cy="472662"/>
              </a:xfrm>
              <a:prstGeom prst="ellipse">
                <a:avLst/>
              </a:prstGeom>
              <a:noFill/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 fontScale="92500" lnSpcReduction="10000"/>
              </a:bodyPr>
              <a:lstStyle/>
              <a:p>
                <a:pPr algn="ctr"/>
                <a:r>
                  <a:rPr lang="en-US" sz="1800" b="0" i="0" u="none">
                    <a:solidFill>
                      <a:srgbClr val="183881"/>
                    </a:solidFill>
                    <a:latin typeface="Arial"/>
                  </a:rPr>
                  <a:t>6</a:t>
                </a:r>
              </a:p>
            </p:txBody>
          </p:sp>
          <p:sp>
            <p:nvSpPr>
              <p:cNvPr id="81" name="Bullet6" descr="8c22ee41-cccc-4ae0-bfd8-97335aa3d0c3">
                <a:extLst>
                  <a:ext uri="{FF2B5EF4-FFF2-40B4-BE49-F238E27FC236}">
                    <a16:creationId xmlns:a16="http://schemas.microsoft.com/office/drawing/2014/main" id="{122E9C74-AA41-027A-90A9-C164979298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1931699"/>
                <a:ext cx="4797998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范式跃迁</a:t>
                </a:r>
              </a:p>
            </p:txBody>
          </p:sp>
          <p:sp>
            <p:nvSpPr>
              <p:cNvPr id="82" name="Text6" descr="88c89d59-0bcc-458e-96be-2a029f9a144c">
                <a:extLst>
                  <a:ext uri="{FF2B5EF4-FFF2-40B4-BE49-F238E27FC236}">
                    <a16:creationId xmlns:a16="http://schemas.microsoft.com/office/drawing/2014/main" id="{13FBF68A-ED34-2E9D-5E5B-67AA535FAB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2404361"/>
                <a:ext cx="4797998" cy="539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latin typeface="Arial"/>
                  </a:rPr>
                  <a:t>AI从“对话式Copilot”转向能自主规划、执行多步骤任务的智能体。</a:t>
                </a:r>
              </a:p>
            </p:txBody>
          </p:sp>
        </p:grpSp>
        <p:grpSp>
          <p:nvGrpSpPr>
            <p:cNvPr id="72" name="组合 71" descr="91c143a6-88c2-4810-be46-e652a09e7ddd">
              <a:extLst>
                <a:ext uri="{FF2B5EF4-FFF2-40B4-BE49-F238E27FC236}">
                  <a16:creationId xmlns:a16="http://schemas.microsoft.com/office/drawing/2014/main" id="{9A99BF8C-50E1-3A47-A0D2-E191BFA03163}"/>
                </a:ext>
              </a:extLst>
            </p:cNvPr>
            <p:cNvGrpSpPr/>
            <p:nvPr/>
          </p:nvGrpSpPr>
          <p:grpSpPr>
            <a:xfrm>
              <a:off x="6223000" y="4001587"/>
              <a:ext cx="5295900" cy="1012222"/>
              <a:chOff x="885625" y="1931699"/>
              <a:chExt cx="5295900" cy="1012222"/>
            </a:xfrm>
          </p:grpSpPr>
          <p:sp>
            <p:nvSpPr>
              <p:cNvPr id="77" name="Number7" descr="46f39445-1182-472a-a9d4-54861200dec2">
                <a:extLst>
                  <a:ext uri="{FF2B5EF4-FFF2-40B4-BE49-F238E27FC236}">
                    <a16:creationId xmlns:a16="http://schemas.microsoft.com/office/drawing/2014/main" id="{CFD97AB6-BE9A-3A48-697E-23E8F407A1D9}"/>
                  </a:ext>
                </a:extLst>
              </p:cNvPr>
              <p:cNvSpPr/>
              <p:nvPr/>
            </p:nvSpPr>
            <p:spPr>
              <a:xfrm flipH="1">
                <a:off x="885625" y="1931699"/>
                <a:ext cx="472502" cy="472662"/>
              </a:xfrm>
              <a:prstGeom prst="ellipse">
                <a:avLst/>
              </a:prstGeom>
              <a:noFill/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 fontScale="92500" lnSpcReduction="10000"/>
              </a:bodyPr>
              <a:lstStyle/>
              <a:p>
                <a:pPr algn="ctr"/>
                <a:r>
                  <a:rPr lang="en-US" sz="1800" b="0" i="0" u="none">
                    <a:solidFill>
                      <a:srgbClr val="183881"/>
                    </a:solidFill>
                    <a:latin typeface="Arial"/>
                  </a:rPr>
                  <a:t>7</a:t>
                </a:r>
              </a:p>
            </p:txBody>
          </p:sp>
          <p:sp>
            <p:nvSpPr>
              <p:cNvPr id="78" name="Bullet7" descr="cba84e03-ced7-4d9d-91ca-abf7d486fa0f">
                <a:extLst>
                  <a:ext uri="{FF2B5EF4-FFF2-40B4-BE49-F238E27FC236}">
                    <a16:creationId xmlns:a16="http://schemas.microsoft.com/office/drawing/2014/main" id="{4C29C89F-74EA-4F5C-9284-BC4D59873D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1931699"/>
                <a:ext cx="4797998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教学点睛</a:t>
                </a:r>
              </a:p>
            </p:txBody>
          </p:sp>
          <p:sp>
            <p:nvSpPr>
              <p:cNvPr id="79" name="Text7" descr="f3a9d168-ff0a-458f-9e7d-9c45d2c0c230">
                <a:extLst>
                  <a:ext uri="{FF2B5EF4-FFF2-40B4-BE49-F238E27FC236}">
                    <a16:creationId xmlns:a16="http://schemas.microsoft.com/office/drawing/2014/main" id="{A07C0611-353C-A0A7-1CFE-E11600F81E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2404361"/>
                <a:ext cx="4797998" cy="5395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设计的不是对话，而是数字员工的工作手册，核心是业务流程再造。</a:t>
                </a:r>
              </a:p>
            </p:txBody>
          </p:sp>
        </p:grpSp>
      </p:grpSp>
      <p:sp>
        <p:nvSpPr>
          <p:cNvPr id="2" name="标题 1" descr="4c5aba46-18aa-461b-b2ed-f943f6683fd5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000000"/>
                </a:solidFill>
                <a:latin typeface="微软雅黑"/>
              </a:rPr>
              <a:t>1. 认知觉醒：从“概率接龙”到“深度推理”与“流程再造”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720d478c-9421-4f0f-9cb9-00c560b38fe9.source.5.zh-Hans.pptx" descr="4c383d54-1e7a-4dda-b3c3-88615855868f">
            <a:extLst>
              <a:ext uri="{FF2B5EF4-FFF2-40B4-BE49-F238E27FC236}">
                <a16:creationId xmlns:a16="http://schemas.microsoft.com/office/drawing/2014/main" id="{851498D2-9CC5-93CD-E802-7895E4C06A4D}"/>
              </a:ext>
            </a:extLst>
          </p:cNvPr>
          <p:cNvGrpSpPr/>
          <p:nvPr/>
        </p:nvGrpSpPr>
        <p:grpSpPr>
          <a:xfrm>
            <a:off x="660400" y="1130301"/>
            <a:ext cx="10864850" cy="5003799"/>
            <a:chOff x="660400" y="1130301"/>
            <a:chExt cx="10864850" cy="5003799"/>
          </a:xfrm>
        </p:grpSpPr>
        <p:sp>
          <p:nvSpPr>
            <p:cNvPr id="49" name="Title" descr="13f7171c-0ec3-45ae-9c48-cc05a82d2ed6">
              <a:extLst>
                <a:ext uri="{FF2B5EF4-FFF2-40B4-BE49-F238E27FC236}">
                  <a16:creationId xmlns:a16="http://schemas.microsoft.com/office/drawing/2014/main" id="{05A49554-2067-6638-FB76-0A8D86FE7F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6750" y="1130301"/>
              <a:ext cx="10858500" cy="5460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l"/>
              <a:r>
                <a:rPr lang="en-US" sz="2400" b="1" i="0" u="none">
                  <a:solidFill>
                    <a:srgbClr val="000000"/>
                  </a:solidFill>
                  <a:ea typeface="微软雅黑"/>
                </a:rPr>
                <a:t>探索工具演进，连接多元化开放生态。</a:t>
              </a:r>
            </a:p>
          </p:txBody>
        </p:sp>
        <p:grpSp>
          <p:nvGrpSpPr>
            <p:cNvPr id="12" name="组合 11" descr="28144e79-44de-4e9e-927a-5e474b263724">
              <a:extLst>
                <a:ext uri="{FF2B5EF4-FFF2-40B4-BE49-F238E27FC236}">
                  <a16:creationId xmlns:a16="http://schemas.microsoft.com/office/drawing/2014/main" id="{D813DB48-F7D5-E9C6-CA44-F8BBE5029B09}"/>
                </a:ext>
              </a:extLst>
            </p:cNvPr>
            <p:cNvGrpSpPr/>
            <p:nvPr/>
          </p:nvGrpSpPr>
          <p:grpSpPr>
            <a:xfrm>
              <a:off x="660400" y="1715073"/>
              <a:ext cx="5381905" cy="1444384"/>
              <a:chOff x="1143981" y="1715073"/>
              <a:chExt cx="5381905" cy="1444384"/>
            </a:xfrm>
          </p:grpSpPr>
          <p:grpSp>
            <p:nvGrpSpPr>
              <p:cNvPr id="10" name="组合 9" descr="f75de6e0-3d84-43a2-be9e-68813bd344d0">
                <a:extLst>
                  <a:ext uri="{FF2B5EF4-FFF2-40B4-BE49-F238E27FC236}">
                    <a16:creationId xmlns:a16="http://schemas.microsoft.com/office/drawing/2014/main" id="{C459EE7B-4326-D533-E632-D5B23415F92B}"/>
                  </a:ext>
                </a:extLst>
              </p:cNvPr>
              <p:cNvGrpSpPr/>
              <p:nvPr/>
            </p:nvGrpSpPr>
            <p:grpSpPr>
              <a:xfrm>
                <a:off x="1362926" y="1715073"/>
                <a:ext cx="5162960" cy="1444384"/>
                <a:chOff x="660399" y="1715073"/>
                <a:chExt cx="5162960" cy="1444384"/>
              </a:xfrm>
            </p:grpSpPr>
            <p:sp>
              <p:nvSpPr>
                <p:cNvPr id="7" name="ComponentBackground1" descr="babc7173-8b5a-48d3-b3c6-512b9fca0702">
                  <a:extLst>
                    <a:ext uri="{FF2B5EF4-FFF2-40B4-BE49-F238E27FC236}">
                      <a16:creationId xmlns:a16="http://schemas.microsoft.com/office/drawing/2014/main" id="{7882982A-1AD4-2AB6-8322-9527941DFBD2}"/>
                    </a:ext>
                  </a:extLst>
                </p:cNvPr>
                <p:cNvSpPr/>
                <p:nvPr/>
              </p:nvSpPr>
              <p:spPr>
                <a:xfrm>
                  <a:off x="660399" y="1715073"/>
                  <a:ext cx="5162960" cy="1444384"/>
                </a:xfrm>
                <a:prstGeom prst="roundRect">
                  <a:avLst>
                    <a:gd name="adj" fmla="val 8000"/>
                  </a:avLst>
                </a:prstGeom>
                <a:solidFill>
                  <a:schemeClr val="tx1">
                    <a:alpha val="5000"/>
                  </a:schemeClr>
                </a:solidFill>
                <a:ln w="6350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/>
                </a:p>
              </p:txBody>
            </p:sp>
            <p:sp>
              <p:nvSpPr>
                <p:cNvPr id="8" name="Text1" descr="8e2a005f-1465-4010-ba58-d31bbb1e6b42">
                  <a:extLst>
                    <a:ext uri="{FF2B5EF4-FFF2-40B4-BE49-F238E27FC236}">
                      <a16:creationId xmlns:a16="http://schemas.microsoft.com/office/drawing/2014/main" id="{985E9402-F183-E97B-6A61-DF9AD885DF4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2195528"/>
                  <a:ext cx="4832341" cy="9567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20000"/>
                    </a:lnSpc>
                  </a:pPr>
                  <a:r>
                    <a:rPr lang="en-US" sz="1200" b="0" i="0" u="none">
                      <a:solidFill>
                        <a:srgbClr val="000000"/>
                      </a:solidFill>
                      <a:latin typeface="Arial"/>
                    </a:rPr>
                    <a:t>Cursor / Windsurf等AI原生IDE成新标准，具项目级重构能力。</a:t>
                  </a:r>
                </a:p>
              </p:txBody>
            </p:sp>
            <p:sp>
              <p:nvSpPr>
                <p:cNvPr id="9" name="Bullet1" descr="05672a49-9724-4fc1-94f8-ed410303e6a4">
                  <a:extLst>
                    <a:ext uri="{FF2B5EF4-FFF2-40B4-BE49-F238E27FC236}">
                      <a16:creationId xmlns:a16="http://schemas.microsoft.com/office/drawing/2014/main" id="{6E1D0C7F-D8D6-2FE7-0056-AC715B19D59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1753484"/>
                  <a:ext cx="4832349" cy="4420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</a:pPr>
                  <a:r>
                    <a:rPr lang="en-US" sz="1800" b="1" i="0" u="none">
                      <a:solidFill>
                        <a:srgbClr val="000000"/>
                      </a:solidFill>
                      <a:ea typeface="微软雅黑"/>
                    </a:rPr>
                    <a:t>工具演进</a:t>
                  </a:r>
                </a:p>
              </p:txBody>
            </p:sp>
          </p:grpSp>
          <p:sp>
            <p:nvSpPr>
              <p:cNvPr id="11" name="Number1" descr="c5f13142-47e3-47cf-b0f5-9066a0211893">
                <a:extLst>
                  <a:ext uri="{FF2B5EF4-FFF2-40B4-BE49-F238E27FC236}">
                    <a16:creationId xmlns:a16="http://schemas.microsoft.com/office/drawing/2014/main" id="{DF59F00C-3FD4-AB90-34C5-F849B14888A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43981" y="1753484"/>
                <a:ext cx="442045" cy="442045"/>
              </a:xfrm>
              <a:prstGeom prst="roundRect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wrap="none" rtlCol="0" anchor="ctr" anchorCtr="0">
                <a:normAutofit/>
              </a:bodyPr>
              <a:lstStyle/>
              <a:p>
                <a:pPr algn="ctr"/>
                <a:r>
                  <a:rPr lang="en-US" sz="1600" b="0" i="0" u="none">
                    <a:solidFill>
                      <a:srgbClr val="FFFFFF"/>
                    </a:solidFill>
                    <a:latin typeface="Arial"/>
                  </a:rPr>
                  <a:t>1</a:t>
                </a:r>
              </a:p>
            </p:txBody>
          </p:sp>
        </p:grpSp>
        <p:grpSp>
          <p:nvGrpSpPr>
            <p:cNvPr id="13" name="组合 12" descr="e535891c-71ce-4cad-9d01-f82093153187">
              <a:extLst>
                <a:ext uri="{FF2B5EF4-FFF2-40B4-BE49-F238E27FC236}">
                  <a16:creationId xmlns:a16="http://schemas.microsoft.com/office/drawing/2014/main" id="{4083E7CA-4F51-B7D4-5D19-449835404A46}"/>
                </a:ext>
              </a:extLst>
            </p:cNvPr>
            <p:cNvGrpSpPr/>
            <p:nvPr/>
          </p:nvGrpSpPr>
          <p:grpSpPr>
            <a:xfrm>
              <a:off x="660400" y="3202395"/>
              <a:ext cx="5381905" cy="1444384"/>
              <a:chOff x="1143981" y="1715073"/>
              <a:chExt cx="5381905" cy="1444384"/>
            </a:xfrm>
          </p:grpSpPr>
          <p:grpSp>
            <p:nvGrpSpPr>
              <p:cNvPr id="14" name="组合 13" descr="7bfba8c7-ced6-48f2-a88f-68de8d246244">
                <a:extLst>
                  <a:ext uri="{FF2B5EF4-FFF2-40B4-BE49-F238E27FC236}">
                    <a16:creationId xmlns:a16="http://schemas.microsoft.com/office/drawing/2014/main" id="{3A89A112-1FCE-C6DD-9901-E3E449308A0D}"/>
                  </a:ext>
                </a:extLst>
              </p:cNvPr>
              <p:cNvGrpSpPr/>
              <p:nvPr/>
            </p:nvGrpSpPr>
            <p:grpSpPr>
              <a:xfrm>
                <a:off x="1362926" y="1715073"/>
                <a:ext cx="5162960" cy="1444384"/>
                <a:chOff x="660399" y="1715073"/>
                <a:chExt cx="5162960" cy="1444384"/>
              </a:xfrm>
            </p:grpSpPr>
            <p:sp>
              <p:nvSpPr>
                <p:cNvPr id="16" name="ComponentBackground2" descr="3942ce90-811d-4920-8798-a8c92ae4bbed">
                  <a:extLst>
                    <a:ext uri="{FF2B5EF4-FFF2-40B4-BE49-F238E27FC236}">
                      <a16:creationId xmlns:a16="http://schemas.microsoft.com/office/drawing/2014/main" id="{05F38057-7EF3-D4D8-F8F8-B29B4BF207D3}"/>
                    </a:ext>
                  </a:extLst>
                </p:cNvPr>
                <p:cNvSpPr/>
                <p:nvPr/>
              </p:nvSpPr>
              <p:spPr>
                <a:xfrm>
                  <a:off x="660399" y="1715073"/>
                  <a:ext cx="5162960" cy="1444384"/>
                </a:xfrm>
                <a:prstGeom prst="roundRect">
                  <a:avLst>
                    <a:gd name="adj" fmla="val 8000"/>
                  </a:avLst>
                </a:prstGeom>
                <a:solidFill>
                  <a:schemeClr val="tx1">
                    <a:alpha val="5000"/>
                  </a:schemeClr>
                </a:solidFill>
                <a:ln w="6350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/>
                </a:p>
              </p:txBody>
            </p:sp>
            <p:sp>
              <p:nvSpPr>
                <p:cNvPr id="17" name="Text2" descr="a084d214-be83-47c1-b0dc-3b4fb39c4c70">
                  <a:extLst>
                    <a:ext uri="{FF2B5EF4-FFF2-40B4-BE49-F238E27FC236}">
                      <a16:creationId xmlns:a16="http://schemas.microsoft.com/office/drawing/2014/main" id="{FE4F97B4-0200-C9A3-C2E5-C94ED90C1BF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2195528"/>
                  <a:ext cx="4832341" cy="9567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20000"/>
                    </a:lnSpc>
                  </a:pPr>
                  <a:r>
                    <a:rPr lang="en-US" sz="1200" b="0" i="0" u="none">
                      <a:solidFill>
                        <a:srgbClr val="000000"/>
                      </a:solidFill>
                      <a:ea typeface="微软雅黑"/>
                    </a:rPr>
                    <a:t>生态从Hugging Face独大发展为多元开放阵营，国产算力解决“卡脖子”问题。</a:t>
                  </a:r>
                </a:p>
              </p:txBody>
            </p:sp>
            <p:sp>
              <p:nvSpPr>
                <p:cNvPr id="18" name="Bullet2" descr="0c24014c-6497-43d3-9550-889d3edef33f">
                  <a:extLst>
                    <a:ext uri="{FF2B5EF4-FFF2-40B4-BE49-F238E27FC236}">
                      <a16:creationId xmlns:a16="http://schemas.microsoft.com/office/drawing/2014/main" id="{D110E7B9-A1BB-842F-86F0-ED05B254850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1753484"/>
                  <a:ext cx="4832349" cy="4420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 fontScale="85000" lnSpcReduction="10000"/>
                </a:bodyPr>
                <a:lstStyle/>
                <a:p>
                  <a:pPr algn="l">
                    <a:lnSpc>
                      <a:spcPct val="120000"/>
                    </a:lnSpc>
                  </a:pPr>
                  <a:r>
                    <a:rPr lang="en-US" sz="1800" b="1" i="0" u="none">
                      <a:solidFill>
                        <a:srgbClr val="000000"/>
                      </a:solidFill>
                      <a:ea typeface="微软雅黑"/>
                    </a:rPr>
                    <a:t>连接澎湃的开放生态：国产算力与行业大模型崛起</a:t>
                  </a:r>
                </a:p>
              </p:txBody>
            </p:sp>
          </p:grpSp>
          <p:sp>
            <p:nvSpPr>
              <p:cNvPr id="15" name="Number2" descr="2534cf09-cf93-4074-a133-f31a8edf5bcd">
                <a:extLst>
                  <a:ext uri="{FF2B5EF4-FFF2-40B4-BE49-F238E27FC236}">
                    <a16:creationId xmlns:a16="http://schemas.microsoft.com/office/drawing/2014/main" id="{44027D22-CC39-D6CB-8260-0EAC647A8E0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43981" y="1753484"/>
                <a:ext cx="442045" cy="442045"/>
              </a:xfrm>
              <a:prstGeom prst="roundRect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wrap="none" rtlCol="0" anchor="ctr" anchorCtr="0">
                <a:normAutofit/>
              </a:bodyPr>
              <a:lstStyle/>
              <a:p>
                <a:pPr algn="ctr"/>
                <a:r>
                  <a:rPr lang="en-US" sz="1600" b="0" i="0" u="none">
                    <a:solidFill>
                      <a:srgbClr val="FFFFFF"/>
                    </a:solidFill>
                    <a:latin typeface="Arial"/>
                  </a:rPr>
                  <a:t>2</a:t>
                </a:r>
              </a:p>
            </p:txBody>
          </p:sp>
        </p:grpSp>
        <p:grpSp>
          <p:nvGrpSpPr>
            <p:cNvPr id="19" name="组合 18" descr="3311758c-72f2-4784-a8cd-d70fb58d93d8">
              <a:extLst>
                <a:ext uri="{FF2B5EF4-FFF2-40B4-BE49-F238E27FC236}">
                  <a16:creationId xmlns:a16="http://schemas.microsoft.com/office/drawing/2014/main" id="{468925FB-93A8-54AA-DCC7-D34AAAF94AAB}"/>
                </a:ext>
              </a:extLst>
            </p:cNvPr>
            <p:cNvGrpSpPr/>
            <p:nvPr/>
          </p:nvGrpSpPr>
          <p:grpSpPr>
            <a:xfrm>
              <a:off x="660400" y="4689716"/>
              <a:ext cx="5381905" cy="1444384"/>
              <a:chOff x="1143981" y="1715073"/>
              <a:chExt cx="5381905" cy="1444384"/>
            </a:xfrm>
          </p:grpSpPr>
          <p:grpSp>
            <p:nvGrpSpPr>
              <p:cNvPr id="20" name="组合 19" descr="532b0983-05eb-4178-a125-a8e88b8d5ee5">
                <a:extLst>
                  <a:ext uri="{FF2B5EF4-FFF2-40B4-BE49-F238E27FC236}">
                    <a16:creationId xmlns:a16="http://schemas.microsoft.com/office/drawing/2014/main" id="{8FD0878B-1505-3F1A-8538-1DCA5681F52E}"/>
                  </a:ext>
                </a:extLst>
              </p:cNvPr>
              <p:cNvGrpSpPr/>
              <p:nvPr/>
            </p:nvGrpSpPr>
            <p:grpSpPr>
              <a:xfrm>
                <a:off x="1362926" y="1715073"/>
                <a:ext cx="5162960" cy="1444384"/>
                <a:chOff x="660399" y="1715073"/>
                <a:chExt cx="5162960" cy="1444384"/>
              </a:xfrm>
            </p:grpSpPr>
            <p:sp>
              <p:nvSpPr>
                <p:cNvPr id="22" name="ComponentBackground3" descr="1ec91d1e-cc55-46e8-ae31-29acdb644083">
                  <a:extLst>
                    <a:ext uri="{FF2B5EF4-FFF2-40B4-BE49-F238E27FC236}">
                      <a16:creationId xmlns:a16="http://schemas.microsoft.com/office/drawing/2014/main" id="{6F24BB89-21F3-A411-0065-22040B020196}"/>
                    </a:ext>
                  </a:extLst>
                </p:cNvPr>
                <p:cNvSpPr/>
                <p:nvPr/>
              </p:nvSpPr>
              <p:spPr>
                <a:xfrm>
                  <a:off x="660399" y="1715073"/>
                  <a:ext cx="5162960" cy="1444384"/>
                </a:xfrm>
                <a:prstGeom prst="roundRect">
                  <a:avLst>
                    <a:gd name="adj" fmla="val 8000"/>
                  </a:avLst>
                </a:prstGeom>
                <a:solidFill>
                  <a:schemeClr val="tx1">
                    <a:alpha val="5000"/>
                  </a:schemeClr>
                </a:solidFill>
                <a:ln w="6350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/>
                </a:p>
              </p:txBody>
            </p:sp>
            <p:sp>
              <p:nvSpPr>
                <p:cNvPr id="23" name="Text3" descr="132ebb55-0019-495e-99f7-ba7c4319c59b">
                  <a:extLst>
                    <a:ext uri="{FF2B5EF4-FFF2-40B4-BE49-F238E27FC236}">
                      <a16:creationId xmlns:a16="http://schemas.microsoft.com/office/drawing/2014/main" id="{2D21C1DC-720E-68A9-3C8A-6F7ED7937A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2195528"/>
                  <a:ext cx="4832341" cy="9567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20000"/>
                    </a:lnSpc>
                  </a:pPr>
                  <a:r>
                    <a:rPr lang="en-US" sz="1200" b="0" i="0" u="none">
                      <a:solidFill>
                        <a:srgbClr val="000000"/>
                      </a:solidFill>
                      <a:ea typeface="微软雅黑"/>
                    </a:rPr>
                    <a:t>以华为昇腾、寒武纪为代表的国产开放计算架构，正通过软硬件协同优化发展。</a:t>
                  </a:r>
                </a:p>
              </p:txBody>
            </p:sp>
            <p:sp>
              <p:nvSpPr>
                <p:cNvPr id="25" name="Bullet3" descr="efb96689-ef6d-4193-83ed-dcfb8633234c">
                  <a:extLst>
                    <a:ext uri="{FF2B5EF4-FFF2-40B4-BE49-F238E27FC236}">
                      <a16:creationId xmlns:a16="http://schemas.microsoft.com/office/drawing/2014/main" id="{E1730A8B-6A55-5F72-DC31-4D897B4CC02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1753484"/>
                  <a:ext cx="4832349" cy="4420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</a:pPr>
                  <a:r>
                    <a:rPr lang="en-US" sz="1800" b="1" i="0" u="none">
                      <a:solidFill>
                        <a:srgbClr val="000000"/>
                      </a:solidFill>
                      <a:ea typeface="微软雅黑"/>
                    </a:rPr>
                    <a:t>生态现状</a:t>
                  </a:r>
                </a:p>
              </p:txBody>
            </p:sp>
          </p:grpSp>
          <p:sp>
            <p:nvSpPr>
              <p:cNvPr id="21" name="Number3" descr="87beba4a-fbca-4b2f-8481-1ca566a55852">
                <a:extLst>
                  <a:ext uri="{FF2B5EF4-FFF2-40B4-BE49-F238E27FC236}">
                    <a16:creationId xmlns:a16="http://schemas.microsoft.com/office/drawing/2014/main" id="{2CD8F8AE-6F76-14D0-2863-4113E4BCBA6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43981" y="1753484"/>
                <a:ext cx="442045" cy="442045"/>
              </a:xfrm>
              <a:prstGeom prst="roundRect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wrap="none" rtlCol="0" anchor="ctr" anchorCtr="0">
                <a:normAutofit/>
              </a:bodyPr>
              <a:lstStyle/>
              <a:p>
                <a:pPr algn="ctr"/>
                <a:r>
                  <a:rPr lang="en-US" sz="1600" b="0" i="0" u="none">
                    <a:solidFill>
                      <a:srgbClr val="FFFFFF"/>
                    </a:solidFill>
                    <a:latin typeface="Arial"/>
                  </a:rPr>
                  <a:t>3</a:t>
                </a:r>
              </a:p>
            </p:txBody>
          </p:sp>
        </p:grpSp>
        <p:grpSp>
          <p:nvGrpSpPr>
            <p:cNvPr id="33" name="组合 32" descr="b171e0be-ccd9-42ef-8d83-199625e02b6a">
              <a:extLst>
                <a:ext uri="{FF2B5EF4-FFF2-40B4-BE49-F238E27FC236}">
                  <a16:creationId xmlns:a16="http://schemas.microsoft.com/office/drawing/2014/main" id="{33076015-FA52-1EE4-9E2E-70B1660EE817}"/>
                </a:ext>
              </a:extLst>
            </p:cNvPr>
            <p:cNvGrpSpPr/>
            <p:nvPr/>
          </p:nvGrpSpPr>
          <p:grpSpPr>
            <a:xfrm>
              <a:off x="6136995" y="1715073"/>
              <a:ext cx="5381905" cy="1444384"/>
              <a:chOff x="1143981" y="1715073"/>
              <a:chExt cx="5381905" cy="1444384"/>
            </a:xfrm>
          </p:grpSpPr>
          <p:grpSp>
            <p:nvGrpSpPr>
              <p:cNvPr id="34" name="组合 33" descr="acaf4ca2-3c53-4cdf-b0fe-8c27e1bc5627">
                <a:extLst>
                  <a:ext uri="{FF2B5EF4-FFF2-40B4-BE49-F238E27FC236}">
                    <a16:creationId xmlns:a16="http://schemas.microsoft.com/office/drawing/2014/main" id="{9507B5DB-E216-B9A6-C9C5-20BBA8D2E2D3}"/>
                  </a:ext>
                </a:extLst>
              </p:cNvPr>
              <p:cNvGrpSpPr/>
              <p:nvPr/>
            </p:nvGrpSpPr>
            <p:grpSpPr>
              <a:xfrm>
                <a:off x="1362926" y="1715073"/>
                <a:ext cx="5162960" cy="1444384"/>
                <a:chOff x="660399" y="1715073"/>
                <a:chExt cx="5162960" cy="1444384"/>
              </a:xfrm>
            </p:grpSpPr>
            <p:sp>
              <p:nvSpPr>
                <p:cNvPr id="36" name="ComponentBackground4" descr="1f5379b2-6486-437a-b685-2874bc3ca4a5">
                  <a:extLst>
                    <a:ext uri="{FF2B5EF4-FFF2-40B4-BE49-F238E27FC236}">
                      <a16:creationId xmlns:a16="http://schemas.microsoft.com/office/drawing/2014/main" id="{28A81D57-C3E2-7B0D-7BA4-F54688F92119}"/>
                    </a:ext>
                  </a:extLst>
                </p:cNvPr>
                <p:cNvSpPr/>
                <p:nvPr/>
              </p:nvSpPr>
              <p:spPr>
                <a:xfrm>
                  <a:off x="660399" y="1715073"/>
                  <a:ext cx="5162960" cy="1444384"/>
                </a:xfrm>
                <a:prstGeom prst="roundRect">
                  <a:avLst>
                    <a:gd name="adj" fmla="val 8000"/>
                  </a:avLst>
                </a:prstGeom>
                <a:solidFill>
                  <a:schemeClr val="tx1">
                    <a:alpha val="5000"/>
                  </a:schemeClr>
                </a:solidFill>
                <a:ln w="6350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/>
                </a:p>
              </p:txBody>
            </p:sp>
            <p:sp>
              <p:nvSpPr>
                <p:cNvPr id="37" name="Text4" descr="a8403583-5ec8-4ecd-a016-43efbdf23166">
                  <a:extLst>
                    <a:ext uri="{FF2B5EF4-FFF2-40B4-BE49-F238E27FC236}">
                      <a16:creationId xmlns:a16="http://schemas.microsoft.com/office/drawing/2014/main" id="{4BFCB75C-E272-CB3B-CB63-A655396A404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2195528"/>
                  <a:ext cx="4832341" cy="9567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20000"/>
                    </a:lnSpc>
                  </a:pPr>
                  <a:r>
                    <a:rPr lang="en-US" sz="1200" b="0" i="0" u="none">
                      <a:solidFill>
                        <a:srgbClr val="000000"/>
                      </a:solidFill>
                      <a:ea typeface="微软雅黑"/>
                    </a:rPr>
                    <a:t>竞争焦点从通用模型转向“行业大模型”，需为垂直领域找或微调“专家模型”。</a:t>
                  </a:r>
                </a:p>
              </p:txBody>
            </p:sp>
            <p:sp>
              <p:nvSpPr>
                <p:cNvPr id="38" name="Bullet4" descr="a089cb76-ef74-4679-acce-d820ab160e55">
                  <a:extLst>
                    <a:ext uri="{FF2B5EF4-FFF2-40B4-BE49-F238E27FC236}">
                      <a16:creationId xmlns:a16="http://schemas.microsoft.com/office/drawing/2014/main" id="{A572C0E0-F7DE-B605-60F6-A0476FC3AD9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1753484"/>
                  <a:ext cx="4832349" cy="4420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</a:pPr>
                  <a:r>
                    <a:rPr lang="en-US" sz="1800" b="1" i="0" u="none">
                      <a:solidFill>
                        <a:srgbClr val="000000"/>
                      </a:solidFill>
                      <a:ea typeface="微软雅黑"/>
                    </a:rPr>
                    <a:t>核心价值</a:t>
                  </a:r>
                </a:p>
              </p:txBody>
            </p:sp>
          </p:grpSp>
          <p:sp>
            <p:nvSpPr>
              <p:cNvPr id="35" name="Number4" descr="46c1db65-09c9-4c5a-9f5a-ca130ccc3603">
                <a:extLst>
                  <a:ext uri="{FF2B5EF4-FFF2-40B4-BE49-F238E27FC236}">
                    <a16:creationId xmlns:a16="http://schemas.microsoft.com/office/drawing/2014/main" id="{58D96F91-2361-9359-1231-BFE7D17336F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43981" y="1753484"/>
                <a:ext cx="442045" cy="442045"/>
              </a:xfrm>
              <a:prstGeom prst="roundRect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wrap="none" rtlCol="0" anchor="ctr" anchorCtr="0">
                <a:normAutofit/>
              </a:bodyPr>
              <a:lstStyle/>
              <a:p>
                <a:pPr algn="ctr"/>
                <a:r>
                  <a:rPr lang="en-US" sz="1600" b="0" i="0" u="none">
                    <a:solidFill>
                      <a:srgbClr val="FFFFFF"/>
                    </a:solidFill>
                    <a:latin typeface="Arial"/>
                  </a:rPr>
                  <a:t>4</a:t>
                </a:r>
              </a:p>
            </p:txBody>
          </p:sp>
        </p:grpSp>
        <p:grpSp>
          <p:nvGrpSpPr>
            <p:cNvPr id="39" name="组合 38" descr="480e3185-9626-455d-8546-f27a4122c9e1">
              <a:extLst>
                <a:ext uri="{FF2B5EF4-FFF2-40B4-BE49-F238E27FC236}">
                  <a16:creationId xmlns:a16="http://schemas.microsoft.com/office/drawing/2014/main" id="{4F2E473F-D803-FC8E-1820-69BC3F1A40B8}"/>
                </a:ext>
              </a:extLst>
            </p:cNvPr>
            <p:cNvGrpSpPr/>
            <p:nvPr/>
          </p:nvGrpSpPr>
          <p:grpSpPr>
            <a:xfrm>
              <a:off x="6136995" y="3202395"/>
              <a:ext cx="5381905" cy="1444384"/>
              <a:chOff x="1143981" y="1715073"/>
              <a:chExt cx="5381905" cy="1444384"/>
            </a:xfrm>
          </p:grpSpPr>
          <p:grpSp>
            <p:nvGrpSpPr>
              <p:cNvPr id="40" name="组合 39" descr="efe4070a-803b-4fde-87f7-a93e514f20b4">
                <a:extLst>
                  <a:ext uri="{FF2B5EF4-FFF2-40B4-BE49-F238E27FC236}">
                    <a16:creationId xmlns:a16="http://schemas.microsoft.com/office/drawing/2014/main" id="{B451BB0A-26A8-4DAB-DE9F-EDE8F4CF87CC}"/>
                  </a:ext>
                </a:extLst>
              </p:cNvPr>
              <p:cNvGrpSpPr/>
              <p:nvPr/>
            </p:nvGrpSpPr>
            <p:grpSpPr>
              <a:xfrm>
                <a:off x="1362926" y="1715073"/>
                <a:ext cx="5162960" cy="1444384"/>
                <a:chOff x="660399" y="1715073"/>
                <a:chExt cx="5162960" cy="1444384"/>
              </a:xfrm>
            </p:grpSpPr>
            <p:sp>
              <p:nvSpPr>
                <p:cNvPr id="42" name="ComponentBackground5" descr="476086e3-240e-467b-bbae-6d0b6b5f2338">
                  <a:extLst>
                    <a:ext uri="{FF2B5EF4-FFF2-40B4-BE49-F238E27FC236}">
                      <a16:creationId xmlns:a16="http://schemas.microsoft.com/office/drawing/2014/main" id="{FC1C4D24-065E-47CD-6632-8C3334AAD22C}"/>
                    </a:ext>
                  </a:extLst>
                </p:cNvPr>
                <p:cNvSpPr/>
                <p:nvPr/>
              </p:nvSpPr>
              <p:spPr>
                <a:xfrm>
                  <a:off x="660399" y="1715073"/>
                  <a:ext cx="5162960" cy="1444384"/>
                </a:xfrm>
                <a:prstGeom prst="roundRect">
                  <a:avLst>
                    <a:gd name="adj" fmla="val 8000"/>
                  </a:avLst>
                </a:prstGeom>
                <a:solidFill>
                  <a:schemeClr val="tx1">
                    <a:alpha val="5000"/>
                  </a:schemeClr>
                </a:solidFill>
                <a:ln w="6350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/>
                </a:p>
              </p:txBody>
            </p:sp>
            <p:sp>
              <p:nvSpPr>
                <p:cNvPr id="43" name="Text5" descr="afdc9f40-df2b-47e7-851d-5b925317444c">
                  <a:extLst>
                    <a:ext uri="{FF2B5EF4-FFF2-40B4-BE49-F238E27FC236}">
                      <a16:creationId xmlns:a16="http://schemas.microsoft.com/office/drawing/2014/main" id="{54DDD388-CD87-D246-662E-061EEE2A596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2195528"/>
                  <a:ext cx="4832341" cy="9567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l">
                    <a:lnSpc>
                      <a:spcPct val="120000"/>
                    </a:lnSpc>
                  </a:pPr>
                  <a:r>
                    <a:rPr lang="en-US" sz="1200" b="0" i="0" u="none">
                      <a:solidFill>
                        <a:srgbClr val="000000"/>
                      </a:solidFill>
                      <a:ea typeface="微软雅黑"/>
                    </a:rPr>
                    <a:t>未来是“AI+产业”的深水区竞争，战场在车间、柜台和流水线。</a:t>
                  </a:r>
                </a:p>
              </p:txBody>
            </p:sp>
            <p:sp>
              <p:nvSpPr>
                <p:cNvPr id="44" name="Bullet5" descr="809fce52-9144-44d6-8c29-79d849c2a49f">
                  <a:extLst>
                    <a:ext uri="{FF2B5EF4-FFF2-40B4-BE49-F238E27FC236}">
                      <a16:creationId xmlns:a16="http://schemas.microsoft.com/office/drawing/2014/main" id="{05A38255-0F83-745D-943E-7084BBBDA91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942123" y="1753484"/>
                  <a:ext cx="4832349" cy="44204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</a:pPr>
                  <a:r>
                    <a:rPr lang="en-US" sz="1800" b="1" i="0" u="none">
                      <a:solidFill>
                        <a:srgbClr val="000000"/>
                      </a:solidFill>
                      <a:ea typeface="微软雅黑"/>
                    </a:rPr>
                    <a:t>激情桥接</a:t>
                  </a:r>
                </a:p>
              </p:txBody>
            </p:sp>
          </p:grpSp>
          <p:sp>
            <p:nvSpPr>
              <p:cNvPr id="41" name="Number5" descr="fe1abb37-cf11-4d0a-a0c3-e4022dbffe8d">
                <a:extLst>
                  <a:ext uri="{FF2B5EF4-FFF2-40B4-BE49-F238E27FC236}">
                    <a16:creationId xmlns:a16="http://schemas.microsoft.com/office/drawing/2014/main" id="{E3B8002F-6415-0FFF-D9F6-7D2D9C765A4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43981" y="1753484"/>
                <a:ext cx="442045" cy="442045"/>
              </a:xfrm>
              <a:prstGeom prst="roundRect">
                <a:avLst/>
              </a:prstGeom>
              <a:solidFill>
                <a:schemeClr val="accent1"/>
              </a:solidFill>
              <a:ln w="12700" cap="flat">
                <a:noFill/>
                <a:prstDash val="solid"/>
                <a:miter/>
              </a:ln>
            </p:spPr>
            <p:txBody>
              <a:bodyPr wrap="none" rtlCol="0" anchor="ctr" anchorCtr="0">
                <a:normAutofit/>
              </a:bodyPr>
              <a:lstStyle/>
              <a:p>
                <a:pPr algn="ctr"/>
                <a:r>
                  <a:rPr lang="en-US" sz="1600" b="0" i="0" u="none">
                    <a:solidFill>
                      <a:srgbClr val="FFFFFF"/>
                    </a:solidFill>
                    <a:latin typeface="Arial"/>
                  </a:rPr>
                  <a:t>5</a:t>
                </a:r>
              </a:p>
            </p:txBody>
          </p:sp>
        </p:grpSp>
      </p:grpSp>
      <p:sp>
        <p:nvSpPr>
          <p:cNvPr id="2" name="标题 1" descr="4c5aba46-18aa-461b-b2ed-f943f6683fd5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000000"/>
                </a:solidFill>
                <a:latin typeface="微软雅黑"/>
              </a:rPr>
              <a:t>2. 深度拆解：从Copilot到AI原生IDE与开放生态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f3a6d23e-f17e-4b19-9ad2-04b4a318ed61.source.6.zh-Hans.pptx" descr="783744cd-b678-44d5-95c0-d31bdb05f865">
            <a:extLst>
              <a:ext uri="{FF2B5EF4-FFF2-40B4-BE49-F238E27FC236}">
                <a16:creationId xmlns:a16="http://schemas.microsoft.com/office/drawing/2014/main" id="{CCAC7A3E-044D-A97F-CC32-E2497FFABEDB}"/>
              </a:ext>
            </a:extLst>
          </p:cNvPr>
          <p:cNvGrpSpPr/>
          <p:nvPr/>
        </p:nvGrpSpPr>
        <p:grpSpPr>
          <a:xfrm>
            <a:off x="0" y="1130301"/>
            <a:ext cx="12192000" cy="5727699"/>
            <a:chOff x="0" y="1130301"/>
            <a:chExt cx="12192000" cy="5727699"/>
          </a:xfrm>
        </p:grpSpPr>
        <p:sp>
          <p:nvSpPr>
            <p:cNvPr id="5" name="PictureMisc1" descr="4a700599-816f-4d25-9121-8bbd5c262ef4">
              <a:extLst>
                <a:ext uri="{FF2B5EF4-FFF2-40B4-BE49-F238E27FC236}">
                  <a16:creationId xmlns:a16="http://schemas.microsoft.com/office/drawing/2014/main" id="{2531F0F9-2C6B-8278-F6BF-7E8FA4C6D7C5}"/>
                </a:ext>
              </a:extLst>
            </p:cNvPr>
            <p:cNvSpPr>
              <a:spLocks/>
            </p:cNvSpPr>
            <p:nvPr/>
          </p:nvSpPr>
          <p:spPr>
            <a:xfrm>
              <a:off x="0" y="5562667"/>
              <a:ext cx="12192000" cy="1295333"/>
            </a:xfrm>
            <a:prstGeom prst="rect">
              <a:avLst/>
            </a:prstGeom>
            <a:blipFill rotWithShape="1">
              <a:blip r:embed="rId2"/>
              <a:srcRect/>
              <a:stretch>
                <a:fillRect t="-8697" b="-418803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/>
            </a:p>
          </p:txBody>
        </p:sp>
        <p:sp>
          <p:nvSpPr>
            <p:cNvPr id="6" name="c" descr="9b6a9ed4-0aab-4204-8637-330dedeada97">
              <a:extLst>
                <a:ext uri="{FF2B5EF4-FFF2-40B4-BE49-F238E27FC236}">
                  <a16:creationId xmlns:a16="http://schemas.microsoft.com/office/drawing/2014/main" id="{594EDFB9-E3EB-E56C-E658-93361AFB7ED6}"/>
                </a:ext>
              </a:extLst>
            </p:cNvPr>
            <p:cNvSpPr/>
            <p:nvPr/>
          </p:nvSpPr>
          <p:spPr>
            <a:xfrm>
              <a:off x="660399" y="1777184"/>
              <a:ext cx="10858500" cy="4356916"/>
            </a:xfrm>
            <a:prstGeom prst="roundRect">
              <a:avLst>
                <a:gd name="adj" fmla="val 3015"/>
              </a:avLst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alpha val="90000"/>
                  </a:schemeClr>
                </a:gs>
              </a:gsLst>
              <a:lin ang="5400000" scaled="1"/>
              <a:tileRect/>
            </a:gradFill>
            <a:ln w="6350">
              <a:gradFill flip="none" rotWithShape="1">
                <a:gsLst>
                  <a:gs pos="0">
                    <a:schemeClr val="tx1">
                      <a:alpha val="50000"/>
                    </a:schemeClr>
                  </a:gs>
                  <a:gs pos="100000">
                    <a:schemeClr val="tx1">
                      <a:alpha val="0"/>
                    </a:schemeClr>
                  </a:gs>
                </a:gsLst>
                <a:lin ang="5400000" scaled="1"/>
                <a:tileRect/>
              </a:gra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anchor="ctr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endParaRPr/>
            </a:p>
          </p:txBody>
        </p:sp>
        <p:sp>
          <p:nvSpPr>
            <p:cNvPr id="7" name="Title" descr="ef9c3234-398a-4868-b11d-7d78c45b0c9e">
              <a:extLst>
                <a:ext uri="{FF2B5EF4-FFF2-40B4-BE49-F238E27FC236}">
                  <a16:creationId xmlns:a16="http://schemas.microsoft.com/office/drawing/2014/main" id="{2E76E27F-E735-7110-5A5A-4DDFF7C38FA8}"/>
                </a:ext>
              </a:extLst>
            </p:cNvPr>
            <p:cNvSpPr>
              <a:spLocks/>
            </p:cNvSpPr>
            <p:nvPr/>
          </p:nvSpPr>
          <p:spPr>
            <a:xfrm>
              <a:off x="660399" y="1130301"/>
              <a:ext cx="10858500" cy="586098"/>
            </a:xfrm>
            <a:prstGeom prst="rect">
              <a:avLst/>
            </a:prstGeom>
            <a:noFill/>
            <a:ln w="7620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 anchorCtr="0">
              <a:normAutofit/>
            </a:bodyPr>
            <a:lstStyle/>
            <a:p>
              <a:pPr algn="l"/>
              <a:r>
                <a:rPr lang="en-US" sz="2400" b="1" i="0" u="none">
                  <a:solidFill>
                    <a:srgbClr val="000000"/>
                  </a:solidFill>
                  <a:ea typeface="微软雅黑"/>
                </a:rPr>
                <a:t>掌握智能体设计心法与风险管控策略。</a:t>
              </a:r>
            </a:p>
          </p:txBody>
        </p:sp>
        <p:grpSp>
          <p:nvGrpSpPr>
            <p:cNvPr id="59" name="组合 58" descr="85ba9172-2512-4943-9327-f9d95f289a77">
              <a:extLst>
                <a:ext uri="{FF2B5EF4-FFF2-40B4-BE49-F238E27FC236}">
                  <a16:creationId xmlns:a16="http://schemas.microsoft.com/office/drawing/2014/main" id="{EC1679B4-D5E9-8219-C9F2-6B5536AC59DC}"/>
                </a:ext>
              </a:extLst>
            </p:cNvPr>
            <p:cNvGrpSpPr/>
            <p:nvPr/>
          </p:nvGrpSpPr>
          <p:grpSpPr>
            <a:xfrm>
              <a:off x="885625" y="1931699"/>
              <a:ext cx="5048247" cy="1200320"/>
              <a:chOff x="885625" y="1931699"/>
              <a:chExt cx="5048247" cy="1200320"/>
            </a:xfrm>
          </p:grpSpPr>
          <p:sp>
            <p:nvSpPr>
              <p:cNvPr id="55" name="Number1" descr="477ac3cf-3958-476b-a5ed-6bb770294405">
                <a:extLst>
                  <a:ext uri="{FF2B5EF4-FFF2-40B4-BE49-F238E27FC236}">
                    <a16:creationId xmlns:a16="http://schemas.microsoft.com/office/drawing/2014/main" id="{CC02D46C-3508-A6C7-49A8-150601A79EDB}"/>
                  </a:ext>
                </a:extLst>
              </p:cNvPr>
              <p:cNvSpPr/>
              <p:nvPr/>
            </p:nvSpPr>
            <p:spPr>
              <a:xfrm flipH="1">
                <a:off x="885625" y="1931699"/>
                <a:ext cx="472502" cy="472662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1</a:t>
                </a:r>
              </a:p>
            </p:txBody>
          </p:sp>
          <p:sp>
            <p:nvSpPr>
              <p:cNvPr id="56" name="Bullet1" descr="8d698a0d-3a32-4338-ac83-c9854958e65f">
                <a:extLst>
                  <a:ext uri="{FF2B5EF4-FFF2-40B4-BE49-F238E27FC236}">
                    <a16:creationId xmlns:a16="http://schemas.microsoft.com/office/drawing/2014/main" id="{8C1B4123-CA45-E846-E5B9-4596EF91257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1931699"/>
                <a:ext cx="4550345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心法基石：把AI当“数字同事”</a:t>
                </a:r>
              </a:p>
            </p:txBody>
          </p:sp>
          <p:sp>
            <p:nvSpPr>
              <p:cNvPr id="57" name="Text1" descr="76b201f2-1a22-48d1-8e9a-9369db58e9eb">
                <a:extLst>
                  <a:ext uri="{FF2B5EF4-FFF2-40B4-BE49-F238E27FC236}">
                    <a16:creationId xmlns:a16="http://schemas.microsoft.com/office/drawing/2014/main" id="{342C6C41-0A48-07DB-68B2-65455E7E257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2404362"/>
                <a:ext cx="4550345" cy="7276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明确AI职责边界、建立沟通协议和设计验收标准。</a:t>
                </a:r>
              </a:p>
            </p:txBody>
          </p:sp>
        </p:grpSp>
        <p:grpSp>
          <p:nvGrpSpPr>
            <p:cNvPr id="60" name="组合 59" descr="4d0eba94-bdea-40d3-b0ec-9dca0eabab24">
              <a:extLst>
                <a:ext uri="{FF2B5EF4-FFF2-40B4-BE49-F238E27FC236}">
                  <a16:creationId xmlns:a16="http://schemas.microsoft.com/office/drawing/2014/main" id="{68A23AF9-1820-D696-88FF-2E77F4FC64D1}"/>
                </a:ext>
              </a:extLst>
            </p:cNvPr>
            <p:cNvGrpSpPr/>
            <p:nvPr/>
          </p:nvGrpSpPr>
          <p:grpSpPr>
            <a:xfrm>
              <a:off x="885625" y="3378915"/>
              <a:ext cx="5048247" cy="1200320"/>
              <a:chOff x="885625" y="3378915"/>
              <a:chExt cx="5048247" cy="1200320"/>
            </a:xfrm>
          </p:grpSpPr>
          <p:sp>
            <p:nvSpPr>
              <p:cNvPr id="52" name="Number2" descr="9bc85eb8-2cb5-4d27-8f4f-3067c69efcc2">
                <a:extLst>
                  <a:ext uri="{FF2B5EF4-FFF2-40B4-BE49-F238E27FC236}">
                    <a16:creationId xmlns:a16="http://schemas.microsoft.com/office/drawing/2014/main" id="{BD87FA20-24B7-8D37-1C1E-12E4AA42FAE6}"/>
                  </a:ext>
                </a:extLst>
              </p:cNvPr>
              <p:cNvSpPr/>
              <p:nvPr/>
            </p:nvSpPr>
            <p:spPr>
              <a:xfrm flipH="1">
                <a:off x="885625" y="3378915"/>
                <a:ext cx="472502" cy="472662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2</a:t>
                </a:r>
              </a:p>
            </p:txBody>
          </p:sp>
          <p:sp>
            <p:nvSpPr>
              <p:cNvPr id="53" name="Bullet2" descr="434fe892-e648-45a8-a7ca-f7ae9505dbcb">
                <a:extLst>
                  <a:ext uri="{FF2B5EF4-FFF2-40B4-BE49-F238E27FC236}">
                    <a16:creationId xmlns:a16="http://schemas.microsoft.com/office/drawing/2014/main" id="{160220C2-3979-A643-BE10-FEAD164218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3378915"/>
                <a:ext cx="4550345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智能体设计核心：规划、工具与反思</a:t>
                </a:r>
              </a:p>
            </p:txBody>
          </p:sp>
          <p:sp>
            <p:nvSpPr>
              <p:cNvPr id="54" name="Text2" descr="9bd161eb-c0ca-4b60-9dd9-72c209d15e6b">
                <a:extLst>
                  <a:ext uri="{FF2B5EF4-FFF2-40B4-BE49-F238E27FC236}">
                    <a16:creationId xmlns:a16="http://schemas.microsoft.com/office/drawing/2014/main" id="{D1B202D4-BC35-5F72-A181-847F850050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3851578"/>
                <a:ext cx="4550345" cy="7276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用思维树、图推理等框架规划，调用工具并具备反思修正能力。</a:t>
                </a:r>
              </a:p>
            </p:txBody>
          </p:sp>
        </p:grpSp>
        <p:grpSp>
          <p:nvGrpSpPr>
            <p:cNvPr id="61" name="组合 60" descr="8ba4218e-5aeb-4b88-91c3-4481cb8f02a3">
              <a:extLst>
                <a:ext uri="{FF2B5EF4-FFF2-40B4-BE49-F238E27FC236}">
                  <a16:creationId xmlns:a16="http://schemas.microsoft.com/office/drawing/2014/main" id="{65947889-81DD-2D66-DD8C-7A17F6DED339}"/>
                </a:ext>
              </a:extLst>
            </p:cNvPr>
            <p:cNvGrpSpPr/>
            <p:nvPr/>
          </p:nvGrpSpPr>
          <p:grpSpPr>
            <a:xfrm>
              <a:off x="885625" y="4826130"/>
              <a:ext cx="5048247" cy="1200320"/>
              <a:chOff x="885625" y="4826130"/>
              <a:chExt cx="5048247" cy="1200320"/>
            </a:xfrm>
          </p:grpSpPr>
          <p:sp>
            <p:nvSpPr>
              <p:cNvPr id="49" name="Number3" descr="63b068da-454c-4803-8528-3a8e517bcad1">
                <a:extLst>
                  <a:ext uri="{FF2B5EF4-FFF2-40B4-BE49-F238E27FC236}">
                    <a16:creationId xmlns:a16="http://schemas.microsoft.com/office/drawing/2014/main" id="{5EC1ACF6-839C-2846-D4D1-B76887D2E978}"/>
                  </a:ext>
                </a:extLst>
              </p:cNvPr>
              <p:cNvSpPr/>
              <p:nvPr/>
            </p:nvSpPr>
            <p:spPr>
              <a:xfrm flipH="1">
                <a:off x="885625" y="4826130"/>
                <a:ext cx="472502" cy="472662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3</a:t>
                </a:r>
              </a:p>
            </p:txBody>
          </p:sp>
          <p:sp>
            <p:nvSpPr>
              <p:cNvPr id="50" name="Bullet3" descr="0780d5bf-bac0-4957-a603-133083f19c9b">
                <a:extLst>
                  <a:ext uri="{FF2B5EF4-FFF2-40B4-BE49-F238E27FC236}">
                    <a16:creationId xmlns:a16="http://schemas.microsoft.com/office/drawing/2014/main" id="{E3FB935E-1A0A-8A5F-9ABA-B86EB39DFD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4826130"/>
                <a:ext cx="4550345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规划能力</a:t>
                </a:r>
              </a:p>
            </p:txBody>
          </p:sp>
          <p:sp>
            <p:nvSpPr>
              <p:cNvPr id="51" name="Text3" descr="9758f2b5-e4ce-47e2-93a1-64170e9c35a9">
                <a:extLst>
                  <a:ext uri="{FF2B5EF4-FFF2-40B4-BE49-F238E27FC236}">
                    <a16:creationId xmlns:a16="http://schemas.microsoft.com/office/drawing/2014/main" id="{97F74569-F6F7-CDE9-5426-178D6A121C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83527" y="5298793"/>
                <a:ext cx="4550345" cy="7276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使用思维树（ToT）、图推理（Graph of Thoughts）等框架拆解任务。</a:t>
                </a:r>
              </a:p>
            </p:txBody>
          </p:sp>
        </p:grpSp>
        <p:grpSp>
          <p:nvGrpSpPr>
            <p:cNvPr id="62" name="组合 61" descr="d41317aa-68e6-41cf-b10c-40a32e49784c">
              <a:extLst>
                <a:ext uri="{FF2B5EF4-FFF2-40B4-BE49-F238E27FC236}">
                  <a16:creationId xmlns:a16="http://schemas.microsoft.com/office/drawing/2014/main" id="{E0632027-B98D-EBF3-10E8-0B189CFC27FD}"/>
                </a:ext>
              </a:extLst>
            </p:cNvPr>
            <p:cNvGrpSpPr/>
            <p:nvPr/>
          </p:nvGrpSpPr>
          <p:grpSpPr>
            <a:xfrm>
              <a:off x="6026873" y="1931699"/>
              <a:ext cx="5048247" cy="1200319"/>
              <a:chOff x="6026873" y="1931699"/>
              <a:chExt cx="5048247" cy="1200319"/>
            </a:xfrm>
          </p:grpSpPr>
          <p:sp>
            <p:nvSpPr>
              <p:cNvPr id="43" name="Number4" descr="d4c1c2fd-cc32-4170-b52a-bfa1af31bfba">
                <a:extLst>
                  <a:ext uri="{FF2B5EF4-FFF2-40B4-BE49-F238E27FC236}">
                    <a16:creationId xmlns:a16="http://schemas.microsoft.com/office/drawing/2014/main" id="{A491310F-BAF1-BA52-1167-864C69739E51}"/>
                  </a:ext>
                </a:extLst>
              </p:cNvPr>
              <p:cNvSpPr/>
              <p:nvPr/>
            </p:nvSpPr>
            <p:spPr>
              <a:xfrm flipH="1">
                <a:off x="6026873" y="1931699"/>
                <a:ext cx="472502" cy="472662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4</a:t>
                </a:r>
              </a:p>
            </p:txBody>
          </p:sp>
          <p:sp>
            <p:nvSpPr>
              <p:cNvPr id="44" name="Bullet4" descr="cddf87df-fdce-4dc5-aaf2-9bdbdc411c13">
                <a:extLst>
                  <a:ext uri="{FF2B5EF4-FFF2-40B4-BE49-F238E27FC236}">
                    <a16:creationId xmlns:a16="http://schemas.microsoft.com/office/drawing/2014/main" id="{D9754572-FCD1-7FB1-AC61-9F8D14F4EB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4775" y="1931699"/>
                <a:ext cx="4550345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工具使用</a:t>
                </a:r>
              </a:p>
            </p:txBody>
          </p:sp>
          <p:sp>
            <p:nvSpPr>
              <p:cNvPr id="45" name="Text4" descr="3e1110dc-25f1-4742-81cf-c5b0581bf041">
                <a:extLst>
                  <a:ext uri="{FF2B5EF4-FFF2-40B4-BE49-F238E27FC236}">
                    <a16:creationId xmlns:a16="http://schemas.microsoft.com/office/drawing/2014/main" id="{63BF07DC-0D5A-152F-A680-B6ECAEC61A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4775" y="2404361"/>
                <a:ext cx="4550345" cy="7276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latin typeface="Arial"/>
                  </a:rPr>
                  <a:t>DeepSeek-V3.1、Claude Sonnet 4.5强化工具调用，可连接API、数据库。</a:t>
                </a:r>
              </a:p>
            </p:txBody>
          </p:sp>
        </p:grpSp>
        <p:grpSp>
          <p:nvGrpSpPr>
            <p:cNvPr id="63" name="组合 62" descr="3fa74e35-a931-4650-99d0-ea53736bd15c">
              <a:extLst>
                <a:ext uri="{FF2B5EF4-FFF2-40B4-BE49-F238E27FC236}">
                  <a16:creationId xmlns:a16="http://schemas.microsoft.com/office/drawing/2014/main" id="{439BEAD6-E595-65EB-049A-B89894FE81B4}"/>
                </a:ext>
              </a:extLst>
            </p:cNvPr>
            <p:cNvGrpSpPr/>
            <p:nvPr/>
          </p:nvGrpSpPr>
          <p:grpSpPr>
            <a:xfrm>
              <a:off x="6026873" y="3378915"/>
              <a:ext cx="5048247" cy="1200319"/>
              <a:chOff x="6026873" y="3378915"/>
              <a:chExt cx="5048247" cy="1200319"/>
            </a:xfrm>
          </p:grpSpPr>
          <p:sp>
            <p:nvSpPr>
              <p:cNvPr id="39" name="Number5" descr="8d356bb5-74f9-4aa4-9f73-055ce105d544">
                <a:extLst>
                  <a:ext uri="{FF2B5EF4-FFF2-40B4-BE49-F238E27FC236}">
                    <a16:creationId xmlns:a16="http://schemas.microsoft.com/office/drawing/2014/main" id="{DD9C5162-5F04-26ED-978C-ADFCF8159DF1}"/>
                  </a:ext>
                </a:extLst>
              </p:cNvPr>
              <p:cNvSpPr/>
              <p:nvPr/>
            </p:nvSpPr>
            <p:spPr>
              <a:xfrm flipH="1">
                <a:off x="6026873" y="3378915"/>
                <a:ext cx="472502" cy="472662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5</a:t>
                </a:r>
              </a:p>
            </p:txBody>
          </p:sp>
          <p:sp>
            <p:nvSpPr>
              <p:cNvPr id="40" name="Bullet5" descr="5da68bd3-e34b-4f38-b05e-afda12574fee">
                <a:extLst>
                  <a:ext uri="{FF2B5EF4-FFF2-40B4-BE49-F238E27FC236}">
                    <a16:creationId xmlns:a16="http://schemas.microsoft.com/office/drawing/2014/main" id="{410CC4D7-611B-858E-07F1-D823CFBA92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4775" y="3378915"/>
                <a:ext cx="4550345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反思与修正</a:t>
                </a:r>
              </a:p>
            </p:txBody>
          </p:sp>
          <p:sp>
            <p:nvSpPr>
              <p:cNvPr id="42" name="Text5" descr="7ffefa51-01a9-40f1-ba7f-d51bd9b72722">
                <a:extLst>
                  <a:ext uri="{FF2B5EF4-FFF2-40B4-BE49-F238E27FC236}">
                    <a16:creationId xmlns:a16="http://schemas.microsoft.com/office/drawing/2014/main" id="{5C284D09-A534-7019-38F6-A08D7C9B959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4775" y="3851577"/>
                <a:ext cx="4550345" cy="7276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让智能体具备自我验证和循环改进能力，实现稳定交付。</a:t>
                </a:r>
              </a:p>
            </p:txBody>
          </p:sp>
        </p:grpSp>
        <p:grpSp>
          <p:nvGrpSpPr>
            <p:cNvPr id="64" name="组合 63" descr="08838581-3e12-4062-9aaf-9aad72b03f73">
              <a:extLst>
                <a:ext uri="{FF2B5EF4-FFF2-40B4-BE49-F238E27FC236}">
                  <a16:creationId xmlns:a16="http://schemas.microsoft.com/office/drawing/2014/main" id="{D1C36C53-F114-73AC-72FF-BF43C1E3D31F}"/>
                </a:ext>
              </a:extLst>
            </p:cNvPr>
            <p:cNvGrpSpPr/>
            <p:nvPr/>
          </p:nvGrpSpPr>
          <p:grpSpPr>
            <a:xfrm>
              <a:off x="6026873" y="4826131"/>
              <a:ext cx="5048247" cy="1200319"/>
              <a:chOff x="6026873" y="4826131"/>
              <a:chExt cx="5048247" cy="1200319"/>
            </a:xfrm>
          </p:grpSpPr>
          <p:sp>
            <p:nvSpPr>
              <p:cNvPr id="27" name="Number6" descr="4bfee371-a7b9-49f9-b86d-13c6cc7e2d6b">
                <a:extLst>
                  <a:ext uri="{FF2B5EF4-FFF2-40B4-BE49-F238E27FC236}">
                    <a16:creationId xmlns:a16="http://schemas.microsoft.com/office/drawing/2014/main" id="{50EB4E7A-3499-276E-2EA3-9053B782DCD8}"/>
                  </a:ext>
                </a:extLst>
              </p:cNvPr>
              <p:cNvSpPr/>
              <p:nvPr/>
            </p:nvSpPr>
            <p:spPr>
              <a:xfrm flipH="1">
                <a:off x="6026873" y="4826131"/>
                <a:ext cx="472502" cy="472662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6</a:t>
                </a:r>
              </a:p>
            </p:txBody>
          </p:sp>
          <p:sp>
            <p:nvSpPr>
              <p:cNvPr id="28" name="Bullet6" descr="598625df-78af-4aa8-a391-e69f92b544a1">
                <a:extLst>
                  <a:ext uri="{FF2B5EF4-FFF2-40B4-BE49-F238E27FC236}">
                    <a16:creationId xmlns:a16="http://schemas.microsoft.com/office/drawing/2014/main" id="{6FF9E046-F685-65D8-CE84-E1D88A786C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4775" y="4826131"/>
                <a:ext cx="4550345" cy="4726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风险管控案例（2026版）</a:t>
                </a:r>
              </a:p>
            </p:txBody>
          </p:sp>
          <p:sp>
            <p:nvSpPr>
              <p:cNvPr id="29" name="Text6" descr="bf6746ed-a5a1-4821-a94b-6dbaf3d5a918">
                <a:extLst>
                  <a:ext uri="{FF2B5EF4-FFF2-40B4-BE49-F238E27FC236}">
                    <a16:creationId xmlns:a16="http://schemas.microsoft.com/office/drawing/2014/main" id="{73925D66-CF47-521D-687E-FDD619CE55E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4775" y="5298793"/>
                <a:ext cx="4550345" cy="7276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设计供应链风险预警智能体，设置自动复核机制。</a:t>
                </a:r>
              </a:p>
            </p:txBody>
          </p:sp>
        </p:grpSp>
      </p:grpSp>
      <p:sp>
        <p:nvSpPr>
          <p:cNvPr id="2" name="标题 1" descr="4c5aba46-18aa-461b-b2ed-f943f6683fd5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000000"/>
                </a:solidFill>
                <a:latin typeface="微软雅黑"/>
              </a:rPr>
              <a:t>3. 心法与工程：面向智能体时代的协作哲学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b153fc64-aaed-42e3-a751-5026fcc096bb"/>
          <p:cNvSpPr>
            <a:spLocks noGrp="1"/>
          </p:cNvSpPr>
          <p:nvPr>
            <p:ph type="title" hasCustomPrompt="1"/>
          </p:nvPr>
        </p:nvSpPr>
        <p:spPr/>
        <p:txBody>
          <a:bodyPr anchorCtr="0">
            <a:normAutofit fontScale="90000"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n-US" sz="3600" b="1" i="0" u="none">
                <a:solidFill>
                  <a:srgbClr val="000000"/>
                </a:solidFill>
                <a:ea typeface="微软雅黑"/>
              </a:rPr>
              <a:t>第二讲：系统进化——构建千倍增效的AI原生工作流与产业赋能系统</a:t>
            </a:r>
          </a:p>
        </p:txBody>
      </p:sp>
      <p:sp>
        <p:nvSpPr>
          <p:cNvPr id="3" name="文本占位符 2" descr="1d04c7c0-e0b8-4f6d-be0a-2320a6b99806"/>
          <p:cNvSpPr>
            <a:spLocks noGrp="1"/>
          </p:cNvSpPr>
          <p:nvPr>
            <p:ph type="body" idx="1" hasCustomPrompt="1"/>
          </p:nvPr>
        </p:nvSpPr>
        <p:spPr/>
        <p:txBody>
          <a:bodyPr anchorCtr="0"/>
          <a:lstStyle/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en-US" sz="1600" b="0" i="0" u="none">
                <a:solidFill>
                  <a:srgbClr val="000000"/>
                </a:solidFill>
                <a:ea typeface="微软雅黑"/>
              </a:rPr>
              <a:t>构建“智能体即流程”、“开放生态+行业知识”的下一代企业级系统。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7" name="dc82692f-91f5-4831-a203-992714e93b4c.source.6.zh-Hans.pptx" descr="aeefaf17-1793-4f18-b208-ee217a8d3bd2">
            <a:extLst>
              <a:ext uri="{FF2B5EF4-FFF2-40B4-BE49-F238E27FC236}">
                <a16:creationId xmlns:a16="http://schemas.microsoft.com/office/drawing/2014/main" id="{681FEEDC-A9D9-EDAE-0294-56AE6E1BC649}"/>
              </a:ext>
            </a:extLst>
          </p:cNvPr>
          <p:cNvGrpSpPr/>
          <p:nvPr/>
        </p:nvGrpSpPr>
        <p:grpSpPr>
          <a:xfrm>
            <a:off x="406280" y="0"/>
            <a:ext cx="11112620" cy="6857999"/>
            <a:chOff x="406280" y="0"/>
            <a:chExt cx="11112620" cy="6857999"/>
          </a:xfrm>
        </p:grpSpPr>
        <p:sp>
          <p:nvSpPr>
            <p:cNvPr id="576" name="islide-3" descr="9a8be81c-2c2b-441c-b48c-e21f20f68074">
              <a:extLst>
                <a:ext uri="{FF2B5EF4-FFF2-40B4-BE49-F238E27FC236}">
                  <a16:creationId xmlns:a16="http://schemas.microsoft.com/office/drawing/2014/main" id="{43B81BE8-69C4-C9B0-DEE0-9411F4883A6A}"/>
                </a:ext>
              </a:extLst>
            </p:cNvPr>
            <p:cNvSpPr/>
            <p:nvPr/>
          </p:nvSpPr>
          <p:spPr>
            <a:xfrm>
              <a:off x="4106392" y="813930"/>
              <a:ext cx="4592020" cy="5634996"/>
            </a:xfrm>
            <a:prstGeom prst="arc">
              <a:avLst>
                <a:gd name="adj1" fmla="val 17165455"/>
                <a:gd name="adj2" fmla="val 3705535"/>
              </a:avLst>
            </a:prstGeom>
            <a:ln w="25400">
              <a:gradFill>
                <a:gsLst>
                  <a:gs pos="0">
                    <a:schemeClr val="accent1">
                      <a:alpha val="0"/>
                    </a:schemeClr>
                  </a:gs>
                  <a:gs pos="59000">
                    <a:schemeClr val="accent1">
                      <a:alpha val="61000"/>
                    </a:schemeClr>
                  </a:gs>
                  <a:gs pos="100000">
                    <a:schemeClr val="accent1">
                      <a:alpha val="30000"/>
                    </a:scheme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56" name="任意多边形: 形状 55" descr="edbcf1d3-3b65-47cf-b905-28fd0539b6e0">
              <a:extLst>
                <a:ext uri="{FF2B5EF4-FFF2-40B4-BE49-F238E27FC236}">
                  <a16:creationId xmlns:a16="http://schemas.microsoft.com/office/drawing/2014/main" id="{62A87823-5485-5E89-5FAB-DBE9AD4E0B79}"/>
                </a:ext>
              </a:extLst>
            </p:cNvPr>
            <p:cNvSpPr/>
            <p:nvPr/>
          </p:nvSpPr>
          <p:spPr>
            <a:xfrm rot="16200000">
              <a:off x="656258" y="2857322"/>
              <a:ext cx="6117805" cy="1475689"/>
            </a:xfrm>
            <a:custGeom>
              <a:avLst/>
              <a:gdLst>
                <a:gd name="connsiteX0" fmla="*/ 3444408 w 3444408"/>
                <a:gd name="connsiteY0" fmla="*/ 830833 h 830833"/>
                <a:gd name="connsiteX1" fmla="*/ 0 w 3444408"/>
                <a:gd name="connsiteY1" fmla="*/ 830833 h 830833"/>
                <a:gd name="connsiteX2" fmla="*/ 1049392 w 3444408"/>
                <a:gd name="connsiteY2" fmla="*/ 0 h 830833"/>
                <a:gd name="connsiteX3" fmla="*/ 1092594 w 3444408"/>
                <a:gd name="connsiteY3" fmla="*/ 0 h 830833"/>
                <a:gd name="connsiteX4" fmla="*/ 1117111 w 3444408"/>
                <a:gd name="connsiteY4" fmla="*/ 10238 h 830833"/>
                <a:gd name="connsiteX5" fmla="*/ 1184041 w 3444408"/>
                <a:gd name="connsiteY5" fmla="*/ 29265 h 830833"/>
                <a:gd name="connsiteX6" fmla="*/ 1204369 w 3444408"/>
                <a:gd name="connsiteY6" fmla="*/ 53902 h 830833"/>
                <a:gd name="connsiteX7" fmla="*/ 1722203 w 3444408"/>
                <a:gd name="connsiteY7" fmla="*/ 268397 h 830833"/>
                <a:gd name="connsiteX8" fmla="*/ 2240038 w 3444408"/>
                <a:gd name="connsiteY8" fmla="*/ 53902 h 830833"/>
                <a:gd name="connsiteX9" fmla="*/ 2260365 w 3444408"/>
                <a:gd name="connsiteY9" fmla="*/ 29266 h 830833"/>
                <a:gd name="connsiteX10" fmla="*/ 2327298 w 3444408"/>
                <a:gd name="connsiteY10" fmla="*/ 10238 h 830833"/>
                <a:gd name="connsiteX11" fmla="*/ 2351815 w 3444408"/>
                <a:gd name="connsiteY11" fmla="*/ 0 h 830833"/>
                <a:gd name="connsiteX12" fmla="*/ 2395016 w 3444408"/>
                <a:gd name="connsiteY12" fmla="*/ 0 h 830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44408" h="830833">
                  <a:moveTo>
                    <a:pt x="3444408" y="830833"/>
                  </a:moveTo>
                  <a:lnTo>
                    <a:pt x="0" y="830833"/>
                  </a:lnTo>
                  <a:lnTo>
                    <a:pt x="1049392" y="0"/>
                  </a:lnTo>
                  <a:lnTo>
                    <a:pt x="1092594" y="0"/>
                  </a:lnTo>
                  <a:lnTo>
                    <a:pt x="1117111" y="10238"/>
                  </a:lnTo>
                  <a:lnTo>
                    <a:pt x="1184041" y="29265"/>
                  </a:lnTo>
                  <a:lnTo>
                    <a:pt x="1204369" y="53902"/>
                  </a:lnTo>
                  <a:cubicBezTo>
                    <a:pt x="1336894" y="186428"/>
                    <a:pt x="1519976" y="268396"/>
                    <a:pt x="1722203" y="268397"/>
                  </a:cubicBezTo>
                  <a:cubicBezTo>
                    <a:pt x="1924430" y="268397"/>
                    <a:pt x="2107513" y="186428"/>
                    <a:pt x="2240038" y="53902"/>
                  </a:cubicBezTo>
                  <a:lnTo>
                    <a:pt x="2260365" y="29266"/>
                  </a:lnTo>
                  <a:lnTo>
                    <a:pt x="2327298" y="10238"/>
                  </a:lnTo>
                  <a:lnTo>
                    <a:pt x="2351815" y="0"/>
                  </a:lnTo>
                  <a:lnTo>
                    <a:pt x="2395016" y="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alpha val="31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  <a:tileRect/>
            </a:gradFill>
            <a:ln w="317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74" name="任意多边形: 形状 73" descr="05d8d9e0-ab8b-4184-b962-95e61c3f517c">
              <a:extLst>
                <a:ext uri="{FF2B5EF4-FFF2-40B4-BE49-F238E27FC236}">
                  <a16:creationId xmlns:a16="http://schemas.microsoft.com/office/drawing/2014/main" id="{2BAC0470-5D77-79DF-1C4C-911FD616E306}"/>
                </a:ext>
              </a:extLst>
            </p:cNvPr>
            <p:cNvSpPr/>
            <p:nvPr/>
          </p:nvSpPr>
          <p:spPr>
            <a:xfrm rot="16200000">
              <a:off x="1606518" y="1577747"/>
              <a:ext cx="6857999" cy="3702505"/>
            </a:xfrm>
            <a:custGeom>
              <a:avLst/>
              <a:gdLst>
                <a:gd name="connsiteX0" fmla="*/ 6857999 w 6857999"/>
                <a:gd name="connsiteY0" fmla="*/ 2787831 h 3702505"/>
                <a:gd name="connsiteX1" fmla="*/ 6857999 w 6857999"/>
                <a:gd name="connsiteY1" fmla="*/ 3702505 h 3702505"/>
                <a:gd name="connsiteX2" fmla="*/ 0 w 6857999"/>
                <a:gd name="connsiteY2" fmla="*/ 3702505 h 3702505"/>
                <a:gd name="connsiteX3" fmla="*/ 0 w 6857999"/>
                <a:gd name="connsiteY3" fmla="*/ 2458142 h 3702505"/>
                <a:gd name="connsiteX4" fmla="*/ 2477865 w 6857999"/>
                <a:gd name="connsiteY4" fmla="*/ 0 h 3702505"/>
                <a:gd name="connsiteX5" fmla="*/ 2535583 w 6857999"/>
                <a:gd name="connsiteY5" fmla="*/ 47622 h 3702505"/>
                <a:gd name="connsiteX6" fmla="*/ 3262833 w 6857999"/>
                <a:gd name="connsiteY6" fmla="*/ 269766 h 3702505"/>
                <a:gd name="connsiteX7" fmla="*/ 3990083 w 6857999"/>
                <a:gd name="connsiteY7" fmla="*/ 47622 h 3702505"/>
                <a:gd name="connsiteX8" fmla="*/ 4047802 w 6857999"/>
                <a:gd name="connsiteY8" fmla="*/ 0 h 3702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57999" h="3702505">
                  <a:moveTo>
                    <a:pt x="6857999" y="2787831"/>
                  </a:moveTo>
                  <a:lnTo>
                    <a:pt x="6857999" y="3702505"/>
                  </a:lnTo>
                  <a:lnTo>
                    <a:pt x="0" y="3702505"/>
                  </a:lnTo>
                  <a:lnTo>
                    <a:pt x="0" y="2458142"/>
                  </a:lnTo>
                  <a:lnTo>
                    <a:pt x="2477865" y="0"/>
                  </a:lnTo>
                  <a:lnTo>
                    <a:pt x="2535583" y="47622"/>
                  </a:lnTo>
                  <a:cubicBezTo>
                    <a:pt x="2743180" y="187873"/>
                    <a:pt x="2993444" y="269766"/>
                    <a:pt x="3262833" y="269766"/>
                  </a:cubicBezTo>
                  <a:cubicBezTo>
                    <a:pt x="3532222" y="269766"/>
                    <a:pt x="3782484" y="187873"/>
                    <a:pt x="3990083" y="47622"/>
                  </a:cubicBezTo>
                  <a:lnTo>
                    <a:pt x="4047802" y="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alpha val="25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  <a:tileRect/>
            </a:gradFill>
            <a:ln w="317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58" name="islide-3" descr="038ff9b3-8bba-4a84-af31-16acd05e9247">
              <a:extLst>
                <a:ext uri="{FF2B5EF4-FFF2-40B4-BE49-F238E27FC236}">
                  <a16:creationId xmlns:a16="http://schemas.microsoft.com/office/drawing/2014/main" id="{DFA221D0-F7D1-5761-2938-9263F32A7426}"/>
                </a:ext>
              </a:extLst>
            </p:cNvPr>
            <p:cNvSpPr/>
            <p:nvPr/>
          </p:nvSpPr>
          <p:spPr>
            <a:xfrm>
              <a:off x="533339" y="813930"/>
              <a:ext cx="4592020" cy="5507807"/>
            </a:xfrm>
            <a:prstGeom prst="arc">
              <a:avLst>
                <a:gd name="adj1" fmla="val 17165455"/>
                <a:gd name="adj2" fmla="val 4741455"/>
              </a:avLst>
            </a:prstGeom>
            <a:ln w="25400">
              <a:gradFill>
                <a:gsLst>
                  <a:gs pos="0">
                    <a:schemeClr val="accent1">
                      <a:alpha val="0"/>
                    </a:schemeClr>
                  </a:gs>
                  <a:gs pos="59000">
                    <a:schemeClr val="accent1">
                      <a:alpha val="61000"/>
                    </a:schemeClr>
                  </a:gs>
                  <a:gs pos="100000">
                    <a:schemeClr val="accent1">
                      <a:alpha val="30000"/>
                    </a:scheme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60" name="islide-4-1" descr="c76602fe-fe19-43b8-9508-b078f00f489f">
              <a:extLst>
                <a:ext uri="{FF2B5EF4-FFF2-40B4-BE49-F238E27FC236}">
                  <a16:creationId xmlns:a16="http://schemas.microsoft.com/office/drawing/2014/main" id="{CE22712A-64F2-3949-93A0-7D584DC94F6B}"/>
                </a:ext>
              </a:extLst>
            </p:cNvPr>
            <p:cNvSpPr/>
            <p:nvPr/>
          </p:nvSpPr>
          <p:spPr>
            <a:xfrm>
              <a:off x="406280" y="2007537"/>
              <a:ext cx="3175262" cy="3175260"/>
            </a:xfrm>
            <a:prstGeom prst="blockArc">
              <a:avLst>
                <a:gd name="adj1" fmla="val 18257164"/>
                <a:gd name="adj2" fmla="val 3319074"/>
                <a:gd name="adj3" fmla="val 5612"/>
              </a:avLst>
            </a:prstGeom>
            <a:gradFill flip="none" rotWithShape="1">
              <a:gsLst>
                <a:gs pos="20000">
                  <a:schemeClr val="accent2">
                    <a:lumMod val="60000"/>
                    <a:lumOff val="40000"/>
                  </a:schemeClr>
                </a:gs>
                <a:gs pos="85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endParaRPr/>
            </a:p>
          </p:txBody>
        </p:sp>
        <p:sp>
          <p:nvSpPr>
            <p:cNvPr id="66" name="islide-4-7" descr="97db0685-6fa7-43e3-9a8a-c5f58a7b165b">
              <a:extLst>
                <a:ext uri="{FF2B5EF4-FFF2-40B4-BE49-F238E27FC236}">
                  <a16:creationId xmlns:a16="http://schemas.microsoft.com/office/drawing/2014/main" id="{EF6CF5F4-79B6-AA2D-6F3F-64CCAD028646}"/>
                </a:ext>
              </a:extLst>
            </p:cNvPr>
            <p:cNvSpPr/>
            <p:nvPr/>
          </p:nvSpPr>
          <p:spPr>
            <a:xfrm flipH="1">
              <a:off x="406280" y="2007535"/>
              <a:ext cx="3175262" cy="3175260"/>
            </a:xfrm>
            <a:prstGeom prst="blockArc">
              <a:avLst>
                <a:gd name="adj1" fmla="val 18257164"/>
                <a:gd name="adj2" fmla="val 3319074"/>
                <a:gd name="adj3" fmla="val 5612"/>
              </a:avLst>
            </a:prstGeom>
            <a:gradFill>
              <a:gsLst>
                <a:gs pos="20000">
                  <a:schemeClr val="accent2">
                    <a:lumMod val="60000"/>
                    <a:lumOff val="40000"/>
                  </a:schemeClr>
                </a:gs>
                <a:gs pos="85000">
                  <a:schemeClr val="accent1">
                    <a:lumMod val="60000"/>
                    <a:lumOff val="40000"/>
                  </a:schemeClr>
                </a:gs>
              </a:gsLst>
              <a:lin ang="5400000" scaled="0"/>
            </a:gra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endParaRPr/>
            </a:p>
          </p:txBody>
        </p:sp>
        <p:sp>
          <p:nvSpPr>
            <p:cNvPr id="67" name="islide-4-8" descr="6fd47ae0-f10f-49bf-a256-b5eeb2f1418c">
              <a:extLst>
                <a:ext uri="{FF2B5EF4-FFF2-40B4-BE49-F238E27FC236}">
                  <a16:creationId xmlns:a16="http://schemas.microsoft.com/office/drawing/2014/main" id="{CEA950F4-417F-49B5-D7B4-12E60B3DE26C}"/>
                </a:ext>
              </a:extLst>
            </p:cNvPr>
            <p:cNvSpPr/>
            <p:nvPr/>
          </p:nvSpPr>
          <p:spPr>
            <a:xfrm>
              <a:off x="495239" y="2096496"/>
              <a:ext cx="2997342" cy="2997340"/>
            </a:xfrm>
            <a:prstGeom prst="arc">
              <a:avLst>
                <a:gd name="adj1" fmla="val 14255596"/>
                <a:gd name="adj2" fmla="val 18088074"/>
              </a:avLst>
            </a:prstGeom>
            <a:noFill/>
            <a:ln w="19050">
              <a:gradFill flip="none" rotWithShape="1">
                <a:gsLst>
                  <a:gs pos="20000">
                    <a:schemeClr val="accent1"/>
                  </a:gs>
                  <a:gs pos="100000">
                    <a:schemeClr val="accent2"/>
                  </a:gs>
                </a:gsLst>
                <a:lin ang="0" scaled="1"/>
                <a:tileRect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pPr>
              <a:endParaRPr/>
            </a:p>
          </p:txBody>
        </p:sp>
        <p:sp>
          <p:nvSpPr>
            <p:cNvPr id="68" name="islide-4-9" descr="5c931b5b-04a8-4f4d-bfc9-e4b540470403">
              <a:extLst>
                <a:ext uri="{FF2B5EF4-FFF2-40B4-BE49-F238E27FC236}">
                  <a16:creationId xmlns:a16="http://schemas.microsoft.com/office/drawing/2014/main" id="{C0347066-6F68-51F1-E2F1-41805ADEED7F}"/>
                </a:ext>
              </a:extLst>
            </p:cNvPr>
            <p:cNvSpPr/>
            <p:nvPr/>
          </p:nvSpPr>
          <p:spPr>
            <a:xfrm flipV="1">
              <a:off x="495239" y="2096496"/>
              <a:ext cx="2997342" cy="2997340"/>
            </a:xfrm>
            <a:prstGeom prst="arc">
              <a:avLst>
                <a:gd name="adj1" fmla="val 14255596"/>
                <a:gd name="adj2" fmla="val 18088074"/>
              </a:avLst>
            </a:prstGeom>
            <a:noFill/>
            <a:ln w="19050">
              <a:gradFill flip="none" rotWithShape="1">
                <a:gsLst>
                  <a:gs pos="20000">
                    <a:schemeClr val="accent1"/>
                  </a:gs>
                  <a:gs pos="100000">
                    <a:schemeClr val="accent2"/>
                  </a:gs>
                </a:gsLst>
                <a:lin ang="10800000" scaled="1"/>
                <a:tileRect/>
              </a:gra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73" name="Title" descr="a63d3f90-8a40-4c19-8b11-ce23c9ddbc0b">
              <a:extLst>
                <a:ext uri="{FF2B5EF4-FFF2-40B4-BE49-F238E27FC236}">
                  <a16:creationId xmlns:a16="http://schemas.microsoft.com/office/drawing/2014/main" id="{4169E963-4F1D-8661-D151-0A123F7C9F67}"/>
                </a:ext>
              </a:extLst>
            </p:cNvPr>
            <p:cNvSpPr txBox="1"/>
            <p:nvPr/>
          </p:nvSpPr>
          <p:spPr>
            <a:xfrm>
              <a:off x="646189" y="2243981"/>
              <a:ext cx="2702366" cy="2702366"/>
            </a:xfrm>
            <a:prstGeom prst="ellipse">
              <a:avLst/>
            </a:prstGeom>
            <a:gradFill flip="none" rotWithShape="1">
              <a:gsLst>
                <a:gs pos="90000">
                  <a:schemeClr val="accent2">
                    <a:alpha val="50000"/>
                  </a:schemeClr>
                </a:gs>
                <a:gs pos="50000">
                  <a:schemeClr val="accent1">
                    <a:alpha val="10000"/>
                  </a:schemeClr>
                </a:gs>
                <a:gs pos="10000">
                  <a:schemeClr val="accent2">
                    <a:alpha val="50000"/>
                  </a:schemeClr>
                </a:gs>
              </a:gsLst>
              <a:lin ang="2700000" scaled="1"/>
              <a:tileRect/>
            </a:gradFill>
            <a:ln w="12700">
              <a:gradFill flip="none" rotWithShape="1">
                <a:gsLst>
                  <a:gs pos="0">
                    <a:schemeClr val="accent2">
                      <a:lumMod val="40000"/>
                      <a:lumOff val="60000"/>
                    </a:schemeClr>
                  </a:gs>
                  <a:gs pos="50500">
                    <a:schemeClr val="accent1">
                      <a:alpha val="0"/>
                    </a:schemeClr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lin ang="2700000" scaled="1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>
              <a:defPPr>
                <a:defRPr lang="en-US"/>
              </a:defPPr>
              <a:lvl1pPr algn="ctr">
                <a:defRPr sz="2400" b="1">
                  <a:solidFill>
                    <a:schemeClr val="tx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algn="ctr"/>
              <a:r>
                <a:rPr lang="en-US" sz="2400" b="1" i="0" u="none">
                  <a:solidFill>
                    <a:srgbClr val="000000"/>
                  </a:solidFill>
                  <a:ea typeface="微软雅黑"/>
                </a:rPr>
                <a:t>明确新角色，掌握工具链动态选择策略。</a:t>
              </a:r>
            </a:p>
          </p:txBody>
        </p:sp>
        <p:grpSp>
          <p:nvGrpSpPr>
            <p:cNvPr id="28" name="组合 27" descr="714331dd-a0b6-4aa8-9f5c-52a5ec47431a">
              <a:extLst>
                <a:ext uri="{FF2B5EF4-FFF2-40B4-BE49-F238E27FC236}">
                  <a16:creationId xmlns:a16="http://schemas.microsoft.com/office/drawing/2014/main" id="{36092D80-C1C7-334B-4AF2-B854F25F7FC5}"/>
                </a:ext>
              </a:extLst>
            </p:cNvPr>
            <p:cNvGrpSpPr/>
            <p:nvPr/>
          </p:nvGrpSpPr>
          <p:grpSpPr>
            <a:xfrm>
              <a:off x="3871085" y="1044647"/>
              <a:ext cx="3702507" cy="1459946"/>
              <a:chOff x="3871085" y="609740"/>
              <a:chExt cx="3702507" cy="1459946"/>
            </a:xfrm>
          </p:grpSpPr>
          <p:grpSp>
            <p:nvGrpSpPr>
              <p:cNvPr id="27" name="组合 26" descr="c86dff3c-cc2d-4e57-a671-6cf4dd4e527c">
                <a:extLst>
                  <a:ext uri="{FF2B5EF4-FFF2-40B4-BE49-F238E27FC236}">
                    <a16:creationId xmlns:a16="http://schemas.microsoft.com/office/drawing/2014/main" id="{8F738FEF-AE38-8D61-9AD4-4A86D05E0B17}"/>
                  </a:ext>
                </a:extLst>
              </p:cNvPr>
              <p:cNvGrpSpPr/>
              <p:nvPr/>
            </p:nvGrpSpPr>
            <p:grpSpPr>
              <a:xfrm>
                <a:off x="3871085" y="997874"/>
                <a:ext cx="757504" cy="757504"/>
                <a:chOff x="3871085" y="997874"/>
                <a:chExt cx="757504" cy="757504"/>
              </a:xfrm>
            </p:grpSpPr>
            <p:sp>
              <p:nvSpPr>
                <p:cNvPr id="47" name="islide-4-1" descr="a2300750-4bec-4d1e-ae88-b40eee62234f">
                  <a:extLst>
                    <a:ext uri="{FF2B5EF4-FFF2-40B4-BE49-F238E27FC236}">
                      <a16:creationId xmlns:a16="http://schemas.microsoft.com/office/drawing/2014/main" id="{912B4AA5-0F66-9178-4886-9CE588829D05}"/>
                    </a:ext>
                  </a:extLst>
                </p:cNvPr>
                <p:cNvSpPr/>
                <p:nvPr/>
              </p:nvSpPr>
              <p:spPr>
                <a:xfrm>
                  <a:off x="3871085" y="997874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 flip="none" rotWithShape="1"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3" name="islide-4-7" descr="a5b5df1e-d6a1-4fad-a8a8-626579de19ff">
                  <a:extLst>
                    <a:ext uri="{FF2B5EF4-FFF2-40B4-BE49-F238E27FC236}">
                      <a16:creationId xmlns:a16="http://schemas.microsoft.com/office/drawing/2014/main" id="{EA694AD2-BC11-0D43-4F7E-B2C55939F4D8}"/>
                    </a:ext>
                  </a:extLst>
                </p:cNvPr>
                <p:cNvSpPr/>
                <p:nvPr/>
              </p:nvSpPr>
              <p:spPr>
                <a:xfrm flipH="1">
                  <a:off x="3871085" y="997874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5400000" scaled="0"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4" name="islide-4-8" descr="864d30e2-1536-47cd-9f0a-7bc0e7ed1b2d">
                  <a:extLst>
                    <a:ext uri="{FF2B5EF4-FFF2-40B4-BE49-F238E27FC236}">
                      <a16:creationId xmlns:a16="http://schemas.microsoft.com/office/drawing/2014/main" id="{52B090AC-A5AD-8C81-BA07-F30A1DBAE99D}"/>
                    </a:ext>
                  </a:extLst>
                </p:cNvPr>
                <p:cNvSpPr/>
                <p:nvPr/>
              </p:nvSpPr>
              <p:spPr>
                <a:xfrm>
                  <a:off x="3892307" y="1019096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5" name="islide-4-9" descr="c6d966be-ec52-4b1e-bee5-9a1466b5f121">
                  <a:extLst>
                    <a:ext uri="{FF2B5EF4-FFF2-40B4-BE49-F238E27FC236}">
                      <a16:creationId xmlns:a16="http://schemas.microsoft.com/office/drawing/2014/main" id="{DFE8E21F-3D45-4F97-6A7D-049C00A07885}"/>
                    </a:ext>
                  </a:extLst>
                </p:cNvPr>
                <p:cNvSpPr/>
                <p:nvPr/>
              </p:nvSpPr>
              <p:spPr>
                <a:xfrm flipV="1">
                  <a:off x="3892307" y="1019096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5" name="组合 14" descr="2e09f964-8fe6-45bb-b020-1313c3c85809">
                <a:extLst>
                  <a:ext uri="{FF2B5EF4-FFF2-40B4-BE49-F238E27FC236}">
                    <a16:creationId xmlns:a16="http://schemas.microsoft.com/office/drawing/2014/main" id="{45E7CAE4-53CD-6F13-140B-F61C868870D7}"/>
                  </a:ext>
                </a:extLst>
              </p:cNvPr>
              <p:cNvGrpSpPr/>
              <p:nvPr/>
            </p:nvGrpSpPr>
            <p:grpSpPr>
              <a:xfrm>
                <a:off x="3957759" y="609740"/>
                <a:ext cx="3615833" cy="1459946"/>
                <a:chOff x="3957759" y="609740"/>
                <a:chExt cx="3615833" cy="1459946"/>
              </a:xfrm>
            </p:grpSpPr>
            <p:sp>
              <p:nvSpPr>
                <p:cNvPr id="48" name="Number1" descr="7dd340e4-adca-41f2-a1f7-ba2762770365">
                  <a:extLst>
                    <a:ext uri="{FF2B5EF4-FFF2-40B4-BE49-F238E27FC236}">
                      <a16:creationId xmlns:a16="http://schemas.microsoft.com/office/drawing/2014/main" id="{AA372047-DE98-F526-6E28-805F9B11A040}"/>
                    </a:ext>
                  </a:extLst>
                </p:cNvPr>
                <p:cNvSpPr/>
                <p:nvPr/>
              </p:nvSpPr>
              <p:spPr>
                <a:xfrm>
                  <a:off x="3957759" y="1084548"/>
                  <a:ext cx="584157" cy="584157"/>
                </a:xfrm>
                <a:prstGeom prst="ellipse">
                  <a:avLst/>
                </a:prstGeom>
                <a:gradFill flip="none" rotWithShape="1">
                  <a:gsLst>
                    <a:gs pos="80000">
                      <a:schemeClr val="accent1"/>
                    </a:gs>
                    <a:gs pos="0">
                      <a:schemeClr val="accent2">
                        <a:alpha val="90000"/>
                      </a:schemeClr>
                    </a:gs>
                  </a:gsLst>
                  <a:lin ang="27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lumMod val="40000"/>
                          <a:lumOff val="60000"/>
                        </a:schemeClr>
                      </a:gs>
                      <a:gs pos="50500">
                        <a:schemeClr val="accent1">
                          <a:alpha val="0"/>
                        </a:schemeClr>
                      </a:gs>
                      <a:gs pos="100000">
                        <a:schemeClr val="accent2">
                          <a:lumMod val="40000"/>
                          <a:lumOff val="60000"/>
                        </a:schemeClr>
                      </a:gs>
                    </a:gsLst>
                    <a:lin ang="270000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2400" b="1" i="0" u="none">
                      <a:solidFill>
                        <a:srgbClr val="FFFFFF"/>
                      </a:solidFill>
                      <a:latin typeface="Arial"/>
                    </a:rPr>
                    <a:t>1</a:t>
                  </a:r>
                </a:p>
              </p:txBody>
            </p:sp>
            <p:sp>
              <p:nvSpPr>
                <p:cNvPr id="77" name="Bullet1" descr="cc7f53fd-a32c-4463-98f5-0000c4d1e9b7">
                  <a:extLst>
                    <a:ext uri="{FF2B5EF4-FFF2-40B4-BE49-F238E27FC236}">
                      <a16:creationId xmlns:a16="http://schemas.microsoft.com/office/drawing/2014/main" id="{CB2B9BDE-1AB9-74D9-676F-FB9F3AACF6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54645" y="609740"/>
                  <a:ext cx="2918947" cy="69377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800" b="1" i="0" u="none" strike="noStrike">
                      <a:solidFill>
                        <a:srgbClr val="000000"/>
                      </a:solidFill>
                      <a:ea typeface="微软雅黑"/>
                    </a:rPr>
                    <a:t>新角色定义</a:t>
                  </a:r>
                </a:p>
              </p:txBody>
            </p:sp>
            <p:sp>
              <p:nvSpPr>
                <p:cNvPr id="78" name="Text1" descr="90a4784c-1caa-4177-9df8-6d0019357d53">
                  <a:extLst>
                    <a:ext uri="{FF2B5EF4-FFF2-40B4-BE49-F238E27FC236}">
                      <a16:creationId xmlns:a16="http://schemas.microsoft.com/office/drawing/2014/main" id="{4FFA25CA-EA47-A673-A44A-C56A5D107C3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54645" y="1303515"/>
                  <a:ext cx="2918947" cy="76617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200" b="0" i="0" u="none" strike="noStrike">
                      <a:solidFill>
                        <a:srgbClr val="000000"/>
                      </a:solidFill>
                      <a:ea typeface="微软雅黑"/>
                    </a:rPr>
                    <a:t>成为生态调度者与流程架构师，遴选模型并翻译业务需求为工作流。</a:t>
                  </a:r>
                </a:p>
              </p:txBody>
            </p:sp>
          </p:grpSp>
        </p:grpSp>
        <p:grpSp>
          <p:nvGrpSpPr>
            <p:cNvPr id="30" name="组合 29" descr="5afebbfd-cfab-4ff6-8b30-ad68428b5ca7">
              <a:extLst>
                <a:ext uri="{FF2B5EF4-FFF2-40B4-BE49-F238E27FC236}">
                  <a16:creationId xmlns:a16="http://schemas.microsoft.com/office/drawing/2014/main" id="{19FB74F0-7FEC-2B68-59CC-96E598FB21B7}"/>
                </a:ext>
              </a:extLst>
            </p:cNvPr>
            <p:cNvGrpSpPr/>
            <p:nvPr/>
          </p:nvGrpSpPr>
          <p:grpSpPr>
            <a:xfrm>
              <a:off x="4667090" y="2912717"/>
              <a:ext cx="3476865" cy="1459946"/>
              <a:chOff x="4541916" y="1535069"/>
              <a:chExt cx="3476865" cy="1459946"/>
            </a:xfrm>
          </p:grpSpPr>
          <p:grpSp>
            <p:nvGrpSpPr>
              <p:cNvPr id="29" name="组合 28" descr="819ff01d-027e-46a1-8ccc-df0078c4e091">
                <a:extLst>
                  <a:ext uri="{FF2B5EF4-FFF2-40B4-BE49-F238E27FC236}">
                    <a16:creationId xmlns:a16="http://schemas.microsoft.com/office/drawing/2014/main" id="{7D3049F6-A5F2-EE89-BE74-42D78391BCB9}"/>
                  </a:ext>
                </a:extLst>
              </p:cNvPr>
              <p:cNvGrpSpPr/>
              <p:nvPr/>
            </p:nvGrpSpPr>
            <p:grpSpPr>
              <a:xfrm>
                <a:off x="4541916" y="1923203"/>
                <a:ext cx="757504" cy="757504"/>
                <a:chOff x="4541916" y="1923203"/>
                <a:chExt cx="757504" cy="757504"/>
              </a:xfrm>
            </p:grpSpPr>
            <p:sp>
              <p:nvSpPr>
                <p:cNvPr id="336" name="islide-4-1" descr="110f29c5-7211-40a9-84bf-c2ff1941ba69">
                  <a:extLst>
                    <a:ext uri="{FF2B5EF4-FFF2-40B4-BE49-F238E27FC236}">
                      <a16:creationId xmlns:a16="http://schemas.microsoft.com/office/drawing/2014/main" id="{1E096DDA-9066-34D3-488F-5A5B21621A79}"/>
                    </a:ext>
                  </a:extLst>
                </p:cNvPr>
                <p:cNvSpPr/>
                <p:nvPr/>
              </p:nvSpPr>
              <p:spPr>
                <a:xfrm>
                  <a:off x="4541916" y="1923203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 flip="none" rotWithShape="1"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342" name="islide-4-7" descr="6c8eb545-02ff-4b69-ab4e-30ce7cdf7a18">
                  <a:extLst>
                    <a:ext uri="{FF2B5EF4-FFF2-40B4-BE49-F238E27FC236}">
                      <a16:creationId xmlns:a16="http://schemas.microsoft.com/office/drawing/2014/main" id="{788B8890-CC9D-DFFD-9ED8-B8453227A726}"/>
                    </a:ext>
                  </a:extLst>
                </p:cNvPr>
                <p:cNvSpPr/>
                <p:nvPr/>
              </p:nvSpPr>
              <p:spPr>
                <a:xfrm flipH="1">
                  <a:off x="4541916" y="1923203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5400000" scaled="0"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343" name="islide-4-8" descr="afd19f98-7b76-417d-abf2-cc22d83f356f">
                  <a:extLst>
                    <a:ext uri="{FF2B5EF4-FFF2-40B4-BE49-F238E27FC236}">
                      <a16:creationId xmlns:a16="http://schemas.microsoft.com/office/drawing/2014/main" id="{59C79FA5-9FFA-A87C-222F-382DA988A2FF}"/>
                    </a:ext>
                  </a:extLst>
                </p:cNvPr>
                <p:cNvSpPr/>
                <p:nvPr/>
              </p:nvSpPr>
              <p:spPr>
                <a:xfrm>
                  <a:off x="4563138" y="1944425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344" name="islide-4-9" descr="a5db4f10-1698-4530-bf1b-f8ab89d643ee">
                  <a:extLst>
                    <a:ext uri="{FF2B5EF4-FFF2-40B4-BE49-F238E27FC236}">
                      <a16:creationId xmlns:a16="http://schemas.microsoft.com/office/drawing/2014/main" id="{09B7B20E-FC86-D461-9769-DD0DB3BBA4FC}"/>
                    </a:ext>
                  </a:extLst>
                </p:cNvPr>
                <p:cNvSpPr/>
                <p:nvPr/>
              </p:nvSpPr>
              <p:spPr>
                <a:xfrm flipV="1">
                  <a:off x="4563138" y="1944425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6" name="组合 15" descr="02d97507-df75-4bee-ba17-5cccfc9f1289">
                <a:extLst>
                  <a:ext uri="{FF2B5EF4-FFF2-40B4-BE49-F238E27FC236}">
                    <a16:creationId xmlns:a16="http://schemas.microsoft.com/office/drawing/2014/main" id="{86A4D0D9-C4E7-EED0-8A2D-FE243AA5C6CA}"/>
                  </a:ext>
                </a:extLst>
              </p:cNvPr>
              <p:cNvGrpSpPr/>
              <p:nvPr/>
            </p:nvGrpSpPr>
            <p:grpSpPr>
              <a:xfrm>
                <a:off x="4628590" y="1535069"/>
                <a:ext cx="3390191" cy="1459946"/>
                <a:chOff x="4628590" y="1535069"/>
                <a:chExt cx="3390191" cy="1459946"/>
              </a:xfrm>
            </p:grpSpPr>
            <p:sp>
              <p:nvSpPr>
                <p:cNvPr id="337" name="Number2" descr="e56cc71b-ea58-411c-a20d-98ebb0ef35b0">
                  <a:extLst>
                    <a:ext uri="{FF2B5EF4-FFF2-40B4-BE49-F238E27FC236}">
                      <a16:creationId xmlns:a16="http://schemas.microsoft.com/office/drawing/2014/main" id="{1C4C49E4-B5AC-7A6F-977A-E293738133A0}"/>
                    </a:ext>
                  </a:extLst>
                </p:cNvPr>
                <p:cNvSpPr/>
                <p:nvPr/>
              </p:nvSpPr>
              <p:spPr>
                <a:xfrm>
                  <a:off x="4628590" y="2009877"/>
                  <a:ext cx="584157" cy="584157"/>
                </a:xfrm>
                <a:prstGeom prst="ellipse">
                  <a:avLst/>
                </a:prstGeom>
                <a:gradFill flip="none" rotWithShape="1">
                  <a:gsLst>
                    <a:gs pos="80000">
                      <a:schemeClr val="accent1"/>
                    </a:gs>
                    <a:gs pos="0">
                      <a:schemeClr val="accent2">
                        <a:alpha val="90000"/>
                      </a:schemeClr>
                    </a:gs>
                  </a:gsLst>
                  <a:lin ang="27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lumMod val="40000"/>
                          <a:lumOff val="60000"/>
                        </a:schemeClr>
                      </a:gs>
                      <a:gs pos="50500">
                        <a:schemeClr val="accent1">
                          <a:alpha val="0"/>
                        </a:schemeClr>
                      </a:gs>
                      <a:gs pos="100000">
                        <a:schemeClr val="accent2">
                          <a:lumMod val="40000"/>
                          <a:lumOff val="60000"/>
                        </a:schemeClr>
                      </a:gs>
                    </a:gsLst>
                    <a:lin ang="270000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2400" b="1" i="0" u="none">
                      <a:solidFill>
                        <a:srgbClr val="FFFFFF"/>
                      </a:solidFill>
                      <a:latin typeface="Arial"/>
                    </a:rPr>
                    <a:t>2</a:t>
                  </a:r>
                </a:p>
              </p:txBody>
            </p:sp>
            <p:sp>
              <p:nvSpPr>
                <p:cNvPr id="334" name="Bullet2" descr="ecc98393-2948-45ad-a61c-e128b724293a">
                  <a:extLst>
                    <a:ext uri="{FF2B5EF4-FFF2-40B4-BE49-F238E27FC236}">
                      <a16:creationId xmlns:a16="http://schemas.microsoft.com/office/drawing/2014/main" id="{36698597-3AE7-DAB4-CCC9-45870DDD02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25477" y="1535069"/>
                  <a:ext cx="2693304" cy="69377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800" b="1" i="0" u="none" strike="noStrike">
                      <a:solidFill>
                        <a:srgbClr val="000000"/>
                      </a:solidFill>
                      <a:ea typeface="微软雅黑"/>
                    </a:rPr>
                    <a:t>工具链动态选择策略（2026版）</a:t>
                  </a:r>
                </a:p>
              </p:txBody>
            </p:sp>
            <p:sp>
              <p:nvSpPr>
                <p:cNvPr id="335" name="Text2" descr="260df0e5-00ca-43ab-aaa9-14da5fa46090">
                  <a:extLst>
                    <a:ext uri="{FF2B5EF4-FFF2-40B4-BE49-F238E27FC236}">
                      <a16:creationId xmlns:a16="http://schemas.microsoft.com/office/drawing/2014/main" id="{8FBC853F-1A62-1798-2E25-2ADC755CD6D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25477" y="2228844"/>
                  <a:ext cx="2693304" cy="76617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200" b="0" i="0" u="none" strike="noStrike">
                      <a:solidFill>
                        <a:srgbClr val="000000"/>
                      </a:solidFill>
                      <a:ea typeface="微软雅黑"/>
                    </a:rPr>
                    <a:t>根据任务需求在开放生态中灵活选择合适模型。</a:t>
                  </a:r>
                </a:p>
              </p:txBody>
            </p:sp>
          </p:grpSp>
        </p:grpSp>
        <p:grpSp>
          <p:nvGrpSpPr>
            <p:cNvPr id="38" name="组合 37" descr="142d1291-5409-4f30-b38b-2134bc2dba3c">
              <a:extLst>
                <a:ext uri="{FF2B5EF4-FFF2-40B4-BE49-F238E27FC236}">
                  <a16:creationId xmlns:a16="http://schemas.microsoft.com/office/drawing/2014/main" id="{47C1CFBB-68B1-83B1-A686-CBCAFECE33C8}"/>
                </a:ext>
              </a:extLst>
            </p:cNvPr>
            <p:cNvGrpSpPr/>
            <p:nvPr/>
          </p:nvGrpSpPr>
          <p:grpSpPr>
            <a:xfrm>
              <a:off x="3817852" y="4780787"/>
              <a:ext cx="3702507" cy="1459946"/>
              <a:chOff x="3817852" y="5236384"/>
              <a:chExt cx="3702507" cy="1459946"/>
            </a:xfrm>
          </p:grpSpPr>
          <p:grpSp>
            <p:nvGrpSpPr>
              <p:cNvPr id="37" name="组合 36" descr="65ca17d3-157e-43e8-96d4-f2096e9cc3f5">
                <a:extLst>
                  <a:ext uri="{FF2B5EF4-FFF2-40B4-BE49-F238E27FC236}">
                    <a16:creationId xmlns:a16="http://schemas.microsoft.com/office/drawing/2014/main" id="{390375E1-A899-E621-1CB1-005966B65247}"/>
                  </a:ext>
                </a:extLst>
              </p:cNvPr>
              <p:cNvGrpSpPr/>
              <p:nvPr/>
            </p:nvGrpSpPr>
            <p:grpSpPr>
              <a:xfrm>
                <a:off x="3817852" y="5624518"/>
                <a:ext cx="757504" cy="757504"/>
                <a:chOff x="3817852" y="5624518"/>
                <a:chExt cx="757504" cy="757504"/>
              </a:xfrm>
            </p:grpSpPr>
            <p:sp>
              <p:nvSpPr>
                <p:cNvPr id="392" name="islide-4-1" descr="8a60c917-ba97-40c3-aa80-da09a6ce9d8e">
                  <a:extLst>
                    <a:ext uri="{FF2B5EF4-FFF2-40B4-BE49-F238E27FC236}">
                      <a16:creationId xmlns:a16="http://schemas.microsoft.com/office/drawing/2014/main" id="{CEE65D7F-EEF6-70D1-8C79-720B927D5C79}"/>
                    </a:ext>
                  </a:extLst>
                </p:cNvPr>
                <p:cNvSpPr/>
                <p:nvPr/>
              </p:nvSpPr>
              <p:spPr>
                <a:xfrm>
                  <a:off x="3817852" y="5624518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 flip="none" rotWithShape="1"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398" name="islide-4-7" descr="e555ce41-2e19-4b26-a45b-ad0ff6077875">
                  <a:extLst>
                    <a:ext uri="{FF2B5EF4-FFF2-40B4-BE49-F238E27FC236}">
                      <a16:creationId xmlns:a16="http://schemas.microsoft.com/office/drawing/2014/main" id="{9E9F1F7A-4596-B815-4A64-31FF91764984}"/>
                    </a:ext>
                  </a:extLst>
                </p:cNvPr>
                <p:cNvSpPr/>
                <p:nvPr/>
              </p:nvSpPr>
              <p:spPr>
                <a:xfrm flipH="1">
                  <a:off x="3817852" y="5624518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5400000" scaled="0"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399" name="islide-4-8" descr="8ee48b07-79d7-4bec-bfae-edc85e4db05c">
                  <a:extLst>
                    <a:ext uri="{FF2B5EF4-FFF2-40B4-BE49-F238E27FC236}">
                      <a16:creationId xmlns:a16="http://schemas.microsoft.com/office/drawing/2014/main" id="{F79F9A6E-C729-BEB8-1777-89B551B1D417}"/>
                    </a:ext>
                  </a:extLst>
                </p:cNvPr>
                <p:cNvSpPr/>
                <p:nvPr/>
              </p:nvSpPr>
              <p:spPr>
                <a:xfrm>
                  <a:off x="3839074" y="5645740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400" name="islide-4-9" descr="ff8f0a43-50ba-4fe3-bfe1-2485c3f5ed5a">
                  <a:extLst>
                    <a:ext uri="{FF2B5EF4-FFF2-40B4-BE49-F238E27FC236}">
                      <a16:creationId xmlns:a16="http://schemas.microsoft.com/office/drawing/2014/main" id="{80D4F913-59E1-3A12-EB73-4F8AACC0E034}"/>
                    </a:ext>
                  </a:extLst>
                </p:cNvPr>
                <p:cNvSpPr/>
                <p:nvPr/>
              </p:nvSpPr>
              <p:spPr>
                <a:xfrm flipV="1">
                  <a:off x="3839074" y="5645740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0" name="组合 19" descr="942cee97-31c8-4d9b-bff6-e04747c86b72">
                <a:extLst>
                  <a:ext uri="{FF2B5EF4-FFF2-40B4-BE49-F238E27FC236}">
                    <a16:creationId xmlns:a16="http://schemas.microsoft.com/office/drawing/2014/main" id="{06A3DE98-7F0D-6A86-0462-4382BAE9E4A0}"/>
                  </a:ext>
                </a:extLst>
              </p:cNvPr>
              <p:cNvGrpSpPr/>
              <p:nvPr/>
            </p:nvGrpSpPr>
            <p:grpSpPr>
              <a:xfrm>
                <a:off x="3904526" y="5236384"/>
                <a:ext cx="3615833" cy="1459946"/>
                <a:chOff x="3904526" y="5236384"/>
                <a:chExt cx="3615833" cy="1459946"/>
              </a:xfrm>
            </p:grpSpPr>
            <p:sp>
              <p:nvSpPr>
                <p:cNvPr id="393" name="Number3" descr="d9f71fe7-7c13-48a7-8b78-c12a2b6f4836">
                  <a:extLst>
                    <a:ext uri="{FF2B5EF4-FFF2-40B4-BE49-F238E27FC236}">
                      <a16:creationId xmlns:a16="http://schemas.microsoft.com/office/drawing/2014/main" id="{D7CFF4D6-8FA4-EDFD-CB22-E2A76AB1CFBF}"/>
                    </a:ext>
                  </a:extLst>
                </p:cNvPr>
                <p:cNvSpPr/>
                <p:nvPr/>
              </p:nvSpPr>
              <p:spPr>
                <a:xfrm>
                  <a:off x="3904526" y="5711192"/>
                  <a:ext cx="584157" cy="584157"/>
                </a:xfrm>
                <a:prstGeom prst="ellipse">
                  <a:avLst/>
                </a:prstGeom>
                <a:gradFill flip="none" rotWithShape="1">
                  <a:gsLst>
                    <a:gs pos="80000">
                      <a:schemeClr val="accent1"/>
                    </a:gs>
                    <a:gs pos="0">
                      <a:schemeClr val="accent2">
                        <a:alpha val="90000"/>
                      </a:schemeClr>
                    </a:gs>
                  </a:gsLst>
                  <a:lin ang="27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lumMod val="40000"/>
                          <a:lumOff val="60000"/>
                        </a:schemeClr>
                      </a:gs>
                      <a:gs pos="50500">
                        <a:schemeClr val="accent1">
                          <a:alpha val="0"/>
                        </a:schemeClr>
                      </a:gs>
                      <a:gs pos="100000">
                        <a:schemeClr val="accent2">
                          <a:lumMod val="40000"/>
                          <a:lumOff val="60000"/>
                        </a:schemeClr>
                      </a:gs>
                    </a:gsLst>
                    <a:lin ang="270000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2400" b="1" i="0" u="none">
                      <a:solidFill>
                        <a:srgbClr val="FFFFFF"/>
                      </a:solidFill>
                      <a:latin typeface="Arial"/>
                    </a:rPr>
                    <a:t>3</a:t>
                  </a:r>
                </a:p>
              </p:txBody>
            </p:sp>
            <p:sp>
              <p:nvSpPr>
                <p:cNvPr id="390" name="Bullet3" descr="20c275bd-cfc5-46fe-ad68-c99f2077bcf7">
                  <a:extLst>
                    <a:ext uri="{FF2B5EF4-FFF2-40B4-BE49-F238E27FC236}">
                      <a16:creationId xmlns:a16="http://schemas.microsoft.com/office/drawing/2014/main" id="{0BE0DD31-5CAA-0465-AE22-1AE977139AB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01412" y="5236384"/>
                  <a:ext cx="2918947" cy="69377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800" b="1" i="0" u="none" strike="noStrike">
                      <a:solidFill>
                        <a:srgbClr val="000000"/>
                      </a:solidFill>
                      <a:ea typeface="微软雅黑"/>
                    </a:rPr>
                    <a:t>复杂系统规划</a:t>
                  </a:r>
                </a:p>
              </p:txBody>
            </p:sp>
            <p:sp>
              <p:nvSpPr>
                <p:cNvPr id="391" name="Text3" descr="845e9b36-ab65-4c45-ba9c-c3377d2aaed7">
                  <a:extLst>
                    <a:ext uri="{FF2B5EF4-FFF2-40B4-BE49-F238E27FC236}">
                      <a16:creationId xmlns:a16="http://schemas.microsoft.com/office/drawing/2014/main" id="{9C549F68-C475-BB27-E0D5-E80357C0E3A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601412" y="5930159"/>
                  <a:ext cx="2918947" cy="76617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200" b="0" i="0" u="none" strike="noStrike">
                      <a:solidFill>
                        <a:srgbClr val="000000"/>
                      </a:solidFill>
                      <a:latin typeface="Arial"/>
                    </a:rPr>
                    <a:t>GPT-5用于深度推理与架构设计。</a:t>
                  </a:r>
                </a:p>
              </p:txBody>
            </p:sp>
          </p:grpSp>
        </p:grpSp>
        <p:grpSp>
          <p:nvGrpSpPr>
            <p:cNvPr id="39" name="组合 38" descr="065f5f6e-9afa-451a-b4dd-c9ceba836270">
              <a:extLst>
                <a:ext uri="{FF2B5EF4-FFF2-40B4-BE49-F238E27FC236}">
                  <a16:creationId xmlns:a16="http://schemas.microsoft.com/office/drawing/2014/main" id="{49EDAAE8-A41E-6680-ED4F-FACD534ADF2D}"/>
                </a:ext>
              </a:extLst>
            </p:cNvPr>
            <p:cNvGrpSpPr/>
            <p:nvPr/>
          </p:nvGrpSpPr>
          <p:grpSpPr>
            <a:xfrm>
              <a:off x="7648047" y="1028700"/>
              <a:ext cx="3702507" cy="1487144"/>
              <a:chOff x="7456485" y="630301"/>
              <a:chExt cx="3702507" cy="1487144"/>
            </a:xfrm>
          </p:grpSpPr>
          <p:sp>
            <p:nvSpPr>
              <p:cNvPr id="495" name="islide-4-1" descr="7bc2aaaf-434b-4a2a-a0b0-f706d60f54b5">
                <a:extLst>
                  <a:ext uri="{FF2B5EF4-FFF2-40B4-BE49-F238E27FC236}">
                    <a16:creationId xmlns:a16="http://schemas.microsoft.com/office/drawing/2014/main" id="{A7F75B6B-0EE2-DBBE-7378-06CFB13607D9}"/>
                  </a:ext>
                </a:extLst>
              </p:cNvPr>
              <p:cNvSpPr/>
              <p:nvPr/>
            </p:nvSpPr>
            <p:spPr>
              <a:xfrm>
                <a:off x="7456485" y="997874"/>
                <a:ext cx="757504" cy="757504"/>
              </a:xfrm>
              <a:prstGeom prst="blockArc">
                <a:avLst>
                  <a:gd name="adj1" fmla="val 18257164"/>
                  <a:gd name="adj2" fmla="val 3319074"/>
                  <a:gd name="adj3" fmla="val 5612"/>
                </a:avLst>
              </a:prstGeom>
              <a:gradFill flip="none" rotWithShape="1">
                <a:gsLst>
                  <a:gs pos="20000">
                    <a:schemeClr val="accent2">
                      <a:lumMod val="60000"/>
                      <a:lumOff val="40000"/>
                    </a:schemeClr>
                  </a:gs>
                  <a:gs pos="85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/>
              </a:p>
            </p:txBody>
          </p:sp>
          <p:sp>
            <p:nvSpPr>
              <p:cNvPr id="501" name="islide-4-7" descr="b195fa9a-b249-434d-9f7a-682213f353f7">
                <a:extLst>
                  <a:ext uri="{FF2B5EF4-FFF2-40B4-BE49-F238E27FC236}">
                    <a16:creationId xmlns:a16="http://schemas.microsoft.com/office/drawing/2014/main" id="{1736146C-5A98-A3DA-88A0-654FD76B657B}"/>
                  </a:ext>
                </a:extLst>
              </p:cNvPr>
              <p:cNvSpPr/>
              <p:nvPr/>
            </p:nvSpPr>
            <p:spPr>
              <a:xfrm flipH="1">
                <a:off x="7456485" y="997874"/>
                <a:ext cx="757504" cy="757504"/>
              </a:xfrm>
              <a:prstGeom prst="blockArc">
                <a:avLst>
                  <a:gd name="adj1" fmla="val 18257164"/>
                  <a:gd name="adj2" fmla="val 3319074"/>
                  <a:gd name="adj3" fmla="val 5612"/>
                </a:avLst>
              </a:prstGeom>
              <a:gradFill>
                <a:gsLst>
                  <a:gs pos="20000">
                    <a:schemeClr val="accent2">
                      <a:lumMod val="60000"/>
                      <a:lumOff val="40000"/>
                    </a:schemeClr>
                  </a:gs>
                  <a:gs pos="85000">
                    <a:schemeClr val="accent1">
                      <a:lumMod val="60000"/>
                      <a:lumOff val="40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/>
              </a:p>
            </p:txBody>
          </p:sp>
          <p:sp>
            <p:nvSpPr>
              <p:cNvPr id="502" name="islide-4-8" descr="90443c4c-1651-4b5f-bffd-5777feb437d4">
                <a:extLst>
                  <a:ext uri="{FF2B5EF4-FFF2-40B4-BE49-F238E27FC236}">
                    <a16:creationId xmlns:a16="http://schemas.microsoft.com/office/drawing/2014/main" id="{C61DCC1B-33F2-14A3-59C0-66E4A275427F}"/>
                  </a:ext>
                </a:extLst>
              </p:cNvPr>
              <p:cNvSpPr/>
              <p:nvPr/>
            </p:nvSpPr>
            <p:spPr>
              <a:xfrm>
                <a:off x="7477707" y="1019096"/>
                <a:ext cx="715059" cy="715059"/>
              </a:xfrm>
              <a:prstGeom prst="arc">
                <a:avLst>
                  <a:gd name="adj1" fmla="val 14255596"/>
                  <a:gd name="adj2" fmla="val 18088074"/>
                </a:avLst>
              </a:prstGeom>
              <a:noFill/>
              <a:ln w="19050">
                <a:gradFill flip="none" rotWithShape="1">
                  <a:gsLst>
                    <a:gs pos="2000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/>
              </a:p>
            </p:txBody>
          </p:sp>
          <p:sp>
            <p:nvSpPr>
              <p:cNvPr id="503" name="islide-4-9" descr="21df04b4-20b0-4495-ac2a-f6934e423b61">
                <a:extLst>
                  <a:ext uri="{FF2B5EF4-FFF2-40B4-BE49-F238E27FC236}">
                    <a16:creationId xmlns:a16="http://schemas.microsoft.com/office/drawing/2014/main" id="{F34BC552-AD81-29FC-424B-906DC4283DBC}"/>
                  </a:ext>
                </a:extLst>
              </p:cNvPr>
              <p:cNvSpPr/>
              <p:nvPr/>
            </p:nvSpPr>
            <p:spPr>
              <a:xfrm flipV="1">
                <a:off x="7477707" y="1019096"/>
                <a:ext cx="715059" cy="715059"/>
              </a:xfrm>
              <a:prstGeom prst="arc">
                <a:avLst>
                  <a:gd name="adj1" fmla="val 14255596"/>
                  <a:gd name="adj2" fmla="val 18088074"/>
                </a:avLst>
              </a:prstGeom>
              <a:noFill/>
              <a:ln w="19050">
                <a:gradFill flip="none" rotWithShape="1">
                  <a:gsLst>
                    <a:gs pos="20000">
                      <a:schemeClr val="accent1"/>
                    </a:gs>
                    <a:gs pos="100000">
                      <a:schemeClr val="accent2"/>
                    </a:gs>
                  </a:gsLst>
                  <a:lin ang="10800000" scaled="1"/>
                  <a:tileRect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/>
              </a:p>
            </p:txBody>
          </p:sp>
          <p:grpSp>
            <p:nvGrpSpPr>
              <p:cNvPr id="21" name="组合 20" descr="287985a7-eee0-4250-9ea3-25ff73938f15">
                <a:extLst>
                  <a:ext uri="{FF2B5EF4-FFF2-40B4-BE49-F238E27FC236}">
                    <a16:creationId xmlns:a16="http://schemas.microsoft.com/office/drawing/2014/main" id="{BB39C1F8-28AF-781E-B0D8-73EFB30EA314}"/>
                  </a:ext>
                </a:extLst>
              </p:cNvPr>
              <p:cNvGrpSpPr/>
              <p:nvPr/>
            </p:nvGrpSpPr>
            <p:grpSpPr>
              <a:xfrm>
                <a:off x="7543159" y="630301"/>
                <a:ext cx="3615833" cy="1487144"/>
                <a:chOff x="7543159" y="630301"/>
                <a:chExt cx="3615833" cy="1487144"/>
              </a:xfrm>
            </p:grpSpPr>
            <p:sp>
              <p:nvSpPr>
                <p:cNvPr id="496" name="Number4" descr="d867a597-7334-4810-889a-63ae17f071eb">
                  <a:extLst>
                    <a:ext uri="{FF2B5EF4-FFF2-40B4-BE49-F238E27FC236}">
                      <a16:creationId xmlns:a16="http://schemas.microsoft.com/office/drawing/2014/main" id="{8E4FAD38-BC5B-93A3-8859-90B3128F2545}"/>
                    </a:ext>
                  </a:extLst>
                </p:cNvPr>
                <p:cNvSpPr/>
                <p:nvPr/>
              </p:nvSpPr>
              <p:spPr>
                <a:xfrm>
                  <a:off x="7543159" y="1084548"/>
                  <a:ext cx="584157" cy="584157"/>
                </a:xfrm>
                <a:prstGeom prst="ellipse">
                  <a:avLst/>
                </a:prstGeom>
                <a:gradFill flip="none" rotWithShape="1">
                  <a:gsLst>
                    <a:gs pos="80000">
                      <a:schemeClr val="accent1"/>
                    </a:gs>
                    <a:gs pos="0">
                      <a:schemeClr val="accent2">
                        <a:alpha val="90000"/>
                      </a:schemeClr>
                    </a:gs>
                  </a:gsLst>
                  <a:lin ang="27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lumMod val="40000"/>
                          <a:lumOff val="60000"/>
                        </a:schemeClr>
                      </a:gs>
                      <a:gs pos="50500">
                        <a:schemeClr val="accent1">
                          <a:alpha val="0"/>
                        </a:schemeClr>
                      </a:gs>
                      <a:gs pos="100000">
                        <a:schemeClr val="accent2">
                          <a:lumMod val="40000"/>
                          <a:lumOff val="60000"/>
                        </a:schemeClr>
                      </a:gs>
                    </a:gsLst>
                    <a:lin ang="270000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2400" b="1" i="0" u="none">
                      <a:solidFill>
                        <a:srgbClr val="FFFFFF"/>
                      </a:solidFill>
                      <a:latin typeface="Arial"/>
                    </a:rPr>
                    <a:t>4</a:t>
                  </a:r>
                </a:p>
              </p:txBody>
            </p:sp>
            <p:sp>
              <p:nvSpPr>
                <p:cNvPr id="493" name="Bullet4" descr="ab1c456b-be75-4e12-b55c-468dcb3027d8">
                  <a:extLst>
                    <a:ext uri="{FF2B5EF4-FFF2-40B4-BE49-F238E27FC236}">
                      <a16:creationId xmlns:a16="http://schemas.microsoft.com/office/drawing/2014/main" id="{5C695C79-CEF3-05A6-15ED-364F94B3F14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240045" y="630301"/>
                  <a:ext cx="2918947" cy="67321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800" b="1" i="0" u="none" strike="noStrike">
                      <a:solidFill>
                        <a:srgbClr val="000000"/>
                      </a:solidFill>
                      <a:ea typeface="微软雅黑"/>
                    </a:rPr>
                    <a:t>代码生成与重构</a:t>
                  </a:r>
                </a:p>
              </p:txBody>
            </p:sp>
            <p:sp>
              <p:nvSpPr>
                <p:cNvPr id="494" name="Text4" descr="a225d2b8-2e78-45f6-b03f-4cb2305aadd5">
                  <a:extLst>
                    <a:ext uri="{FF2B5EF4-FFF2-40B4-BE49-F238E27FC236}">
                      <a16:creationId xmlns:a16="http://schemas.microsoft.com/office/drawing/2014/main" id="{6435D27F-43B1-B9B1-F732-9B093271A45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240045" y="1303515"/>
                  <a:ext cx="2918947" cy="81393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200" b="0" i="0" u="none" strike="noStrike">
                      <a:solidFill>
                        <a:srgbClr val="000000"/>
                      </a:solidFill>
                      <a:latin typeface="Arial"/>
                    </a:rPr>
                    <a:t>Claude Sonnet 4.5是公认最强代码模型。</a:t>
                  </a:r>
                </a:p>
              </p:txBody>
            </p:sp>
          </p:grpSp>
        </p:grpSp>
        <p:grpSp>
          <p:nvGrpSpPr>
            <p:cNvPr id="41" name="组合 40" descr="8bf9521c-466c-46d2-800e-4e910c09e8a0">
              <a:extLst>
                <a:ext uri="{FF2B5EF4-FFF2-40B4-BE49-F238E27FC236}">
                  <a16:creationId xmlns:a16="http://schemas.microsoft.com/office/drawing/2014/main" id="{89D7B3D1-9858-6C44-12E2-30A09B18E376}"/>
                </a:ext>
              </a:extLst>
            </p:cNvPr>
            <p:cNvGrpSpPr/>
            <p:nvPr/>
          </p:nvGrpSpPr>
          <p:grpSpPr>
            <a:xfrm>
              <a:off x="8247698" y="2907108"/>
              <a:ext cx="3271202" cy="1487144"/>
              <a:chOff x="8127316" y="1555630"/>
              <a:chExt cx="3271202" cy="1487144"/>
            </a:xfrm>
          </p:grpSpPr>
          <p:grpSp>
            <p:nvGrpSpPr>
              <p:cNvPr id="40" name="组合 39" descr="d2609bc2-2975-4043-9b9a-ec8ddad67bd0">
                <a:extLst>
                  <a:ext uri="{FF2B5EF4-FFF2-40B4-BE49-F238E27FC236}">
                    <a16:creationId xmlns:a16="http://schemas.microsoft.com/office/drawing/2014/main" id="{A4068394-2CBF-66DC-E8DB-30FFB3CD8DD4}"/>
                  </a:ext>
                </a:extLst>
              </p:cNvPr>
              <p:cNvGrpSpPr/>
              <p:nvPr/>
            </p:nvGrpSpPr>
            <p:grpSpPr>
              <a:xfrm>
                <a:off x="8127316" y="1923203"/>
                <a:ext cx="757504" cy="757504"/>
                <a:chOff x="8127316" y="1923203"/>
                <a:chExt cx="757504" cy="757504"/>
              </a:xfrm>
            </p:grpSpPr>
            <p:sp>
              <p:nvSpPr>
                <p:cNvPr id="509" name="islide-4-1" descr="e2b0e4b1-4ede-4f4e-8a66-a345b2af4d29">
                  <a:extLst>
                    <a:ext uri="{FF2B5EF4-FFF2-40B4-BE49-F238E27FC236}">
                      <a16:creationId xmlns:a16="http://schemas.microsoft.com/office/drawing/2014/main" id="{63801F5E-9D8B-1402-DE50-D397D5833A36}"/>
                    </a:ext>
                  </a:extLst>
                </p:cNvPr>
                <p:cNvSpPr/>
                <p:nvPr/>
              </p:nvSpPr>
              <p:spPr>
                <a:xfrm>
                  <a:off x="8127316" y="1923203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 flip="none" rotWithShape="1"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15" name="islide-4-7" descr="e5af6685-1f2a-4221-aaf0-a35ade8a9484">
                  <a:extLst>
                    <a:ext uri="{FF2B5EF4-FFF2-40B4-BE49-F238E27FC236}">
                      <a16:creationId xmlns:a16="http://schemas.microsoft.com/office/drawing/2014/main" id="{F3A56FA7-9FB1-FFA5-3F09-B78BE1C38CD9}"/>
                    </a:ext>
                  </a:extLst>
                </p:cNvPr>
                <p:cNvSpPr/>
                <p:nvPr/>
              </p:nvSpPr>
              <p:spPr>
                <a:xfrm flipH="1">
                  <a:off x="8127316" y="1923203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5400000" scaled="0"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16" name="islide-4-8" descr="0303ef14-0d49-474f-a6e5-1fdabbb229a7">
                  <a:extLst>
                    <a:ext uri="{FF2B5EF4-FFF2-40B4-BE49-F238E27FC236}">
                      <a16:creationId xmlns:a16="http://schemas.microsoft.com/office/drawing/2014/main" id="{F70DAE5C-8C48-183A-6772-8808E1A9C844}"/>
                    </a:ext>
                  </a:extLst>
                </p:cNvPr>
                <p:cNvSpPr/>
                <p:nvPr/>
              </p:nvSpPr>
              <p:spPr>
                <a:xfrm>
                  <a:off x="8148538" y="1944425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17" name="islide-4-9" descr="d0970e2c-c126-4b3b-ae73-07a042445981">
                  <a:extLst>
                    <a:ext uri="{FF2B5EF4-FFF2-40B4-BE49-F238E27FC236}">
                      <a16:creationId xmlns:a16="http://schemas.microsoft.com/office/drawing/2014/main" id="{9C22E1AB-4237-81FA-0728-964F4B2A5650}"/>
                    </a:ext>
                  </a:extLst>
                </p:cNvPr>
                <p:cNvSpPr/>
                <p:nvPr/>
              </p:nvSpPr>
              <p:spPr>
                <a:xfrm flipV="1">
                  <a:off x="8148538" y="1944425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2" name="组合 21" descr="c049a207-cc8d-4e3a-a8b7-1ed25db8ec69">
                <a:extLst>
                  <a:ext uri="{FF2B5EF4-FFF2-40B4-BE49-F238E27FC236}">
                    <a16:creationId xmlns:a16="http://schemas.microsoft.com/office/drawing/2014/main" id="{32D0E17E-0F9C-28EA-1A24-CDA24F108380}"/>
                  </a:ext>
                </a:extLst>
              </p:cNvPr>
              <p:cNvGrpSpPr/>
              <p:nvPr/>
            </p:nvGrpSpPr>
            <p:grpSpPr>
              <a:xfrm>
                <a:off x="8213990" y="1555630"/>
                <a:ext cx="3184528" cy="1487144"/>
                <a:chOff x="8213990" y="1555630"/>
                <a:chExt cx="3184528" cy="1487144"/>
              </a:xfrm>
            </p:grpSpPr>
            <p:sp>
              <p:nvSpPr>
                <p:cNvPr id="510" name="Number5" descr="0e80a3e1-d62d-47a3-8258-6fc445048cb0">
                  <a:extLst>
                    <a:ext uri="{FF2B5EF4-FFF2-40B4-BE49-F238E27FC236}">
                      <a16:creationId xmlns:a16="http://schemas.microsoft.com/office/drawing/2014/main" id="{AD4DD87B-ED81-E047-A44D-E8E81B0EBD75}"/>
                    </a:ext>
                  </a:extLst>
                </p:cNvPr>
                <p:cNvSpPr/>
                <p:nvPr/>
              </p:nvSpPr>
              <p:spPr>
                <a:xfrm>
                  <a:off x="8213990" y="2009877"/>
                  <a:ext cx="584157" cy="584157"/>
                </a:xfrm>
                <a:prstGeom prst="ellipse">
                  <a:avLst/>
                </a:prstGeom>
                <a:gradFill flip="none" rotWithShape="1">
                  <a:gsLst>
                    <a:gs pos="80000">
                      <a:schemeClr val="accent1"/>
                    </a:gs>
                    <a:gs pos="0">
                      <a:schemeClr val="accent2">
                        <a:alpha val="90000"/>
                      </a:schemeClr>
                    </a:gs>
                  </a:gsLst>
                  <a:lin ang="27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lumMod val="40000"/>
                          <a:lumOff val="60000"/>
                        </a:schemeClr>
                      </a:gs>
                      <a:gs pos="50500">
                        <a:schemeClr val="accent1">
                          <a:alpha val="0"/>
                        </a:schemeClr>
                      </a:gs>
                      <a:gs pos="100000">
                        <a:schemeClr val="accent2">
                          <a:lumMod val="40000"/>
                          <a:lumOff val="60000"/>
                        </a:schemeClr>
                      </a:gs>
                    </a:gsLst>
                    <a:lin ang="270000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2400" b="1" i="0" u="none">
                      <a:solidFill>
                        <a:srgbClr val="FFFFFF"/>
                      </a:solidFill>
                      <a:latin typeface="Arial"/>
                    </a:rPr>
                    <a:t>5</a:t>
                  </a:r>
                </a:p>
              </p:txBody>
            </p:sp>
            <p:sp>
              <p:nvSpPr>
                <p:cNvPr id="507" name="Bullet5" descr="003d488b-d00f-4c47-8400-e5a72c1cc9b9">
                  <a:extLst>
                    <a:ext uri="{FF2B5EF4-FFF2-40B4-BE49-F238E27FC236}">
                      <a16:creationId xmlns:a16="http://schemas.microsoft.com/office/drawing/2014/main" id="{28FD6E1C-EBA4-6710-82D0-739B272503D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910877" y="1555630"/>
                  <a:ext cx="2487641" cy="67321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800" b="1" i="0" u="none" strike="noStrike">
                      <a:solidFill>
                        <a:srgbClr val="000000"/>
                      </a:solidFill>
                      <a:ea typeface="微软雅黑"/>
                    </a:rPr>
                    <a:t>垂直领域任务</a:t>
                  </a:r>
                </a:p>
              </p:txBody>
            </p:sp>
            <p:sp>
              <p:nvSpPr>
                <p:cNvPr id="508" name="Text5" descr="ba106376-f2db-4a8c-8753-78b9fa3fb70d">
                  <a:extLst>
                    <a:ext uri="{FF2B5EF4-FFF2-40B4-BE49-F238E27FC236}">
                      <a16:creationId xmlns:a16="http://schemas.microsoft.com/office/drawing/2014/main" id="{645127E2-C334-B769-BDD6-2084CB6EF77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910877" y="2228844"/>
                  <a:ext cx="2487641" cy="81393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200" b="0" i="0" u="none" strike="noStrike">
                      <a:solidFill>
                        <a:srgbClr val="000000"/>
                      </a:solidFill>
                      <a:ea typeface="微软雅黑"/>
                    </a:rPr>
                    <a:t>使用金融、法律等行业大模型。</a:t>
                  </a:r>
                </a:p>
              </p:txBody>
            </p:sp>
          </p:grpSp>
        </p:grpSp>
        <p:grpSp>
          <p:nvGrpSpPr>
            <p:cNvPr id="62" name="组合 61" descr="fcaac1c8-c920-4fda-be5b-11b3448d34e2">
              <a:extLst>
                <a:ext uri="{FF2B5EF4-FFF2-40B4-BE49-F238E27FC236}">
                  <a16:creationId xmlns:a16="http://schemas.microsoft.com/office/drawing/2014/main" id="{1B2A732F-A55F-6AF8-0D33-71693902C487}"/>
                </a:ext>
              </a:extLst>
            </p:cNvPr>
            <p:cNvGrpSpPr/>
            <p:nvPr/>
          </p:nvGrpSpPr>
          <p:grpSpPr>
            <a:xfrm>
              <a:off x="7594814" y="4785514"/>
              <a:ext cx="3702507" cy="1487144"/>
              <a:chOff x="7403252" y="5256945"/>
              <a:chExt cx="3702507" cy="1487144"/>
            </a:xfrm>
          </p:grpSpPr>
          <p:grpSp>
            <p:nvGrpSpPr>
              <p:cNvPr id="61" name="组合 60" descr="d6a6cb04-c738-43a2-87be-833e6f3819d1">
                <a:extLst>
                  <a:ext uri="{FF2B5EF4-FFF2-40B4-BE49-F238E27FC236}">
                    <a16:creationId xmlns:a16="http://schemas.microsoft.com/office/drawing/2014/main" id="{9B55AEA9-F35F-12E4-A98E-68AC59CF7558}"/>
                  </a:ext>
                </a:extLst>
              </p:cNvPr>
              <p:cNvGrpSpPr/>
              <p:nvPr/>
            </p:nvGrpSpPr>
            <p:grpSpPr>
              <a:xfrm>
                <a:off x="7403252" y="5624518"/>
                <a:ext cx="757504" cy="757504"/>
                <a:chOff x="7403252" y="5624518"/>
                <a:chExt cx="757504" cy="757504"/>
              </a:xfrm>
            </p:grpSpPr>
            <p:sp>
              <p:nvSpPr>
                <p:cNvPr id="565" name="islide-4-1" descr="9b3cf5f9-d48f-4623-a206-4e9e48adee84">
                  <a:extLst>
                    <a:ext uri="{FF2B5EF4-FFF2-40B4-BE49-F238E27FC236}">
                      <a16:creationId xmlns:a16="http://schemas.microsoft.com/office/drawing/2014/main" id="{A022312B-6F4D-A9F2-2F35-785AF51C36A8}"/>
                    </a:ext>
                  </a:extLst>
                </p:cNvPr>
                <p:cNvSpPr/>
                <p:nvPr/>
              </p:nvSpPr>
              <p:spPr>
                <a:xfrm>
                  <a:off x="7403252" y="5624518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 flip="none" rotWithShape="1"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71" name="islide-4-7" descr="a088ca44-fbf8-47aa-8a52-9cc01a52a9bd">
                  <a:extLst>
                    <a:ext uri="{FF2B5EF4-FFF2-40B4-BE49-F238E27FC236}">
                      <a16:creationId xmlns:a16="http://schemas.microsoft.com/office/drawing/2014/main" id="{D32118E2-5E38-FED0-3F8A-1FD747CC5CD2}"/>
                    </a:ext>
                  </a:extLst>
                </p:cNvPr>
                <p:cNvSpPr/>
                <p:nvPr/>
              </p:nvSpPr>
              <p:spPr>
                <a:xfrm flipH="1">
                  <a:off x="7403252" y="5624518"/>
                  <a:ext cx="757504" cy="757504"/>
                </a:xfrm>
                <a:prstGeom prst="blockArc">
                  <a:avLst>
                    <a:gd name="adj1" fmla="val 18257164"/>
                    <a:gd name="adj2" fmla="val 3319074"/>
                    <a:gd name="adj3" fmla="val 5612"/>
                  </a:avLst>
                </a:prstGeom>
                <a:gradFill>
                  <a:gsLst>
                    <a:gs pos="20000">
                      <a:schemeClr val="accent2">
                        <a:lumMod val="60000"/>
                        <a:lumOff val="40000"/>
                      </a:schemeClr>
                    </a:gs>
                    <a:gs pos="85000">
                      <a:schemeClr val="accent1">
                        <a:lumMod val="60000"/>
                        <a:lumOff val="40000"/>
                      </a:schemeClr>
                    </a:gs>
                  </a:gsLst>
                  <a:lin ang="5400000" scaled="0"/>
                </a:gra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72" name="islide-4-8" descr="b84a8c70-3668-480c-b684-c4b1e3052854">
                  <a:extLst>
                    <a:ext uri="{FF2B5EF4-FFF2-40B4-BE49-F238E27FC236}">
                      <a16:creationId xmlns:a16="http://schemas.microsoft.com/office/drawing/2014/main" id="{98C09635-DEA3-A775-5BE9-9B0F22C2AE87}"/>
                    </a:ext>
                  </a:extLst>
                </p:cNvPr>
                <p:cNvSpPr/>
                <p:nvPr/>
              </p:nvSpPr>
              <p:spPr>
                <a:xfrm>
                  <a:off x="7424474" y="5645740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/>
                </a:p>
              </p:txBody>
            </p:sp>
            <p:sp>
              <p:nvSpPr>
                <p:cNvPr id="573" name="islide-4-9" descr="e4ae4733-b1e7-48e3-8ff4-7291e6aa9da5">
                  <a:extLst>
                    <a:ext uri="{FF2B5EF4-FFF2-40B4-BE49-F238E27FC236}">
                      <a16:creationId xmlns:a16="http://schemas.microsoft.com/office/drawing/2014/main" id="{CF5416F5-2C5B-5273-C899-A089E3B76EBC}"/>
                    </a:ext>
                  </a:extLst>
                </p:cNvPr>
                <p:cNvSpPr/>
                <p:nvPr/>
              </p:nvSpPr>
              <p:spPr>
                <a:xfrm flipV="1">
                  <a:off x="7424474" y="5645740"/>
                  <a:ext cx="715059" cy="715059"/>
                </a:xfrm>
                <a:prstGeom prst="arc">
                  <a:avLst>
                    <a:gd name="adj1" fmla="val 14255596"/>
                    <a:gd name="adj2" fmla="val 18088074"/>
                  </a:avLst>
                </a:prstGeom>
                <a:noFill/>
                <a:ln w="19050">
                  <a:gradFill flip="none" rotWithShape="1">
                    <a:gsLst>
                      <a:gs pos="20000">
                        <a:schemeClr val="accent1"/>
                      </a:gs>
                      <a:gs pos="100000">
                        <a:schemeClr val="accent2"/>
                      </a:gs>
                    </a:gsLst>
                    <a:lin ang="108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6" name="组合 25" descr="c1049817-06cc-41bb-bdb7-beea2661fd7b">
                <a:extLst>
                  <a:ext uri="{FF2B5EF4-FFF2-40B4-BE49-F238E27FC236}">
                    <a16:creationId xmlns:a16="http://schemas.microsoft.com/office/drawing/2014/main" id="{A031651E-9D4B-0C59-4A88-6A7F3B89C8FE}"/>
                  </a:ext>
                </a:extLst>
              </p:cNvPr>
              <p:cNvGrpSpPr/>
              <p:nvPr/>
            </p:nvGrpSpPr>
            <p:grpSpPr>
              <a:xfrm>
                <a:off x="7489926" y="5256945"/>
                <a:ext cx="3615833" cy="1487144"/>
                <a:chOff x="7489926" y="5256945"/>
                <a:chExt cx="3615833" cy="1487144"/>
              </a:xfrm>
            </p:grpSpPr>
            <p:sp>
              <p:nvSpPr>
                <p:cNvPr id="566" name="Number6" descr="670ca0e1-6ad8-4dc1-b684-531365d68a18">
                  <a:extLst>
                    <a:ext uri="{FF2B5EF4-FFF2-40B4-BE49-F238E27FC236}">
                      <a16:creationId xmlns:a16="http://schemas.microsoft.com/office/drawing/2014/main" id="{926D8369-5F5C-C3B8-AC8B-0373CA71237E}"/>
                    </a:ext>
                  </a:extLst>
                </p:cNvPr>
                <p:cNvSpPr/>
                <p:nvPr/>
              </p:nvSpPr>
              <p:spPr>
                <a:xfrm>
                  <a:off x="7489926" y="5711192"/>
                  <a:ext cx="584157" cy="584157"/>
                </a:xfrm>
                <a:prstGeom prst="ellipse">
                  <a:avLst/>
                </a:prstGeom>
                <a:gradFill flip="none" rotWithShape="1">
                  <a:gsLst>
                    <a:gs pos="80000">
                      <a:schemeClr val="accent1"/>
                    </a:gs>
                    <a:gs pos="0">
                      <a:schemeClr val="accent2">
                        <a:alpha val="90000"/>
                      </a:schemeClr>
                    </a:gs>
                  </a:gsLst>
                  <a:lin ang="27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2">
                          <a:lumMod val="40000"/>
                          <a:lumOff val="60000"/>
                        </a:schemeClr>
                      </a:gs>
                      <a:gs pos="50500">
                        <a:schemeClr val="accent1">
                          <a:alpha val="0"/>
                        </a:schemeClr>
                      </a:gs>
                      <a:gs pos="100000">
                        <a:schemeClr val="accent2">
                          <a:lumMod val="40000"/>
                          <a:lumOff val="60000"/>
                        </a:schemeClr>
                      </a:gs>
                    </a:gsLst>
                    <a:lin ang="270000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 anchorCtr="0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2400" b="1" i="0" u="none">
                      <a:solidFill>
                        <a:srgbClr val="FFFFFF"/>
                      </a:solidFill>
                      <a:latin typeface="Arial"/>
                    </a:rPr>
                    <a:t>6</a:t>
                  </a:r>
                </a:p>
              </p:txBody>
            </p:sp>
            <p:sp>
              <p:nvSpPr>
                <p:cNvPr id="563" name="Bullet6" descr="63bbab6c-44a7-4974-85f8-d32d61a5904f">
                  <a:extLst>
                    <a:ext uri="{FF2B5EF4-FFF2-40B4-BE49-F238E27FC236}">
                      <a16:creationId xmlns:a16="http://schemas.microsoft.com/office/drawing/2014/main" id="{205FBE18-9C3C-A473-6E39-EF920D7FEF2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186812" y="5256945"/>
                  <a:ext cx="2918947" cy="67321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800" b="1" i="0" u="none" strike="noStrike">
                      <a:solidFill>
                        <a:srgbClr val="000000"/>
                      </a:solidFill>
                      <a:ea typeface="微软雅黑"/>
                    </a:rPr>
                    <a:t>隐私与实时要求</a:t>
                  </a:r>
                </a:p>
              </p:txBody>
            </p:sp>
            <p:sp>
              <p:nvSpPr>
                <p:cNvPr id="564" name="Text6" descr="f7b68de6-77e9-461b-b476-87bfcb4f2090">
                  <a:extLst>
                    <a:ext uri="{FF2B5EF4-FFF2-40B4-BE49-F238E27FC236}">
                      <a16:creationId xmlns:a16="http://schemas.microsoft.com/office/drawing/2014/main" id="{5F61E47B-7532-23B8-2E78-BE1518BDCA9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186812" y="5930159"/>
                  <a:ext cx="2918947" cy="81393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1200" b="0" i="0" u="none" strike="noStrike">
                      <a:solidFill>
                        <a:srgbClr val="000000"/>
                      </a:solidFill>
                      <a:ea typeface="微软雅黑"/>
                    </a:rPr>
                    <a:t>采用本地化微调模型，基于Llama 3.1、Qwen等开源底座。</a:t>
                  </a:r>
                </a:p>
              </p:txBody>
            </p:sp>
          </p:grpSp>
        </p:grpSp>
      </p:grpSp>
      <p:sp>
        <p:nvSpPr>
          <p:cNvPr id="2" name="标题 1" descr="4c5aba46-18aa-461b-b2ed-f943f6683fd5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000000"/>
                </a:solidFill>
                <a:latin typeface="微软雅黑"/>
              </a:rPr>
              <a:t>1. 范式变革：从工具使用者到生态调度与流程架构师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5b11aee-5fff-4364-a600-2d2e3e6794e5.source.7.zh-Hans.pptx" descr="b21a2f19-71a9-4e0f-a1af-e9f36ed51e27">
            <a:extLst>
              <a:ext uri="{FF2B5EF4-FFF2-40B4-BE49-F238E27FC236}">
                <a16:creationId xmlns:a16="http://schemas.microsoft.com/office/drawing/2014/main" id="{C469FD4F-8A9E-D392-A845-9262DE26ADD2}"/>
              </a:ext>
            </a:extLst>
          </p:cNvPr>
          <p:cNvGrpSpPr/>
          <p:nvPr/>
        </p:nvGrpSpPr>
        <p:grpSpPr>
          <a:xfrm>
            <a:off x="660400" y="1130300"/>
            <a:ext cx="10858500" cy="5003800"/>
            <a:chOff x="660400" y="1130300"/>
            <a:chExt cx="10858500" cy="5003800"/>
          </a:xfrm>
        </p:grpSpPr>
        <p:sp>
          <p:nvSpPr>
            <p:cNvPr id="16" name="íşľîḍè" descr="9e8889cc-4fb4-45ac-b265-cd835c45bbb9">
              <a:extLst>
                <a:ext uri="{FF2B5EF4-FFF2-40B4-BE49-F238E27FC236}">
                  <a16:creationId xmlns:a16="http://schemas.microsoft.com/office/drawing/2014/main" id="{0904066A-F98A-B30A-921F-2DC1DE7B7A12}"/>
                </a:ext>
              </a:extLst>
            </p:cNvPr>
            <p:cNvSpPr/>
            <p:nvPr/>
          </p:nvSpPr>
          <p:spPr>
            <a:xfrm>
              <a:off x="1004596" y="2829436"/>
              <a:ext cx="10182808" cy="1550336"/>
            </a:xfrm>
            <a:prstGeom prst="roundRect">
              <a:avLst>
                <a:gd name="adj" fmla="val 50000"/>
              </a:avLst>
            </a:prstGeom>
            <a:noFill/>
            <a:ln w="6350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endParaRPr/>
            </a:p>
          </p:txBody>
        </p:sp>
        <p:sp>
          <p:nvSpPr>
            <p:cNvPr id="17" name="任意多边形: 形状 16" descr="82f4714f-9ed4-49a7-83c8-32c2233ea11a">
              <a:extLst>
                <a:ext uri="{FF2B5EF4-FFF2-40B4-BE49-F238E27FC236}">
                  <a16:creationId xmlns:a16="http://schemas.microsoft.com/office/drawing/2014/main" id="{4D3214FE-F626-6654-D69B-B58F153E15CD}"/>
                </a:ext>
              </a:extLst>
            </p:cNvPr>
            <p:cNvSpPr/>
            <p:nvPr/>
          </p:nvSpPr>
          <p:spPr>
            <a:xfrm>
              <a:off x="3292261" y="2777730"/>
              <a:ext cx="94491" cy="108730"/>
            </a:xfrm>
            <a:custGeom>
              <a:avLst/>
              <a:gdLst>
                <a:gd name="connsiteX0" fmla="*/ 0 w 185158"/>
                <a:gd name="connsiteY0" fmla="*/ 213059 h 213059"/>
                <a:gd name="connsiteX1" fmla="*/ 185159 w 185158"/>
                <a:gd name="connsiteY1" fmla="*/ 106530 h 213059"/>
                <a:gd name="connsiteX2" fmla="*/ 0 w 185158"/>
                <a:gd name="connsiteY2" fmla="*/ 0 h 213059"/>
                <a:gd name="connsiteX3" fmla="*/ 0 w 185158"/>
                <a:gd name="connsiteY3" fmla="*/ 213059 h 213059"/>
                <a:gd name="connsiteX4" fmla="*/ 0 w 185158"/>
                <a:gd name="connsiteY4" fmla="*/ 213059 h 2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158" h="213059">
                  <a:moveTo>
                    <a:pt x="0" y="213059"/>
                  </a:moveTo>
                  <a:lnTo>
                    <a:pt x="185159" y="106530"/>
                  </a:lnTo>
                  <a:lnTo>
                    <a:pt x="0" y="0"/>
                  </a:lnTo>
                  <a:lnTo>
                    <a:pt x="0" y="213059"/>
                  </a:lnTo>
                  <a:lnTo>
                    <a:pt x="0" y="213059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l">
                <a:lnSpc>
                  <a:spcPct val="120000"/>
                </a:lnSpc>
              </a:pPr>
              <a:endParaRPr/>
            </a:p>
          </p:txBody>
        </p:sp>
        <p:sp>
          <p:nvSpPr>
            <p:cNvPr id="18" name="任意多边形: 形状 17" descr="55b13242-706a-48e8-8448-2d68f1ee8c55">
              <a:extLst>
                <a:ext uri="{FF2B5EF4-FFF2-40B4-BE49-F238E27FC236}">
                  <a16:creationId xmlns:a16="http://schemas.microsoft.com/office/drawing/2014/main" id="{6E3746EE-9819-6B07-31BC-4103C4A21359}"/>
                </a:ext>
              </a:extLst>
            </p:cNvPr>
            <p:cNvSpPr/>
            <p:nvPr/>
          </p:nvSpPr>
          <p:spPr>
            <a:xfrm>
              <a:off x="6042405" y="2777730"/>
              <a:ext cx="94491" cy="108730"/>
            </a:xfrm>
            <a:custGeom>
              <a:avLst/>
              <a:gdLst>
                <a:gd name="connsiteX0" fmla="*/ 0 w 185158"/>
                <a:gd name="connsiteY0" fmla="*/ 213059 h 213059"/>
                <a:gd name="connsiteX1" fmla="*/ 185159 w 185158"/>
                <a:gd name="connsiteY1" fmla="*/ 106530 h 213059"/>
                <a:gd name="connsiteX2" fmla="*/ 0 w 185158"/>
                <a:gd name="connsiteY2" fmla="*/ 0 h 213059"/>
                <a:gd name="connsiteX3" fmla="*/ 0 w 185158"/>
                <a:gd name="connsiteY3" fmla="*/ 213059 h 213059"/>
                <a:gd name="connsiteX4" fmla="*/ 0 w 185158"/>
                <a:gd name="connsiteY4" fmla="*/ 213059 h 2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158" h="213059">
                  <a:moveTo>
                    <a:pt x="0" y="213059"/>
                  </a:moveTo>
                  <a:lnTo>
                    <a:pt x="185159" y="106530"/>
                  </a:lnTo>
                  <a:lnTo>
                    <a:pt x="0" y="0"/>
                  </a:lnTo>
                  <a:lnTo>
                    <a:pt x="0" y="213059"/>
                  </a:lnTo>
                  <a:lnTo>
                    <a:pt x="0" y="213059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l">
                <a:lnSpc>
                  <a:spcPct val="120000"/>
                </a:lnSpc>
              </a:pPr>
              <a:endParaRPr/>
            </a:p>
          </p:txBody>
        </p:sp>
        <p:sp>
          <p:nvSpPr>
            <p:cNvPr id="19" name="任意多边形: 形状 18" descr="d6f58fbe-d634-4fe4-9e33-531d72b016c2">
              <a:extLst>
                <a:ext uri="{FF2B5EF4-FFF2-40B4-BE49-F238E27FC236}">
                  <a16:creationId xmlns:a16="http://schemas.microsoft.com/office/drawing/2014/main" id="{984679A7-9D49-789A-08C3-AC5A981575FF}"/>
                </a:ext>
              </a:extLst>
            </p:cNvPr>
            <p:cNvSpPr/>
            <p:nvPr/>
          </p:nvSpPr>
          <p:spPr>
            <a:xfrm>
              <a:off x="8792549" y="2777730"/>
              <a:ext cx="94491" cy="108730"/>
            </a:xfrm>
            <a:custGeom>
              <a:avLst/>
              <a:gdLst>
                <a:gd name="connsiteX0" fmla="*/ 0 w 185158"/>
                <a:gd name="connsiteY0" fmla="*/ 213059 h 213059"/>
                <a:gd name="connsiteX1" fmla="*/ 185159 w 185158"/>
                <a:gd name="connsiteY1" fmla="*/ 106530 h 213059"/>
                <a:gd name="connsiteX2" fmla="*/ 0 w 185158"/>
                <a:gd name="connsiteY2" fmla="*/ 0 h 213059"/>
                <a:gd name="connsiteX3" fmla="*/ 0 w 185158"/>
                <a:gd name="connsiteY3" fmla="*/ 213059 h 213059"/>
                <a:gd name="connsiteX4" fmla="*/ 0 w 185158"/>
                <a:gd name="connsiteY4" fmla="*/ 213059 h 2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158" h="213059">
                  <a:moveTo>
                    <a:pt x="0" y="213059"/>
                  </a:moveTo>
                  <a:lnTo>
                    <a:pt x="185159" y="106530"/>
                  </a:lnTo>
                  <a:lnTo>
                    <a:pt x="0" y="0"/>
                  </a:lnTo>
                  <a:lnTo>
                    <a:pt x="0" y="213059"/>
                  </a:lnTo>
                  <a:lnTo>
                    <a:pt x="0" y="213059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l">
                <a:lnSpc>
                  <a:spcPct val="120000"/>
                </a:lnSpc>
              </a:pPr>
              <a:endParaRPr/>
            </a:p>
          </p:txBody>
        </p:sp>
        <p:sp>
          <p:nvSpPr>
            <p:cNvPr id="20" name="任意多边形: 形状 19" descr="02756774-018b-46e7-986a-a3d13166c009">
              <a:extLst>
                <a:ext uri="{FF2B5EF4-FFF2-40B4-BE49-F238E27FC236}">
                  <a16:creationId xmlns:a16="http://schemas.microsoft.com/office/drawing/2014/main" id="{E5DEC0AB-A49D-5509-4003-604DEFE4963B}"/>
                </a:ext>
              </a:extLst>
            </p:cNvPr>
            <p:cNvSpPr/>
            <p:nvPr/>
          </p:nvSpPr>
          <p:spPr>
            <a:xfrm flipH="1">
              <a:off x="7939912" y="4328361"/>
              <a:ext cx="94491" cy="108730"/>
            </a:xfrm>
            <a:custGeom>
              <a:avLst/>
              <a:gdLst>
                <a:gd name="connsiteX0" fmla="*/ 0 w 185158"/>
                <a:gd name="connsiteY0" fmla="*/ 213059 h 213059"/>
                <a:gd name="connsiteX1" fmla="*/ 185159 w 185158"/>
                <a:gd name="connsiteY1" fmla="*/ 106530 h 213059"/>
                <a:gd name="connsiteX2" fmla="*/ 0 w 185158"/>
                <a:gd name="connsiteY2" fmla="*/ 0 h 213059"/>
                <a:gd name="connsiteX3" fmla="*/ 0 w 185158"/>
                <a:gd name="connsiteY3" fmla="*/ 213059 h 213059"/>
                <a:gd name="connsiteX4" fmla="*/ 0 w 185158"/>
                <a:gd name="connsiteY4" fmla="*/ 213059 h 2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158" h="213059">
                  <a:moveTo>
                    <a:pt x="0" y="213059"/>
                  </a:moveTo>
                  <a:lnTo>
                    <a:pt x="185159" y="106530"/>
                  </a:lnTo>
                  <a:lnTo>
                    <a:pt x="0" y="0"/>
                  </a:lnTo>
                  <a:lnTo>
                    <a:pt x="0" y="213059"/>
                  </a:lnTo>
                  <a:lnTo>
                    <a:pt x="0" y="213059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l">
                <a:lnSpc>
                  <a:spcPct val="120000"/>
                </a:lnSpc>
              </a:pPr>
              <a:endParaRPr/>
            </a:p>
          </p:txBody>
        </p:sp>
        <p:sp>
          <p:nvSpPr>
            <p:cNvPr id="23" name="任意多边形: 形状 22" descr="1ec81a48-8b13-4f0a-8e7f-5fab9b3f1dca">
              <a:extLst>
                <a:ext uri="{FF2B5EF4-FFF2-40B4-BE49-F238E27FC236}">
                  <a16:creationId xmlns:a16="http://schemas.microsoft.com/office/drawing/2014/main" id="{317720C3-66F0-6EFC-23C0-F64944074E0A}"/>
                </a:ext>
              </a:extLst>
            </p:cNvPr>
            <p:cNvSpPr/>
            <p:nvPr/>
          </p:nvSpPr>
          <p:spPr>
            <a:xfrm flipH="1">
              <a:off x="4151247" y="4328361"/>
              <a:ext cx="94491" cy="108730"/>
            </a:xfrm>
            <a:custGeom>
              <a:avLst/>
              <a:gdLst>
                <a:gd name="connsiteX0" fmla="*/ 0 w 185158"/>
                <a:gd name="connsiteY0" fmla="*/ 213059 h 213059"/>
                <a:gd name="connsiteX1" fmla="*/ 185159 w 185158"/>
                <a:gd name="connsiteY1" fmla="*/ 106530 h 213059"/>
                <a:gd name="connsiteX2" fmla="*/ 0 w 185158"/>
                <a:gd name="connsiteY2" fmla="*/ 0 h 213059"/>
                <a:gd name="connsiteX3" fmla="*/ 0 w 185158"/>
                <a:gd name="connsiteY3" fmla="*/ 213059 h 213059"/>
                <a:gd name="connsiteX4" fmla="*/ 0 w 185158"/>
                <a:gd name="connsiteY4" fmla="*/ 213059 h 2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158" h="213059">
                  <a:moveTo>
                    <a:pt x="0" y="213059"/>
                  </a:moveTo>
                  <a:lnTo>
                    <a:pt x="185159" y="106530"/>
                  </a:lnTo>
                  <a:lnTo>
                    <a:pt x="0" y="0"/>
                  </a:lnTo>
                  <a:lnTo>
                    <a:pt x="0" y="213059"/>
                  </a:lnTo>
                  <a:lnTo>
                    <a:pt x="0" y="213059"/>
                  </a:lnTo>
                  <a:close/>
                </a:path>
              </a:pathLst>
            </a:custGeom>
            <a:solidFill>
              <a:schemeClr val="tx1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 anchorCtr="0"/>
            <a:lstStyle/>
            <a:p>
              <a:pPr algn="l">
                <a:lnSpc>
                  <a:spcPct val="120000"/>
                </a:lnSpc>
              </a:pPr>
              <a:endParaRPr/>
            </a:p>
          </p:txBody>
        </p:sp>
        <p:sp>
          <p:nvSpPr>
            <p:cNvPr id="24" name="Title" descr="ce6dc037-176d-43c5-b720-fa001d278602">
              <a:extLst>
                <a:ext uri="{FF2B5EF4-FFF2-40B4-BE49-F238E27FC236}">
                  <a16:creationId xmlns:a16="http://schemas.microsoft.com/office/drawing/2014/main" id="{56A20CF8-C9D3-F87A-B198-EB4AFAAA71E7}"/>
                </a:ext>
              </a:extLst>
            </p:cNvPr>
            <p:cNvSpPr>
              <a:spLocks/>
            </p:cNvSpPr>
            <p:nvPr/>
          </p:nvSpPr>
          <p:spPr>
            <a:xfrm>
              <a:off x="1362614" y="3178175"/>
              <a:ext cx="9466772" cy="772297"/>
            </a:xfrm>
            <a:prstGeom prst="rect">
              <a:avLst/>
            </a:prstGeom>
            <a:noFill/>
            <a:ln w="7620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 anchorCtr="0">
              <a:normAutofit/>
            </a:bodyPr>
            <a:lstStyle/>
            <a:p>
              <a:pPr algn="l"/>
              <a:r>
                <a:rPr lang="en-US" sz="2400" b="1" i="0" u="none">
                  <a:solidFill>
                    <a:srgbClr val="000000"/>
                  </a:solidFill>
                  <a:ea typeface="微软雅黑"/>
                </a:rPr>
                <a:t>理解知识库重要性，掌握前沿技术与部署策略。</a:t>
              </a:r>
            </a:p>
          </p:txBody>
        </p:sp>
        <p:grpSp>
          <p:nvGrpSpPr>
            <p:cNvPr id="3" name="组合 1" descr="891f3815-7aa0-4492-88b8-d61775b9547e">
              <a:extLst>
                <a:ext uri="{FF2B5EF4-FFF2-40B4-BE49-F238E27FC236}">
                  <a16:creationId xmlns:a16="http://schemas.microsoft.com/office/drawing/2014/main" id="{014FCD4D-097C-6BB9-5716-574D388D937C}"/>
                </a:ext>
              </a:extLst>
            </p:cNvPr>
            <p:cNvGrpSpPr/>
            <p:nvPr/>
          </p:nvGrpSpPr>
          <p:grpSpPr>
            <a:xfrm>
              <a:off x="660401" y="1130300"/>
              <a:ext cx="2608068" cy="1938095"/>
              <a:chOff x="660401" y="1130300"/>
              <a:chExt cx="2608068" cy="1938095"/>
            </a:xfrm>
          </p:grpSpPr>
          <p:sp>
            <p:nvSpPr>
              <p:cNvPr id="76" name="Number1" descr="950d986b-bfe3-4aeb-959a-025bf2f0b169">
                <a:extLst>
                  <a:ext uri="{FF2B5EF4-FFF2-40B4-BE49-F238E27FC236}">
                    <a16:creationId xmlns:a16="http://schemas.microsoft.com/office/drawing/2014/main" id="{36239263-6FE0-2389-CD11-D8B296523FA8}"/>
                  </a:ext>
                </a:extLst>
              </p:cNvPr>
              <p:cNvSpPr/>
              <p:nvPr/>
            </p:nvSpPr>
            <p:spPr>
              <a:xfrm flipH="1">
                <a:off x="1733634" y="2614795"/>
                <a:ext cx="461602" cy="453600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1</a:t>
                </a:r>
              </a:p>
            </p:txBody>
          </p:sp>
          <p:sp>
            <p:nvSpPr>
              <p:cNvPr id="77" name="Bullet1" descr="b3aaf667-89d7-492b-a016-9d79871b8a58">
                <a:extLst>
                  <a:ext uri="{FF2B5EF4-FFF2-40B4-BE49-F238E27FC236}">
                    <a16:creationId xmlns:a16="http://schemas.microsoft.com/office/drawing/2014/main" id="{ADF66E6E-FFB1-B996-5E6C-59E012F99B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1" y="1130300"/>
                <a:ext cx="2608068" cy="670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92500"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为什么知识库仍是核心？</a:t>
                </a:r>
              </a:p>
            </p:txBody>
          </p:sp>
          <p:sp>
            <p:nvSpPr>
              <p:cNvPr id="78" name="Text1" descr="e310c157-4070-478e-af01-f8a18899d5d3">
                <a:extLst>
                  <a:ext uri="{FF2B5EF4-FFF2-40B4-BE49-F238E27FC236}">
                    <a16:creationId xmlns:a16="http://schemas.microsoft.com/office/drawing/2014/main" id="{CE256F05-2CF6-0231-4E47-0F143E0188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1" y="1800615"/>
                <a:ext cx="2608068" cy="814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知识库是企业将数据转化为智能体能力的“燃料库”。</a:t>
                </a:r>
              </a:p>
            </p:txBody>
          </p:sp>
        </p:grpSp>
        <p:grpSp>
          <p:nvGrpSpPr>
            <p:cNvPr id="4" name="组合 3" descr="8a0ff32c-69a2-43af-af26-7683e4b4c1cf">
              <a:extLst>
                <a:ext uri="{FF2B5EF4-FFF2-40B4-BE49-F238E27FC236}">
                  <a16:creationId xmlns:a16="http://schemas.microsoft.com/office/drawing/2014/main" id="{BCBCF010-46E9-995A-2229-6D64371B8784}"/>
                </a:ext>
              </a:extLst>
            </p:cNvPr>
            <p:cNvGrpSpPr/>
            <p:nvPr/>
          </p:nvGrpSpPr>
          <p:grpSpPr>
            <a:xfrm>
              <a:off x="3410545" y="1130300"/>
              <a:ext cx="2608068" cy="1938095"/>
              <a:chOff x="3410545" y="1130300"/>
              <a:chExt cx="2608068" cy="1938095"/>
            </a:xfrm>
          </p:grpSpPr>
          <p:sp>
            <p:nvSpPr>
              <p:cNvPr id="73" name="Number2" descr="a8493969-1a33-47fb-9fb7-7f82b7403c6e">
                <a:extLst>
                  <a:ext uri="{FF2B5EF4-FFF2-40B4-BE49-F238E27FC236}">
                    <a16:creationId xmlns:a16="http://schemas.microsoft.com/office/drawing/2014/main" id="{8C926357-4047-DF65-4F60-C6E47EC0FC5C}"/>
                  </a:ext>
                </a:extLst>
              </p:cNvPr>
              <p:cNvSpPr/>
              <p:nvPr/>
            </p:nvSpPr>
            <p:spPr>
              <a:xfrm flipH="1">
                <a:off x="4483778" y="2614795"/>
                <a:ext cx="461602" cy="453600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2</a:t>
                </a:r>
              </a:p>
            </p:txBody>
          </p:sp>
          <p:sp>
            <p:nvSpPr>
              <p:cNvPr id="74" name="Bullet2" descr="aecc94b0-415f-4085-b320-d4cec0b190d0">
                <a:extLst>
                  <a:ext uri="{FF2B5EF4-FFF2-40B4-BE49-F238E27FC236}">
                    <a16:creationId xmlns:a16="http://schemas.microsoft.com/office/drawing/2014/main" id="{A757C0B6-69EA-0EAB-6B8D-56553A9DED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10545" y="1130300"/>
                <a:ext cx="2608068" cy="670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92500" lnSpcReduction="10000"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技术前沿：从向量检索到GraphRAG与智能知识库</a:t>
                </a:r>
              </a:p>
            </p:txBody>
          </p:sp>
          <p:sp>
            <p:nvSpPr>
              <p:cNvPr id="75" name="Text2" descr="63e34e12-57e7-4a79-b495-6397e3d0eb5c">
                <a:extLst>
                  <a:ext uri="{FF2B5EF4-FFF2-40B4-BE49-F238E27FC236}">
                    <a16:creationId xmlns:a16="http://schemas.microsoft.com/office/drawing/2014/main" id="{ABADD028-EDCA-4180-444A-DACCDE060A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10545" y="1800615"/>
                <a:ext cx="2608068" cy="814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技术走向融合知识图谱、业务规则和实时数据的智能知识库。</a:t>
                </a:r>
              </a:p>
            </p:txBody>
          </p:sp>
        </p:grpSp>
        <p:grpSp>
          <p:nvGrpSpPr>
            <p:cNvPr id="5" name="组合 4" descr="b6cdfd28-ff3c-49c9-916b-9c972c540fb3">
              <a:extLst>
                <a:ext uri="{FF2B5EF4-FFF2-40B4-BE49-F238E27FC236}">
                  <a16:creationId xmlns:a16="http://schemas.microsoft.com/office/drawing/2014/main" id="{E70BC374-CCE4-1775-3BAC-E456C7E22969}"/>
                </a:ext>
              </a:extLst>
            </p:cNvPr>
            <p:cNvGrpSpPr/>
            <p:nvPr/>
          </p:nvGrpSpPr>
          <p:grpSpPr>
            <a:xfrm>
              <a:off x="6160689" y="1130300"/>
              <a:ext cx="2608068" cy="1938095"/>
              <a:chOff x="6160689" y="1130300"/>
              <a:chExt cx="2608068" cy="1938095"/>
            </a:xfrm>
          </p:grpSpPr>
          <p:sp>
            <p:nvSpPr>
              <p:cNvPr id="70" name="Number3" descr="debcce5c-8300-46f9-b001-949993f5557b">
                <a:extLst>
                  <a:ext uri="{FF2B5EF4-FFF2-40B4-BE49-F238E27FC236}">
                    <a16:creationId xmlns:a16="http://schemas.microsoft.com/office/drawing/2014/main" id="{5820F537-66FC-BA4C-1A30-81064840B57D}"/>
                  </a:ext>
                </a:extLst>
              </p:cNvPr>
              <p:cNvSpPr/>
              <p:nvPr/>
            </p:nvSpPr>
            <p:spPr>
              <a:xfrm flipH="1">
                <a:off x="7233922" y="2614795"/>
                <a:ext cx="461602" cy="453600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3</a:t>
                </a:r>
              </a:p>
            </p:txBody>
          </p:sp>
          <p:sp>
            <p:nvSpPr>
              <p:cNvPr id="71" name="Bullet3" descr="8c78cb9b-369c-4cdd-a1d0-eac49bad5d60">
                <a:extLst>
                  <a:ext uri="{FF2B5EF4-FFF2-40B4-BE49-F238E27FC236}">
                    <a16:creationId xmlns:a16="http://schemas.microsoft.com/office/drawing/2014/main" id="{4573F2AB-7022-B064-1BCC-ECDE0BA8EA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60689" y="1130300"/>
                <a:ext cx="2608068" cy="670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能力跃迁</a:t>
                </a:r>
              </a:p>
            </p:txBody>
          </p:sp>
          <p:sp>
            <p:nvSpPr>
              <p:cNvPr id="72" name="Text3" descr="685cfe40-1be0-4eff-bbf2-0e549dde8a44">
                <a:extLst>
                  <a:ext uri="{FF2B5EF4-FFF2-40B4-BE49-F238E27FC236}">
                    <a16:creationId xmlns:a16="http://schemas.microsoft.com/office/drawing/2014/main" id="{307EE7A6-5F53-150E-39DF-0C85DC67C55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60689" y="1800615"/>
                <a:ext cx="2608068" cy="814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从简单语义检索走向高精度、可溯源的行业问答智能知识库。</a:t>
                </a:r>
              </a:p>
            </p:txBody>
          </p:sp>
        </p:grpSp>
        <p:grpSp>
          <p:nvGrpSpPr>
            <p:cNvPr id="6" name="组合 5" descr="2c720161-f0b3-492d-bfa2-3903c4d677c6">
              <a:extLst>
                <a:ext uri="{FF2B5EF4-FFF2-40B4-BE49-F238E27FC236}">
                  <a16:creationId xmlns:a16="http://schemas.microsoft.com/office/drawing/2014/main" id="{37893453-28F6-7A78-46E9-00DA6F0C2E9D}"/>
                </a:ext>
              </a:extLst>
            </p:cNvPr>
            <p:cNvGrpSpPr/>
            <p:nvPr/>
          </p:nvGrpSpPr>
          <p:grpSpPr>
            <a:xfrm>
              <a:off x="8910832" y="1130300"/>
              <a:ext cx="2608068" cy="1938095"/>
              <a:chOff x="8910832" y="1130300"/>
              <a:chExt cx="2608068" cy="1938095"/>
            </a:xfrm>
          </p:grpSpPr>
          <p:sp>
            <p:nvSpPr>
              <p:cNvPr id="67" name="Number4" descr="4dfa31d5-e5a1-41b4-aed4-419c8c3cbb0b">
                <a:extLst>
                  <a:ext uri="{FF2B5EF4-FFF2-40B4-BE49-F238E27FC236}">
                    <a16:creationId xmlns:a16="http://schemas.microsoft.com/office/drawing/2014/main" id="{3C391ABA-E311-9D4B-5914-59C55BE35636}"/>
                  </a:ext>
                </a:extLst>
              </p:cNvPr>
              <p:cNvSpPr/>
              <p:nvPr/>
            </p:nvSpPr>
            <p:spPr>
              <a:xfrm flipH="1">
                <a:off x="9984065" y="2614795"/>
                <a:ext cx="461602" cy="453600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4</a:t>
                </a:r>
              </a:p>
            </p:txBody>
          </p:sp>
          <p:sp>
            <p:nvSpPr>
              <p:cNvPr id="68" name="Bullet4" descr="73a1bc94-ef00-4d0c-b1e8-7d04fc390f2b">
                <a:extLst>
                  <a:ext uri="{FF2B5EF4-FFF2-40B4-BE49-F238E27FC236}">
                    <a16:creationId xmlns:a16="http://schemas.microsoft.com/office/drawing/2014/main" id="{E440499A-BBE5-892C-C28C-E3C875B3F2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10832" y="1130300"/>
                <a:ext cx="2608068" cy="670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教学案例</a:t>
                </a:r>
              </a:p>
            </p:txBody>
          </p:sp>
          <p:sp>
            <p:nvSpPr>
              <p:cNvPr id="69" name="Text4" descr="000100e9-6ed4-4b7f-832c-675330b33b28">
                <a:extLst>
                  <a:ext uri="{FF2B5EF4-FFF2-40B4-BE49-F238E27FC236}">
                    <a16:creationId xmlns:a16="http://schemas.microsoft.com/office/drawing/2014/main" id="{26B249E5-8064-3831-5F17-A45EAB1786F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10832" y="1800615"/>
                <a:ext cx="2608068" cy="814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为售后服务构建智能知识库，可关联维修记录、生成派工单草案。</a:t>
                </a:r>
              </a:p>
            </p:txBody>
          </p:sp>
        </p:grpSp>
        <p:grpSp>
          <p:nvGrpSpPr>
            <p:cNvPr id="7" name="组合 6" descr="eb297d7c-6030-4128-963e-4cd9673b1244">
              <a:extLst>
                <a:ext uri="{FF2B5EF4-FFF2-40B4-BE49-F238E27FC236}">
                  <a16:creationId xmlns:a16="http://schemas.microsoft.com/office/drawing/2014/main" id="{F5940904-829A-047D-A88A-9770BC9A0CCC}"/>
                </a:ext>
              </a:extLst>
            </p:cNvPr>
            <p:cNvGrpSpPr/>
            <p:nvPr/>
          </p:nvGrpSpPr>
          <p:grpSpPr>
            <a:xfrm>
              <a:off x="8237731" y="4177110"/>
              <a:ext cx="3281169" cy="1956990"/>
              <a:chOff x="8237731" y="4177110"/>
              <a:chExt cx="3281169" cy="1956990"/>
            </a:xfrm>
          </p:grpSpPr>
          <p:sp>
            <p:nvSpPr>
              <p:cNvPr id="64" name="Number5" descr="b672040f-2f29-4ff1-a183-232fdb084588">
                <a:extLst>
                  <a:ext uri="{FF2B5EF4-FFF2-40B4-BE49-F238E27FC236}">
                    <a16:creationId xmlns:a16="http://schemas.microsoft.com/office/drawing/2014/main" id="{C32909E5-5B10-4DFB-C342-459DCF1141B0}"/>
                  </a:ext>
                </a:extLst>
              </p:cNvPr>
              <p:cNvSpPr/>
              <p:nvPr/>
            </p:nvSpPr>
            <p:spPr>
              <a:xfrm flipH="1">
                <a:off x="9647514" y="4177110"/>
                <a:ext cx="461602" cy="453600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5</a:t>
                </a:r>
              </a:p>
            </p:txBody>
          </p:sp>
          <p:sp>
            <p:nvSpPr>
              <p:cNvPr id="65" name="Bullet5" descr="6788f5d2-380d-45c3-8dbf-c1f9eb86b5d3">
                <a:extLst>
                  <a:ext uri="{FF2B5EF4-FFF2-40B4-BE49-F238E27FC236}">
                    <a16:creationId xmlns:a16="http://schemas.microsoft.com/office/drawing/2014/main" id="{2500F127-FD0B-DDB6-FD8D-7BD72F1EA94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7731" y="4648891"/>
                <a:ext cx="3281169" cy="670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fontScale="92500" lnSpcReduction="10000"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本地部署新标杆：开放计算生态与普惠算力</a:t>
                </a:r>
              </a:p>
            </p:txBody>
          </p:sp>
          <p:sp>
            <p:nvSpPr>
              <p:cNvPr id="66" name="Text5" descr="d77049af-3faf-404c-878f-9bd1a7b1e4ab">
                <a:extLst>
                  <a:ext uri="{FF2B5EF4-FFF2-40B4-BE49-F238E27FC236}">
                    <a16:creationId xmlns:a16="http://schemas.microsoft.com/office/drawing/2014/main" id="{C2BFBB04-2C19-3C48-5B25-7FD97691B8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7731" y="5319206"/>
                <a:ext cx="3281169" cy="814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国产算力通过开放架构、统一软件栈，降低企业获取高性能AI算力门槛。</a:t>
                </a:r>
              </a:p>
            </p:txBody>
          </p:sp>
        </p:grpSp>
        <p:grpSp>
          <p:nvGrpSpPr>
            <p:cNvPr id="8" name="组合 7" descr="91a780d2-b82f-45fa-84a8-e842209dfda0">
              <a:extLst>
                <a:ext uri="{FF2B5EF4-FFF2-40B4-BE49-F238E27FC236}">
                  <a16:creationId xmlns:a16="http://schemas.microsoft.com/office/drawing/2014/main" id="{86F8F90B-2EC0-F0F6-D800-ED2E1A3D5350}"/>
                </a:ext>
              </a:extLst>
            </p:cNvPr>
            <p:cNvGrpSpPr/>
            <p:nvPr/>
          </p:nvGrpSpPr>
          <p:grpSpPr>
            <a:xfrm>
              <a:off x="4449065" y="4177110"/>
              <a:ext cx="3281169" cy="1956990"/>
              <a:chOff x="4449065" y="4177110"/>
              <a:chExt cx="3281169" cy="1956990"/>
            </a:xfrm>
          </p:grpSpPr>
          <p:sp>
            <p:nvSpPr>
              <p:cNvPr id="56" name="Number6" descr="fa8fe916-4c33-4ebb-b666-95655ab79a18">
                <a:extLst>
                  <a:ext uri="{FF2B5EF4-FFF2-40B4-BE49-F238E27FC236}">
                    <a16:creationId xmlns:a16="http://schemas.microsoft.com/office/drawing/2014/main" id="{C6B5FFCA-D7A3-7D6C-57F4-B48F79046366}"/>
                  </a:ext>
                </a:extLst>
              </p:cNvPr>
              <p:cNvSpPr/>
              <p:nvPr/>
            </p:nvSpPr>
            <p:spPr>
              <a:xfrm flipH="1">
                <a:off x="5865199" y="4177110"/>
                <a:ext cx="461602" cy="453600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6</a:t>
                </a:r>
              </a:p>
            </p:txBody>
          </p:sp>
          <p:sp>
            <p:nvSpPr>
              <p:cNvPr id="59" name="Bullet6" descr="232fcb5a-b6b4-4f70-8c19-9e1b31d2f31b">
                <a:extLst>
                  <a:ext uri="{FF2B5EF4-FFF2-40B4-BE49-F238E27FC236}">
                    <a16:creationId xmlns:a16="http://schemas.microsoft.com/office/drawing/2014/main" id="{9035FA26-AF55-FDEF-3C03-3B2F44C57B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49065" y="4648891"/>
                <a:ext cx="3281169" cy="670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架构特色</a:t>
                </a:r>
              </a:p>
            </p:txBody>
          </p:sp>
          <p:sp>
            <p:nvSpPr>
              <p:cNvPr id="61" name="Text6" descr="b1c65e9b-3401-4470-bd5d-4960f266e56b">
                <a:extLst>
                  <a:ext uri="{FF2B5EF4-FFF2-40B4-BE49-F238E27FC236}">
                    <a16:creationId xmlns:a16="http://schemas.microsoft.com/office/drawing/2014/main" id="{999F5E1D-634E-61C1-D947-667F209D3DD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49065" y="5319206"/>
                <a:ext cx="3281169" cy="814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国产算力阵营开放硬件架构、统一软件栈，大幅降低成本。</a:t>
                </a:r>
              </a:p>
            </p:txBody>
          </p:sp>
        </p:grpSp>
        <p:grpSp>
          <p:nvGrpSpPr>
            <p:cNvPr id="9" name="组合 8" descr="940e51ac-7eb0-44c5-959b-45e1cca91bca">
              <a:extLst>
                <a:ext uri="{FF2B5EF4-FFF2-40B4-BE49-F238E27FC236}">
                  <a16:creationId xmlns:a16="http://schemas.microsoft.com/office/drawing/2014/main" id="{C3DF4F3B-5448-AC76-E5BB-6D17B2C2A305}"/>
                </a:ext>
              </a:extLst>
            </p:cNvPr>
            <p:cNvGrpSpPr/>
            <p:nvPr/>
          </p:nvGrpSpPr>
          <p:grpSpPr>
            <a:xfrm>
              <a:off x="660400" y="4177110"/>
              <a:ext cx="3281169" cy="1956990"/>
              <a:chOff x="660400" y="4177110"/>
              <a:chExt cx="3281169" cy="1956990"/>
            </a:xfrm>
          </p:grpSpPr>
          <p:sp>
            <p:nvSpPr>
              <p:cNvPr id="49" name="Number7" descr="6298a7f9-f533-4bc0-8f7b-967166368f27">
                <a:extLst>
                  <a:ext uri="{FF2B5EF4-FFF2-40B4-BE49-F238E27FC236}">
                    <a16:creationId xmlns:a16="http://schemas.microsoft.com/office/drawing/2014/main" id="{E458FEF4-CDED-A4AB-6D47-CFBB6E9EC315}"/>
                  </a:ext>
                </a:extLst>
              </p:cNvPr>
              <p:cNvSpPr/>
              <p:nvPr/>
            </p:nvSpPr>
            <p:spPr>
              <a:xfrm flipH="1">
                <a:off x="2070183" y="4177110"/>
                <a:ext cx="461602" cy="453600"/>
              </a:xfrm>
              <a:prstGeom prst="ellips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alpha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 anchorCtr="0">
                <a:normAutofit/>
              </a:bodyPr>
              <a:lstStyle/>
              <a:p>
                <a:pPr algn="ctr"/>
                <a:r>
                  <a:rPr lang="en-US" sz="1200" b="1" i="0" u="none">
                    <a:solidFill>
                      <a:srgbClr val="183881"/>
                    </a:solidFill>
                    <a:latin typeface="Arial"/>
                  </a:rPr>
                  <a:t>7</a:t>
                </a:r>
              </a:p>
            </p:txBody>
          </p:sp>
          <p:sp>
            <p:nvSpPr>
              <p:cNvPr id="51" name="Bullet7" descr="252a5e43-dc82-4572-9297-130c9963e631">
                <a:extLst>
                  <a:ext uri="{FF2B5EF4-FFF2-40B4-BE49-F238E27FC236}">
                    <a16:creationId xmlns:a16="http://schemas.microsoft.com/office/drawing/2014/main" id="{64B9D1AA-CC14-8900-E6E8-A4A40E86B76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4648891"/>
                <a:ext cx="3281169" cy="670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R="0" lvl="0" indent="0" defTabSz="913765" fontAlgn="auto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 kumimoji="0" b="1" i="0" u="none" strike="noStrike" cap="none" spc="0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激情点拨</a:t>
                </a:r>
              </a:p>
            </p:txBody>
          </p:sp>
          <p:sp>
            <p:nvSpPr>
              <p:cNvPr id="54" name="Text7" descr="fa8f4081-4024-4dc8-92f4-cb8cbc4bae20">
                <a:extLst>
                  <a:ext uri="{FF2B5EF4-FFF2-40B4-BE49-F238E27FC236}">
                    <a16:creationId xmlns:a16="http://schemas.microsoft.com/office/drawing/2014/main" id="{DF93F04E-C584-F8A8-6F05-AC42AEA857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5319206"/>
                <a:ext cx="3281169" cy="8148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lang="en-US" sz="1200" b="0" i="0" u="none" strike="noStrike">
                    <a:solidFill>
                      <a:srgbClr val="000000"/>
                    </a:solidFill>
                    <a:ea typeface="微软雅黑"/>
                  </a:rPr>
                  <a:t>数据主权与成本可控是企业生命线，开放生态与行业大模型是核心资产。</a:t>
                </a:r>
              </a:p>
            </p:txBody>
          </p:sp>
        </p:grpSp>
      </p:grpSp>
      <p:sp>
        <p:nvSpPr>
          <p:cNvPr id="2" name="标题 1" descr="4c5aba46-18aa-461b-b2ed-f943f6683fd5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000000"/>
                </a:solidFill>
                <a:latin typeface="微软雅黑"/>
              </a:rPr>
              <a:t>2. 深度实战：从RAG到企业级“智能知识库”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5f45e079-bd23-47c7-93f4-6ea65d562181.source.7.zh-Hans.pptx" descr="30d09385-3a6e-4817-ae28-905a34288600">
            <a:extLst>
              <a:ext uri="{FF2B5EF4-FFF2-40B4-BE49-F238E27FC236}">
                <a16:creationId xmlns:a16="http://schemas.microsoft.com/office/drawing/2014/main" id="{B265A613-2887-049C-2596-5395715FB885}"/>
              </a:ext>
            </a:extLst>
          </p:cNvPr>
          <p:cNvGrpSpPr/>
          <p:nvPr/>
        </p:nvGrpSpPr>
        <p:grpSpPr>
          <a:xfrm>
            <a:off x="0" y="1143000"/>
            <a:ext cx="12192000" cy="4489299"/>
            <a:chOff x="0" y="1143000"/>
            <a:chExt cx="12192000" cy="4489299"/>
          </a:xfrm>
        </p:grpSpPr>
        <p:cxnSp>
          <p:nvCxnSpPr>
            <p:cNvPr id="3" name="直接连接符 2" descr="12bda598-4e0f-4449-a62f-20684b9cd173">
              <a:extLst>
                <a:ext uri="{FF2B5EF4-FFF2-40B4-BE49-F238E27FC236}">
                  <a16:creationId xmlns:a16="http://schemas.microsoft.com/office/drawing/2014/main" id="{415AB777-F907-6E8C-CB1C-04AE216670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653994"/>
              <a:ext cx="12192000" cy="0"/>
            </a:xfrm>
            <a:prstGeom prst="line">
              <a:avLst/>
            </a:prstGeom>
            <a:ln w="12700">
              <a:solidFill>
                <a:schemeClr val="tx1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itle" descr="3754c8a3-a208-42b1-9d87-23aa70f10d81">
              <a:extLst>
                <a:ext uri="{FF2B5EF4-FFF2-40B4-BE49-F238E27FC236}">
                  <a16:creationId xmlns:a16="http://schemas.microsoft.com/office/drawing/2014/main" id="{C40BAD94-0BAF-637E-F156-C404543A8F4F}"/>
                </a:ext>
              </a:extLst>
            </p:cNvPr>
            <p:cNvSpPr txBox="1"/>
            <p:nvPr/>
          </p:nvSpPr>
          <p:spPr>
            <a:xfrm>
              <a:off x="671768" y="1143000"/>
              <a:ext cx="10847130" cy="685786"/>
            </a:xfrm>
            <a:prstGeom prst="rect">
              <a:avLst/>
            </a:prstGeom>
            <a:noFill/>
          </p:spPr>
          <p:txBody>
            <a:bodyPr vert="horz" wrap="square" rtlCol="0" anchor="ctr" anchorCtr="0">
              <a:normAutofit/>
            </a:bodyPr>
            <a:lstStyle/>
            <a:p>
              <a:pPr algn="ctr"/>
              <a:r>
                <a:rPr lang="en-US" sz="2400" b="1" i="0" u="none">
                  <a:solidFill>
                    <a:srgbClr val="000000"/>
                  </a:solidFill>
                  <a:ea typeface="微软雅黑"/>
                </a:rPr>
                <a:t>洞察行业新阶段，掌握新效率公式与AI原生思维。</a:t>
              </a:r>
            </a:p>
          </p:txBody>
        </p:sp>
        <p:grpSp>
          <p:nvGrpSpPr>
            <p:cNvPr id="15" name="组合 14" descr="14311b9b-8e8c-44c1-a42c-0c4851532177">
              <a:extLst>
                <a:ext uri="{FF2B5EF4-FFF2-40B4-BE49-F238E27FC236}">
                  <a16:creationId xmlns:a16="http://schemas.microsoft.com/office/drawing/2014/main" id="{21DA6B26-6DA9-1BBF-C410-2D0010AB4A5D}"/>
                </a:ext>
              </a:extLst>
            </p:cNvPr>
            <p:cNvGrpSpPr/>
            <p:nvPr/>
          </p:nvGrpSpPr>
          <p:grpSpPr>
            <a:xfrm>
              <a:off x="660400" y="2302731"/>
              <a:ext cx="1480942" cy="3329568"/>
              <a:chOff x="660400" y="2302731"/>
              <a:chExt cx="1480942" cy="3329568"/>
            </a:xfrm>
          </p:grpSpPr>
          <p:sp>
            <p:nvSpPr>
              <p:cNvPr id="6" name="Number1" descr="66abc6f4-6fbe-463b-bb26-e589b4b012cd">
                <a:extLst>
                  <a:ext uri="{FF2B5EF4-FFF2-40B4-BE49-F238E27FC236}">
                    <a16:creationId xmlns:a16="http://schemas.microsoft.com/office/drawing/2014/main" id="{158996A8-7BD7-F89F-FCCB-3669169566A9}"/>
                  </a:ext>
                </a:extLst>
              </p:cNvPr>
              <p:cNvSpPr/>
              <p:nvPr/>
            </p:nvSpPr>
            <p:spPr>
              <a:xfrm>
                <a:off x="1088637" y="2302731"/>
                <a:ext cx="624468" cy="624468"/>
              </a:xfrm>
              <a:prstGeom prst="round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sz="1800" b="1" i="0" u="none">
                    <a:solidFill>
                      <a:srgbClr val="FFFFFF"/>
                    </a:solidFill>
                    <a:latin typeface="Arial"/>
                  </a:rPr>
                  <a:t>1</a:t>
                </a:r>
              </a:p>
            </p:txBody>
          </p:sp>
          <p:sp>
            <p:nvSpPr>
              <p:cNvPr id="13" name="Text1" descr="0f47ce70-ecc8-44ff-841a-28c4bbbb97ae">
                <a:extLst>
                  <a:ext uri="{FF2B5EF4-FFF2-40B4-BE49-F238E27FC236}">
                    <a16:creationId xmlns:a16="http://schemas.microsoft.com/office/drawing/2014/main" id="{B6010226-5CC9-8D4D-BC2B-F11B8A004076}"/>
                  </a:ext>
                </a:extLst>
              </p:cNvPr>
              <p:cNvSpPr/>
              <p:nvPr/>
            </p:nvSpPr>
            <p:spPr bwMode="auto">
              <a:xfrm>
                <a:off x="660400" y="4183654"/>
                <a:ext cx="1480942" cy="14486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000000"/>
                    </a:solidFill>
                    <a:latin typeface="Arial"/>
                  </a:rPr>
                  <a:t>AI从提效工具变为共生伙伴，在高价值业务流程中创造价值。</a:t>
                </a:r>
              </a:p>
            </p:txBody>
          </p:sp>
          <p:sp>
            <p:nvSpPr>
              <p:cNvPr id="14" name="Bullet1" descr="ef695f04-35e0-49ff-bddf-0b0f73a13e17">
                <a:extLst>
                  <a:ext uri="{FF2B5EF4-FFF2-40B4-BE49-F238E27FC236}">
                    <a16:creationId xmlns:a16="http://schemas.microsoft.com/office/drawing/2014/main" id="{3916F66D-302F-71F1-AFA7-69F2068D4BB5}"/>
                  </a:ext>
                </a:extLst>
              </p:cNvPr>
              <p:cNvSpPr txBox="1"/>
              <p:nvPr/>
            </p:nvSpPr>
            <p:spPr bwMode="auto">
              <a:xfrm>
                <a:off x="660400" y="3122345"/>
                <a:ext cx="1480942" cy="10613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行业进入“产业赋能”新阶段：</a:t>
                </a:r>
              </a:p>
            </p:txBody>
          </p:sp>
        </p:grpSp>
        <p:grpSp>
          <p:nvGrpSpPr>
            <p:cNvPr id="16" name="组合 15" descr="5d017eac-6ab3-4264-9486-c9e9ff5a6130">
              <a:extLst>
                <a:ext uri="{FF2B5EF4-FFF2-40B4-BE49-F238E27FC236}">
                  <a16:creationId xmlns:a16="http://schemas.microsoft.com/office/drawing/2014/main" id="{BB18828F-AC57-FA18-BCE4-1D1A880CE35E}"/>
                </a:ext>
              </a:extLst>
            </p:cNvPr>
            <p:cNvGrpSpPr/>
            <p:nvPr/>
          </p:nvGrpSpPr>
          <p:grpSpPr>
            <a:xfrm>
              <a:off x="2223326" y="2302731"/>
              <a:ext cx="1480942" cy="3329568"/>
              <a:chOff x="2314139" y="2302731"/>
              <a:chExt cx="1480942" cy="3329568"/>
            </a:xfrm>
          </p:grpSpPr>
          <p:sp>
            <p:nvSpPr>
              <p:cNvPr id="7" name="Number2" descr="4b99c093-51b9-4fa4-a2a8-73084ed266e3">
                <a:extLst>
                  <a:ext uri="{FF2B5EF4-FFF2-40B4-BE49-F238E27FC236}">
                    <a16:creationId xmlns:a16="http://schemas.microsoft.com/office/drawing/2014/main" id="{05D27804-7497-10EF-73B1-684DED1153A3}"/>
                  </a:ext>
                </a:extLst>
              </p:cNvPr>
              <p:cNvSpPr/>
              <p:nvPr/>
            </p:nvSpPr>
            <p:spPr>
              <a:xfrm>
                <a:off x="2742376" y="2302731"/>
                <a:ext cx="624468" cy="624468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sz="1800" b="1" i="0" u="none">
                    <a:solidFill>
                      <a:srgbClr val="000000"/>
                    </a:solidFill>
                    <a:latin typeface="Arial"/>
                  </a:rPr>
                  <a:t>2</a:t>
                </a:r>
              </a:p>
            </p:txBody>
          </p:sp>
          <p:sp>
            <p:nvSpPr>
              <p:cNvPr id="19" name="Text2" descr="1741953e-67ef-4ed8-a9e8-e1b4249628e6">
                <a:extLst>
                  <a:ext uri="{FF2B5EF4-FFF2-40B4-BE49-F238E27FC236}">
                    <a16:creationId xmlns:a16="http://schemas.microsoft.com/office/drawing/2014/main" id="{DA7B4290-D758-A935-2671-46E404744B35}"/>
                  </a:ext>
                </a:extLst>
              </p:cNvPr>
              <p:cNvSpPr/>
              <p:nvPr/>
            </p:nvSpPr>
            <p:spPr bwMode="auto">
              <a:xfrm>
                <a:off x="2314139" y="4183654"/>
                <a:ext cx="1480942" cy="14486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000000"/>
                    </a:solidFill>
                    <a:latin typeface="Arial"/>
                  </a:rPr>
                  <a:t>AI在工业、医疗等领域结合多模态大模型，迈向具身智能。</a:t>
                </a:r>
              </a:p>
            </p:txBody>
          </p:sp>
          <p:sp>
            <p:nvSpPr>
              <p:cNvPr id="20" name="Bullet2" descr="36843d74-f66c-4b41-9a9f-7aaee28052f1">
                <a:extLst>
                  <a:ext uri="{FF2B5EF4-FFF2-40B4-BE49-F238E27FC236}">
                    <a16:creationId xmlns:a16="http://schemas.microsoft.com/office/drawing/2014/main" id="{97C7EFEE-3702-A308-D542-83A463923389}"/>
                  </a:ext>
                </a:extLst>
              </p:cNvPr>
              <p:cNvSpPr txBox="1"/>
              <p:nvPr/>
            </p:nvSpPr>
            <p:spPr bwMode="auto">
              <a:xfrm>
                <a:off x="2314139" y="3122345"/>
                <a:ext cx="1480942" cy="10613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现状</a:t>
                </a:r>
              </a:p>
            </p:txBody>
          </p:sp>
        </p:grpSp>
        <p:grpSp>
          <p:nvGrpSpPr>
            <p:cNvPr id="36" name="组合 35" descr="5c177d0b-8ba8-49d0-8a34-59a52f9f34af">
              <a:extLst>
                <a:ext uri="{FF2B5EF4-FFF2-40B4-BE49-F238E27FC236}">
                  <a16:creationId xmlns:a16="http://schemas.microsoft.com/office/drawing/2014/main" id="{91CFEB40-AC67-B0E1-0926-BD7A7455BF98}"/>
                </a:ext>
              </a:extLst>
            </p:cNvPr>
            <p:cNvGrpSpPr/>
            <p:nvPr/>
          </p:nvGrpSpPr>
          <p:grpSpPr>
            <a:xfrm>
              <a:off x="3786252" y="2302731"/>
              <a:ext cx="1480942" cy="3329568"/>
              <a:chOff x="3834371" y="2302731"/>
              <a:chExt cx="1480942" cy="3329568"/>
            </a:xfrm>
          </p:grpSpPr>
          <p:sp>
            <p:nvSpPr>
              <p:cNvPr id="8" name="Number3" descr="c333b423-fbfe-4517-83d3-09ff780cc5a6">
                <a:extLst>
                  <a:ext uri="{FF2B5EF4-FFF2-40B4-BE49-F238E27FC236}">
                    <a16:creationId xmlns:a16="http://schemas.microsoft.com/office/drawing/2014/main" id="{2EDD3734-F89E-64C6-68B7-970E7AB2934B}"/>
                  </a:ext>
                </a:extLst>
              </p:cNvPr>
              <p:cNvSpPr/>
              <p:nvPr/>
            </p:nvSpPr>
            <p:spPr>
              <a:xfrm>
                <a:off x="4262608" y="2302731"/>
                <a:ext cx="624468" cy="624468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sz="1800" b="1" i="0" u="none">
                    <a:solidFill>
                      <a:srgbClr val="000000"/>
                    </a:solidFill>
                    <a:latin typeface="Arial"/>
                  </a:rPr>
                  <a:t>3</a:t>
                </a:r>
              </a:p>
            </p:txBody>
          </p:sp>
          <p:sp>
            <p:nvSpPr>
              <p:cNvPr id="22" name="Text3" descr="15b981a2-e9ae-47d3-86bf-63f140298b63">
                <a:extLst>
                  <a:ext uri="{FF2B5EF4-FFF2-40B4-BE49-F238E27FC236}">
                    <a16:creationId xmlns:a16="http://schemas.microsoft.com/office/drawing/2014/main" id="{E402A302-8FED-BD96-F1E8-A9C65E781011}"/>
                  </a:ext>
                </a:extLst>
              </p:cNvPr>
              <p:cNvSpPr/>
              <p:nvPr/>
            </p:nvSpPr>
            <p:spPr bwMode="auto">
              <a:xfrm>
                <a:off x="3834371" y="4183654"/>
                <a:ext cx="1480942" cy="14486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000000"/>
                    </a:solidFill>
                    <a:ea typeface="微软雅黑"/>
                  </a:rPr>
                  <a:t>为研发、供应链等高价值业务流程设计“流程型智能体”。</a:t>
                </a:r>
              </a:p>
            </p:txBody>
          </p:sp>
          <p:sp>
            <p:nvSpPr>
              <p:cNvPr id="23" name="Bullet3" descr="a838daa1-d5e4-4d8d-927b-db4ee4e9fec3">
                <a:extLst>
                  <a:ext uri="{FF2B5EF4-FFF2-40B4-BE49-F238E27FC236}">
                    <a16:creationId xmlns:a16="http://schemas.microsoft.com/office/drawing/2014/main" id="{FA51A36E-1D13-1BB2-E704-E09A0F129791}"/>
                  </a:ext>
                </a:extLst>
              </p:cNvPr>
              <p:cNvSpPr txBox="1"/>
              <p:nvPr/>
            </p:nvSpPr>
            <p:spPr bwMode="auto">
              <a:xfrm>
                <a:off x="3834371" y="3122345"/>
                <a:ext cx="1480942" cy="10613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机会</a:t>
                </a:r>
              </a:p>
            </p:txBody>
          </p:sp>
        </p:grpSp>
        <p:grpSp>
          <p:nvGrpSpPr>
            <p:cNvPr id="38" name="组合 37" descr="9157c6b8-b99a-429d-8a11-74fa2b8931a4">
              <a:extLst>
                <a:ext uri="{FF2B5EF4-FFF2-40B4-BE49-F238E27FC236}">
                  <a16:creationId xmlns:a16="http://schemas.microsoft.com/office/drawing/2014/main" id="{13775C07-9083-D8B8-7EEF-430B801F3882}"/>
                </a:ext>
              </a:extLst>
            </p:cNvPr>
            <p:cNvGrpSpPr/>
            <p:nvPr/>
          </p:nvGrpSpPr>
          <p:grpSpPr>
            <a:xfrm>
              <a:off x="5349178" y="2302731"/>
              <a:ext cx="1480942" cy="3329568"/>
              <a:chOff x="5354603" y="2302731"/>
              <a:chExt cx="1480942" cy="3329568"/>
            </a:xfrm>
          </p:grpSpPr>
          <p:sp>
            <p:nvSpPr>
              <p:cNvPr id="9" name="Number4" descr="a6ee4b2a-d030-4c15-a775-fb92e75a6762">
                <a:extLst>
                  <a:ext uri="{FF2B5EF4-FFF2-40B4-BE49-F238E27FC236}">
                    <a16:creationId xmlns:a16="http://schemas.microsoft.com/office/drawing/2014/main" id="{BFAB82DD-9735-092F-0312-CF3F76F10375}"/>
                  </a:ext>
                </a:extLst>
              </p:cNvPr>
              <p:cNvSpPr/>
              <p:nvPr/>
            </p:nvSpPr>
            <p:spPr>
              <a:xfrm>
                <a:off x="5782840" y="2302731"/>
                <a:ext cx="624468" cy="624468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sz="1800" b="1" i="0" u="none">
                    <a:solidFill>
                      <a:srgbClr val="000000"/>
                    </a:solidFill>
                    <a:latin typeface="Arial"/>
                  </a:rPr>
                  <a:t>4</a:t>
                </a:r>
              </a:p>
            </p:txBody>
          </p:sp>
          <p:sp>
            <p:nvSpPr>
              <p:cNvPr id="25" name="Text4" descr="c88fcd52-6d98-4bf0-8421-37a725d5b17a">
                <a:extLst>
                  <a:ext uri="{FF2B5EF4-FFF2-40B4-BE49-F238E27FC236}">
                    <a16:creationId xmlns:a16="http://schemas.microsoft.com/office/drawing/2014/main" id="{7D1BC193-E978-A574-CFC8-42F01058FE86}"/>
                  </a:ext>
                </a:extLst>
              </p:cNvPr>
              <p:cNvSpPr/>
              <p:nvPr/>
            </p:nvSpPr>
            <p:spPr bwMode="auto">
              <a:xfrm>
                <a:off x="5354603" y="4183654"/>
                <a:ext cx="1480942" cy="14486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000000"/>
                    </a:solidFill>
                    <a:ea typeface="微软雅黑"/>
                  </a:rPr>
                  <a:t>掌握新效率公式与AI原生思维，定义未来工作方式。</a:t>
                </a:r>
              </a:p>
            </p:txBody>
          </p:sp>
          <p:sp>
            <p:nvSpPr>
              <p:cNvPr id="26" name="Bullet4" descr="7335d3a8-7b99-45a0-b096-22abe17596a8">
                <a:extLst>
                  <a:ext uri="{FF2B5EF4-FFF2-40B4-BE49-F238E27FC236}">
                    <a16:creationId xmlns:a16="http://schemas.microsoft.com/office/drawing/2014/main" id="{6D7F470C-D955-51E1-EE6A-2EB6E4461F40}"/>
                  </a:ext>
                </a:extLst>
              </p:cNvPr>
              <p:cNvSpPr txBox="1"/>
              <p:nvPr/>
            </p:nvSpPr>
            <p:spPr bwMode="auto">
              <a:xfrm>
                <a:off x="5354603" y="3122345"/>
                <a:ext cx="1480942" cy="10613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总结与升华：</a:t>
                </a:r>
              </a:p>
            </p:txBody>
          </p:sp>
        </p:grpSp>
        <p:grpSp>
          <p:nvGrpSpPr>
            <p:cNvPr id="39" name="组合 38" descr="1aca38a8-694d-495f-beda-79e758fb96ff">
              <a:extLst>
                <a:ext uri="{FF2B5EF4-FFF2-40B4-BE49-F238E27FC236}">
                  <a16:creationId xmlns:a16="http://schemas.microsoft.com/office/drawing/2014/main" id="{3BBB127D-FDB3-E105-1EF2-4997F2D94EC7}"/>
                </a:ext>
              </a:extLst>
            </p:cNvPr>
            <p:cNvGrpSpPr/>
            <p:nvPr/>
          </p:nvGrpSpPr>
          <p:grpSpPr>
            <a:xfrm>
              <a:off x="6912104" y="2302731"/>
              <a:ext cx="1480942" cy="3329568"/>
              <a:chOff x="6874835" y="2302731"/>
              <a:chExt cx="1480942" cy="3329568"/>
            </a:xfrm>
          </p:grpSpPr>
          <p:sp>
            <p:nvSpPr>
              <p:cNvPr id="10" name="Number5" descr="7a86fa0e-efe7-4a03-879d-69ec5f26b710">
                <a:extLst>
                  <a:ext uri="{FF2B5EF4-FFF2-40B4-BE49-F238E27FC236}">
                    <a16:creationId xmlns:a16="http://schemas.microsoft.com/office/drawing/2014/main" id="{654944C3-C236-7990-4C11-C6A2A323AD36}"/>
                  </a:ext>
                </a:extLst>
              </p:cNvPr>
              <p:cNvSpPr/>
              <p:nvPr/>
            </p:nvSpPr>
            <p:spPr>
              <a:xfrm>
                <a:off x="7303072" y="2302731"/>
                <a:ext cx="624468" cy="624468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sz="1800" b="1" i="0" u="none">
                    <a:solidFill>
                      <a:srgbClr val="000000"/>
                    </a:solidFill>
                    <a:latin typeface="Arial"/>
                  </a:rPr>
                  <a:t>5</a:t>
                </a:r>
              </a:p>
            </p:txBody>
          </p:sp>
          <p:sp>
            <p:nvSpPr>
              <p:cNvPr id="28" name="Text5" descr="369109a9-190f-4318-b47e-e7cd8e681ecd">
                <a:extLst>
                  <a:ext uri="{FF2B5EF4-FFF2-40B4-BE49-F238E27FC236}">
                    <a16:creationId xmlns:a16="http://schemas.microsoft.com/office/drawing/2014/main" id="{BB9C57C3-BD60-330A-A1F4-13C00B467C20}"/>
                  </a:ext>
                </a:extLst>
              </p:cNvPr>
              <p:cNvSpPr/>
              <p:nvPr/>
            </p:nvSpPr>
            <p:spPr bwMode="auto">
              <a:xfrm>
                <a:off x="6874835" y="4183654"/>
                <a:ext cx="1480942" cy="14486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000000"/>
                    </a:solidFill>
                    <a:ea typeface="微软雅黑"/>
                  </a:rPr>
                  <a:t>效率提升 = 流程洞察力 / 原始复杂度 × 生态调度力 × 智能密度</a:t>
                </a:r>
              </a:p>
            </p:txBody>
          </p:sp>
          <p:sp>
            <p:nvSpPr>
              <p:cNvPr id="29" name="Bullet5" descr="c94f2c5d-a580-499e-a39b-6d74379d5095">
                <a:extLst>
                  <a:ext uri="{FF2B5EF4-FFF2-40B4-BE49-F238E27FC236}">
                    <a16:creationId xmlns:a16="http://schemas.microsoft.com/office/drawing/2014/main" id="{424418A1-84FF-A143-ADA4-B3A8BB4B0C3C}"/>
                  </a:ext>
                </a:extLst>
              </p:cNvPr>
              <p:cNvSpPr txBox="1"/>
              <p:nvPr/>
            </p:nvSpPr>
            <p:spPr bwMode="auto">
              <a:xfrm>
                <a:off x="6874835" y="3122345"/>
                <a:ext cx="1480942" cy="10613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新效率公式</a:t>
                </a:r>
              </a:p>
            </p:txBody>
          </p:sp>
        </p:grpSp>
        <p:grpSp>
          <p:nvGrpSpPr>
            <p:cNvPr id="40" name="组合 39" descr="b7e1bc91-cd9f-4bfd-aa67-68f1ede3e07f">
              <a:extLst>
                <a:ext uri="{FF2B5EF4-FFF2-40B4-BE49-F238E27FC236}">
                  <a16:creationId xmlns:a16="http://schemas.microsoft.com/office/drawing/2014/main" id="{CEC63934-CAAB-5A6C-5A86-5FA505BB99C4}"/>
                </a:ext>
              </a:extLst>
            </p:cNvPr>
            <p:cNvGrpSpPr/>
            <p:nvPr/>
          </p:nvGrpSpPr>
          <p:grpSpPr>
            <a:xfrm>
              <a:off x="8475030" y="2302731"/>
              <a:ext cx="1480942" cy="3329568"/>
              <a:chOff x="8395067" y="2302731"/>
              <a:chExt cx="1480942" cy="3329568"/>
            </a:xfrm>
          </p:grpSpPr>
          <p:sp>
            <p:nvSpPr>
              <p:cNvPr id="11" name="Number6" descr="7d45544e-9534-4fb8-a7ed-fbb84863d15f">
                <a:extLst>
                  <a:ext uri="{FF2B5EF4-FFF2-40B4-BE49-F238E27FC236}">
                    <a16:creationId xmlns:a16="http://schemas.microsoft.com/office/drawing/2014/main" id="{3511A153-3B10-A47D-993A-1D3055FDBB9A}"/>
                  </a:ext>
                </a:extLst>
              </p:cNvPr>
              <p:cNvSpPr/>
              <p:nvPr/>
            </p:nvSpPr>
            <p:spPr>
              <a:xfrm>
                <a:off x="8823304" y="2302731"/>
                <a:ext cx="624468" cy="624468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sz="1800" b="1" i="0" u="none">
                    <a:solidFill>
                      <a:srgbClr val="000000"/>
                    </a:solidFill>
                    <a:latin typeface="Arial"/>
                  </a:rPr>
                  <a:t>6</a:t>
                </a:r>
              </a:p>
            </p:txBody>
          </p:sp>
          <p:sp>
            <p:nvSpPr>
              <p:cNvPr id="31" name="Text6" descr="61687e6a-269f-4527-a49b-0cf6d092280b">
                <a:extLst>
                  <a:ext uri="{FF2B5EF4-FFF2-40B4-BE49-F238E27FC236}">
                    <a16:creationId xmlns:a16="http://schemas.microsoft.com/office/drawing/2014/main" id="{AC8E92A4-B665-5DA8-6A61-AF389F6CFD92}"/>
                  </a:ext>
                </a:extLst>
              </p:cNvPr>
              <p:cNvSpPr/>
              <p:nvPr/>
            </p:nvSpPr>
            <p:spPr bwMode="auto">
              <a:xfrm>
                <a:off x="8395067" y="4183654"/>
                <a:ext cx="1480942" cy="14486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000000"/>
                    </a:solidFill>
                    <a:ea typeface="微软雅黑"/>
                  </a:rPr>
                  <a:t>核心竞争力 = 业务流程再造能力 × 技术生态调度力 × 智能体架构设计力</a:t>
                </a:r>
              </a:p>
            </p:txBody>
          </p:sp>
          <p:sp>
            <p:nvSpPr>
              <p:cNvPr id="32" name="Bullet6" descr="7987936e-b920-4abd-a241-88a0c17841fc">
                <a:extLst>
                  <a:ext uri="{FF2B5EF4-FFF2-40B4-BE49-F238E27FC236}">
                    <a16:creationId xmlns:a16="http://schemas.microsoft.com/office/drawing/2014/main" id="{34292666-FB4C-04CE-3907-74C157BB9B23}"/>
                  </a:ext>
                </a:extLst>
              </p:cNvPr>
              <p:cNvSpPr txBox="1"/>
              <p:nvPr/>
            </p:nvSpPr>
            <p:spPr bwMode="auto">
              <a:xfrm>
                <a:off x="8395067" y="3122345"/>
                <a:ext cx="1480942" cy="10613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000000"/>
                    </a:solidFill>
                    <a:latin typeface="Arial"/>
                  </a:rPr>
                  <a:t>AI原生思维终极定义</a:t>
                </a:r>
              </a:p>
            </p:txBody>
          </p:sp>
        </p:grpSp>
        <p:grpSp>
          <p:nvGrpSpPr>
            <p:cNvPr id="41" name="组合 40" descr="7732d046-807f-467c-bfe7-84148d94c13f">
              <a:extLst>
                <a:ext uri="{FF2B5EF4-FFF2-40B4-BE49-F238E27FC236}">
                  <a16:creationId xmlns:a16="http://schemas.microsoft.com/office/drawing/2014/main" id="{C776C127-8C90-03B6-23FD-11B036C23004}"/>
                </a:ext>
              </a:extLst>
            </p:cNvPr>
            <p:cNvGrpSpPr/>
            <p:nvPr/>
          </p:nvGrpSpPr>
          <p:grpSpPr>
            <a:xfrm>
              <a:off x="10037958" y="2302731"/>
              <a:ext cx="1480942" cy="3329568"/>
              <a:chOff x="10037958" y="2302731"/>
              <a:chExt cx="1480942" cy="3329568"/>
            </a:xfrm>
          </p:grpSpPr>
          <p:sp>
            <p:nvSpPr>
              <p:cNvPr id="12" name="Number7" descr="ae12e7a4-b517-4a39-af64-fdbcd15a956a">
                <a:extLst>
                  <a:ext uri="{FF2B5EF4-FFF2-40B4-BE49-F238E27FC236}">
                    <a16:creationId xmlns:a16="http://schemas.microsoft.com/office/drawing/2014/main" id="{3252126B-FAC7-9780-3E3E-1C4E17764B42}"/>
                  </a:ext>
                </a:extLst>
              </p:cNvPr>
              <p:cNvSpPr/>
              <p:nvPr/>
            </p:nvSpPr>
            <p:spPr>
              <a:xfrm>
                <a:off x="10466195" y="2302731"/>
                <a:ext cx="624468" cy="624468"/>
              </a:xfrm>
              <a:prstGeom prst="roundRect">
                <a:avLst/>
              </a:prstGeom>
              <a:solidFill>
                <a:srgbClr val="FFFFFF"/>
              </a:solidFill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sz="1800" b="1" i="0" u="none">
                    <a:solidFill>
                      <a:srgbClr val="000000"/>
                    </a:solidFill>
                    <a:latin typeface="Arial"/>
                  </a:rPr>
                  <a:t>7</a:t>
                </a:r>
              </a:p>
            </p:txBody>
          </p:sp>
          <p:sp>
            <p:nvSpPr>
              <p:cNvPr id="34" name="Text7" descr="30d65da8-800e-473b-a6d7-a9701d8ffc05">
                <a:extLst>
                  <a:ext uri="{FF2B5EF4-FFF2-40B4-BE49-F238E27FC236}">
                    <a16:creationId xmlns:a16="http://schemas.microsoft.com/office/drawing/2014/main" id="{EEF14CA6-25C8-B1DE-1580-A2241508C1A0}"/>
                  </a:ext>
                </a:extLst>
              </p:cNvPr>
              <p:cNvSpPr/>
              <p:nvPr/>
            </p:nvSpPr>
            <p:spPr bwMode="auto">
              <a:xfrm>
                <a:off x="10037958" y="4183654"/>
                <a:ext cx="1480942" cy="14486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000000"/>
                    </a:solidFill>
                    <a:ea typeface="微软雅黑"/>
                  </a:rPr>
                  <a:t>掌握产业洞察、开放生态与智能体设计，定义行业新工作方式。</a:t>
                </a:r>
              </a:p>
            </p:txBody>
          </p:sp>
          <p:sp>
            <p:nvSpPr>
              <p:cNvPr id="35" name="Bullet7" descr="5cebc60e-820c-439e-9566-73154fe4b06e">
                <a:extLst>
                  <a:ext uri="{FF2B5EF4-FFF2-40B4-BE49-F238E27FC236}">
                    <a16:creationId xmlns:a16="http://schemas.microsoft.com/office/drawing/2014/main" id="{F43F9CF7-A85D-2DCC-51BD-5BC75240176C}"/>
                  </a:ext>
                </a:extLst>
              </p:cNvPr>
              <p:cNvSpPr txBox="1"/>
              <p:nvPr/>
            </p:nvSpPr>
            <p:spPr bwMode="auto">
              <a:xfrm>
                <a:off x="10037958" y="3122345"/>
                <a:ext cx="1480942" cy="106130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l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000000"/>
                    </a:solidFill>
                    <a:ea typeface="微软雅黑"/>
                  </a:rPr>
                  <a:t>终极结语</a:t>
                </a:r>
              </a:p>
            </p:txBody>
          </p:sp>
        </p:grpSp>
      </p:grpSp>
      <p:sp>
        <p:nvSpPr>
          <p:cNvPr id="2" name="标题 1" descr="4c5aba46-18aa-461b-b2ed-f943f6683fd5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000000"/>
                </a:solidFill>
                <a:latin typeface="微软雅黑"/>
              </a:rPr>
              <a:t>3. 未来展望：产业赋能新阶段与千倍效率的哲学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2e72427a-8ca8-4ad2-953f-fa57c39bad24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4800" b="1" i="0" u="none">
                <a:solidFill>
                  <a:srgbClr val="183881"/>
                </a:solidFill>
                <a:ea typeface="微软雅黑"/>
              </a:rPr>
              <a:t>谢谢观看</a:t>
            </a:r>
          </a:p>
        </p:txBody>
      </p:sp>
      <p:sp>
        <p:nvSpPr>
          <p:cNvPr id="4" name="文本占位符 3" descr="b7acbe8b-4469-43ec-91b5-214cbc7f231d"/>
          <p:cNvSpPr>
            <a:spLocks noGrp="1"/>
          </p:cNvSpPr>
          <p:nvPr>
            <p:ph type="body" sz="quarter" idx="13" hasCustomPrompt="1"/>
          </p:nvPr>
        </p:nvSpPr>
        <p:spPr/>
        <p:txBody>
          <a:bodyPr anchorCtr="0">
            <a:normAutofit lnSpcReduction="10000"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en-US" sz="1110" b="0" i="0" u="none">
                <a:solidFill>
                  <a:srgbClr val="000000"/>
                </a:solidFill>
                <a:ea typeface="微软雅黑"/>
              </a:rPr>
              <a:t>报告人名称</a:t>
            </a:r>
          </a:p>
        </p:txBody>
      </p:sp>
      <p:sp>
        <p:nvSpPr>
          <p:cNvPr id="5" name="文本占位符 4" descr="497f8448-d48e-4324-8ca6-09baefa165f8"/>
          <p:cNvSpPr>
            <a:spLocks noGrp="1"/>
          </p:cNvSpPr>
          <p:nvPr>
            <p:ph type="body" sz="quarter" idx="14" hasCustomPrompt="1"/>
          </p:nvPr>
        </p:nvSpPr>
        <p:spPr/>
        <p:txBody>
          <a:bodyPr anchorCtr="0">
            <a:normAutofit fontScale="92500" lnSpcReduction="10000"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en-US">
                <a:latin typeface="微软雅黑"/>
              </a:rPr>
              <a:t>20xx.xx.xx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756900" y="6413500"/>
            <a:ext cx="1371600" cy="381000"/>
          </a:xfrm>
          <a:prstGeom prst="roundRect">
            <a:avLst/>
          </a:prstGeom>
          <a:solidFill>
            <a:srgbClr val="FFFFFF"/>
          </a:solidFill>
        </p:spPr>
        <p:txBody>
          <a:bodyPr wrap="none" rtlCol="0" anchor="ctr"/>
          <a:lstStyle/>
          <a:p>
            <a:pPr algn="ctr">
              <a:defRPr/>
            </a:pPr>
            <a:r>
              <a:rPr lang="en-US" sz="1200">
                <a:solidFill>
                  <a:srgbClr val="000000"/>
                </a:solidFill>
              </a:rPr>
              <a:t>内容由千问AI生成</a:t>
            </a:r>
            <a:endParaRPr lang="zh-CN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8.0.2"/>
  <p:tag name="AS_OS" val="Microsoft Windows NT 10.0.22631.0"/>
  <p:tag name="AS_RELEASE_DATE" val="2023.10.14"/>
  <p:tag name="AS_TITLE" val="Aspose.Slides for .NET6"/>
  <p:tag name="AS_VERSION" val="23.10"/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a="http://schemas.openxmlformats.org/drawingml/2006/main" name="Designed by iSlide">
  <a:themeElements>
    <a:clrScheme name="iSlide">
      <a:dk1>
        <a:srgbClr val="000000"/>
      </a:dk1>
      <a:lt1>
        <a:srgbClr val="FFFFFF"/>
      </a:lt1>
      <a:dk2>
        <a:srgbClr val="768394"/>
      </a:dk2>
      <a:lt2>
        <a:srgbClr val="F0F0F0"/>
      </a:lt2>
      <a:accent1>
        <a:srgbClr val="183881"/>
      </a:accent1>
      <a:accent2>
        <a:srgbClr val="81497E"/>
      </a:accent2>
      <a:accent3>
        <a:srgbClr val="35467D"/>
      </a:accent3>
      <a:accent4>
        <a:srgbClr val="61719D"/>
      </a:accent4>
      <a:accent5>
        <a:srgbClr val="525252"/>
      </a:accent5>
      <a:accent6>
        <a:srgbClr val="BDAE8D"/>
      </a:accent6>
      <a:hlink>
        <a:srgbClr val="4472C4"/>
      </a:hlink>
      <a:folHlink>
        <a:srgbClr val="BFBFBF"/>
      </a:folHlink>
    </a:clrScheme>
    <a:fontScheme name="iSlide">
      <a:majorFont>
        <a:latin typeface="Arial"/>
        <a:ea typeface="微软雅黑"/>
        <a:cs typeface="Arial"/>
      </a:majorFont>
      <a:minorFont>
        <a:latin typeface="Arial"/>
        <a:ea typeface="微软雅黑"/>
        <a:cs typeface="Arial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等线 Light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等线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iSlide Presentation Template</Template>
  <TotalTime>1563</TotalTime>
  <Words>576</Words>
  <Application>Microsoft Office PowerPoint</Application>
  <PresentationFormat>宽屏</PresentationFormat>
  <Paragraphs>151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等线</vt:lpstr>
      <vt:lpstr>微软雅黑</vt:lpstr>
      <vt:lpstr>Arial</vt:lpstr>
      <vt:lpstr>Designed by iSlide</vt:lpstr>
      <vt:lpstr>AI深度玩家：从“对话”到“重构”的工程化实战</vt:lpstr>
      <vt:lpstr>有用的资源</vt:lpstr>
      <vt:lpstr>目录</vt:lpstr>
      <vt:lpstr>第一讲：逻辑重构——从“图灵悖论”到深度推理与智能体设计</vt:lpstr>
      <vt:lpstr>1. 认知觉醒：从“概率接龙”到“深度推理”与“流程再造”</vt:lpstr>
      <vt:lpstr>2. 深度拆解：从Copilot到AI原生IDE与开放生态</vt:lpstr>
      <vt:lpstr>3. 心法与工程：面向智能体时代的协作哲学</vt:lpstr>
      <vt:lpstr>第二讲：系统进化——构建千倍增效的AI原生工作流与产业赋能系统</vt:lpstr>
      <vt:lpstr>1. 范式变革：从工具使用者到生态调度与流程架构师</vt:lpstr>
      <vt:lpstr>2. 深度实战：从RAG到企业级“智能知识库”</vt:lpstr>
      <vt:lpstr>3. 未来展望：产业赋能新阶段与千倍效率的哲学</vt:lpstr>
      <vt:lpstr>谢谢观看</vt:lpstr>
    </vt:vector>
  </TitlesOfParts>
  <Manager>iSlide</Manager>
  <Company>iSlide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</dc:title>
  <dc:creator>iSlide</dc:creator>
  <cp:lastModifiedBy>Cheng, Lu</cp:lastModifiedBy>
  <cp:revision>4</cp:revision>
  <cp:lastPrinted>2024-01-14T16:00:00Z</cp:lastPrinted>
  <dcterms:created xsi:type="dcterms:W3CDTF">2024-01-14T16:00:00Z</dcterms:created>
  <dcterms:modified xsi:type="dcterms:W3CDTF">2025-12-25T07:53:20Z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b69cdb8d-7ff7-4d25-8a6c-108b828cc777</vt:lpwstr>
  </property>
  <property fmtid="{D5CDD505-2E9C-101B-9397-08002B2CF9AE}" pid="3" name="MSIP_Label_15394ae5-69af-439d-af88-cb521c31c0c5_Enabled">
    <vt:lpwstr>true</vt:lpwstr>
  </property>
  <property fmtid="{D5CDD505-2E9C-101B-9397-08002B2CF9AE}" pid="4" name="MSIP_Label_15394ae5-69af-439d-af88-cb521c31c0c5_SetDate">
    <vt:lpwstr>2025-12-22T08:34:11Z</vt:lpwstr>
  </property>
  <property fmtid="{D5CDD505-2E9C-101B-9397-08002B2CF9AE}" pid="5" name="MSIP_Label_15394ae5-69af-439d-af88-cb521c31c0c5_Method">
    <vt:lpwstr>Standard</vt:lpwstr>
  </property>
  <property fmtid="{D5CDD505-2E9C-101B-9397-08002B2CF9AE}" pid="6" name="MSIP_Label_15394ae5-69af-439d-af88-cb521c31c0c5_Name">
    <vt:lpwstr>DXC Internal</vt:lpwstr>
  </property>
  <property fmtid="{D5CDD505-2E9C-101B-9397-08002B2CF9AE}" pid="7" name="MSIP_Label_15394ae5-69af-439d-af88-cb521c31c0c5_SiteId">
    <vt:lpwstr>93f33571-550f-43cf-b09f-cd331338d086</vt:lpwstr>
  </property>
  <property fmtid="{D5CDD505-2E9C-101B-9397-08002B2CF9AE}" pid="8" name="MSIP_Label_15394ae5-69af-439d-af88-cb521c31c0c5_ActionId">
    <vt:lpwstr>59680bcd-cc7e-4e31-a03d-c76c4928213a</vt:lpwstr>
  </property>
  <property fmtid="{D5CDD505-2E9C-101B-9397-08002B2CF9AE}" pid="9" name="MSIP_Label_15394ae5-69af-439d-af88-cb521c31c0c5_ContentBits">
    <vt:lpwstr>0</vt:lpwstr>
  </property>
  <property fmtid="{D5CDD505-2E9C-101B-9397-08002B2CF9AE}" pid="10" name="MSIP_Label_15394ae5-69af-439d-af88-cb521c31c0c5_Tag">
    <vt:lpwstr>10, 3, 0, 1</vt:lpwstr>
  </property>
</Properties>
</file>