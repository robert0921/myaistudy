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10287000" cy="18288000"/>
  <p:embeddedFontLst>
    <p:embeddedFont>
      <p:font typeface="GT Standard L Extended" pitchFamily="2" charset="0"/>
      <p:bold r:id="rId23"/>
    </p:embeddedFont>
    <p:embeddedFont>
      <p:font typeface="Inter" panose="02000503000000020004" pitchFamily="50" charset="0"/>
      <p:regular r:id="rId24"/>
      <p:bold r:id="rId25"/>
      <p:italic r:id="rId26"/>
      <p:boldItalic r:id="rId27"/>
    </p:embeddedFont>
    <p:embeddedFont>
      <p:font typeface="Inter Bold" panose="020B0604020202020204" charset="0"/>
      <p:regular r:id="rId28"/>
      <p:bold r:id="rId29"/>
      <p:italic r:id="rId30"/>
      <p:boldItalic r:id="rId31"/>
    </p:embeddedFont>
    <p:embeddedFont>
      <p:font typeface="Inter Light" panose="02000403000000020004" pitchFamily="50" charset="0"/>
      <p:regular r:id="rId32"/>
      <p:italic r:id="rId33"/>
    </p:embeddedFont>
    <p:embeddedFont>
      <p:font typeface="Inter Medium" panose="02000603000000020004" pitchFamily="50" charset="0"/>
      <p:regular r:id="rId34"/>
      <p:italic r:id="rId35"/>
    </p:embeddedFont>
    <p:embeddedFont>
      <p:font typeface="Inter Regular" panose="020B0604020202020204" charset="0"/>
      <p:regular r:id="rId36"/>
      <p:bold r:id="rId37"/>
      <p:italic r:id="rId38"/>
      <p:boldItalic r:id="rId39"/>
    </p:embeddedFont>
    <p:embeddedFont>
      <p:font typeface="Inter SemiBold" panose="02000703000000020004" pitchFamily="50" charset="0"/>
      <p:regular r:id="rId40"/>
      <p:bold r:id="rId41"/>
      <p:boldItalic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6D6D"/>
    <a:srgbClr val="B4B0AC"/>
    <a:srgbClr val="545454"/>
    <a:srgbClr val="F6F3F0"/>
    <a:srgbClr val="E4E4E4"/>
    <a:srgbClr val="0052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5822" autoAdjust="0"/>
  </p:normalViewPr>
  <p:slideViewPr>
    <p:cSldViewPr snapToGrid="0">
      <p:cViewPr varScale="1">
        <p:scale>
          <a:sx n="110" d="100"/>
          <a:sy n="110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1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657DA5-5C22-A353-A65D-369446F87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2189D-F3FF-A988-769A-E7A3CB3608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A25DE-A063-4378-A640-4BC83FB26CA8}" type="datetimeFigureOut">
              <a:rPr lang="en-US" smtClean="0">
                <a:latin typeface="Inter" panose="02000503000000020004" pitchFamily="50" charset="0"/>
              </a:rPr>
              <a:t>5/25/2026</a:t>
            </a:fld>
            <a:endParaRPr lang="en-US">
              <a:latin typeface="Inter" panose="0200050300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2170-6562-13C1-D1D5-286367C321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Inter" panose="0200050300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CDAC3-E48C-8609-85D2-09985FEF5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69C77-B4AD-470F-9F54-5C3D80FAC420}" type="slidenum">
              <a:rPr lang="en-US" smtClean="0">
                <a:latin typeface="Inter" panose="02000503000000020004" pitchFamily="50" charset="0"/>
              </a:rPr>
              <a:t>‹#›</a:t>
            </a:fld>
            <a:endParaRPr lang="en-US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115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5760" userDrawn="1">
          <p15:clr>
            <a:srgbClr val="F26B43"/>
          </p15:clr>
        </p15:guide>
        <p15:guide id="2" pos="32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4368073D-F6CD-433D-989C-9BCED54B3B21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Medium" panose="02000603000000020004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Medium" panose="02000603000000020004" pitchFamily="50" charset="0"/>
              </a:defRPr>
            </a:lvl1pPr>
          </a:lstStyle>
          <a:p>
            <a:fld id="{3EA93470-45FA-43A3-A94A-764F2952A3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6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960" kern="1200">
        <a:solidFill>
          <a:schemeClr val="tx1"/>
        </a:solidFill>
        <a:latin typeface="Inter Medium" panose="02000603000000020004" pitchFamily="50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3B2DF-BAF2-C420-FD86-86240D16DD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2" name="Frame 15529" descr="preencoded.png">
            <a:extLst>
              <a:ext uri="{FF2B5EF4-FFF2-40B4-BE49-F238E27FC236}">
                <a16:creationId xmlns:a16="http://schemas.microsoft.com/office/drawing/2014/main" id="{1EF2DDB8-8571-93E4-C67A-35640A82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3200" y="203200"/>
            <a:ext cx="11785600" cy="3949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3F9C0B-0317-E2A6-8F23-EFFBE864DC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>
              <a:latin typeface="Inter Medium" panose="02000603000000020004" pitchFamily="50" charset="0"/>
            </a:endParaRPr>
          </a:p>
        </p:txBody>
      </p:sp>
      <p:pic>
        <p:nvPicPr>
          <p:cNvPr id="15" name="lookmomnoagency_httpss.mj.runJIcAb0P4040_Ultra-real_cinematic_p_638bfe43-65b2-4354-845b-4351f8df7907" descr="preencoded.png">
            <a:extLst>
              <a:ext uri="{FF2B5EF4-FFF2-40B4-BE49-F238E27FC236}">
                <a16:creationId xmlns:a16="http://schemas.microsoft.com/office/drawing/2014/main" id="{75169228-DC09-412D-D6F7-167D9FF75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03200" y="203200"/>
            <a:ext cx="11785600" cy="401320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0342C94D-B005-C627-CC70-486D6842A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7278" y="4539455"/>
            <a:ext cx="6127859" cy="13970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1" cap="all" spc="16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18" name="Union" descr="preencoded.png">
            <a:extLst>
              <a:ext uri="{FF2B5EF4-FFF2-40B4-BE49-F238E27FC236}">
                <a16:creationId xmlns:a16="http://schemas.microsoft.com/office/drawing/2014/main" id="{4B2C8058-2A52-FBD2-A88A-2B552585CE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201" y="4580489"/>
            <a:ext cx="2235200" cy="36195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B5FEA5F-CB2C-3FF5-0223-355E67B8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7278" y="4810124"/>
            <a:ext cx="6127859" cy="81491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6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264E8B-C17A-16FA-16AB-17DE70932CB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74742" y="5779068"/>
            <a:ext cx="3015457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 cap="all" spc="160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Union" descr="preencoded.png">
            <a:extLst>
              <a:ext uri="{FF2B5EF4-FFF2-40B4-BE49-F238E27FC236}">
                <a16:creationId xmlns:a16="http://schemas.microsoft.com/office/drawing/2014/main" id="{6EFE4B1B-FBEC-0DBB-F10D-1A7A97DC17F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03200" y="622300"/>
            <a:ext cx="11785600" cy="318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006E1-F854-BAE6-A4A2-9D3947AA8039}"/>
              </a:ext>
            </a:extLst>
          </p:cNvPr>
          <p:cNvSpPr txBox="1"/>
          <p:nvPr userDrawn="1"/>
        </p:nvSpPr>
        <p:spPr>
          <a:xfrm>
            <a:off x="4973638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4B61FB-43AA-F7C6-9DBE-87E8C3498914}"/>
              </a:ext>
            </a:extLst>
          </p:cNvPr>
          <p:cNvSpPr txBox="1">
            <a:spLocks/>
          </p:cNvSpPr>
          <p:nvPr userDrawn="1"/>
        </p:nvSpPr>
        <p:spPr>
          <a:xfrm>
            <a:off x="4973952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l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4029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pos="46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6C9E5-50FF-1198-36CE-8793878A64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24268" y="515342"/>
            <a:ext cx="5267732" cy="634265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C7BB518-013B-58B6-40AD-19FEB608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637" y="2651125"/>
            <a:ext cx="9186863" cy="11588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8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63D07A-81F1-36DC-EA6A-646757535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398" y="4053679"/>
            <a:ext cx="3133726" cy="1242221"/>
          </a:xfrm>
          <a:prstGeom prst="rect">
            <a:avLst/>
          </a:prstGeom>
        </p:spPr>
        <p:txBody>
          <a:bodyPr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b="0" cap="none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 marL="585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0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5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08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1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96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17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1D1B2-1DC3-890E-96BC-72E7F3451CCA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3050-BD33-7A00-EE49-7F6BC7D27001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405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guide (No Descrip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75DE322-BB62-1F07-1CDA-135ED5F4EFD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2" b="1"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D12025-2BD2-A09B-9EFB-A3882925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7E8852-BD92-0355-4AE0-D8D8FAF4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90" y="2089150"/>
            <a:ext cx="442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84E7C-8DF7-9286-1F6A-E0EDDF612E0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9DC9-2842-272D-FE94-51D6897B7218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6" name="Union" descr="preencoded.png">
            <a:extLst>
              <a:ext uri="{FF2B5EF4-FFF2-40B4-BE49-F238E27FC236}">
                <a16:creationId xmlns:a16="http://schemas.microsoft.com/office/drawing/2014/main" id="{2B2237AB-9675-5704-5381-9A5B56F644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7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5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rima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87625" y="2089149"/>
            <a:ext cx="922337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B9C8783-1EE1-5F05-94F0-020AC127930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594240" y="2089149"/>
            <a:ext cx="4402908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C207ECF-D4C3-643D-CB6A-041FFB709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C006B6-6F06-D002-5779-598B7A38284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380552" y="2089148"/>
            <a:ext cx="4221085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5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7625" y="2089148"/>
            <a:ext cx="9223373" cy="430212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 typeface="Arial" pitchFamily="34" charset="0"/>
              <a:buChar char="•"/>
              <a:defRPr sz="1600" b="0"/>
            </a:lvl1pPr>
            <a:lvl2pPr marL="457200" indent="-228600">
              <a:spcBef>
                <a:spcPts val="600"/>
              </a:spcBef>
              <a:buFont typeface="Arial" pitchFamily="34" charset="0"/>
              <a:buChar char="–"/>
              <a:defRPr sz="1600" b="0"/>
            </a:lvl2pPr>
            <a:lvl3pPr marL="6858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3pPr>
            <a:lvl4pPr marL="9144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4pPr>
            <a:lvl5pPr marL="1143000" indent="-228600">
              <a:spcBef>
                <a:spcPts val="600"/>
              </a:spcBef>
              <a:buFont typeface="Arial" pitchFamily="34" charset="0"/>
              <a:buChar char="–"/>
              <a:defRPr sz="1400" b="0"/>
            </a:lvl5pPr>
            <a:lvl6pPr marL="1371600" indent="-228600">
              <a:spcBef>
                <a:spcPts val="600"/>
              </a:spcBef>
              <a:buFont typeface="Arial" pitchFamily="34" charset="0"/>
              <a:buChar char="–"/>
              <a:defRPr baseline="0"/>
            </a:lvl6pPr>
            <a:lvl7pPr marL="1600200" indent="-228600">
              <a:spcBef>
                <a:spcPts val="600"/>
              </a:spcBef>
              <a:buFont typeface="Arial" pitchFamily="34" charset="0"/>
              <a:buChar char="–"/>
              <a:defRPr baseline="0"/>
            </a:lvl7pPr>
            <a:lvl8pPr marL="1828800" indent="-228600">
              <a:spcBef>
                <a:spcPts val="600"/>
              </a:spcBef>
              <a:buFont typeface="Arial" pitchFamily="34" charset="0"/>
              <a:buChar char="–"/>
              <a:defRPr baseline="0"/>
            </a:lvl8pPr>
            <a:lvl9pPr marL="2057400" indent="-228600">
              <a:spcBef>
                <a:spcPts val="600"/>
              </a:spcBef>
              <a:buFont typeface="Arial" pitchFamily="34" charset="0"/>
              <a:buChar char="–"/>
              <a:defRPr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E9DCC20-00EA-22DD-2AE0-CB3AE03BE68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73ADA15-B0A6-A9E1-1441-0E6F1682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9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5717FA4-86CE-556E-68FB-95C761BEC1B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5692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3CCBB92-4E2E-CA56-141C-71DDE9C9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02B511-3FEB-1B8B-7719-09807E1FF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E713CD5E-96D2-F3B4-7945-151C1A4F88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9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655C0-EAC8-C1F6-4E1E-A95627EE0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587"/>
          <a:stretch>
            <a:fillRect/>
          </a:stretch>
        </p:blipFill>
        <p:spPr>
          <a:xfrm>
            <a:off x="6953250" y="1711590"/>
            <a:ext cx="5238750" cy="457122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A965AE0-60E2-C612-1BE0-C4729967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5DE58E-558F-F5EC-1082-9B720020266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89601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B87AB6-AE03-F48C-7DF9-C5E130FC55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90" y="2089149"/>
            <a:ext cx="332232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77A56BE-E30D-A604-6EC0-1BA1C7B58F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0" y="2090822"/>
            <a:ext cx="4603750" cy="3613150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8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3A8567-14EC-C957-B8D3-E24E11570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62" b="4989"/>
          <a:stretch>
            <a:fillRect/>
          </a:stretch>
        </p:blipFill>
        <p:spPr>
          <a:xfrm>
            <a:off x="4357501" y="145058"/>
            <a:ext cx="7834500" cy="6712942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B7B1E6F2-2C2C-C9A9-5AB8-828355364A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84750" y="740247"/>
            <a:ext cx="6985000" cy="5651028"/>
          </a:xfrm>
          <a:prstGeom prst="roundRect">
            <a:avLst>
              <a:gd name="adj" fmla="val 2257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2AD280C-FC90-5C16-7F3E-4E787A928E0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FF1056-2A2E-EAB8-F36F-EBD7E5F8C0F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03490" y="2434308"/>
            <a:ext cx="3617420" cy="395696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540E6F3E-0F98-698F-5249-2672EA9A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5"/>
            <a:ext cx="4422511" cy="1346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472F4-F461-80E0-0FB3-EFCB9B5CC08D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7D6D-506A-74EA-66C7-80F4746277AA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4338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AD2B2-95E0-8691-E903-8A9026CF8261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0455-28DA-FCFA-8ED8-A428ECF25B46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3053EBC-3E3E-5CCF-5A5C-C2B528F8E71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72813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 (Left Align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B2385-4042-07C0-6BA0-6E264BA5CB68}"/>
              </a:ext>
            </a:extLst>
          </p:cNvPr>
          <p:cNvSpPr/>
          <p:nvPr userDrawn="1"/>
        </p:nvSpPr>
        <p:spPr>
          <a:xfrm>
            <a:off x="0" y="496661"/>
            <a:ext cx="12192000" cy="6361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7086DB-C6B2-0EAA-2AD5-9B3FF5BF83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27718AA-D45F-B35B-3E8D-9C19F3BD272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03489" y="2089149"/>
            <a:ext cx="9185011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 sz="1600"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1704F69-1FC3-DB7A-1D08-B981EE2B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F00A7-BEB6-EC4D-515F-8796DA7764E1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21A3-0CD0-FAEA-5FA7-F851D1A40F17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87835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656793-F272-E05F-7FDB-6FC60AE78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740A865-2EAE-D2C5-9D67-0453F02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5" y="2249663"/>
            <a:ext cx="9223373" cy="278606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 algn="l">
              <a:defRPr lang="en-US" sz="5000" dirty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2CCEFD-F919-42FA-0DD8-3DB039A268F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HeaderMasthead" descr="preencoded.png">
            <a:extLst>
              <a:ext uri="{FF2B5EF4-FFF2-40B4-BE49-F238E27FC236}">
                <a16:creationId xmlns:a16="http://schemas.microsoft.com/office/drawing/2014/main" id="{93C7ACA0-9850-735F-DDA2-7E3D6AF178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BDAE8-E8F2-0C57-3991-61B5388D5967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</p:spTree>
    <p:extLst>
      <p:ext uri="{BB962C8B-B14F-4D97-AF65-F5344CB8AC3E}">
        <p14:creationId xmlns:p14="http://schemas.microsoft.com/office/powerpoint/2010/main" val="2364276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D6C4FC-7347-DEA0-51A8-878E036B731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84749" y="2047462"/>
            <a:ext cx="6173581" cy="424212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03488" y="5774200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03489" y="6047589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089150"/>
            <a:ext cx="3276600" cy="3429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8E15AC9-7292-3D13-6C73-282E69EE8FE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991365" y="2089150"/>
            <a:ext cx="4597135" cy="342900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569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082499-2B66-314C-1973-DB5EE025F0B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119878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5507-DAA8-A243-F8A6-84A409DE0F3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2119879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7551BE5F-EB37-52BA-BF3C-7F77959E16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3488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BD811A-C99D-3B7A-BCC3-66DA844F1C8B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119878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A747F1-959A-3806-A11E-FFACEFB693EF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2119879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51B0D53B-7E9B-3DC3-BA87-003824F65D9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3488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06E116-3C8D-CF15-BA0D-FE1D9DF8D865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8008937" y="248807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EF596F-37D3-8C56-AEC3-A941B57F4B8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8008938" y="273425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5D416AB-5AB8-3255-9B13-3BFE55B1067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92547" y="238073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BFEF732-87F6-4DAB-0C27-9A712527F2FB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8008937" y="4506307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8E4127-A4BC-BD25-7D63-1979A3E79EF6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8008938" y="4752482"/>
            <a:ext cx="3802062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tx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5C05823-0C0C-A242-FF86-E466B32E921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92547" y="4398962"/>
            <a:ext cx="1524000" cy="1524000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51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966E7D02-A59E-D77B-34F9-177B59C8C7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9" name="Text Box 115">
            <a:extLst>
              <a:ext uri="{FF2B5EF4-FFF2-40B4-BE49-F238E27FC236}">
                <a16:creationId xmlns:a16="http://schemas.microsoft.com/office/drawing/2014/main" id="{C625C1F0-127F-73C3-7ADA-A6081E5B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10" name="Union" descr="preencoded.png">
            <a:extLst>
              <a:ext uri="{FF2B5EF4-FFF2-40B4-BE49-F238E27FC236}">
                <a16:creationId xmlns:a16="http://schemas.microsoft.com/office/drawing/2014/main" id="{2E0A7C26-1063-DA8C-412A-967875A0E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1" name="COMPANY OVERVIEW">
            <a:extLst>
              <a:ext uri="{FF2B5EF4-FFF2-40B4-BE49-F238E27FC236}">
                <a16:creationId xmlns:a16="http://schemas.microsoft.com/office/drawing/2014/main" id="{460D8598-B6F3-061C-1E91-55DD0B252539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18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(Whit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C3C95B2-F331-1096-8717-06D4D973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D26464-8BF8-9643-D915-A91B6ECFC4E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88709" y="740247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050" b="0" spc="0" baseline="0">
                <a:solidFill>
                  <a:schemeClr val="accent1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7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26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5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701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2C44BC-E9BB-0137-5946-790004835E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3" name="HeaderMasthead" descr="preencoded.png">
            <a:extLst>
              <a:ext uri="{FF2B5EF4-FFF2-40B4-BE49-F238E27FC236}">
                <a16:creationId xmlns:a16="http://schemas.microsoft.com/office/drawing/2014/main" id="{12ACD87B-8699-6D24-5A7E-A8063B91C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B14BDC-01CE-3431-C0CE-A241E39ACE58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5C4041-222A-F69A-E9EC-1D6BBE6C387B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5F7739-5F3D-DF4D-BE90-E2362F48ACE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587625" y="1874793"/>
            <a:ext cx="9223373" cy="2213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ts val="3600"/>
              </a:lnSpc>
              <a:spcBef>
                <a:spcPts val="600"/>
              </a:spcBef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2pPr>
            <a:lvl3pPr marL="0" indent="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988E8C-D038-1253-4258-6D8D58C445F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742530" y="4610791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GT Standard L Extended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6F164B-E08C-29C0-7C1E-2FD6BCE1AD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742531" y="4905347"/>
            <a:ext cx="6004719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200" cap="all" spc="160" baseline="0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7C4B69D7-624C-1666-EA6E-6FA241A2489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87624" y="4376447"/>
            <a:ext cx="928688" cy="92868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Graphic 14">
            <a:extLst>
              <a:ext uri="{FF2B5EF4-FFF2-40B4-BE49-F238E27FC236}">
                <a16:creationId xmlns:a16="http://schemas.microsoft.com/office/drawing/2014/main" id="{289971B2-6DA5-08CA-F7E5-1172BD30B562}"/>
              </a:ext>
            </a:extLst>
          </p:cNvPr>
          <p:cNvSpPr/>
          <p:nvPr/>
        </p:nvSpPr>
        <p:spPr>
          <a:xfrm>
            <a:off x="1107455" y="2004611"/>
            <a:ext cx="1010098" cy="804690"/>
          </a:xfrm>
          <a:custGeom>
            <a:avLst/>
            <a:gdLst>
              <a:gd name="csX0" fmla="*/ 436380 w 1212117"/>
              <a:gd name="csY0" fmla="*/ 528071 h 965628"/>
              <a:gd name="csX1" fmla="*/ 187312 w 1212117"/>
              <a:gd name="csY1" fmla="*/ 528071 h 965628"/>
              <a:gd name="csX2" fmla="*/ 187312 w 1212117"/>
              <a:gd name="csY2" fmla="*/ 409448 h 965628"/>
              <a:gd name="csX3" fmla="*/ 425638 w 1212117"/>
              <a:gd name="csY3" fmla="*/ 172264 h 965628"/>
              <a:gd name="csX4" fmla="*/ 433264 w 1212117"/>
              <a:gd name="csY4" fmla="*/ 172213 h 965628"/>
              <a:gd name="csX5" fmla="*/ 483088 w 1212117"/>
              <a:gd name="csY5" fmla="*/ 172213 h 965628"/>
              <a:gd name="csX6" fmla="*/ 483088 w 1212117"/>
              <a:gd name="csY6" fmla="*/ 13007 h 965628"/>
              <a:gd name="csX7" fmla="*/ 427044 w 1212117"/>
              <a:gd name="csY7" fmla="*/ 13007 h 965628"/>
              <a:gd name="csX8" fmla="*/ 427044 w 1212117"/>
              <a:gd name="csY8" fmla="*/ 0 h 965628"/>
              <a:gd name="csX9" fmla="*/ 496060 w 1212117"/>
              <a:gd name="csY9" fmla="*/ 0 h 965628"/>
              <a:gd name="csX10" fmla="*/ 496060 w 1212117"/>
              <a:gd name="csY10" fmla="*/ 185220 h 965628"/>
              <a:gd name="csX11" fmla="*/ 433264 w 1212117"/>
              <a:gd name="csY11" fmla="*/ 185220 h 965628"/>
              <a:gd name="csX12" fmla="*/ 257797 w 1212117"/>
              <a:gd name="csY12" fmla="*/ 240893 h 965628"/>
              <a:gd name="csX13" fmla="*/ 200284 w 1212117"/>
              <a:gd name="csY13" fmla="*/ 409448 h 965628"/>
              <a:gd name="csX14" fmla="*/ 200284 w 1212117"/>
              <a:gd name="csY14" fmla="*/ 515065 h 965628"/>
              <a:gd name="csX15" fmla="*/ 449352 w 1212117"/>
              <a:gd name="csY15" fmla="*/ 515065 h 965628"/>
              <a:gd name="csX16" fmla="*/ 449352 w 1212117"/>
              <a:gd name="csY16" fmla="*/ 965628 h 965628"/>
              <a:gd name="csX17" fmla="*/ 0 w 1212117"/>
              <a:gd name="csY17" fmla="*/ 965628 h 965628"/>
              <a:gd name="csX18" fmla="*/ 0 w 1212117"/>
              <a:gd name="csY18" fmla="*/ 418822 h 965628"/>
              <a:gd name="csX19" fmla="*/ 106273 w 1212117"/>
              <a:gd name="csY19" fmla="*/ 113340 h 965628"/>
              <a:gd name="csX20" fmla="*/ 106337 w 1212117"/>
              <a:gd name="csY20" fmla="*/ 113263 h 965628"/>
              <a:gd name="csX21" fmla="*/ 106400 w 1212117"/>
              <a:gd name="csY21" fmla="*/ 113200 h 965628"/>
              <a:gd name="csX22" fmla="*/ 427044 w 1212117"/>
              <a:gd name="csY22" fmla="*/ 0 h 965628"/>
              <a:gd name="csX23" fmla="*/ 427044 w 1212117"/>
              <a:gd name="csY23" fmla="*/ 13007 h 965628"/>
              <a:gd name="csX24" fmla="*/ 414300 w 1212117"/>
              <a:gd name="csY24" fmla="*/ 13108 h 965628"/>
              <a:gd name="csX25" fmla="*/ 115711 w 1212117"/>
              <a:gd name="csY25" fmla="*/ 122256 h 965628"/>
              <a:gd name="csX26" fmla="*/ 109390 w 1212117"/>
              <a:gd name="csY26" fmla="*/ 129166 h 965628"/>
              <a:gd name="csX27" fmla="*/ 12972 w 1212117"/>
              <a:gd name="csY27" fmla="*/ 418822 h 965628"/>
              <a:gd name="csX28" fmla="*/ 12972 w 1212117"/>
              <a:gd name="csY28" fmla="*/ 952622 h 965628"/>
              <a:gd name="csX29" fmla="*/ 436380 w 1212117"/>
              <a:gd name="csY29" fmla="*/ 952622 h 965628"/>
              <a:gd name="csX30" fmla="*/ 436380 w 1212117"/>
              <a:gd name="csY30" fmla="*/ 528071 h 965628"/>
              <a:gd name="csX31" fmla="*/ 1152449 w 1212117"/>
              <a:gd name="csY31" fmla="*/ 528071 h 965628"/>
              <a:gd name="csX32" fmla="*/ 903380 w 1212117"/>
              <a:gd name="csY32" fmla="*/ 528071 h 965628"/>
              <a:gd name="csX33" fmla="*/ 903380 w 1212117"/>
              <a:gd name="csY33" fmla="*/ 409448 h 965628"/>
              <a:gd name="csX34" fmla="*/ 1141707 w 1212117"/>
              <a:gd name="csY34" fmla="*/ 172264 h 965628"/>
              <a:gd name="csX35" fmla="*/ 1149333 w 1212117"/>
              <a:gd name="csY35" fmla="*/ 172213 h 965628"/>
              <a:gd name="csX36" fmla="*/ 1199145 w 1212117"/>
              <a:gd name="csY36" fmla="*/ 172213 h 965628"/>
              <a:gd name="csX37" fmla="*/ 1199145 w 1212117"/>
              <a:gd name="csY37" fmla="*/ 13007 h 965628"/>
              <a:gd name="csX38" fmla="*/ 1143113 w 1212117"/>
              <a:gd name="csY38" fmla="*/ 13007 h 965628"/>
              <a:gd name="csX39" fmla="*/ 1143113 w 1212117"/>
              <a:gd name="csY39" fmla="*/ 0 h 965628"/>
              <a:gd name="csX40" fmla="*/ 1212117 w 1212117"/>
              <a:gd name="csY40" fmla="*/ 0 h 965628"/>
              <a:gd name="csX41" fmla="*/ 1212117 w 1212117"/>
              <a:gd name="csY41" fmla="*/ 185220 h 965628"/>
              <a:gd name="csX42" fmla="*/ 1149333 w 1212117"/>
              <a:gd name="csY42" fmla="*/ 185220 h 965628"/>
              <a:gd name="csX43" fmla="*/ 973866 w 1212117"/>
              <a:gd name="csY43" fmla="*/ 240893 h 965628"/>
              <a:gd name="csX44" fmla="*/ 916352 w 1212117"/>
              <a:gd name="csY44" fmla="*/ 409448 h 965628"/>
              <a:gd name="csX45" fmla="*/ 916352 w 1212117"/>
              <a:gd name="csY45" fmla="*/ 515065 h 965628"/>
              <a:gd name="csX46" fmla="*/ 1165421 w 1212117"/>
              <a:gd name="csY46" fmla="*/ 515065 h 965628"/>
              <a:gd name="csX47" fmla="*/ 1165421 w 1212117"/>
              <a:gd name="csY47" fmla="*/ 965628 h 965628"/>
              <a:gd name="csX48" fmla="*/ 716069 w 1212117"/>
              <a:gd name="csY48" fmla="*/ 965628 h 965628"/>
              <a:gd name="csX49" fmla="*/ 716069 w 1212117"/>
              <a:gd name="csY49" fmla="*/ 418822 h 965628"/>
              <a:gd name="csX50" fmla="*/ 822342 w 1212117"/>
              <a:gd name="csY50" fmla="*/ 113340 h 965628"/>
              <a:gd name="csX51" fmla="*/ 822406 w 1212117"/>
              <a:gd name="csY51" fmla="*/ 113263 h 965628"/>
              <a:gd name="csX52" fmla="*/ 822468 w 1212117"/>
              <a:gd name="csY52" fmla="*/ 113200 h 965628"/>
              <a:gd name="csX53" fmla="*/ 1143113 w 1212117"/>
              <a:gd name="csY53" fmla="*/ 0 h 965628"/>
              <a:gd name="csX54" fmla="*/ 1143113 w 1212117"/>
              <a:gd name="csY54" fmla="*/ 13007 h 965628"/>
              <a:gd name="csX55" fmla="*/ 1130369 w 1212117"/>
              <a:gd name="csY55" fmla="*/ 13108 h 965628"/>
              <a:gd name="csX56" fmla="*/ 831780 w 1212117"/>
              <a:gd name="csY56" fmla="*/ 122256 h 965628"/>
              <a:gd name="csX57" fmla="*/ 825458 w 1212117"/>
              <a:gd name="csY57" fmla="*/ 129166 h 965628"/>
              <a:gd name="csX58" fmla="*/ 729041 w 1212117"/>
              <a:gd name="csY58" fmla="*/ 418822 h 965628"/>
              <a:gd name="csX59" fmla="*/ 729041 w 1212117"/>
              <a:gd name="csY59" fmla="*/ 952622 h 965628"/>
              <a:gd name="csX60" fmla="*/ 1152449 w 1212117"/>
              <a:gd name="csY60" fmla="*/ 952622 h 965628"/>
              <a:gd name="csX61" fmla="*/ 1152449 w 1212117"/>
              <a:gd name="csY61" fmla="*/ 528071 h 965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1212117" h="965628">
                <a:moveTo>
                  <a:pt x="436380" y="528071"/>
                </a:moveTo>
                <a:lnTo>
                  <a:pt x="187312" y="528071"/>
                </a:lnTo>
                <a:lnTo>
                  <a:pt x="187312" y="409448"/>
                </a:lnTo>
                <a:cubicBezTo>
                  <a:pt x="187312" y="253760"/>
                  <a:pt x="266758" y="174698"/>
                  <a:pt x="425638" y="172264"/>
                </a:cubicBezTo>
                <a:lnTo>
                  <a:pt x="433264" y="172213"/>
                </a:lnTo>
                <a:lnTo>
                  <a:pt x="483088" y="172213"/>
                </a:lnTo>
                <a:lnTo>
                  <a:pt x="483088" y="13007"/>
                </a:lnTo>
                <a:lnTo>
                  <a:pt x="427044" y="13007"/>
                </a:lnTo>
                <a:lnTo>
                  <a:pt x="427044" y="0"/>
                </a:lnTo>
                <a:lnTo>
                  <a:pt x="496060" y="0"/>
                </a:lnTo>
                <a:lnTo>
                  <a:pt x="496060" y="185220"/>
                </a:lnTo>
                <a:lnTo>
                  <a:pt x="433264" y="185220"/>
                </a:lnTo>
                <a:cubicBezTo>
                  <a:pt x="353159" y="185221"/>
                  <a:pt x="295484" y="204541"/>
                  <a:pt x="257797" y="240893"/>
                </a:cubicBezTo>
                <a:cubicBezTo>
                  <a:pt x="220205" y="277154"/>
                  <a:pt x="200284" y="332505"/>
                  <a:pt x="200284" y="409448"/>
                </a:cubicBezTo>
                <a:lnTo>
                  <a:pt x="200284" y="515065"/>
                </a:lnTo>
                <a:lnTo>
                  <a:pt x="449352" y="515065"/>
                </a:lnTo>
                <a:lnTo>
                  <a:pt x="449352" y="965628"/>
                </a:lnTo>
                <a:lnTo>
                  <a:pt x="0" y="965628"/>
                </a:lnTo>
                <a:lnTo>
                  <a:pt x="0" y="418822"/>
                </a:lnTo>
                <a:cubicBezTo>
                  <a:pt x="0" y="291498"/>
                  <a:pt x="34984" y="189152"/>
                  <a:pt x="106273" y="113340"/>
                </a:cubicBezTo>
                <a:lnTo>
                  <a:pt x="106337" y="113263"/>
                </a:lnTo>
                <a:lnTo>
                  <a:pt x="106400" y="113200"/>
                </a:lnTo>
                <a:cubicBezTo>
                  <a:pt x="180176" y="37051"/>
                  <a:pt x="287829" y="0"/>
                  <a:pt x="427044" y="0"/>
                </a:cubicBezTo>
                <a:lnTo>
                  <a:pt x="427044" y="13007"/>
                </a:lnTo>
                <a:lnTo>
                  <a:pt x="414300" y="13108"/>
                </a:lnTo>
                <a:cubicBezTo>
                  <a:pt x="283605" y="15313"/>
                  <a:pt x="184076" y="51696"/>
                  <a:pt x="115711" y="122256"/>
                </a:cubicBezTo>
                <a:lnTo>
                  <a:pt x="109390" y="129166"/>
                </a:lnTo>
                <a:cubicBezTo>
                  <a:pt x="45110" y="201304"/>
                  <a:pt x="12972" y="297859"/>
                  <a:pt x="12972" y="418822"/>
                </a:cubicBezTo>
                <a:lnTo>
                  <a:pt x="12972" y="952622"/>
                </a:lnTo>
                <a:lnTo>
                  <a:pt x="436380" y="952622"/>
                </a:lnTo>
                <a:lnTo>
                  <a:pt x="436380" y="528071"/>
                </a:lnTo>
                <a:close/>
                <a:moveTo>
                  <a:pt x="1152449" y="528071"/>
                </a:moveTo>
                <a:lnTo>
                  <a:pt x="903380" y="528071"/>
                </a:lnTo>
                <a:lnTo>
                  <a:pt x="903380" y="409448"/>
                </a:lnTo>
                <a:cubicBezTo>
                  <a:pt x="903381" y="253759"/>
                  <a:pt x="982824" y="174697"/>
                  <a:pt x="1141707" y="172264"/>
                </a:cubicBezTo>
                <a:lnTo>
                  <a:pt x="1149333" y="172213"/>
                </a:lnTo>
                <a:lnTo>
                  <a:pt x="1199145" y="172213"/>
                </a:lnTo>
                <a:lnTo>
                  <a:pt x="1199145" y="13007"/>
                </a:lnTo>
                <a:lnTo>
                  <a:pt x="1143113" y="13007"/>
                </a:lnTo>
                <a:lnTo>
                  <a:pt x="1143113" y="0"/>
                </a:lnTo>
                <a:lnTo>
                  <a:pt x="1212117" y="0"/>
                </a:lnTo>
                <a:lnTo>
                  <a:pt x="1212117" y="185220"/>
                </a:lnTo>
                <a:lnTo>
                  <a:pt x="1149333" y="185220"/>
                </a:lnTo>
                <a:cubicBezTo>
                  <a:pt x="1069227" y="185221"/>
                  <a:pt x="1011554" y="204541"/>
                  <a:pt x="973866" y="240893"/>
                </a:cubicBezTo>
                <a:cubicBezTo>
                  <a:pt x="936273" y="277154"/>
                  <a:pt x="916353" y="332504"/>
                  <a:pt x="916352" y="409448"/>
                </a:cubicBezTo>
                <a:lnTo>
                  <a:pt x="916352" y="515065"/>
                </a:lnTo>
                <a:lnTo>
                  <a:pt x="1165421" y="515065"/>
                </a:lnTo>
                <a:lnTo>
                  <a:pt x="1165421" y="965628"/>
                </a:lnTo>
                <a:lnTo>
                  <a:pt x="716069" y="965628"/>
                </a:lnTo>
                <a:lnTo>
                  <a:pt x="716069" y="418822"/>
                </a:lnTo>
                <a:cubicBezTo>
                  <a:pt x="716069" y="291498"/>
                  <a:pt x="751052" y="189152"/>
                  <a:pt x="822342" y="113340"/>
                </a:cubicBezTo>
                <a:lnTo>
                  <a:pt x="822406" y="113263"/>
                </a:lnTo>
                <a:lnTo>
                  <a:pt x="822468" y="113200"/>
                </a:lnTo>
                <a:cubicBezTo>
                  <a:pt x="896245" y="37051"/>
                  <a:pt x="1003897" y="0"/>
                  <a:pt x="1143113" y="0"/>
                </a:cubicBezTo>
                <a:lnTo>
                  <a:pt x="1143113" y="13007"/>
                </a:lnTo>
                <a:lnTo>
                  <a:pt x="1130369" y="13108"/>
                </a:lnTo>
                <a:cubicBezTo>
                  <a:pt x="999674" y="15313"/>
                  <a:pt x="900144" y="51696"/>
                  <a:pt x="831780" y="122256"/>
                </a:cubicBezTo>
                <a:lnTo>
                  <a:pt x="825458" y="129166"/>
                </a:lnTo>
                <a:cubicBezTo>
                  <a:pt x="761178" y="201304"/>
                  <a:pt x="729041" y="297857"/>
                  <a:pt x="729041" y="418822"/>
                </a:cubicBezTo>
                <a:lnTo>
                  <a:pt x="729041" y="952622"/>
                </a:lnTo>
                <a:lnTo>
                  <a:pt x="1152449" y="952622"/>
                </a:lnTo>
                <a:lnTo>
                  <a:pt x="1152449" y="528071"/>
                </a:lnTo>
                <a:close/>
              </a:path>
            </a:pathLst>
          </a:custGeom>
          <a:solidFill>
            <a:schemeClr val="accent5"/>
          </a:solidFill>
          <a:ln w="12970" cap="flat">
            <a:noFill/>
            <a:prstDash val="solid"/>
            <a:miter/>
          </a:ln>
        </p:spPr>
        <p:txBody>
          <a:bodyPr/>
          <a:lstStyle/>
          <a:p>
            <a:endParaRPr lang="en-DE" dirty="0">
              <a:solidFill>
                <a:schemeClr val="accent4"/>
              </a:solidFill>
              <a:latin typeface="Inter" panose="02000503000000020004" pitchFamily="50" charset="0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A048D12D-29DD-D8DF-D0A4-9A36FD29DD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E3E80215-1A0C-AEE9-21D0-C1DFF761BE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bg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bg1"/>
              </a:solidFill>
              <a:latin typeface="Inter Bold"/>
              <a:ea typeface="Inter Bold"/>
            </a:endParaRPr>
          </a:p>
        </p:txBody>
      </p:sp>
      <p:pic>
        <p:nvPicPr>
          <p:cNvPr id="9" name="Union" descr="preencoded.png">
            <a:extLst>
              <a:ext uri="{FF2B5EF4-FFF2-40B4-BE49-F238E27FC236}">
                <a16:creationId xmlns:a16="http://schemas.microsoft.com/office/drawing/2014/main" id="{84A28516-F244-E772-2F22-00C058D757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0" name="COMPANY OVERVIEW">
            <a:extLst>
              <a:ext uri="{FF2B5EF4-FFF2-40B4-BE49-F238E27FC236}">
                <a16:creationId xmlns:a16="http://schemas.microsoft.com/office/drawing/2014/main" id="{73581848-D525-1749-FBFB-E0E176CEEBC1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bg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346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28104F-AAE6-B720-6AA2-9965E47FA0B2}"/>
              </a:ext>
            </a:extLst>
          </p:cNvPr>
          <p:cNvSpPr/>
          <p:nvPr userDrawn="1"/>
        </p:nvSpPr>
        <p:spPr>
          <a:xfrm>
            <a:off x="0" y="401411"/>
            <a:ext cx="12192000" cy="6456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42B0A81-49C8-FCE9-4620-D42F33FDA28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0082" y="516443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21B71CE-FC70-2F19-3188-ACCD0DB193B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17682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9D4AFB4-FC0D-A2B9-7EC1-DD4D7717C96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30082" y="3540124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DEF1DFB8-BC9A-B59F-8B8A-BC5D1016A3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17682" y="3540125"/>
            <a:ext cx="2208318" cy="286329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6C11F13A-F960-0FFA-2F9F-71D30C7E6C9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84751" y="516443"/>
            <a:ext cx="4603750" cy="5886979"/>
          </a:xfrm>
          <a:prstGeom prst="roundRect">
            <a:avLst>
              <a:gd name="adj" fmla="val 2349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C9AEF74C-2790-BA06-A268-BE5922DA36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747250" y="516444"/>
            <a:ext cx="2208318" cy="2841118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2D46F34-3342-C2E2-018B-2A1814EC730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50" y="3540124"/>
            <a:ext cx="2208318" cy="2863299"/>
          </a:xfrm>
          <a:prstGeom prst="roundRect">
            <a:avLst>
              <a:gd name="adj" fmla="val 5813"/>
            </a:avLst>
          </a:prstGeom>
          <a:noFill/>
        </p:spPr>
        <p:txBody>
          <a:bodyPr anchor="ctr" anchorCtr="0">
            <a:normAutofit/>
          </a:bodyPr>
          <a:lstStyle>
            <a:lvl1pPr algn="ctr">
              <a:defRPr sz="1600" b="0"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06C4B-AD0F-177E-920A-CFF3206E071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879712-D34B-145B-F968-944F6414925F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19665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(Canv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483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540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D140-B4EA-E7E0-18A8-B7D83155FBFC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8E8F88-DA2A-1D8C-C16A-A27EE17F173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186300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4" name="Union" descr="preencoded.png">
            <a:extLst>
              <a:ext uri="{FF2B5EF4-FFF2-40B4-BE49-F238E27FC236}">
                <a16:creationId xmlns:a16="http://schemas.microsoft.com/office/drawing/2014/main" id="{EA16ED0D-CB25-EA45-6EB2-9A86149AB4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35225"/>
            <a:ext cx="12192000" cy="1987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1374D-BA4A-0EF5-3894-069B57DF8D2A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057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" panose="02000503000000020004" pitchFamily="50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>
                <a:solidFill>
                  <a:srgbClr val="6D6D6D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bg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CF4D50-45C8-DA6C-C9B8-13ED37CF32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57500" y="2231508"/>
            <a:ext cx="6477000" cy="23949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DDA3C-197F-4DFB-CFBA-4D8F92B01B89}"/>
              </a:ext>
            </a:extLst>
          </p:cNvPr>
          <p:cNvSpPr txBox="1"/>
          <p:nvPr userDrawn="1"/>
        </p:nvSpPr>
        <p:spPr>
          <a:xfrm>
            <a:off x="222692" y="6657597"/>
            <a:ext cx="247604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50" charset="0"/>
                <a:cs typeface="Inter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337062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9B77A6-51DB-A275-1E8D-9C0DB96B9B2E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" panose="02000503000000020004" pitchFamily="50" charset="0"/>
            </a:endParaRPr>
          </a:p>
        </p:txBody>
      </p:sp>
      <p:pic>
        <p:nvPicPr>
          <p:cNvPr id="11" name="HeaderMasthead" descr="preencoded.png">
            <a:extLst>
              <a:ext uri="{FF2B5EF4-FFF2-40B4-BE49-F238E27FC236}">
                <a16:creationId xmlns:a16="http://schemas.microsoft.com/office/drawing/2014/main" id="{7AD18B85-66FF-545C-62C1-1AA3E2F607F2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rcRect t="7407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  <a:solidFill>
            <a:srgbClr val="F6F3F0"/>
          </a:solidFill>
        </p:spPr>
      </p:pic>
      <p:sp>
        <p:nvSpPr>
          <p:cNvPr id="8" name="Text Box 115">
            <a:extLst>
              <a:ext uri="{FF2B5EF4-FFF2-40B4-BE49-F238E27FC236}">
                <a16:creationId xmlns:a16="http://schemas.microsoft.com/office/drawing/2014/main" id="{E509171D-D1E5-AC55-9CA5-72DEBB670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sp>
        <p:nvSpPr>
          <p:cNvPr id="6" name="Text Box 115">
            <a:extLst>
              <a:ext uri="{FF2B5EF4-FFF2-40B4-BE49-F238E27FC236}">
                <a16:creationId xmlns:a16="http://schemas.microsoft.com/office/drawing/2014/main" id="{57FED08E-39F8-715B-3405-179C34F64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764114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525272">
              <a:spcBef>
                <a:spcPts val="0"/>
              </a:spcBef>
            </a:pPr>
            <a:fld id="{18E29826-F105-4F77-B977-03F4A4723A21}" type="slidenum">
              <a:rPr lang="en-US" sz="90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525272">
                <a:spcBef>
                  <a:spcPts val="0"/>
                </a:spcBef>
              </a:pPr>
              <a:t>‹#›</a:t>
            </a:fld>
            <a:endParaRPr lang="en-US" sz="90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pic>
        <p:nvPicPr>
          <p:cNvPr id="12" name="Union" descr="preencoded.png">
            <a:extLst>
              <a:ext uri="{FF2B5EF4-FFF2-40B4-BE49-F238E27FC236}">
                <a16:creationId xmlns:a16="http://schemas.microsoft.com/office/drawing/2014/main" id="{4FB38D83-98DA-D85F-B63C-1565BED26FC5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rcRect/>
          <a:stretch/>
        </p:blipFill>
        <p:spPr>
          <a:xfrm>
            <a:off x="409178" y="190696"/>
            <a:ext cx="781843" cy="12660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54F591-DD1D-779B-F521-4357971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89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COMPANY OVERVIEW">
            <a:extLst>
              <a:ext uri="{FF2B5EF4-FFF2-40B4-BE49-F238E27FC236}">
                <a16:creationId xmlns:a16="http://schemas.microsoft.com/office/drawing/2014/main" id="{7B162524-8505-A661-2881-71985958524A}"/>
              </a:ext>
            </a:extLst>
          </p:cNvPr>
          <p:cNvSpPr/>
          <p:nvPr userDrawn="1"/>
        </p:nvSpPr>
        <p:spPr>
          <a:xfrm>
            <a:off x="3950892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endParaRPr lang="en-US" sz="900" b="1" cap="all" baseline="0" dirty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8D71ED-9D19-C6F9-2CB5-DED660B9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490" y="2089150"/>
            <a:ext cx="11407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40BB-194C-8CB0-E91C-E0A8396C52B4}"/>
              </a:ext>
            </a:extLst>
          </p:cNvPr>
          <p:cNvSpPr txBox="1"/>
          <p:nvPr userDrawn="1"/>
        </p:nvSpPr>
        <p:spPr>
          <a:xfrm>
            <a:off x="10007159" y="6654800"/>
            <a:ext cx="1962149" cy="102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800" b="0" dirty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39F452-F205-21C0-5578-B7519A84CA15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850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85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334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21" r:id="rId2"/>
    <p:sldLayoutId id="2147483739" r:id="rId3"/>
    <p:sldLayoutId id="2147483674" r:id="rId4"/>
    <p:sldLayoutId id="2147483697" r:id="rId5"/>
    <p:sldLayoutId id="2147483734" r:id="rId6"/>
    <p:sldLayoutId id="2147483714" r:id="rId7"/>
    <p:sldLayoutId id="2147483696" r:id="rId8"/>
    <p:sldLayoutId id="2147483705" r:id="rId9"/>
    <p:sldLayoutId id="2147483718" r:id="rId10"/>
    <p:sldLayoutId id="2147483694" r:id="rId11"/>
    <p:sldLayoutId id="2147483738" r:id="rId12"/>
    <p:sldLayoutId id="2147483740" r:id="rId13"/>
    <p:sldLayoutId id="2147483746" r:id="rId14"/>
    <p:sldLayoutId id="2147483701" r:id="rId15"/>
    <p:sldLayoutId id="2147483744" r:id="rId16"/>
    <p:sldLayoutId id="2147483745" r:id="rId17"/>
    <p:sldLayoutId id="2147483743" r:id="rId18"/>
    <p:sldLayoutId id="2147483711" r:id="rId19"/>
    <p:sldLayoutId id="2147483742" r:id="rId20"/>
    <p:sldLayoutId id="2147483719" r:id="rId21"/>
    <p:sldLayoutId id="2147483677" r:id="rId22"/>
    <p:sldLayoutId id="2147483720" r:id="rId23"/>
    <p:sldLayoutId id="2147483678" r:id="rId24"/>
    <p:sldLayoutId id="2147483737" r:id="rId2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GT Standard L Extended" pitchFamily="50" charset="0"/>
          <a:ea typeface="Inter Medium" panose="02000603000000020004" pitchFamily="50" charset="0"/>
          <a:cs typeface="Inter Medium" panose="02000603000000020004" pitchFamily="50" charset="0"/>
        </a:defRPr>
      </a:lvl1pPr>
    </p:titleStyle>
    <p:bodyStyle>
      <a:lvl1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1pPr>
      <a:lvl2pPr marL="0" indent="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2pPr>
      <a:lvl3pPr marL="228600" indent="-22860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3pPr>
      <a:lvl4pPr marL="517525" indent="-288925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4pPr>
      <a:lvl5pPr marL="800100" indent="-273050" algn="l" defTabSz="109728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  <p15:guide id="4" pos="8928">
          <p15:clr>
            <a:srgbClr val="F26B43"/>
          </p15:clr>
        </p15:guide>
        <p15:guide id="5" orient="horz" pos="384">
          <p15:clr>
            <a:srgbClr val="F26B43"/>
          </p15:clr>
        </p15:guide>
        <p15:guide id="6" orient="horz" pos="5034" userDrawn="1">
          <p15:clr>
            <a:srgbClr val="F26B43"/>
          </p15:clr>
        </p15:guide>
        <p15:guide id="7" pos="288">
          <p15:clr>
            <a:srgbClr val="F26B43"/>
          </p15:clr>
        </p15:guide>
        <p15:guide id="8" pos="1836" userDrawn="1">
          <p15:clr>
            <a:srgbClr val="F26B43"/>
          </p15:clr>
        </p15:guide>
        <p15:guide id="9" pos="1956" userDrawn="1">
          <p15:clr>
            <a:srgbClr val="F26B43"/>
          </p15:clr>
        </p15:guide>
        <p15:guide id="10" pos="3648" userDrawn="1">
          <p15:clr>
            <a:srgbClr val="F26B43"/>
          </p15:clr>
        </p15:guide>
        <p15:guide id="11" pos="3768" userDrawn="1">
          <p15:clr>
            <a:srgbClr val="F26B43"/>
          </p15:clr>
        </p15:guide>
        <p15:guide id="12" pos="5448" userDrawn="1">
          <p15:clr>
            <a:srgbClr val="F26B43"/>
          </p15:clr>
        </p15:guide>
        <p15:guide id="13" pos="5568" userDrawn="1">
          <p15:clr>
            <a:srgbClr val="F26B43"/>
          </p15:clr>
        </p15:guide>
        <p15:guide id="14" pos="7248" userDrawn="1">
          <p15:clr>
            <a:srgbClr val="F26B43"/>
          </p15:clr>
        </p15:guide>
        <p15:guide id="15" pos="7368" userDrawn="1">
          <p15:clr>
            <a:srgbClr val="F26B43"/>
          </p15:clr>
        </p15:guide>
        <p15:guide id="16" pos="168" userDrawn="1">
          <p15:clr>
            <a:srgbClr val="F26B43"/>
          </p15:clr>
        </p15:guide>
        <p15:guide id="17" pos="9048" userDrawn="1">
          <p15:clr>
            <a:srgbClr val="F26B43"/>
          </p15:clr>
        </p15:guide>
        <p15:guide id="18" orient="horz" pos="48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457200" y="1905000"/>
            <a:ext cx="57150" cy="2095500"/>
          </a:xfrm>
          <a:custGeom>
            <a:avLst/>
            <a:gdLst/>
            <a:ahLst/>
            <a:cxnLst/>
            <a:rect l="l" t="t" r="r" b="b"/>
            <a:pathLst>
              <a:path w="57150" h="20955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066925"/>
                </a:lnTo>
                <a:cubicBezTo>
                  <a:pt x="57150" y="2082707"/>
                  <a:pt x="44357" y="2095500"/>
                  <a:pt x="28575" y="2095500"/>
                </a:cubicBezTo>
                <a:lnTo>
                  <a:pt x="28575" y="2095500"/>
                </a:lnTo>
                <a:cubicBezTo>
                  <a:pt x="12793" y="2095500"/>
                  <a:pt x="0" y="2082707"/>
                  <a:pt x="0" y="2066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655320" y="2017395"/>
            <a:ext cx="2777395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AI 深度玩家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2686050"/>
            <a:ext cx="575691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从"对话"到"重构"的工程化实战</a:t>
            </a:r>
          </a:p>
        </p:txBody>
      </p:sp>
      <p:sp>
        <p:nvSpPr>
          <p:cNvPr id="6" name="Line 6"/>
          <p:cNvSpPr/>
          <p:nvPr/>
        </p:nvSpPr>
        <p:spPr>
          <a:xfrm>
            <a:off x="704850" y="3238500"/>
            <a:ext cx="5962650" cy="9525"/>
          </a:xfrm>
          <a:custGeom>
            <a:avLst/>
            <a:gdLst/>
            <a:ahLst/>
            <a:cxnLst/>
            <a:rect l="l" t="t" r="r" b="b"/>
            <a:pathLst>
              <a:path w="5962650" h="9525">
                <a:moveTo>
                  <a:pt x="0" y="0"/>
                </a:moveTo>
                <a:lnTo>
                  <a:pt x="5962650" y="0"/>
                </a:lnTo>
              </a:path>
            </a:pathLst>
          </a:custGeom>
          <a:noFill/>
          <a:ln w="14288">
            <a:solidFill>
              <a:srgbClr val="FFAE41">
                <a:alpha val="6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83895" y="3403282"/>
            <a:ext cx="36613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6F3F0"/>
                </a:solidFill>
                <a:latin typeface="Calibri"/>
                <a:ea typeface="Microsoft YaHei"/>
                <a:cs typeface="Calibri"/>
              </a:rPr>
              <a:t>驾驭智能体时代，构建 AI 原生工作流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9610" y="3966210"/>
            <a:ext cx="2654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程璐 ｜ 2025.12.24 ｜ DXC 技术分享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0" y="5905500"/>
            <a:ext cx="1333500" cy="342900"/>
          </a:xfrm>
          <a:custGeom>
            <a:avLst/>
            <a:gdLst/>
            <a:ahLst/>
            <a:cxnLst/>
            <a:rect l="l" t="t" r="r" b="b"/>
            <a:pathLst>
              <a:path w="1333500" h="342900">
                <a:moveTo>
                  <a:pt x="171450" y="0"/>
                </a:moveTo>
                <a:lnTo>
                  <a:pt x="1162050" y="0"/>
                </a:lnTo>
                <a:cubicBezTo>
                  <a:pt x="1256739" y="0"/>
                  <a:pt x="1333500" y="76761"/>
                  <a:pt x="1333500" y="171450"/>
                </a:cubicBezTo>
                <a:lnTo>
                  <a:pt x="1333500" y="171450"/>
                </a:lnTo>
                <a:cubicBezTo>
                  <a:pt x="1333500" y="266139"/>
                  <a:pt x="1256739" y="342900"/>
                  <a:pt x="11620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004AAC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0601649" y="6020752"/>
            <a:ext cx="10852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DXC Technology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5315" y="715328"/>
            <a:ext cx="621953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我们正在经历一场"使用方式"的代际跃迁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1295400"/>
            <a:ext cx="11277600" cy="419100"/>
          </a:xfrm>
          <a:custGeom>
            <a:avLst/>
            <a:gdLst/>
            <a:ahLst/>
            <a:cxnLst/>
            <a:rect l="l" t="t" r="r" b="b"/>
            <a:pathLst>
              <a:path w="11277600" h="4191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381000"/>
                </a:lnTo>
                <a:cubicBezTo>
                  <a:pt x="11277600" y="402042"/>
                  <a:pt x="11260542" y="419100"/>
                  <a:pt x="112395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48665" y="14487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阶段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2665" y="14487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角色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77665" y="14487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典型动作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25665" y="14487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局限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" y="1714500"/>
            <a:ext cx="11277600" cy="685800"/>
          </a:xfrm>
          <a:custGeom>
            <a:avLst/>
            <a:gdLst/>
            <a:ahLst/>
            <a:cxnLst/>
            <a:rect l="l" t="t" r="r" b="b"/>
            <a:pathLst>
              <a:path w="11277600" h="6858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666750"/>
                </a:lnTo>
                <a:cubicBezTo>
                  <a:pt x="11277600" y="677271"/>
                  <a:pt x="11269071" y="685800"/>
                  <a:pt x="11258550" y="685800"/>
                </a:cubicBezTo>
                <a:lnTo>
                  <a:pt x="19050" y="685800"/>
                </a:lnTo>
                <a:cubicBezTo>
                  <a:pt x="8529" y="685800"/>
                  <a:pt x="0" y="677271"/>
                  <a:pt x="0" y="6667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2"/>
          <p:cNvSpPr/>
          <p:nvPr/>
        </p:nvSpPr>
        <p:spPr>
          <a:xfrm>
            <a:off x="457200" y="1714500"/>
            <a:ext cx="38100" cy="6858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748665" y="18964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对话阶段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1412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2022–2023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2665" y="1982152"/>
            <a:ext cx="446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提问者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77665" y="1982152"/>
            <a:ext cx="1398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写 Prompt、复制粘贴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25665" y="19821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单点提效，不可复用</a:t>
            </a:r>
          </a:p>
        </p:txBody>
      </p:sp>
      <p:sp>
        <p:nvSpPr>
          <p:cNvPr id="18" name="Freeform 18"/>
          <p:cNvSpPr/>
          <p:nvPr/>
        </p:nvSpPr>
        <p:spPr>
          <a:xfrm>
            <a:off x="457200" y="2438400"/>
            <a:ext cx="11277600" cy="685800"/>
          </a:xfrm>
          <a:custGeom>
            <a:avLst/>
            <a:gdLst/>
            <a:ahLst/>
            <a:cxnLst/>
            <a:rect l="l" t="t" r="r" b="b"/>
            <a:pathLst>
              <a:path w="11277600" h="6858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666750"/>
                </a:lnTo>
                <a:cubicBezTo>
                  <a:pt x="11277600" y="677271"/>
                  <a:pt x="11269071" y="685800"/>
                  <a:pt x="11258550" y="685800"/>
                </a:cubicBezTo>
                <a:lnTo>
                  <a:pt x="19050" y="685800"/>
                </a:lnTo>
                <a:cubicBezTo>
                  <a:pt x="8529" y="685800"/>
                  <a:pt x="0" y="677271"/>
                  <a:pt x="0" y="6667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457200" y="2438400"/>
            <a:ext cx="38100" cy="685800"/>
          </a:xfrm>
          <a:prstGeom prst="rect">
            <a:avLst/>
          </a:prstGeom>
          <a:solidFill>
            <a:srgbClr val="4995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48665" y="26203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嵌入阶段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2865120"/>
            <a:ext cx="6169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2024–2025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72665" y="270605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工具使用者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77665" y="27060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Copilot、AI IDE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25665" y="27060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限于代码与文档场景</a:t>
            </a:r>
          </a:p>
        </p:txBody>
      </p:sp>
      <p:sp>
        <p:nvSpPr>
          <p:cNvPr id="25" name="Freeform 25"/>
          <p:cNvSpPr/>
          <p:nvPr/>
        </p:nvSpPr>
        <p:spPr>
          <a:xfrm>
            <a:off x="457200" y="3162300"/>
            <a:ext cx="11277600" cy="762000"/>
          </a:xfrm>
          <a:custGeom>
            <a:avLst/>
            <a:gdLst/>
            <a:ahLst/>
            <a:cxnLst/>
            <a:rect l="l" t="t" r="r" b="b"/>
            <a:pathLst>
              <a:path w="11277600" h="7620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723900"/>
                </a:lnTo>
                <a:cubicBezTo>
                  <a:pt x="11277600" y="744942"/>
                  <a:pt x="11260542" y="762000"/>
                  <a:pt x="11239500" y="762000"/>
                </a:cubicBezTo>
                <a:lnTo>
                  <a:pt x="38100" y="762000"/>
                </a:lnTo>
                <a:cubicBezTo>
                  <a:pt x="17058" y="762000"/>
                  <a:pt x="0" y="744942"/>
                  <a:pt x="0" y="723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457200" y="3162300"/>
            <a:ext cx="57150" cy="7620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747712" y="33456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重构阶段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570" y="3598545"/>
            <a:ext cx="388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2025 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71712" y="347900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流程架构师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76712" y="34790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设计智能体工作流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24712" y="3479006"/>
            <a:ext cx="113121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真正的千倍增效</a:t>
            </a:r>
          </a:p>
        </p:txBody>
      </p:sp>
      <p:sp>
        <p:nvSpPr>
          <p:cNvPr id="32" name="Line 32"/>
          <p:cNvSpPr/>
          <p:nvPr/>
        </p:nvSpPr>
        <p:spPr>
          <a:xfrm>
            <a:off x="2209800" y="12954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3"/>
          <p:cNvSpPr/>
          <p:nvPr/>
        </p:nvSpPr>
        <p:spPr>
          <a:xfrm>
            <a:off x="4114800" y="12954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4"/>
          <p:cNvSpPr/>
          <p:nvPr/>
        </p:nvSpPr>
        <p:spPr>
          <a:xfrm>
            <a:off x="7162800" y="12954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35"/>
          <p:cNvSpPr/>
          <p:nvPr/>
        </p:nvSpPr>
        <p:spPr>
          <a:xfrm>
            <a:off x="457200" y="4114800"/>
            <a:ext cx="11277600" cy="723900"/>
          </a:xfrm>
          <a:custGeom>
            <a:avLst/>
            <a:gdLst/>
            <a:ahLst/>
            <a:cxnLst/>
            <a:rect l="l" t="t" r="r" b="b"/>
            <a:pathLst>
              <a:path w="11277600" h="7239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666750"/>
                </a:lnTo>
                <a:cubicBezTo>
                  <a:pt x="11277600" y="698313"/>
                  <a:pt x="11252013" y="723900"/>
                  <a:pt x="11220450" y="723900"/>
                </a:cubicBezTo>
                <a:lnTo>
                  <a:pt x="57150" y="723900"/>
                </a:lnTo>
                <a:cubicBezTo>
                  <a:pt x="25587" y="723900"/>
                  <a:pt x="0" y="698313"/>
                  <a:pt x="0" y="666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6"/>
          <p:cNvSpPr/>
          <p:nvPr/>
        </p:nvSpPr>
        <p:spPr>
          <a:xfrm>
            <a:off x="457200" y="4114800"/>
            <a:ext cx="57150" cy="7239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742950" y="423862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"你不是在和 AI 对话，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2950" y="4524375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你是在为 AI 设计岗位说明书。"</a:t>
            </a:r>
          </a:p>
        </p:txBody>
      </p:sp>
      <p:sp>
        <p:nvSpPr>
          <p:cNvPr id="39" name="Freeform 39"/>
          <p:cNvSpPr/>
          <p:nvPr/>
        </p:nvSpPr>
        <p:spPr>
          <a:xfrm>
            <a:off x="457200" y="5029200"/>
            <a:ext cx="3619500" cy="723900"/>
          </a:xfrm>
          <a:custGeom>
            <a:avLst/>
            <a:gdLst/>
            <a:ahLst/>
            <a:cxnLst/>
            <a:rect l="l" t="t" r="r" b="b"/>
            <a:pathLst>
              <a:path w="3619500" h="72390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685800"/>
                </a:lnTo>
                <a:cubicBezTo>
                  <a:pt x="3619500" y="706842"/>
                  <a:pt x="3602442" y="723900"/>
                  <a:pt x="35814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40"/>
          <p:cNvSpPr/>
          <p:nvPr/>
        </p:nvSpPr>
        <p:spPr>
          <a:xfrm>
            <a:off x="457200" y="5029200"/>
            <a:ext cx="38100" cy="7239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634365" y="51635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最短的板决定上限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5318" y="54001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不是模型不行，是流程没改</a:t>
            </a:r>
          </a:p>
        </p:txBody>
      </p:sp>
      <p:sp>
        <p:nvSpPr>
          <p:cNvPr id="43" name="Freeform 43"/>
          <p:cNvSpPr/>
          <p:nvPr/>
        </p:nvSpPr>
        <p:spPr>
          <a:xfrm>
            <a:off x="4305300" y="5029200"/>
            <a:ext cx="3619500" cy="723900"/>
          </a:xfrm>
          <a:custGeom>
            <a:avLst/>
            <a:gdLst/>
            <a:ahLst/>
            <a:cxnLst/>
            <a:rect l="l" t="t" r="r" b="b"/>
            <a:pathLst>
              <a:path w="3619500" h="723900">
                <a:moveTo>
                  <a:pt x="38100" y="0"/>
                </a:moveTo>
                <a:lnTo>
                  <a:pt x="3581400" y="0"/>
                </a:lnTo>
                <a:cubicBezTo>
                  <a:pt x="3602442" y="0"/>
                  <a:pt x="3619500" y="17058"/>
                  <a:pt x="3619500" y="38100"/>
                </a:cubicBezTo>
                <a:lnTo>
                  <a:pt x="3619500" y="685800"/>
                </a:lnTo>
                <a:cubicBezTo>
                  <a:pt x="3619500" y="706842"/>
                  <a:pt x="3602442" y="723900"/>
                  <a:pt x="35814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ectangle 44"/>
          <p:cNvSpPr/>
          <p:nvPr/>
        </p:nvSpPr>
        <p:spPr>
          <a:xfrm>
            <a:off x="4305300" y="5029200"/>
            <a:ext cx="38100" cy="7239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4482465" y="516350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角色跃迁是关键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483418" y="540019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从工具使用者 → 流程架构师</a:t>
            </a:r>
          </a:p>
        </p:txBody>
      </p:sp>
      <p:sp>
        <p:nvSpPr>
          <p:cNvPr id="47" name="Freeform 47"/>
          <p:cNvSpPr/>
          <p:nvPr/>
        </p:nvSpPr>
        <p:spPr>
          <a:xfrm>
            <a:off x="8153400" y="5029200"/>
            <a:ext cx="3581400" cy="723900"/>
          </a:xfrm>
          <a:custGeom>
            <a:avLst/>
            <a:gdLst/>
            <a:ahLst/>
            <a:cxnLst/>
            <a:rect l="l" t="t" r="r" b="b"/>
            <a:pathLst>
              <a:path w="3581400" h="723900">
                <a:moveTo>
                  <a:pt x="38100" y="0"/>
                </a:moveTo>
                <a:lnTo>
                  <a:pt x="3543300" y="0"/>
                </a:lnTo>
                <a:cubicBezTo>
                  <a:pt x="3564342" y="0"/>
                  <a:pt x="3581400" y="17058"/>
                  <a:pt x="3581400" y="38100"/>
                </a:cubicBezTo>
                <a:lnTo>
                  <a:pt x="3581400" y="685800"/>
                </a:lnTo>
                <a:cubicBezTo>
                  <a:pt x="3581400" y="706842"/>
                  <a:pt x="3564342" y="723900"/>
                  <a:pt x="35433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8"/>
          <p:cNvSpPr/>
          <p:nvPr/>
        </p:nvSpPr>
        <p:spPr>
          <a:xfrm>
            <a:off x="8153400" y="5029200"/>
            <a:ext cx="38100" cy="7239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8330565" y="51635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现在是主战场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31518" y="54001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重构阶段已开始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5315" y="658178"/>
            <a:ext cx="51654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两讲、五大主题、十个工程化要点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课程地图 — 全程路线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5372100" cy="419100"/>
          </a:xfrm>
          <a:custGeom>
            <a:avLst/>
            <a:gdLst/>
            <a:ahLst/>
            <a:cxnLst/>
            <a:rect l="l" t="t" r="r" b="b"/>
            <a:pathLst>
              <a:path w="5372100" h="419100">
                <a:moveTo>
                  <a:pt x="38100" y="0"/>
                </a:moveTo>
                <a:lnTo>
                  <a:pt x="5334000" y="0"/>
                </a:lnTo>
                <a:cubicBezTo>
                  <a:pt x="5355042" y="0"/>
                  <a:pt x="5372100" y="17058"/>
                  <a:pt x="5372100" y="38100"/>
                </a:cubicBezTo>
                <a:lnTo>
                  <a:pt x="5372100" y="381000"/>
                </a:lnTo>
                <a:cubicBezTo>
                  <a:pt x="5372100" y="402042"/>
                  <a:pt x="5355042" y="419100"/>
                  <a:pt x="53340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631508" y="1538764"/>
            <a:ext cx="1335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第一讲 认知重构</a:t>
            </a:r>
          </a:p>
        </p:txBody>
      </p:sp>
      <p:sp>
        <p:nvSpPr>
          <p:cNvPr id="9" name="Freeform 9"/>
          <p:cNvSpPr/>
          <p:nvPr/>
        </p:nvSpPr>
        <p:spPr>
          <a:xfrm>
            <a:off x="457200" y="18669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457200" y="1866900"/>
            <a:ext cx="3810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634365" y="1982152"/>
            <a:ext cx="9014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P02 代际跃迁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5318" y="22188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对话 → 嵌入 → 重构的范式升级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200" y="24765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457200" y="2476500"/>
            <a:ext cx="3810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34365" y="2591752"/>
            <a:ext cx="10705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P05 AI 效能公式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5318" y="2828449"/>
            <a:ext cx="22675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min(AI理论能力, 判断力, 流程适配度)</a:t>
            </a:r>
          </a:p>
        </p:txBody>
      </p:sp>
      <p:sp>
        <p:nvSpPr>
          <p:cNvPr id="17" name="Freeform 17"/>
          <p:cNvSpPr/>
          <p:nvPr/>
        </p:nvSpPr>
        <p:spPr>
          <a:xfrm>
            <a:off x="457200" y="30861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ectangle 18"/>
          <p:cNvSpPr/>
          <p:nvPr/>
        </p:nvSpPr>
        <p:spPr>
          <a:xfrm>
            <a:off x="457200" y="3086100"/>
            <a:ext cx="381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634365" y="3201352"/>
            <a:ext cx="18864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P06 Prompt → Agent 三范式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5318" y="34380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交互模式的历史性跃迁</a:t>
            </a:r>
          </a:p>
        </p:txBody>
      </p:sp>
      <p:sp>
        <p:nvSpPr>
          <p:cNvPr id="21" name="Freeform 21"/>
          <p:cNvSpPr/>
          <p:nvPr/>
        </p:nvSpPr>
        <p:spPr>
          <a:xfrm>
            <a:off x="457200" y="36957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22"/>
          <p:cNvSpPr/>
          <p:nvPr/>
        </p:nvSpPr>
        <p:spPr>
          <a:xfrm>
            <a:off x="457200" y="3695700"/>
            <a:ext cx="381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634365" y="3810952"/>
            <a:ext cx="1026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P07 AI 原生 IDE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5318" y="40476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从代码补全到项目级重构</a:t>
            </a:r>
          </a:p>
        </p:txBody>
      </p:sp>
      <p:sp>
        <p:nvSpPr>
          <p:cNvPr id="25" name="Freeform 25"/>
          <p:cNvSpPr/>
          <p:nvPr/>
        </p:nvSpPr>
        <p:spPr>
          <a:xfrm>
            <a:off x="457200" y="43053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457200" y="4305300"/>
            <a:ext cx="38100" cy="5715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634365" y="4420552"/>
            <a:ext cx="11954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P08 智能体三要素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5318" y="465724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规划 · 工具 · 反思</a:t>
            </a:r>
          </a:p>
        </p:txBody>
      </p:sp>
      <p:sp>
        <p:nvSpPr>
          <p:cNvPr id="29" name="Freeform 29"/>
          <p:cNvSpPr/>
          <p:nvPr/>
        </p:nvSpPr>
        <p:spPr>
          <a:xfrm>
            <a:off x="6362700" y="1409700"/>
            <a:ext cx="5372100" cy="419100"/>
          </a:xfrm>
          <a:custGeom>
            <a:avLst/>
            <a:gdLst/>
            <a:ahLst/>
            <a:cxnLst/>
            <a:rect l="l" t="t" r="r" b="b"/>
            <a:pathLst>
              <a:path w="5372100" h="419100">
                <a:moveTo>
                  <a:pt x="38100" y="0"/>
                </a:moveTo>
                <a:lnTo>
                  <a:pt x="5334000" y="0"/>
                </a:lnTo>
                <a:cubicBezTo>
                  <a:pt x="5355042" y="0"/>
                  <a:pt x="5372100" y="17058"/>
                  <a:pt x="5372100" y="38100"/>
                </a:cubicBezTo>
                <a:lnTo>
                  <a:pt x="5372100" y="381000"/>
                </a:lnTo>
                <a:cubicBezTo>
                  <a:pt x="5372100" y="402042"/>
                  <a:pt x="5355042" y="419100"/>
                  <a:pt x="53340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6537008" y="1538764"/>
            <a:ext cx="1335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第二讲 系统进化</a:t>
            </a:r>
          </a:p>
        </p:txBody>
      </p:sp>
      <p:sp>
        <p:nvSpPr>
          <p:cNvPr id="31" name="Freeform 31"/>
          <p:cNvSpPr/>
          <p:nvPr/>
        </p:nvSpPr>
        <p:spPr>
          <a:xfrm>
            <a:off x="6362700" y="18669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32"/>
          <p:cNvSpPr/>
          <p:nvPr/>
        </p:nvSpPr>
        <p:spPr>
          <a:xfrm>
            <a:off x="6362700" y="1866900"/>
            <a:ext cx="38100" cy="5715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6539865" y="1982152"/>
            <a:ext cx="16218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P10 新角色 + 工具链策略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0818" y="221884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生态调度者 · 流程架构师</a:t>
            </a:r>
          </a:p>
        </p:txBody>
      </p:sp>
      <p:sp>
        <p:nvSpPr>
          <p:cNvPr id="35" name="Freeform 35"/>
          <p:cNvSpPr/>
          <p:nvPr/>
        </p:nvSpPr>
        <p:spPr>
          <a:xfrm>
            <a:off x="6362700" y="24765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6"/>
          <p:cNvSpPr/>
          <p:nvPr/>
        </p:nvSpPr>
        <p:spPr>
          <a:xfrm>
            <a:off x="6362700" y="2476500"/>
            <a:ext cx="38100" cy="5715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6539865" y="2591752"/>
            <a:ext cx="1371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P11 GraphRAG 知识库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40818" y="28284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从 RAG 到可追溯智能问答</a:t>
            </a:r>
          </a:p>
        </p:txBody>
      </p:sp>
      <p:sp>
        <p:nvSpPr>
          <p:cNvPr id="39" name="Freeform 39"/>
          <p:cNvSpPr/>
          <p:nvPr/>
        </p:nvSpPr>
        <p:spPr>
          <a:xfrm>
            <a:off x="6362700" y="30861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40"/>
          <p:cNvSpPr/>
          <p:nvPr/>
        </p:nvSpPr>
        <p:spPr>
          <a:xfrm>
            <a:off x="6362700" y="3086100"/>
            <a:ext cx="381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Box 41"/>
          <p:cNvSpPr txBox="1"/>
          <p:nvPr/>
        </p:nvSpPr>
        <p:spPr>
          <a:xfrm>
            <a:off x="6539865" y="3201352"/>
            <a:ext cx="11587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P12 五步实战路径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40818" y="3438049"/>
            <a:ext cx="27031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需求拆解 → 知识沉淀 → 工具集成 → 验证 → 运维</a:t>
            </a:r>
          </a:p>
        </p:txBody>
      </p:sp>
      <p:sp>
        <p:nvSpPr>
          <p:cNvPr id="43" name="Freeform 43"/>
          <p:cNvSpPr/>
          <p:nvPr/>
        </p:nvSpPr>
        <p:spPr>
          <a:xfrm>
            <a:off x="6362700" y="36957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ectangle 44"/>
          <p:cNvSpPr/>
          <p:nvPr/>
        </p:nvSpPr>
        <p:spPr>
          <a:xfrm>
            <a:off x="6362700" y="3695700"/>
            <a:ext cx="381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6539865" y="3810952"/>
            <a:ext cx="1305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P13 风险与边界控制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40818" y="404764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四类风险 + 黄金法则</a:t>
            </a:r>
          </a:p>
        </p:txBody>
      </p:sp>
      <p:sp>
        <p:nvSpPr>
          <p:cNvPr id="47" name="Freeform 47"/>
          <p:cNvSpPr/>
          <p:nvPr/>
        </p:nvSpPr>
        <p:spPr>
          <a:xfrm>
            <a:off x="6362700" y="4305300"/>
            <a:ext cx="5372100" cy="571500"/>
          </a:xfrm>
          <a:custGeom>
            <a:avLst/>
            <a:gdLst/>
            <a:ahLst/>
            <a:cxnLst/>
            <a:rect l="l" t="t" r="r" b="b"/>
            <a:pathLst>
              <a:path w="5372100" h="571500">
                <a:moveTo>
                  <a:pt x="28575" y="0"/>
                </a:moveTo>
                <a:lnTo>
                  <a:pt x="5343525" y="0"/>
                </a:lnTo>
                <a:cubicBezTo>
                  <a:pt x="5359307" y="0"/>
                  <a:pt x="5372100" y="12793"/>
                  <a:pt x="5372100" y="28575"/>
                </a:cubicBezTo>
                <a:lnTo>
                  <a:pt x="5372100" y="542925"/>
                </a:lnTo>
                <a:cubicBezTo>
                  <a:pt x="5372100" y="558707"/>
                  <a:pt x="5359307" y="571500"/>
                  <a:pt x="5343525" y="571500"/>
                </a:cubicBezTo>
                <a:lnTo>
                  <a:pt x="28575" y="571500"/>
                </a:lnTo>
                <a:cubicBezTo>
                  <a:pt x="12793" y="571500"/>
                  <a:pt x="0" y="558707"/>
                  <a:pt x="0" y="542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8"/>
          <p:cNvSpPr/>
          <p:nvPr/>
        </p:nvSpPr>
        <p:spPr>
          <a:xfrm>
            <a:off x="6362700" y="4305300"/>
            <a:ext cx="3810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6539865" y="4420552"/>
            <a:ext cx="1614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P14–P15 未来角色 + 总结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40818" y="465724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三种关键角色 · 行动建议</a:t>
            </a:r>
          </a:p>
        </p:txBody>
      </p:sp>
      <p:sp>
        <p:nvSpPr>
          <p:cNvPr id="51" name="Freeform 51"/>
          <p:cNvSpPr/>
          <p:nvPr/>
        </p:nvSpPr>
        <p:spPr>
          <a:xfrm>
            <a:off x="457200" y="50673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438150"/>
                </a:lnTo>
                <a:cubicBezTo>
                  <a:pt x="11277600" y="469713"/>
                  <a:pt x="11252013" y="495300"/>
                  <a:pt x="112204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Box 52"/>
          <p:cNvSpPr txBox="1"/>
          <p:nvPr/>
        </p:nvSpPr>
        <p:spPr>
          <a:xfrm>
            <a:off x="5715119" y="51635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核心主线：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069913" y="5354002"/>
            <a:ext cx="40521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6F3F0"/>
                </a:solidFill>
                <a:latin typeface="Calibri"/>
                <a:ea typeface="Microsoft YaHei"/>
                <a:cs typeface="Calibri"/>
              </a:rPr>
              <a:t>认知重构（想清楚） → 系统进化（做出来） → 构建 AI 原生工作流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190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Line 3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Line 4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/>
          <p:nvPr/>
        </p:nvSpPr>
        <p:spPr>
          <a:xfrm>
            <a:off x="3048000" y="542925"/>
            <a:ext cx="9525" cy="5895975"/>
          </a:xfrm>
          <a:custGeom>
            <a:avLst/>
            <a:gdLst/>
            <a:ahLst/>
            <a:cxnLst/>
            <a:rect l="l" t="t" r="r" b="b"/>
            <a:pathLst>
              <a:path w="9525" h="5895975">
                <a:moveTo>
                  <a:pt x="0" y="0"/>
                </a:moveTo>
                <a:lnTo>
                  <a:pt x="0" y="5895975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/>
          <p:nvPr/>
        </p:nvSpPr>
        <p:spPr>
          <a:xfrm>
            <a:off x="6096000" y="542925"/>
            <a:ext cx="9525" cy="5895975"/>
          </a:xfrm>
          <a:custGeom>
            <a:avLst/>
            <a:gdLst/>
            <a:ahLst/>
            <a:cxnLst/>
            <a:rect l="l" t="t" r="r" b="b"/>
            <a:pathLst>
              <a:path w="9525" h="5895975">
                <a:moveTo>
                  <a:pt x="0" y="0"/>
                </a:moveTo>
                <a:lnTo>
                  <a:pt x="0" y="5895975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/>
          <p:nvPr/>
        </p:nvSpPr>
        <p:spPr>
          <a:xfrm>
            <a:off x="9144000" y="542925"/>
            <a:ext cx="9525" cy="5895975"/>
          </a:xfrm>
          <a:custGeom>
            <a:avLst/>
            <a:gdLst/>
            <a:ahLst/>
            <a:cxnLst/>
            <a:rect l="l" t="t" r="r" b="b"/>
            <a:pathLst>
              <a:path w="9525" h="5895975">
                <a:moveTo>
                  <a:pt x="0" y="0"/>
                </a:moveTo>
                <a:lnTo>
                  <a:pt x="0" y="5895975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9734550" y="1876425"/>
            <a:ext cx="1864042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0" dirty="0">
                <a:solidFill>
                  <a:srgbClr val="FFFFFF">
                    <a:alphaMod val="4000"/>
                  </a:srgbClr>
                </a:solidFill>
                <a:latin typeface="Calibri Light"/>
                <a:ea typeface="Microsoft YaHei"/>
                <a:cs typeface="Calibri Light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10" name="Freeform 10"/>
          <p:cNvSpPr/>
          <p:nvPr/>
        </p:nvSpPr>
        <p:spPr>
          <a:xfrm>
            <a:off x="457200" y="1524000"/>
            <a:ext cx="1714500" cy="381000"/>
          </a:xfrm>
          <a:custGeom>
            <a:avLst/>
            <a:gdLst/>
            <a:ahLst/>
            <a:cxnLst/>
            <a:rect l="l" t="t" r="r" b="b"/>
            <a:pathLst>
              <a:path w="1714500" h="381000">
                <a:moveTo>
                  <a:pt x="190500" y="0"/>
                </a:moveTo>
                <a:lnTo>
                  <a:pt x="1524000" y="0"/>
                </a:lnTo>
                <a:cubicBezTo>
                  <a:pt x="1629210" y="0"/>
                  <a:pt x="1714500" y="85290"/>
                  <a:pt x="1714500" y="190500"/>
                </a:cubicBezTo>
                <a:lnTo>
                  <a:pt x="1714500" y="190500"/>
                </a:lnTo>
                <a:cubicBezTo>
                  <a:pt x="1714500" y="295710"/>
                  <a:pt x="1629210" y="381000"/>
                  <a:pt x="152400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FAE41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996772" y="1642110"/>
            <a:ext cx="6353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第 一 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2430" y="2211705"/>
            <a:ext cx="2849880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认知重构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" y="3009900"/>
            <a:ext cx="5334000" cy="1905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36245" y="319373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A0AEC0"/>
                </a:solidFill>
                <a:latin typeface="Calibri"/>
                <a:ea typeface="Microsoft YaHei"/>
                <a:cs typeface="Calibri"/>
              </a:rPr>
              <a:t>从图灵悖论到智能体设计哲学</a:t>
            </a:r>
          </a:p>
        </p:txBody>
      </p:sp>
      <p:sp>
        <p:nvSpPr>
          <p:cNvPr id="15" name="Freeform 15"/>
          <p:cNvSpPr/>
          <p:nvPr/>
        </p:nvSpPr>
        <p:spPr>
          <a:xfrm>
            <a:off x="457200" y="4000500"/>
            <a:ext cx="7810500" cy="1143000"/>
          </a:xfrm>
          <a:custGeom>
            <a:avLst/>
            <a:gdLst/>
            <a:ahLst/>
            <a:cxnLst/>
            <a:rect l="l" t="t" r="r" b="b"/>
            <a:pathLst>
              <a:path w="7810500" h="1143000">
                <a:moveTo>
                  <a:pt x="57150" y="0"/>
                </a:moveTo>
                <a:lnTo>
                  <a:pt x="7753350" y="0"/>
                </a:lnTo>
                <a:cubicBezTo>
                  <a:pt x="7784913" y="0"/>
                  <a:pt x="7810500" y="25587"/>
                  <a:pt x="7810500" y="57150"/>
                </a:cubicBezTo>
                <a:lnTo>
                  <a:pt x="7810500" y="1085850"/>
                </a:lnTo>
                <a:cubicBezTo>
                  <a:pt x="7810500" y="1117413"/>
                  <a:pt x="7784913" y="1143000"/>
                  <a:pt x="7753350" y="1143000"/>
                </a:cubicBezTo>
                <a:lnTo>
                  <a:pt x="57150" y="1143000"/>
                </a:lnTo>
                <a:cubicBezTo>
                  <a:pt x="25587" y="1143000"/>
                  <a:pt x="0" y="1117413"/>
                  <a:pt x="0" y="1085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/>
          <p:cNvSpPr/>
          <p:nvPr/>
        </p:nvSpPr>
        <p:spPr>
          <a:xfrm>
            <a:off x="457200" y="4000500"/>
            <a:ext cx="38100" cy="11430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04850" y="4238625"/>
            <a:ext cx="32585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i="1" dirty="0">
                <a:solidFill>
                  <a:srgbClr val="F6F3F0"/>
                </a:solidFill>
                <a:latin typeface="Calibri Light"/>
                <a:ea typeface="Microsoft YaHei"/>
                <a:cs typeface="Calibri Light"/>
              </a:rPr>
              <a:t>"不犯错的机器，不可能是智能的。"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8660" y="4652010"/>
            <a:ext cx="1366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— 阿兰·图灵，1947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5315" y="715328"/>
            <a:ext cx="419628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AI 实际效能取决于三个变量</a:t>
            </a:r>
          </a:p>
        </p:txBody>
      </p:sp>
      <p:sp>
        <p:nvSpPr>
          <p:cNvPr id="6" name="Freeform 6"/>
          <p:cNvSpPr/>
          <p:nvPr/>
        </p:nvSpPr>
        <p:spPr>
          <a:xfrm>
            <a:off x="457200" y="1295400"/>
            <a:ext cx="11277600" cy="952500"/>
          </a:xfrm>
          <a:custGeom>
            <a:avLst/>
            <a:gdLst/>
            <a:ahLst/>
            <a:cxnLst/>
            <a:rect l="l" t="t" r="r" b="b"/>
            <a:pathLst>
              <a:path w="11277600" h="952500">
                <a:moveTo>
                  <a:pt x="76200" y="0"/>
                </a:moveTo>
                <a:lnTo>
                  <a:pt x="11201400" y="0"/>
                </a:lnTo>
                <a:cubicBezTo>
                  <a:pt x="11243484" y="0"/>
                  <a:pt x="11277600" y="34116"/>
                  <a:pt x="11277600" y="76200"/>
                </a:cubicBezTo>
                <a:lnTo>
                  <a:pt x="11277600" y="876300"/>
                </a:lnTo>
                <a:cubicBezTo>
                  <a:pt x="11277600" y="918384"/>
                  <a:pt x="11243484" y="952500"/>
                  <a:pt x="112014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>
            <a:off x="457200" y="1295400"/>
            <a:ext cx="11277600" cy="57150"/>
          </a:xfrm>
          <a:custGeom>
            <a:avLst/>
            <a:gdLst/>
            <a:ahLst/>
            <a:cxnLst/>
            <a:rect l="l" t="t" r="r" b="b"/>
            <a:pathLst>
              <a:path w="11277600" h="57150">
                <a:moveTo>
                  <a:pt x="28575" y="0"/>
                </a:moveTo>
                <a:lnTo>
                  <a:pt x="11249025" y="0"/>
                </a:lnTo>
                <a:cubicBezTo>
                  <a:pt x="11264807" y="0"/>
                  <a:pt x="11277600" y="12793"/>
                  <a:pt x="11277600" y="28575"/>
                </a:cubicBezTo>
                <a:lnTo>
                  <a:pt x="11277600" y="28575"/>
                </a:lnTo>
                <a:cubicBezTo>
                  <a:pt x="11277600" y="44357"/>
                  <a:pt x="11264807" y="57150"/>
                  <a:pt x="112490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5112425" y="1574482"/>
            <a:ext cx="196715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AI 实际效能 = min (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43804" y="1898332"/>
            <a:ext cx="43043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AI 理论能力 , 使用者判断力 , 流程适配度</a:t>
            </a:r>
          </a:p>
        </p:txBody>
      </p:sp>
      <p:sp>
        <p:nvSpPr>
          <p:cNvPr id="10" name="Freeform 10"/>
          <p:cNvSpPr/>
          <p:nvPr/>
        </p:nvSpPr>
        <p:spPr>
          <a:xfrm>
            <a:off x="457200" y="1295400"/>
            <a:ext cx="11277600" cy="990600"/>
          </a:xfrm>
          <a:custGeom>
            <a:avLst/>
            <a:gdLst/>
            <a:ahLst/>
            <a:cxnLst/>
            <a:rect l="l" t="t" r="r" b="b"/>
            <a:pathLst>
              <a:path w="11277600" h="990600">
                <a:moveTo>
                  <a:pt x="76200" y="0"/>
                </a:moveTo>
                <a:lnTo>
                  <a:pt x="11201400" y="0"/>
                </a:lnTo>
                <a:cubicBezTo>
                  <a:pt x="11243484" y="0"/>
                  <a:pt x="11277600" y="34116"/>
                  <a:pt x="11277600" y="76200"/>
                </a:cubicBezTo>
                <a:lnTo>
                  <a:pt x="11277600" y="914400"/>
                </a:lnTo>
                <a:cubicBezTo>
                  <a:pt x="11277600" y="956484"/>
                  <a:pt x="11243484" y="990600"/>
                  <a:pt x="11201400" y="990600"/>
                </a:cubicBezTo>
                <a:lnTo>
                  <a:pt x="76200" y="990600"/>
                </a:lnTo>
                <a:cubicBezTo>
                  <a:pt x="34116" y="990600"/>
                  <a:pt x="0" y="956484"/>
                  <a:pt x="0" y="9144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>
          <a:xfrm>
            <a:off x="457200" y="1295400"/>
            <a:ext cx="11277600" cy="57150"/>
          </a:xfrm>
          <a:custGeom>
            <a:avLst/>
            <a:gdLst/>
            <a:ahLst/>
            <a:cxnLst/>
            <a:rect l="l" t="t" r="r" b="b"/>
            <a:pathLst>
              <a:path w="11277600" h="57150">
                <a:moveTo>
                  <a:pt x="28575" y="0"/>
                </a:moveTo>
                <a:lnTo>
                  <a:pt x="11249025" y="0"/>
                </a:lnTo>
                <a:cubicBezTo>
                  <a:pt x="11264807" y="0"/>
                  <a:pt x="11277600" y="12793"/>
                  <a:pt x="11277600" y="28575"/>
                </a:cubicBezTo>
                <a:lnTo>
                  <a:pt x="11277600" y="28575"/>
                </a:lnTo>
                <a:cubicBezTo>
                  <a:pt x="11277600" y="44357"/>
                  <a:pt x="11264807" y="57150"/>
                  <a:pt x="112490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2385274" y="1656398"/>
            <a:ext cx="742145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AI 实际效能 = </a:t>
            </a:r>
            <a:r>
              <a:rPr lang="zh-CN" sz="1950" b="1" dirty="0">
                <a:solidFill>
                  <a:srgbClr val="FFAE41"/>
                </a:solidFill>
                <a:latin typeface="Calibri Light"/>
                <a:ea typeface="Microsoft YaHei"/>
                <a:cs typeface="Calibri Light"/>
              </a:rPr>
              <a:t>min</a:t>
            </a:r>
            <a:r>
              <a:rPr lang="zh-CN" sz="1950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 ( AI 理论能力 , 使用者判断力 , 流程适配度 )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200" y="2438400"/>
            <a:ext cx="3600450" cy="1905000"/>
          </a:xfrm>
          <a:custGeom>
            <a:avLst/>
            <a:gdLst/>
            <a:ahLst/>
            <a:cxnLst/>
            <a:rect l="l" t="t" r="r" b="b"/>
            <a:pathLst>
              <a:path w="3600450" h="1905000">
                <a:moveTo>
                  <a:pt x="57150" y="0"/>
                </a:moveTo>
                <a:lnTo>
                  <a:pt x="3543300" y="0"/>
                </a:lnTo>
                <a:cubicBezTo>
                  <a:pt x="3574863" y="0"/>
                  <a:pt x="3600450" y="25587"/>
                  <a:pt x="3600450" y="57150"/>
                </a:cubicBezTo>
                <a:lnTo>
                  <a:pt x="3600450" y="1847850"/>
                </a:lnTo>
                <a:cubicBezTo>
                  <a:pt x="3600450" y="1879413"/>
                  <a:pt x="3574863" y="1905000"/>
                  <a:pt x="3543300" y="1905000"/>
                </a:cubicBezTo>
                <a:lnTo>
                  <a:pt x="57150" y="1905000"/>
                </a:lnTo>
                <a:cubicBezTo>
                  <a:pt x="25587" y="1905000"/>
                  <a:pt x="0" y="1879413"/>
                  <a:pt x="0" y="1847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4"/>
          <p:cNvSpPr/>
          <p:nvPr/>
        </p:nvSpPr>
        <p:spPr>
          <a:xfrm>
            <a:off x="457200" y="2438400"/>
            <a:ext cx="3600450" cy="457200"/>
          </a:xfrm>
          <a:custGeom>
            <a:avLst/>
            <a:gdLst/>
            <a:ahLst/>
            <a:cxnLst/>
            <a:rect l="l" t="t" r="r" b="b"/>
            <a:pathLst>
              <a:path w="3600450" h="457200">
                <a:moveTo>
                  <a:pt x="57150" y="0"/>
                </a:moveTo>
                <a:lnTo>
                  <a:pt x="3543300" y="0"/>
                </a:lnTo>
                <a:cubicBezTo>
                  <a:pt x="3574863" y="0"/>
                  <a:pt x="3600450" y="25587"/>
                  <a:pt x="3600450" y="57150"/>
                </a:cubicBezTo>
                <a:lnTo>
                  <a:pt x="3600450" y="400050"/>
                </a:lnTo>
                <a:cubicBezTo>
                  <a:pt x="3600450" y="431613"/>
                  <a:pt x="3574863" y="457200"/>
                  <a:pt x="354330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1809531" y="2594610"/>
            <a:ext cx="8957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AI 理论能力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24038" y="301085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模型本身上限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1711" y="3247549"/>
            <a:ext cx="1331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GPT-5、Claude 4.5 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72696" y="36285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→ 提升方式：选对模型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2923" y="3998595"/>
            <a:ext cx="11690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（受平台/成本约束）</a:t>
            </a:r>
          </a:p>
        </p:txBody>
      </p:sp>
      <p:sp>
        <p:nvSpPr>
          <p:cNvPr id="20" name="Freeform 20"/>
          <p:cNvSpPr/>
          <p:nvPr/>
        </p:nvSpPr>
        <p:spPr>
          <a:xfrm>
            <a:off x="4295775" y="2438400"/>
            <a:ext cx="3600450" cy="1905000"/>
          </a:xfrm>
          <a:custGeom>
            <a:avLst/>
            <a:gdLst/>
            <a:ahLst/>
            <a:cxnLst/>
            <a:rect l="l" t="t" r="r" b="b"/>
            <a:pathLst>
              <a:path w="3600450" h="1905000">
                <a:moveTo>
                  <a:pt x="57150" y="0"/>
                </a:moveTo>
                <a:lnTo>
                  <a:pt x="3543300" y="0"/>
                </a:lnTo>
                <a:cubicBezTo>
                  <a:pt x="3574863" y="0"/>
                  <a:pt x="3600450" y="25587"/>
                  <a:pt x="3600450" y="57150"/>
                </a:cubicBezTo>
                <a:lnTo>
                  <a:pt x="3600450" y="1847850"/>
                </a:lnTo>
                <a:cubicBezTo>
                  <a:pt x="3600450" y="1879413"/>
                  <a:pt x="3574863" y="1905000"/>
                  <a:pt x="3543300" y="1905000"/>
                </a:cubicBezTo>
                <a:lnTo>
                  <a:pt x="57150" y="1905000"/>
                </a:lnTo>
                <a:cubicBezTo>
                  <a:pt x="25587" y="1905000"/>
                  <a:pt x="0" y="1879413"/>
                  <a:pt x="0" y="1847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21"/>
          <p:cNvSpPr/>
          <p:nvPr/>
        </p:nvSpPr>
        <p:spPr>
          <a:xfrm>
            <a:off x="4295775" y="2438400"/>
            <a:ext cx="3600450" cy="457200"/>
          </a:xfrm>
          <a:custGeom>
            <a:avLst/>
            <a:gdLst/>
            <a:ahLst/>
            <a:cxnLst/>
            <a:rect l="l" t="t" r="r" b="b"/>
            <a:pathLst>
              <a:path w="3600450" h="457200">
                <a:moveTo>
                  <a:pt x="57150" y="0"/>
                </a:moveTo>
                <a:lnTo>
                  <a:pt x="3543300" y="0"/>
                </a:lnTo>
                <a:cubicBezTo>
                  <a:pt x="3574863" y="0"/>
                  <a:pt x="3600450" y="25587"/>
                  <a:pt x="3600450" y="57150"/>
                </a:cubicBezTo>
                <a:lnTo>
                  <a:pt x="3600450" y="400050"/>
                </a:lnTo>
                <a:cubicBezTo>
                  <a:pt x="3600450" y="431613"/>
                  <a:pt x="3574863" y="457200"/>
                  <a:pt x="354330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5576697" y="25946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使用者判断力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12569" y="30108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识别幻觉、提出关键问题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23785" y="324754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批判性思维 + 领域知识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11271" y="36285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→ 提升方式：持续训练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64480" y="39985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（可主动提升的核心变量）</a:t>
            </a:r>
          </a:p>
        </p:txBody>
      </p:sp>
      <p:sp>
        <p:nvSpPr>
          <p:cNvPr id="27" name="Freeform 27"/>
          <p:cNvSpPr/>
          <p:nvPr/>
        </p:nvSpPr>
        <p:spPr>
          <a:xfrm>
            <a:off x="8134350" y="2438400"/>
            <a:ext cx="3600450" cy="1905000"/>
          </a:xfrm>
          <a:custGeom>
            <a:avLst/>
            <a:gdLst/>
            <a:ahLst/>
            <a:cxnLst/>
            <a:rect l="l" t="t" r="r" b="b"/>
            <a:pathLst>
              <a:path w="3600450" h="1905000">
                <a:moveTo>
                  <a:pt x="57150" y="0"/>
                </a:moveTo>
                <a:lnTo>
                  <a:pt x="3543300" y="0"/>
                </a:lnTo>
                <a:cubicBezTo>
                  <a:pt x="3574863" y="0"/>
                  <a:pt x="3600450" y="25587"/>
                  <a:pt x="3600450" y="57150"/>
                </a:cubicBezTo>
                <a:lnTo>
                  <a:pt x="3600450" y="1847850"/>
                </a:lnTo>
                <a:cubicBezTo>
                  <a:pt x="3600450" y="1879413"/>
                  <a:pt x="3574863" y="1905000"/>
                  <a:pt x="3543300" y="1905000"/>
                </a:cubicBezTo>
                <a:lnTo>
                  <a:pt x="57150" y="1905000"/>
                </a:lnTo>
                <a:cubicBezTo>
                  <a:pt x="25587" y="1905000"/>
                  <a:pt x="0" y="1879413"/>
                  <a:pt x="0" y="1847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28"/>
          <p:cNvSpPr/>
          <p:nvPr/>
        </p:nvSpPr>
        <p:spPr>
          <a:xfrm>
            <a:off x="8134350" y="2438400"/>
            <a:ext cx="3600450" cy="457200"/>
          </a:xfrm>
          <a:custGeom>
            <a:avLst/>
            <a:gdLst/>
            <a:ahLst/>
            <a:cxnLst/>
            <a:rect l="l" t="t" r="r" b="b"/>
            <a:pathLst>
              <a:path w="3600450" h="457200">
                <a:moveTo>
                  <a:pt x="57150" y="0"/>
                </a:moveTo>
                <a:lnTo>
                  <a:pt x="3543300" y="0"/>
                </a:lnTo>
                <a:cubicBezTo>
                  <a:pt x="3574863" y="0"/>
                  <a:pt x="3600450" y="25587"/>
                  <a:pt x="3600450" y="57150"/>
                </a:cubicBezTo>
                <a:lnTo>
                  <a:pt x="3600450" y="400050"/>
                </a:lnTo>
                <a:cubicBezTo>
                  <a:pt x="3600450" y="431613"/>
                  <a:pt x="3574863" y="457200"/>
                  <a:pt x="3543300" y="457200"/>
                </a:cubicBezTo>
                <a:lnTo>
                  <a:pt x="57150" y="457200"/>
                </a:lnTo>
                <a:cubicBezTo>
                  <a:pt x="25587" y="457200"/>
                  <a:pt x="0" y="431613"/>
                  <a:pt x="0" y="4000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9499282" y="25946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流程适配度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10651" y="3010852"/>
            <a:ext cx="14478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嵌入正确的业务环节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37119" y="32475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对的节点、对的方式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49846" y="36285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→ 提升方式：流程再造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23070" y="399859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（最常被忽视的短板）</a:t>
            </a:r>
          </a:p>
        </p:txBody>
      </p:sp>
      <p:sp>
        <p:nvSpPr>
          <p:cNvPr id="34" name="Freeform 34"/>
          <p:cNvSpPr/>
          <p:nvPr/>
        </p:nvSpPr>
        <p:spPr>
          <a:xfrm>
            <a:off x="457200" y="4533900"/>
            <a:ext cx="11277600" cy="685800"/>
          </a:xfrm>
          <a:custGeom>
            <a:avLst/>
            <a:gdLst/>
            <a:ahLst/>
            <a:cxnLst/>
            <a:rect l="l" t="t" r="r" b="b"/>
            <a:pathLst>
              <a:path w="11277600" h="6858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628650"/>
                </a:lnTo>
                <a:cubicBezTo>
                  <a:pt x="11277600" y="660213"/>
                  <a:pt x="11252013" y="685800"/>
                  <a:pt x="112204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ectangle 35"/>
          <p:cNvSpPr/>
          <p:nvPr/>
        </p:nvSpPr>
        <p:spPr>
          <a:xfrm>
            <a:off x="457200" y="4533900"/>
            <a:ext cx="57150" cy="6858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709612" y="469820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关键结论：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9612" y="4926806"/>
            <a:ext cx="60518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的能力不是上限，</a:t>
            </a:r>
            <a:r>
              <a:rPr lang="zh-CN" sz="1125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最短的那块板</a:t>
            </a:r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才是上限。而最短的那块板，往往是</a:t>
            </a:r>
            <a:r>
              <a:rPr lang="zh-CN" sz="1125" b="1" dirty="0">
                <a:solidFill>
                  <a:srgbClr val="FF7E51"/>
                </a:solidFill>
                <a:latin typeface="Calibri"/>
                <a:ea typeface="Microsoft YaHei"/>
                <a:cs typeface="Calibri"/>
              </a:rPr>
              <a:t>流程</a:t>
            </a:r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，而不是模型。</a:t>
            </a:r>
          </a:p>
        </p:txBody>
      </p:sp>
      <p:sp>
        <p:nvSpPr>
          <p:cNvPr id="38" name="Freeform 38"/>
          <p:cNvSpPr/>
          <p:nvPr/>
        </p:nvSpPr>
        <p:spPr>
          <a:xfrm>
            <a:off x="457200" y="53721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438150"/>
                </a:lnTo>
                <a:cubicBezTo>
                  <a:pt x="11277600" y="469713"/>
                  <a:pt x="11252013" y="495300"/>
                  <a:pt x="112204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5442085" y="5487352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继续用旧流程套 AI，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74064" y="5677852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相当于给马车装喷气引擎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5315" y="658178"/>
            <a:ext cx="31251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交互范式的三次跃迁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2142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从"问答"到"代理"的能力进化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47800"/>
            <a:ext cx="3486150" cy="2476500"/>
          </a:xfrm>
          <a:custGeom>
            <a:avLst/>
            <a:gdLst/>
            <a:ahLst/>
            <a:cxnLst/>
            <a:rect l="l" t="t" r="r" b="b"/>
            <a:pathLst>
              <a:path w="3486150" h="24765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2419350"/>
                </a:lnTo>
                <a:cubicBezTo>
                  <a:pt x="3486150" y="2450913"/>
                  <a:pt x="3460563" y="2476500"/>
                  <a:pt x="3429000" y="2476500"/>
                </a:cubicBezTo>
                <a:lnTo>
                  <a:pt x="57150" y="2476500"/>
                </a:lnTo>
                <a:cubicBezTo>
                  <a:pt x="25587" y="2476500"/>
                  <a:pt x="0" y="2450913"/>
                  <a:pt x="0" y="2419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>
          <a:xfrm>
            <a:off x="457200" y="1447800"/>
            <a:ext cx="3486150" cy="495300"/>
          </a:xfrm>
          <a:custGeom>
            <a:avLst/>
            <a:gdLst/>
            <a:ahLst/>
            <a:cxnLst/>
            <a:rect l="l" t="t" r="r" b="b"/>
            <a:pathLst>
              <a:path w="3486150" h="4953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438150"/>
                </a:lnTo>
                <a:cubicBezTo>
                  <a:pt x="3486150" y="469713"/>
                  <a:pt x="3460563" y="495300"/>
                  <a:pt x="34290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634961" y="1606868"/>
            <a:ext cx="11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Prompt 阶段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6102" y="1799749"/>
            <a:ext cx="668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5E7EB"/>
                </a:solidFill>
                <a:latin typeface="Calibri"/>
                <a:ea typeface="Microsoft YaHei"/>
                <a:cs typeface="Calibri"/>
              </a:rPr>
              <a:t>2022–2023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6870" y="2153602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用户动作：写问题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6377" y="2420302"/>
            <a:ext cx="10277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动作：给答案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27860" y="28474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单轮交互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5821" y="3057049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Prompt 即任务全部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7771" y="3617595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→ 大多数人停留的阶段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57698" y="2470785"/>
            <a:ext cx="266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52925" y="1447800"/>
            <a:ext cx="3486150" cy="2476500"/>
          </a:xfrm>
          <a:custGeom>
            <a:avLst/>
            <a:gdLst/>
            <a:ahLst/>
            <a:cxnLst/>
            <a:rect l="l" t="t" r="r" b="b"/>
            <a:pathLst>
              <a:path w="3486150" h="24765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2419350"/>
                </a:lnTo>
                <a:cubicBezTo>
                  <a:pt x="3486150" y="2450913"/>
                  <a:pt x="3460563" y="2476500"/>
                  <a:pt x="3429000" y="2476500"/>
                </a:cubicBezTo>
                <a:lnTo>
                  <a:pt x="57150" y="2476500"/>
                </a:lnTo>
                <a:cubicBezTo>
                  <a:pt x="25587" y="2476500"/>
                  <a:pt x="0" y="2450913"/>
                  <a:pt x="0" y="2419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8"/>
          <p:cNvSpPr/>
          <p:nvPr/>
        </p:nvSpPr>
        <p:spPr>
          <a:xfrm>
            <a:off x="4352925" y="1447800"/>
            <a:ext cx="3486150" cy="495300"/>
          </a:xfrm>
          <a:custGeom>
            <a:avLst/>
            <a:gdLst/>
            <a:ahLst/>
            <a:cxnLst/>
            <a:rect l="l" t="t" r="r" b="b"/>
            <a:pathLst>
              <a:path w="3486150" h="4953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438150"/>
                </a:lnTo>
                <a:cubicBezTo>
                  <a:pt x="3486150" y="469713"/>
                  <a:pt x="3460563" y="495300"/>
                  <a:pt x="34290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Box 19"/>
          <p:cNvSpPr txBox="1"/>
          <p:nvPr/>
        </p:nvSpPr>
        <p:spPr>
          <a:xfrm>
            <a:off x="5544863" y="1606868"/>
            <a:ext cx="11022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Copilot 阶段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61827" y="1799749"/>
            <a:ext cx="668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2024–2025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52586" y="215360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用户动作：给上下文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12094" y="2420302"/>
            <a:ext cx="11678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动作：多轮协作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98544" y="28474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持续对话、文件理解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58577" y="30570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跨工具辅助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26500" y="3617595"/>
            <a:ext cx="11390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→ 过去 12 个月主战场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53423" y="2470785"/>
            <a:ext cx="2666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27" name="Freeform 27"/>
          <p:cNvSpPr/>
          <p:nvPr/>
        </p:nvSpPr>
        <p:spPr>
          <a:xfrm>
            <a:off x="8248650" y="1447800"/>
            <a:ext cx="3486150" cy="2476500"/>
          </a:xfrm>
          <a:custGeom>
            <a:avLst/>
            <a:gdLst/>
            <a:ahLst/>
            <a:cxnLst/>
            <a:rect l="l" t="t" r="r" b="b"/>
            <a:pathLst>
              <a:path w="3486150" h="24765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2419350"/>
                </a:lnTo>
                <a:cubicBezTo>
                  <a:pt x="3486150" y="2450913"/>
                  <a:pt x="3460563" y="2476500"/>
                  <a:pt x="3429000" y="2476500"/>
                </a:cubicBezTo>
                <a:lnTo>
                  <a:pt x="57150" y="2476500"/>
                </a:lnTo>
                <a:cubicBezTo>
                  <a:pt x="25587" y="2476500"/>
                  <a:pt x="0" y="2450913"/>
                  <a:pt x="0" y="2419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28"/>
          <p:cNvSpPr/>
          <p:nvPr/>
        </p:nvSpPr>
        <p:spPr>
          <a:xfrm>
            <a:off x="8248650" y="1447800"/>
            <a:ext cx="3486150" cy="495300"/>
          </a:xfrm>
          <a:custGeom>
            <a:avLst/>
            <a:gdLst/>
            <a:ahLst/>
            <a:cxnLst/>
            <a:rect l="l" t="t" r="r" b="b"/>
            <a:pathLst>
              <a:path w="3486150" h="4953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438150"/>
                </a:lnTo>
                <a:cubicBezTo>
                  <a:pt x="3486150" y="469713"/>
                  <a:pt x="3460563" y="495300"/>
                  <a:pt x="34290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9497295" y="1606868"/>
            <a:ext cx="9888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Agent 阶段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81068" y="1799749"/>
            <a:ext cx="4213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2025 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38285" y="215360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用户动作：定义目标与边界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85253" y="2420302"/>
            <a:ext cx="1812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AI：自主规划 + 执行 + 反思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94269" y="28474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多步任务、工具调用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94269" y="30570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错误回退、循环改进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48691" y="3617595"/>
            <a:ext cx="886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 今天的主战场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3412" y="4164806"/>
            <a:ext cx="13438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典型 Agent 工具栈</a:t>
            </a:r>
          </a:p>
        </p:txBody>
      </p:sp>
      <p:sp>
        <p:nvSpPr>
          <p:cNvPr id="37" name="Freeform 37"/>
          <p:cNvSpPr/>
          <p:nvPr/>
        </p:nvSpPr>
        <p:spPr>
          <a:xfrm>
            <a:off x="457200" y="4438650"/>
            <a:ext cx="3524250" cy="685800"/>
          </a:xfrm>
          <a:custGeom>
            <a:avLst/>
            <a:gdLst/>
            <a:ahLst/>
            <a:cxnLst/>
            <a:rect l="l" t="t" r="r" b="b"/>
            <a:pathLst>
              <a:path w="3524250" h="685800">
                <a:moveTo>
                  <a:pt x="38100" y="0"/>
                </a:moveTo>
                <a:lnTo>
                  <a:pt x="3486150" y="0"/>
                </a:lnTo>
                <a:cubicBezTo>
                  <a:pt x="3507192" y="0"/>
                  <a:pt x="3524250" y="17058"/>
                  <a:pt x="3524250" y="38100"/>
                </a:cubicBezTo>
                <a:lnTo>
                  <a:pt x="3524250" y="647700"/>
                </a:lnTo>
                <a:cubicBezTo>
                  <a:pt x="3524250" y="668742"/>
                  <a:pt x="3507192" y="685800"/>
                  <a:pt x="3486150" y="685800"/>
                </a:cubicBezTo>
                <a:lnTo>
                  <a:pt x="38100" y="685800"/>
                </a:lnTo>
                <a:cubicBezTo>
                  <a:pt x="17058" y="685800"/>
                  <a:pt x="0" y="668742"/>
                  <a:pt x="0" y="647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38"/>
          <p:cNvSpPr/>
          <p:nvPr/>
        </p:nvSpPr>
        <p:spPr>
          <a:xfrm>
            <a:off x="457200" y="4438650"/>
            <a:ext cx="38100" cy="6858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634365" y="455390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规划层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5318" y="4790599"/>
            <a:ext cx="2332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思维树（ToT）/ 图推理（GoT）/ ReAct</a:t>
            </a:r>
          </a:p>
        </p:txBody>
      </p:sp>
      <p:sp>
        <p:nvSpPr>
          <p:cNvPr id="41" name="Freeform 41"/>
          <p:cNvSpPr/>
          <p:nvPr/>
        </p:nvSpPr>
        <p:spPr>
          <a:xfrm>
            <a:off x="4343400" y="4438650"/>
            <a:ext cx="3524250" cy="685800"/>
          </a:xfrm>
          <a:custGeom>
            <a:avLst/>
            <a:gdLst/>
            <a:ahLst/>
            <a:cxnLst/>
            <a:rect l="l" t="t" r="r" b="b"/>
            <a:pathLst>
              <a:path w="3524250" h="685800">
                <a:moveTo>
                  <a:pt x="38100" y="0"/>
                </a:moveTo>
                <a:lnTo>
                  <a:pt x="3486150" y="0"/>
                </a:lnTo>
                <a:cubicBezTo>
                  <a:pt x="3507192" y="0"/>
                  <a:pt x="3524250" y="17058"/>
                  <a:pt x="3524250" y="38100"/>
                </a:cubicBezTo>
                <a:lnTo>
                  <a:pt x="3524250" y="647700"/>
                </a:lnTo>
                <a:cubicBezTo>
                  <a:pt x="3524250" y="668742"/>
                  <a:pt x="3507192" y="685800"/>
                  <a:pt x="3486150" y="685800"/>
                </a:cubicBezTo>
                <a:lnTo>
                  <a:pt x="38100" y="685800"/>
                </a:lnTo>
                <a:cubicBezTo>
                  <a:pt x="17058" y="685800"/>
                  <a:pt x="0" y="668742"/>
                  <a:pt x="0" y="647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42"/>
          <p:cNvSpPr/>
          <p:nvPr/>
        </p:nvSpPr>
        <p:spPr>
          <a:xfrm>
            <a:off x="4343400" y="4438650"/>
            <a:ext cx="38100" cy="6858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4520565" y="455390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工具层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1518" y="4790599"/>
            <a:ext cx="24755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函数调用 · MCP · API · 数据库 · 代码执行</a:t>
            </a:r>
          </a:p>
        </p:txBody>
      </p:sp>
      <p:sp>
        <p:nvSpPr>
          <p:cNvPr id="45" name="Freeform 45"/>
          <p:cNvSpPr/>
          <p:nvPr/>
        </p:nvSpPr>
        <p:spPr>
          <a:xfrm>
            <a:off x="8229600" y="4438650"/>
            <a:ext cx="3505200" cy="685800"/>
          </a:xfrm>
          <a:custGeom>
            <a:avLst/>
            <a:gdLst/>
            <a:ahLst/>
            <a:cxnLst/>
            <a:rect l="l" t="t" r="r" b="b"/>
            <a:pathLst>
              <a:path w="3505200" h="685800">
                <a:moveTo>
                  <a:pt x="38100" y="0"/>
                </a:moveTo>
                <a:lnTo>
                  <a:pt x="3467100" y="0"/>
                </a:lnTo>
                <a:cubicBezTo>
                  <a:pt x="3488142" y="0"/>
                  <a:pt x="3505200" y="17058"/>
                  <a:pt x="3505200" y="38100"/>
                </a:cubicBezTo>
                <a:lnTo>
                  <a:pt x="3505200" y="647700"/>
                </a:lnTo>
                <a:cubicBezTo>
                  <a:pt x="3505200" y="668742"/>
                  <a:pt x="3488142" y="685800"/>
                  <a:pt x="3467100" y="685800"/>
                </a:cubicBezTo>
                <a:lnTo>
                  <a:pt x="38100" y="685800"/>
                </a:lnTo>
                <a:cubicBezTo>
                  <a:pt x="17058" y="685800"/>
                  <a:pt x="0" y="668742"/>
                  <a:pt x="0" y="647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 46"/>
          <p:cNvSpPr/>
          <p:nvPr/>
        </p:nvSpPr>
        <p:spPr>
          <a:xfrm>
            <a:off x="8229600" y="4438650"/>
            <a:ext cx="38100" cy="6858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8406765" y="455390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反思层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07718" y="4790599"/>
            <a:ext cx="1883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自我验证 · 循环改进 · 人工复核</a:t>
            </a:r>
          </a:p>
        </p:txBody>
      </p:sp>
      <p:sp>
        <p:nvSpPr>
          <p:cNvPr id="49" name="Freeform 49"/>
          <p:cNvSpPr/>
          <p:nvPr/>
        </p:nvSpPr>
        <p:spPr>
          <a:xfrm>
            <a:off x="457200" y="52959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514350"/>
                </a:lnTo>
                <a:cubicBezTo>
                  <a:pt x="11277600" y="545913"/>
                  <a:pt x="11252013" y="571500"/>
                  <a:pt x="112204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4945320" y="5422106"/>
            <a:ext cx="23013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Agent 的关键不是"更聪明"，而是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006391" y="5631656"/>
            <a:ext cx="41792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"会用工具"和"会反思" — 这两点决定它能否完成多步骤任务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5315" y="658178"/>
            <a:ext cx="380523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从代码补全到项目级重构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开发工具正在被重新定义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47800"/>
            <a:ext cx="11277600" cy="609600"/>
          </a:xfrm>
          <a:custGeom>
            <a:avLst/>
            <a:gdLst/>
            <a:ahLst/>
            <a:cxnLst/>
            <a:rect l="l" t="t" r="r" b="b"/>
            <a:pathLst>
              <a:path w="11277600" h="6096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552450"/>
                </a:lnTo>
                <a:cubicBezTo>
                  <a:pt x="11277600" y="584013"/>
                  <a:pt x="11252013" y="609600"/>
                  <a:pt x="11220450" y="609600"/>
                </a:cubicBezTo>
                <a:lnTo>
                  <a:pt x="57150" y="609600"/>
                </a:lnTo>
                <a:cubicBezTo>
                  <a:pt x="25587" y="609600"/>
                  <a:pt x="0" y="584013"/>
                  <a:pt x="0" y="5524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757362" y="15821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阶段一：补全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2813" y="1799749"/>
            <a:ext cx="8958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GitHub Copilot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86474" y="154971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2612" y="15821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阶段二：对话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11546" y="1799749"/>
            <a:ext cx="1168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Cursor / Windsurf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48849" y="154971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42110" y="15821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阶段三：重构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68828" y="1799749"/>
            <a:ext cx="6553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AI 原生 IDE</a:t>
            </a:r>
          </a:p>
        </p:txBody>
      </p:sp>
      <p:sp>
        <p:nvSpPr>
          <p:cNvPr id="16" name="Freeform 16"/>
          <p:cNvSpPr/>
          <p:nvPr/>
        </p:nvSpPr>
        <p:spPr>
          <a:xfrm>
            <a:off x="457200" y="2247900"/>
            <a:ext cx="11277600" cy="381000"/>
          </a:xfrm>
          <a:custGeom>
            <a:avLst/>
            <a:gdLst/>
            <a:ahLst/>
            <a:cxnLst/>
            <a:rect l="l" t="t" r="r" b="b"/>
            <a:pathLst>
              <a:path w="11277600" h="381000">
                <a:moveTo>
                  <a:pt x="28575" y="0"/>
                </a:moveTo>
                <a:lnTo>
                  <a:pt x="11249025" y="0"/>
                </a:lnTo>
                <a:cubicBezTo>
                  <a:pt x="11264807" y="0"/>
                  <a:pt x="11277600" y="12793"/>
                  <a:pt x="11277600" y="28575"/>
                </a:cubicBezTo>
                <a:lnTo>
                  <a:pt x="11277600" y="352425"/>
                </a:lnTo>
                <a:cubicBezTo>
                  <a:pt x="11277600" y="368207"/>
                  <a:pt x="11264807" y="381000"/>
                  <a:pt x="11249025" y="381000"/>
                </a:cubicBezTo>
                <a:lnTo>
                  <a:pt x="28575" y="381000"/>
                </a:lnTo>
                <a:cubicBezTo>
                  <a:pt x="12793" y="381000"/>
                  <a:pt x="0" y="368207"/>
                  <a:pt x="0" y="352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756100" y="23902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能力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85100" y="23902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说明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49083" y="23902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实战价值</a:t>
            </a:r>
          </a:p>
        </p:txBody>
      </p:sp>
      <p:sp>
        <p:nvSpPr>
          <p:cNvPr id="20" name="Line 20"/>
          <p:cNvSpPr/>
          <p:nvPr/>
        </p:nvSpPr>
        <p:spPr>
          <a:xfrm>
            <a:off x="3048000" y="22479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1"/>
          <p:cNvSpPr/>
          <p:nvPr/>
        </p:nvSpPr>
        <p:spPr>
          <a:xfrm>
            <a:off x="7620000" y="22479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22"/>
          <p:cNvSpPr/>
          <p:nvPr/>
        </p:nvSpPr>
        <p:spPr>
          <a:xfrm>
            <a:off x="457200" y="26289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552450"/>
                </a:lnTo>
                <a:cubicBezTo>
                  <a:pt x="11277600" y="562971"/>
                  <a:pt x="11269071" y="571500"/>
                  <a:pt x="112585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23"/>
          <p:cNvSpPr/>
          <p:nvPr/>
        </p:nvSpPr>
        <p:spPr>
          <a:xfrm>
            <a:off x="457200" y="2628900"/>
            <a:ext cx="381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450610" y="27632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项目级上下文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3503" y="29698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理解整个代码库结构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40542" y="28394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跨越单文件，把握全局依赖关系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21078" y="2763202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跨文件重构、依赖分析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56987" y="2969895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告别"只见树木不见森林"</a:t>
            </a:r>
          </a:p>
        </p:txBody>
      </p:sp>
      <p:sp>
        <p:nvSpPr>
          <p:cNvPr id="29" name="Freeform 29"/>
          <p:cNvSpPr/>
          <p:nvPr/>
        </p:nvSpPr>
        <p:spPr>
          <a:xfrm>
            <a:off x="457200" y="32385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552450"/>
                </a:lnTo>
                <a:cubicBezTo>
                  <a:pt x="11277600" y="562971"/>
                  <a:pt x="11269071" y="571500"/>
                  <a:pt x="112585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30"/>
          <p:cNvSpPr/>
          <p:nvPr/>
        </p:nvSpPr>
        <p:spPr>
          <a:xfrm>
            <a:off x="457200" y="3238500"/>
            <a:ext cx="3810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1524119" y="33728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智能体执行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13510" y="35794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自主完成多步任务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82548" y="3449002"/>
            <a:ext cx="1902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自动跑测试、改代码、提交 PR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01112" y="33728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解放重复劳动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02980" y="35794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开发者聚焦架构与业务逻辑</a:t>
            </a:r>
          </a:p>
        </p:txBody>
      </p:sp>
      <p:sp>
        <p:nvSpPr>
          <p:cNvPr id="36" name="Freeform 36"/>
          <p:cNvSpPr/>
          <p:nvPr/>
        </p:nvSpPr>
        <p:spPr>
          <a:xfrm>
            <a:off x="457200" y="38481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552450"/>
                </a:lnTo>
                <a:cubicBezTo>
                  <a:pt x="11277600" y="562971"/>
                  <a:pt x="11269071" y="571500"/>
                  <a:pt x="112585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ectangle 37"/>
          <p:cNvSpPr/>
          <p:nvPr/>
        </p:nvSpPr>
        <p:spPr>
          <a:xfrm>
            <a:off x="457200" y="3848100"/>
            <a:ext cx="38100" cy="5715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Box 38"/>
          <p:cNvSpPr txBox="1"/>
          <p:nvPr/>
        </p:nvSpPr>
        <p:spPr>
          <a:xfrm>
            <a:off x="1524119" y="39824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多模型路由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13510" y="41890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按任务选最优模型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41493" y="4058602"/>
            <a:ext cx="2785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GPT-5 推理 / Claude 写代码 / 本地模型安全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901112" y="39824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任务最优匹配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83002" y="41890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成本与能力动态平衡</a:t>
            </a:r>
          </a:p>
        </p:txBody>
      </p:sp>
      <p:sp>
        <p:nvSpPr>
          <p:cNvPr id="43" name="Line 43"/>
          <p:cNvSpPr/>
          <p:nvPr/>
        </p:nvSpPr>
        <p:spPr>
          <a:xfrm>
            <a:off x="3048000" y="2628900"/>
            <a:ext cx="9525" cy="1790700"/>
          </a:xfrm>
          <a:custGeom>
            <a:avLst/>
            <a:gdLst/>
            <a:ahLst/>
            <a:cxnLst/>
            <a:rect l="l" t="t" r="r" b="b"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Line 44"/>
          <p:cNvSpPr/>
          <p:nvPr/>
        </p:nvSpPr>
        <p:spPr>
          <a:xfrm>
            <a:off x="7620000" y="2628900"/>
            <a:ext cx="9525" cy="1790700"/>
          </a:xfrm>
          <a:custGeom>
            <a:avLst/>
            <a:gdLst/>
            <a:ahLst/>
            <a:cxnLst/>
            <a:rect l="l" t="t" r="r" b="b"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Freeform 45"/>
          <p:cNvSpPr/>
          <p:nvPr/>
        </p:nvSpPr>
        <p:spPr>
          <a:xfrm>
            <a:off x="457200" y="4610100"/>
            <a:ext cx="11277600" cy="685800"/>
          </a:xfrm>
          <a:custGeom>
            <a:avLst/>
            <a:gdLst/>
            <a:ahLst/>
            <a:cxnLst/>
            <a:rect l="l" t="t" r="r" b="b"/>
            <a:pathLst>
              <a:path w="11277600" h="6858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628650"/>
                </a:lnTo>
                <a:cubicBezTo>
                  <a:pt x="11277600" y="660213"/>
                  <a:pt x="11252013" y="685800"/>
                  <a:pt x="112204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 46"/>
          <p:cNvSpPr/>
          <p:nvPr/>
        </p:nvSpPr>
        <p:spPr>
          <a:xfrm>
            <a:off x="457200" y="4610100"/>
            <a:ext cx="57150" cy="6858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709612" y="477440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实战提示：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9612" y="5022056"/>
            <a:ext cx="49941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不要再问 AI "怎么写一个函数"，而是让 AI </a:t>
            </a:r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"重构这个模块的事务管理逻辑"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3410" y="641985"/>
            <a:ext cx="294894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规划、工具、反思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24467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设计一个能"独立工作"的数字员工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3486150" cy="2857500"/>
          </a:xfrm>
          <a:custGeom>
            <a:avLst/>
            <a:gdLst/>
            <a:ahLst/>
            <a:cxnLst/>
            <a:rect l="l" t="t" r="r" b="b"/>
            <a:pathLst>
              <a:path w="3486150" h="28575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2800350"/>
                </a:lnTo>
                <a:cubicBezTo>
                  <a:pt x="3486150" y="2831913"/>
                  <a:pt x="3460563" y="2857500"/>
                  <a:pt x="3429000" y="2857500"/>
                </a:cubicBezTo>
                <a:lnTo>
                  <a:pt x="57150" y="2857500"/>
                </a:lnTo>
                <a:cubicBezTo>
                  <a:pt x="25587" y="2857500"/>
                  <a:pt x="0" y="2831913"/>
                  <a:pt x="0" y="2800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>
          <a:xfrm>
            <a:off x="457200" y="1409700"/>
            <a:ext cx="3486150" cy="495300"/>
          </a:xfrm>
          <a:custGeom>
            <a:avLst/>
            <a:gdLst/>
            <a:ahLst/>
            <a:cxnLst/>
            <a:rect l="l" t="t" r="r" b="b"/>
            <a:pathLst>
              <a:path w="3486150" h="4953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438150"/>
                </a:lnTo>
                <a:cubicBezTo>
                  <a:pt x="3486150" y="469713"/>
                  <a:pt x="3460563" y="495300"/>
                  <a:pt x="34290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881938" y="1571625"/>
            <a:ext cx="636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① 规划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34361" y="1799749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Planning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常用框架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409349"/>
            <a:ext cx="1883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思维树（ToT）、图推理（GoT）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599849"/>
            <a:ext cx="1493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ReAct（推理+行动交替）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8665" y="29537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目标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3190399"/>
            <a:ext cx="1207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把"模糊请求"拆解为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380899"/>
            <a:ext cx="10778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"可执行步骤"序列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7700" y="3810000"/>
            <a:ext cx="3105150" cy="342900"/>
          </a:xfrm>
          <a:custGeom>
            <a:avLst/>
            <a:gdLst/>
            <a:ahLst/>
            <a:cxnLst/>
            <a:rect l="l" t="t" r="r" b="b"/>
            <a:pathLst>
              <a:path w="3105150" h="342900">
                <a:moveTo>
                  <a:pt x="171450" y="0"/>
                </a:moveTo>
                <a:lnTo>
                  <a:pt x="2933700" y="0"/>
                </a:lnTo>
                <a:cubicBezTo>
                  <a:pt x="3028389" y="0"/>
                  <a:pt x="3105150" y="76761"/>
                  <a:pt x="3105150" y="171450"/>
                </a:cubicBezTo>
                <a:lnTo>
                  <a:pt x="3105150" y="171450"/>
                </a:lnTo>
                <a:cubicBezTo>
                  <a:pt x="3105150" y="266139"/>
                  <a:pt x="3028389" y="342900"/>
                  <a:pt x="293370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004AAC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1119646" y="3923824"/>
            <a:ext cx="21612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让 AI 知道"做什么"和"按什么顺序"</a:t>
            </a:r>
          </a:p>
        </p:txBody>
      </p:sp>
      <p:sp>
        <p:nvSpPr>
          <p:cNvPr id="19" name="Freeform 19"/>
          <p:cNvSpPr/>
          <p:nvPr/>
        </p:nvSpPr>
        <p:spPr>
          <a:xfrm>
            <a:off x="4352925" y="1409700"/>
            <a:ext cx="3486150" cy="2857500"/>
          </a:xfrm>
          <a:custGeom>
            <a:avLst/>
            <a:gdLst/>
            <a:ahLst/>
            <a:cxnLst/>
            <a:rect l="l" t="t" r="r" b="b"/>
            <a:pathLst>
              <a:path w="3486150" h="28575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2800350"/>
                </a:lnTo>
                <a:cubicBezTo>
                  <a:pt x="3486150" y="2831913"/>
                  <a:pt x="3460563" y="2857500"/>
                  <a:pt x="3429000" y="2857500"/>
                </a:cubicBezTo>
                <a:lnTo>
                  <a:pt x="57150" y="2857500"/>
                </a:lnTo>
                <a:cubicBezTo>
                  <a:pt x="25587" y="2857500"/>
                  <a:pt x="0" y="2831913"/>
                  <a:pt x="0" y="2800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20"/>
          <p:cNvSpPr/>
          <p:nvPr/>
        </p:nvSpPr>
        <p:spPr>
          <a:xfrm>
            <a:off x="4352925" y="1409700"/>
            <a:ext cx="3486150" cy="495300"/>
          </a:xfrm>
          <a:custGeom>
            <a:avLst/>
            <a:gdLst/>
            <a:ahLst/>
            <a:cxnLst/>
            <a:rect l="l" t="t" r="r" b="b"/>
            <a:pathLst>
              <a:path w="3486150" h="4953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438150"/>
                </a:lnTo>
                <a:cubicBezTo>
                  <a:pt x="3486150" y="469713"/>
                  <a:pt x="3460563" y="495300"/>
                  <a:pt x="34290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5777663" y="1571625"/>
            <a:ext cx="636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② 工具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30086" y="1799749"/>
            <a:ext cx="5318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i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Tool Use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44390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工具类型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45342" y="2409349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API 调用 · 数据库查询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45342" y="259984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文件读写 · 代码执行 · MCP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44390" y="29537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关键原则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45342" y="319039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明确每个工具的"能力边界"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45342" y="3380899"/>
            <a:ext cx="8178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和"调用代价"</a:t>
            </a:r>
          </a:p>
        </p:txBody>
      </p:sp>
      <p:sp>
        <p:nvSpPr>
          <p:cNvPr id="29" name="Freeform 29"/>
          <p:cNvSpPr/>
          <p:nvPr/>
        </p:nvSpPr>
        <p:spPr>
          <a:xfrm>
            <a:off x="4543425" y="3810000"/>
            <a:ext cx="3105150" cy="342900"/>
          </a:xfrm>
          <a:custGeom>
            <a:avLst/>
            <a:gdLst/>
            <a:ahLst/>
            <a:cxnLst/>
            <a:rect l="l" t="t" r="r" b="b"/>
            <a:pathLst>
              <a:path w="3105150" h="342900">
                <a:moveTo>
                  <a:pt x="171450" y="0"/>
                </a:moveTo>
                <a:lnTo>
                  <a:pt x="2933700" y="0"/>
                </a:lnTo>
                <a:cubicBezTo>
                  <a:pt x="3028389" y="0"/>
                  <a:pt x="3105150" y="76761"/>
                  <a:pt x="3105150" y="171450"/>
                </a:cubicBezTo>
                <a:lnTo>
                  <a:pt x="3105150" y="171450"/>
                </a:lnTo>
                <a:cubicBezTo>
                  <a:pt x="3105150" y="266139"/>
                  <a:pt x="3028389" y="342900"/>
                  <a:pt x="293370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AE41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5090456" y="3923824"/>
            <a:ext cx="20110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让 AI 知道"用什么资源"完成任务</a:t>
            </a:r>
          </a:p>
        </p:txBody>
      </p:sp>
      <p:sp>
        <p:nvSpPr>
          <p:cNvPr id="31" name="Freeform 31"/>
          <p:cNvSpPr/>
          <p:nvPr/>
        </p:nvSpPr>
        <p:spPr>
          <a:xfrm>
            <a:off x="8248650" y="1409700"/>
            <a:ext cx="3486150" cy="2857500"/>
          </a:xfrm>
          <a:custGeom>
            <a:avLst/>
            <a:gdLst/>
            <a:ahLst/>
            <a:cxnLst/>
            <a:rect l="l" t="t" r="r" b="b"/>
            <a:pathLst>
              <a:path w="3486150" h="28575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2800350"/>
                </a:lnTo>
                <a:cubicBezTo>
                  <a:pt x="3486150" y="2831913"/>
                  <a:pt x="3460563" y="2857500"/>
                  <a:pt x="3429000" y="2857500"/>
                </a:cubicBezTo>
                <a:lnTo>
                  <a:pt x="57150" y="2857500"/>
                </a:lnTo>
                <a:cubicBezTo>
                  <a:pt x="25587" y="2857500"/>
                  <a:pt x="0" y="2831913"/>
                  <a:pt x="0" y="2800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2"/>
          <p:cNvSpPr/>
          <p:nvPr/>
        </p:nvSpPr>
        <p:spPr>
          <a:xfrm>
            <a:off x="8248650" y="1409700"/>
            <a:ext cx="3486150" cy="495300"/>
          </a:xfrm>
          <a:custGeom>
            <a:avLst/>
            <a:gdLst/>
            <a:ahLst/>
            <a:cxnLst/>
            <a:rect l="l" t="t" r="r" b="b"/>
            <a:pathLst>
              <a:path w="3486150" h="495300">
                <a:moveTo>
                  <a:pt x="57150" y="0"/>
                </a:moveTo>
                <a:lnTo>
                  <a:pt x="3429000" y="0"/>
                </a:lnTo>
                <a:cubicBezTo>
                  <a:pt x="3460563" y="0"/>
                  <a:pt x="3486150" y="25587"/>
                  <a:pt x="3486150" y="57150"/>
                </a:cubicBezTo>
                <a:lnTo>
                  <a:pt x="3486150" y="438150"/>
                </a:lnTo>
                <a:cubicBezTo>
                  <a:pt x="3486150" y="469713"/>
                  <a:pt x="3460563" y="495300"/>
                  <a:pt x="34290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9673388" y="1571625"/>
            <a:ext cx="636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③ 反思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54302" y="17997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Reflection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40115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反思机制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41068" y="240934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自我验证 · 错误回退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41068" y="259984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循环改进 · 人工复核节点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40115" y="29537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目标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41068" y="3190399"/>
            <a:ext cx="8178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从"一次完成"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41068" y="3380899"/>
            <a:ext cx="8178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到"稳定交付"</a:t>
            </a:r>
          </a:p>
        </p:txBody>
      </p:sp>
      <p:sp>
        <p:nvSpPr>
          <p:cNvPr id="41" name="Freeform 41"/>
          <p:cNvSpPr/>
          <p:nvPr/>
        </p:nvSpPr>
        <p:spPr>
          <a:xfrm>
            <a:off x="8439150" y="3810000"/>
            <a:ext cx="3105150" cy="342900"/>
          </a:xfrm>
          <a:custGeom>
            <a:avLst/>
            <a:gdLst/>
            <a:ahLst/>
            <a:cxnLst/>
            <a:rect l="l" t="t" r="r" b="b"/>
            <a:pathLst>
              <a:path w="3105150" h="342900">
                <a:moveTo>
                  <a:pt x="171450" y="0"/>
                </a:moveTo>
                <a:lnTo>
                  <a:pt x="2933700" y="0"/>
                </a:lnTo>
                <a:cubicBezTo>
                  <a:pt x="3028389" y="0"/>
                  <a:pt x="3105150" y="76761"/>
                  <a:pt x="3105150" y="171450"/>
                </a:cubicBezTo>
                <a:lnTo>
                  <a:pt x="3105150" y="171450"/>
                </a:lnTo>
                <a:cubicBezTo>
                  <a:pt x="3105150" y="266139"/>
                  <a:pt x="3028389" y="342900"/>
                  <a:pt x="293370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7E51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8999833" y="3923824"/>
            <a:ext cx="19837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区别 Agent 与自动化脚本的核心</a:t>
            </a:r>
          </a:p>
        </p:txBody>
      </p:sp>
      <p:sp>
        <p:nvSpPr>
          <p:cNvPr id="43" name="Freeform 43"/>
          <p:cNvSpPr/>
          <p:nvPr/>
        </p:nvSpPr>
        <p:spPr>
          <a:xfrm>
            <a:off x="457200" y="4457700"/>
            <a:ext cx="11277600" cy="914400"/>
          </a:xfrm>
          <a:custGeom>
            <a:avLst/>
            <a:gdLst/>
            <a:ahLst/>
            <a:cxnLst/>
            <a:rect l="l" t="t" r="r" b="b"/>
            <a:pathLst>
              <a:path w="11277600" h="9144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857250"/>
                </a:lnTo>
                <a:cubicBezTo>
                  <a:pt x="11277600" y="888813"/>
                  <a:pt x="11252013" y="914400"/>
                  <a:pt x="11220450" y="914400"/>
                </a:cubicBezTo>
                <a:lnTo>
                  <a:pt x="57150" y="914400"/>
                </a:lnTo>
                <a:cubicBezTo>
                  <a:pt x="25587" y="914400"/>
                  <a:pt x="0" y="888813"/>
                  <a:pt x="0" y="857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ectangle 44"/>
          <p:cNvSpPr/>
          <p:nvPr/>
        </p:nvSpPr>
        <p:spPr>
          <a:xfrm>
            <a:off x="457200" y="4457700"/>
            <a:ext cx="57150" cy="9144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Box 45"/>
          <p:cNvSpPr txBox="1"/>
          <p:nvPr/>
        </p:nvSpPr>
        <p:spPr>
          <a:xfrm>
            <a:off x="710565" y="4592002"/>
            <a:ext cx="22392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实战案例：供应链风险预警 Agent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1518" y="4847749"/>
            <a:ext cx="29241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规划：定时拉取供应商数据 → 异常检测 → 风险评级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11518" y="5038249"/>
            <a:ext cx="23195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工具：ERP API · 邮件通知 · 数据库写入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11518" y="5228749"/>
            <a:ext cx="26250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反思：双模型交叉验证，关键决策需人工复核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190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Line 3"/>
          <p:cNvSpPr/>
          <p:nvPr/>
        </p:nvSpPr>
        <p:spPr>
          <a:xfrm>
            <a:off x="0" y="3810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Line 4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/>
          <p:nvPr/>
        </p:nvSpPr>
        <p:spPr>
          <a:xfrm>
            <a:off x="3048000" y="542925"/>
            <a:ext cx="9525" cy="5895975"/>
          </a:xfrm>
          <a:custGeom>
            <a:avLst/>
            <a:gdLst/>
            <a:ahLst/>
            <a:cxnLst/>
            <a:rect l="l" t="t" r="r" b="b"/>
            <a:pathLst>
              <a:path w="9525" h="5895975">
                <a:moveTo>
                  <a:pt x="0" y="0"/>
                </a:moveTo>
                <a:lnTo>
                  <a:pt x="0" y="5895975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/>
          <p:nvPr/>
        </p:nvSpPr>
        <p:spPr>
          <a:xfrm>
            <a:off x="6096000" y="542925"/>
            <a:ext cx="9525" cy="5895975"/>
          </a:xfrm>
          <a:custGeom>
            <a:avLst/>
            <a:gdLst/>
            <a:ahLst/>
            <a:cxnLst/>
            <a:rect l="l" t="t" r="r" b="b"/>
            <a:pathLst>
              <a:path w="9525" h="5895975">
                <a:moveTo>
                  <a:pt x="0" y="0"/>
                </a:moveTo>
                <a:lnTo>
                  <a:pt x="0" y="5895975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/>
          <p:nvPr/>
        </p:nvSpPr>
        <p:spPr>
          <a:xfrm>
            <a:off x="9144000" y="542925"/>
            <a:ext cx="9525" cy="5895975"/>
          </a:xfrm>
          <a:custGeom>
            <a:avLst/>
            <a:gdLst/>
            <a:ahLst/>
            <a:cxnLst/>
            <a:rect l="l" t="t" r="r" b="b"/>
            <a:pathLst>
              <a:path w="9525" h="5895975">
                <a:moveTo>
                  <a:pt x="0" y="0"/>
                </a:moveTo>
                <a:lnTo>
                  <a:pt x="0" y="5895975"/>
                </a:lnTo>
              </a:path>
            </a:pathLst>
          </a:custGeom>
          <a:noFill/>
          <a:ln w="4762">
            <a:solidFill>
              <a:srgbClr val="FFFFFF">
                <a:alpha val="5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9353550" y="2066925"/>
            <a:ext cx="2814161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0" dirty="0">
                <a:solidFill>
                  <a:srgbClr val="FFFFFF">
                    <a:alphaMod val="4000"/>
                  </a:srgbClr>
                </a:solidFill>
                <a:latin typeface="Calibri Light"/>
                <a:ea typeface="Microsoft YaHei"/>
                <a:cs typeface="Calibri Light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10" name="Freeform 10"/>
          <p:cNvSpPr/>
          <p:nvPr/>
        </p:nvSpPr>
        <p:spPr>
          <a:xfrm>
            <a:off x="457200" y="1524000"/>
            <a:ext cx="1714500" cy="381000"/>
          </a:xfrm>
          <a:custGeom>
            <a:avLst/>
            <a:gdLst/>
            <a:ahLst/>
            <a:cxnLst/>
            <a:rect l="l" t="t" r="r" b="b"/>
            <a:pathLst>
              <a:path w="1714500" h="381000">
                <a:moveTo>
                  <a:pt x="190500" y="0"/>
                </a:moveTo>
                <a:lnTo>
                  <a:pt x="1524000" y="0"/>
                </a:lnTo>
                <a:cubicBezTo>
                  <a:pt x="1629210" y="0"/>
                  <a:pt x="1714500" y="85290"/>
                  <a:pt x="1714500" y="190500"/>
                </a:cubicBezTo>
                <a:lnTo>
                  <a:pt x="1714500" y="190500"/>
                </a:lnTo>
                <a:cubicBezTo>
                  <a:pt x="1714500" y="295710"/>
                  <a:pt x="1629210" y="381000"/>
                  <a:pt x="152400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F7E51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996772" y="1642110"/>
            <a:ext cx="6353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7E51"/>
                </a:solidFill>
                <a:latin typeface="Calibri"/>
                <a:ea typeface="Microsoft YaHei"/>
                <a:cs typeface="Calibri"/>
              </a:rPr>
              <a:t>第 二 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2430" y="2211705"/>
            <a:ext cx="2849880" cy="1036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100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系统进化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" y="3009900"/>
            <a:ext cx="6477000" cy="1905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436245" y="3193732"/>
            <a:ext cx="30012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A0AEC0"/>
                </a:solidFill>
                <a:latin typeface="Calibri"/>
                <a:ea typeface="Microsoft YaHei"/>
                <a:cs typeface="Calibri"/>
              </a:rPr>
              <a:t>构建千倍增效的 AI 原生工作流</a:t>
            </a:r>
          </a:p>
        </p:txBody>
      </p:sp>
      <p:sp>
        <p:nvSpPr>
          <p:cNvPr id="15" name="Freeform 15"/>
          <p:cNvSpPr/>
          <p:nvPr/>
        </p:nvSpPr>
        <p:spPr>
          <a:xfrm>
            <a:off x="457200" y="4000500"/>
            <a:ext cx="8191500" cy="952500"/>
          </a:xfrm>
          <a:custGeom>
            <a:avLst/>
            <a:gdLst/>
            <a:ahLst/>
            <a:cxnLst/>
            <a:rect l="l" t="t" r="r" b="b"/>
            <a:pathLst>
              <a:path w="8191500" h="952500">
                <a:moveTo>
                  <a:pt x="57150" y="0"/>
                </a:moveTo>
                <a:lnTo>
                  <a:pt x="8134350" y="0"/>
                </a:lnTo>
                <a:cubicBezTo>
                  <a:pt x="8165913" y="0"/>
                  <a:pt x="8191500" y="25587"/>
                  <a:pt x="8191500" y="57150"/>
                </a:cubicBezTo>
                <a:lnTo>
                  <a:pt x="8191500" y="895350"/>
                </a:lnTo>
                <a:cubicBezTo>
                  <a:pt x="8191500" y="926913"/>
                  <a:pt x="8165913" y="952500"/>
                  <a:pt x="81343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/>
          <p:cNvSpPr/>
          <p:nvPr/>
        </p:nvSpPr>
        <p:spPr>
          <a:xfrm>
            <a:off x="457200" y="4000500"/>
            <a:ext cx="38100" cy="9525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704850" y="4238625"/>
            <a:ext cx="27784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i="1" dirty="0">
                <a:solidFill>
                  <a:srgbClr val="F6F3F0"/>
                </a:solidFill>
                <a:latin typeface="Calibri Light"/>
                <a:ea typeface="Microsoft YaHei"/>
                <a:cs typeface="Calibri Light"/>
              </a:rPr>
              <a:t>"真正的竞争力，不是会用 AI，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4850" y="4581525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7E51"/>
                </a:solidFill>
                <a:latin typeface="Calibri"/>
                <a:ea typeface="Microsoft YaHei"/>
                <a:cs typeface="Calibri"/>
              </a:rPr>
              <a:t>而是会设计 AI 在哪里、如何工作。"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7220" y="674370"/>
            <a:ext cx="49095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新角色：生态调度者 + 流程架构师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29508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未来 3 年最稀缺的不是会写 Prompt 的人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5334000" cy="419100"/>
          </a:xfrm>
          <a:custGeom>
            <a:avLst/>
            <a:gdLst/>
            <a:ahLst/>
            <a:cxnLst/>
            <a:rect l="l" t="t" r="r" b="b"/>
            <a:pathLst>
              <a:path w="5334000" h="4191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81000"/>
                </a:lnTo>
                <a:cubicBezTo>
                  <a:pt x="5334000" y="402042"/>
                  <a:pt x="5316942" y="419100"/>
                  <a:pt x="5295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2884884" y="155495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旧角色</a:t>
            </a:r>
          </a:p>
        </p:txBody>
      </p:sp>
      <p:sp>
        <p:nvSpPr>
          <p:cNvPr id="9" name="Freeform 9"/>
          <p:cNvSpPr/>
          <p:nvPr/>
        </p:nvSpPr>
        <p:spPr>
          <a:xfrm>
            <a:off x="457200" y="18288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457200" y="1828800"/>
            <a:ext cx="38100" cy="4953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2760821" y="20012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工具使用者</a:t>
            </a:r>
          </a:p>
        </p:txBody>
      </p:sp>
      <p:sp>
        <p:nvSpPr>
          <p:cNvPr id="12" name="Freeform 12"/>
          <p:cNvSpPr/>
          <p:nvPr/>
        </p:nvSpPr>
        <p:spPr>
          <a:xfrm>
            <a:off x="457200" y="23622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"/>
          <p:cNvSpPr/>
          <p:nvPr/>
        </p:nvSpPr>
        <p:spPr>
          <a:xfrm>
            <a:off x="457200" y="2362200"/>
            <a:ext cx="38100" cy="4953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2533293" y="2534602"/>
            <a:ext cx="11818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关心"AI 能不能干"</a:t>
            </a:r>
          </a:p>
        </p:txBody>
      </p:sp>
      <p:sp>
        <p:nvSpPr>
          <p:cNvPr id="15" name="Freeform 15"/>
          <p:cNvSpPr/>
          <p:nvPr/>
        </p:nvSpPr>
        <p:spPr>
          <a:xfrm>
            <a:off x="457200" y="28956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/>
          <p:cNvSpPr/>
          <p:nvPr/>
        </p:nvSpPr>
        <p:spPr>
          <a:xfrm>
            <a:off x="457200" y="2895600"/>
            <a:ext cx="38100" cy="4953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2830830" y="30680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单点提效</a:t>
            </a:r>
          </a:p>
        </p:txBody>
      </p:sp>
      <p:sp>
        <p:nvSpPr>
          <p:cNvPr id="18" name="Freeform 18"/>
          <p:cNvSpPr/>
          <p:nvPr/>
        </p:nvSpPr>
        <p:spPr>
          <a:xfrm>
            <a:off x="457200" y="34290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19"/>
          <p:cNvSpPr/>
          <p:nvPr/>
        </p:nvSpPr>
        <p:spPr>
          <a:xfrm>
            <a:off x="457200" y="3429000"/>
            <a:ext cx="38100" cy="4953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2760821" y="36014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模型依赖者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71686" y="2590800"/>
            <a:ext cx="29622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00800" y="1409700"/>
            <a:ext cx="5334000" cy="419100"/>
          </a:xfrm>
          <a:custGeom>
            <a:avLst/>
            <a:gdLst/>
            <a:ahLst/>
            <a:cxnLst/>
            <a:rect l="l" t="t" r="r" b="b"/>
            <a:pathLst>
              <a:path w="5334000" h="4191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81000"/>
                </a:lnTo>
                <a:cubicBezTo>
                  <a:pt x="5334000" y="402042"/>
                  <a:pt x="5316942" y="419100"/>
                  <a:pt x="5295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8817233" y="1554956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新角色</a:t>
            </a:r>
          </a:p>
        </p:txBody>
      </p:sp>
      <p:sp>
        <p:nvSpPr>
          <p:cNvPr id="24" name="Freeform 24"/>
          <p:cNvSpPr/>
          <p:nvPr/>
        </p:nvSpPr>
        <p:spPr>
          <a:xfrm>
            <a:off x="6400800" y="18288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4AAC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5"/>
          <p:cNvSpPr/>
          <p:nvPr/>
        </p:nvSpPr>
        <p:spPr>
          <a:xfrm>
            <a:off x="6400800" y="1828800"/>
            <a:ext cx="38100" cy="4953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8686919" y="20012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流程架构师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00800" y="23622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28"/>
          <p:cNvSpPr/>
          <p:nvPr/>
        </p:nvSpPr>
        <p:spPr>
          <a:xfrm>
            <a:off x="6400800" y="2362200"/>
            <a:ext cx="38100" cy="4953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8227487" y="2534602"/>
            <a:ext cx="16806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关心"AI 应该在哪一步干"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00800" y="28956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4AAC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ectangle 31"/>
          <p:cNvSpPr/>
          <p:nvPr/>
        </p:nvSpPr>
        <p:spPr>
          <a:xfrm>
            <a:off x="6400800" y="2895600"/>
            <a:ext cx="38100" cy="4953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8686919" y="30680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系统级重构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00800" y="3429000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19050" y="0"/>
                </a:moveTo>
                <a:lnTo>
                  <a:pt x="5314950" y="0"/>
                </a:lnTo>
                <a:cubicBezTo>
                  <a:pt x="5325471" y="0"/>
                  <a:pt x="5334000" y="8529"/>
                  <a:pt x="5334000" y="19050"/>
                </a:cubicBezTo>
                <a:lnTo>
                  <a:pt x="5334000" y="476250"/>
                </a:lnTo>
                <a:cubicBezTo>
                  <a:pt x="5334000" y="486771"/>
                  <a:pt x="5325471" y="495300"/>
                  <a:pt x="53149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Rectangle 34"/>
          <p:cNvSpPr/>
          <p:nvPr/>
        </p:nvSpPr>
        <p:spPr>
          <a:xfrm>
            <a:off x="6400800" y="3429000"/>
            <a:ext cx="38100" cy="4953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5"/>
          <p:cNvSpPr txBox="1"/>
          <p:nvPr/>
        </p:nvSpPr>
        <p:spPr>
          <a:xfrm>
            <a:off x="8686919" y="36014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生态调度者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2912" y="4088606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工具链动态选择策略</a:t>
            </a:r>
          </a:p>
        </p:txBody>
      </p:sp>
      <p:sp>
        <p:nvSpPr>
          <p:cNvPr id="37" name="Freeform 37"/>
          <p:cNvSpPr/>
          <p:nvPr/>
        </p:nvSpPr>
        <p:spPr>
          <a:xfrm>
            <a:off x="457200" y="4343400"/>
            <a:ext cx="2647950" cy="647700"/>
          </a:xfrm>
          <a:custGeom>
            <a:avLst/>
            <a:gdLst/>
            <a:ahLst/>
            <a:cxnLst/>
            <a:rect l="l" t="t" r="r" b="b"/>
            <a:pathLst>
              <a:path w="2647950" h="647700">
                <a:moveTo>
                  <a:pt x="38100" y="0"/>
                </a:moveTo>
                <a:lnTo>
                  <a:pt x="2609850" y="0"/>
                </a:lnTo>
                <a:cubicBezTo>
                  <a:pt x="2630892" y="0"/>
                  <a:pt x="2647950" y="17058"/>
                  <a:pt x="2647950" y="38100"/>
                </a:cubicBezTo>
                <a:lnTo>
                  <a:pt x="2647950" y="609600"/>
                </a:lnTo>
                <a:cubicBezTo>
                  <a:pt x="2647950" y="630642"/>
                  <a:pt x="2630892" y="647700"/>
                  <a:pt x="2609850" y="647700"/>
                </a:cubicBezTo>
                <a:lnTo>
                  <a:pt x="38100" y="647700"/>
                </a:lnTo>
                <a:cubicBezTo>
                  <a:pt x="17058" y="647700"/>
                  <a:pt x="0" y="630642"/>
                  <a:pt x="0" y="609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38"/>
          <p:cNvSpPr/>
          <p:nvPr/>
        </p:nvSpPr>
        <p:spPr>
          <a:xfrm>
            <a:off x="457200" y="4343400"/>
            <a:ext cx="38100" cy="6477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635318" y="44667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复杂系统设计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270" y="4665345"/>
            <a:ext cx="11750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→ GPT-5（深度推理）</a:t>
            </a:r>
          </a:p>
        </p:txBody>
      </p:sp>
      <p:sp>
        <p:nvSpPr>
          <p:cNvPr id="41" name="Freeform 41"/>
          <p:cNvSpPr/>
          <p:nvPr/>
        </p:nvSpPr>
        <p:spPr>
          <a:xfrm>
            <a:off x="3219450" y="4343400"/>
            <a:ext cx="2647950" cy="647700"/>
          </a:xfrm>
          <a:custGeom>
            <a:avLst/>
            <a:gdLst/>
            <a:ahLst/>
            <a:cxnLst/>
            <a:rect l="l" t="t" r="r" b="b"/>
            <a:pathLst>
              <a:path w="2647950" h="647700">
                <a:moveTo>
                  <a:pt x="38100" y="0"/>
                </a:moveTo>
                <a:lnTo>
                  <a:pt x="2609850" y="0"/>
                </a:lnTo>
                <a:cubicBezTo>
                  <a:pt x="2630892" y="0"/>
                  <a:pt x="2647950" y="17058"/>
                  <a:pt x="2647950" y="38100"/>
                </a:cubicBezTo>
                <a:lnTo>
                  <a:pt x="2647950" y="609600"/>
                </a:lnTo>
                <a:cubicBezTo>
                  <a:pt x="2647950" y="630642"/>
                  <a:pt x="2630892" y="647700"/>
                  <a:pt x="2609850" y="647700"/>
                </a:cubicBezTo>
                <a:lnTo>
                  <a:pt x="38100" y="647700"/>
                </a:lnTo>
                <a:cubicBezTo>
                  <a:pt x="17058" y="647700"/>
                  <a:pt x="0" y="630642"/>
                  <a:pt x="0" y="609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ectangle 42"/>
          <p:cNvSpPr/>
          <p:nvPr/>
        </p:nvSpPr>
        <p:spPr>
          <a:xfrm>
            <a:off x="3219450" y="4343400"/>
            <a:ext cx="38100" cy="6477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3397568" y="44667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代码生成与重构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398520" y="466534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→ Claude Sonnet 4.5</a:t>
            </a:r>
          </a:p>
        </p:txBody>
      </p:sp>
      <p:sp>
        <p:nvSpPr>
          <p:cNvPr id="45" name="Freeform 45"/>
          <p:cNvSpPr/>
          <p:nvPr/>
        </p:nvSpPr>
        <p:spPr>
          <a:xfrm>
            <a:off x="5981700" y="4343400"/>
            <a:ext cx="2647950" cy="647700"/>
          </a:xfrm>
          <a:custGeom>
            <a:avLst/>
            <a:gdLst/>
            <a:ahLst/>
            <a:cxnLst/>
            <a:rect l="l" t="t" r="r" b="b"/>
            <a:pathLst>
              <a:path w="2647950" h="647700">
                <a:moveTo>
                  <a:pt x="38100" y="0"/>
                </a:moveTo>
                <a:lnTo>
                  <a:pt x="2609850" y="0"/>
                </a:lnTo>
                <a:cubicBezTo>
                  <a:pt x="2630892" y="0"/>
                  <a:pt x="2647950" y="17058"/>
                  <a:pt x="2647950" y="38100"/>
                </a:cubicBezTo>
                <a:lnTo>
                  <a:pt x="2647950" y="609600"/>
                </a:lnTo>
                <a:cubicBezTo>
                  <a:pt x="2647950" y="630642"/>
                  <a:pt x="2630892" y="647700"/>
                  <a:pt x="2609850" y="647700"/>
                </a:cubicBezTo>
                <a:lnTo>
                  <a:pt x="38100" y="647700"/>
                </a:lnTo>
                <a:cubicBezTo>
                  <a:pt x="17058" y="647700"/>
                  <a:pt x="0" y="630642"/>
                  <a:pt x="0" y="609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ectangle 46"/>
          <p:cNvSpPr/>
          <p:nvPr/>
        </p:nvSpPr>
        <p:spPr>
          <a:xfrm>
            <a:off x="5981700" y="4343400"/>
            <a:ext cx="38100" cy="6477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Box 47"/>
          <p:cNvSpPr txBox="1"/>
          <p:nvPr/>
        </p:nvSpPr>
        <p:spPr>
          <a:xfrm>
            <a:off x="6159818" y="4466749"/>
            <a:ext cx="1465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行业问答（金融/法律）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160770" y="466534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→ 行业大模型</a:t>
            </a:r>
          </a:p>
        </p:txBody>
      </p:sp>
      <p:sp>
        <p:nvSpPr>
          <p:cNvPr id="49" name="Freeform 49"/>
          <p:cNvSpPr/>
          <p:nvPr/>
        </p:nvSpPr>
        <p:spPr>
          <a:xfrm>
            <a:off x="8743950" y="4343400"/>
            <a:ext cx="2990850" cy="647700"/>
          </a:xfrm>
          <a:custGeom>
            <a:avLst/>
            <a:gdLst/>
            <a:ahLst/>
            <a:cxnLst/>
            <a:rect l="l" t="t" r="r" b="b"/>
            <a:pathLst>
              <a:path w="2990850" h="647700">
                <a:moveTo>
                  <a:pt x="38100" y="0"/>
                </a:moveTo>
                <a:lnTo>
                  <a:pt x="2952750" y="0"/>
                </a:lnTo>
                <a:cubicBezTo>
                  <a:pt x="2973792" y="0"/>
                  <a:pt x="2990850" y="17058"/>
                  <a:pt x="2990850" y="38100"/>
                </a:cubicBezTo>
                <a:lnTo>
                  <a:pt x="2990850" y="609600"/>
                </a:lnTo>
                <a:cubicBezTo>
                  <a:pt x="2990850" y="630642"/>
                  <a:pt x="2973792" y="647700"/>
                  <a:pt x="2952750" y="647700"/>
                </a:cubicBezTo>
                <a:lnTo>
                  <a:pt x="38100" y="647700"/>
                </a:lnTo>
                <a:cubicBezTo>
                  <a:pt x="17058" y="647700"/>
                  <a:pt x="0" y="630642"/>
                  <a:pt x="0" y="609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ectangle 50"/>
          <p:cNvSpPr/>
          <p:nvPr/>
        </p:nvSpPr>
        <p:spPr>
          <a:xfrm>
            <a:off x="8743950" y="4343400"/>
            <a:ext cx="38100" cy="6477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Box 51"/>
          <p:cNvSpPr txBox="1"/>
          <p:nvPr/>
        </p:nvSpPr>
        <p:spPr>
          <a:xfrm>
            <a:off x="8922068" y="44667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隐私敏感场景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923020" y="4665345"/>
            <a:ext cx="14990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→ Llama 3.1 / Qwen 本地化</a:t>
            </a:r>
          </a:p>
        </p:txBody>
      </p:sp>
      <p:sp>
        <p:nvSpPr>
          <p:cNvPr id="53" name="Freeform 53"/>
          <p:cNvSpPr/>
          <p:nvPr/>
        </p:nvSpPr>
        <p:spPr>
          <a:xfrm>
            <a:off x="457200" y="51816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514350"/>
                </a:lnTo>
                <a:cubicBezTo>
                  <a:pt x="11277600" y="545913"/>
                  <a:pt x="11252013" y="571500"/>
                  <a:pt x="112204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Box 54"/>
          <p:cNvSpPr txBox="1"/>
          <p:nvPr/>
        </p:nvSpPr>
        <p:spPr>
          <a:xfrm>
            <a:off x="5274064" y="5315902"/>
            <a:ext cx="1643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流程架构师的核心能力：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34909" y="5525452"/>
            <a:ext cx="41221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为每一步选择最合适的"AI 同事"，而不是把所有任务交给一个模型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7220" y="674370"/>
            <a:ext cx="580567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从 RAG 到 GraphRAG：可追溯的智能问答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20387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知识库是企业 AI 的"燃料库"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514350"/>
                </a:lnTo>
                <a:cubicBezTo>
                  <a:pt x="11277600" y="545913"/>
                  <a:pt x="11252013" y="571500"/>
                  <a:pt x="112204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405652" y="162829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关键词检索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64443" y="15716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28980" y="1628299"/>
            <a:ext cx="10193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向量检索（RAG）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4343" y="15716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83225" y="1620202"/>
            <a:ext cx="6735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GraphRAG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84243" y="15716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40077" y="162829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995FF"/>
                </a:solidFill>
                <a:latin typeface="Calibri"/>
                <a:ea typeface="Microsoft YaHei"/>
                <a:cs typeface="Calibri"/>
              </a:rPr>
              <a:t>智能知识库</a:t>
            </a:r>
          </a:p>
        </p:txBody>
      </p:sp>
      <p:sp>
        <p:nvSpPr>
          <p:cNvPr id="15" name="Freeform 15"/>
          <p:cNvSpPr/>
          <p:nvPr/>
        </p:nvSpPr>
        <p:spPr>
          <a:xfrm>
            <a:off x="457200" y="2171700"/>
            <a:ext cx="11277600" cy="381000"/>
          </a:xfrm>
          <a:custGeom>
            <a:avLst/>
            <a:gdLst/>
            <a:ahLst/>
            <a:cxnLst/>
            <a:rect l="l" t="t" r="r" b="b"/>
            <a:pathLst>
              <a:path w="11277600" h="3810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342900"/>
                </a:lnTo>
                <a:cubicBezTo>
                  <a:pt x="11277600" y="363942"/>
                  <a:pt x="11260542" y="381000"/>
                  <a:pt x="112395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2137100" y="23140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维度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51991" y="2314099"/>
            <a:ext cx="2500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RAG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83780" y="23140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GraphRAG</a:t>
            </a:r>
          </a:p>
        </p:txBody>
      </p:sp>
      <p:sp>
        <p:nvSpPr>
          <p:cNvPr id="19" name="Line 19"/>
          <p:cNvSpPr/>
          <p:nvPr/>
        </p:nvSpPr>
        <p:spPr>
          <a:xfrm>
            <a:off x="4191000" y="21717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0"/>
          <p:cNvSpPr/>
          <p:nvPr/>
        </p:nvSpPr>
        <p:spPr>
          <a:xfrm>
            <a:off x="8382000" y="21717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21"/>
          <p:cNvSpPr/>
          <p:nvPr/>
        </p:nvSpPr>
        <p:spPr>
          <a:xfrm>
            <a:off x="457200" y="2552700"/>
            <a:ext cx="11277600" cy="457200"/>
          </a:xfrm>
          <a:custGeom>
            <a:avLst/>
            <a:gdLst/>
            <a:ahLst/>
            <a:cxnLst/>
            <a:rect l="l" t="t" r="r" b="b"/>
            <a:pathLst>
              <a:path w="11277600" h="4572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38150"/>
                </a:lnTo>
                <a:cubicBezTo>
                  <a:pt x="11277600" y="448671"/>
                  <a:pt x="11269071" y="457200"/>
                  <a:pt x="1125855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992630" y="27251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信息粒度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83630" y="27251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文本片段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04593" y="2725102"/>
            <a:ext cx="783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实体 + 关系</a:t>
            </a:r>
          </a:p>
        </p:txBody>
      </p:sp>
      <p:sp>
        <p:nvSpPr>
          <p:cNvPr id="25" name="Freeform 25"/>
          <p:cNvSpPr/>
          <p:nvPr/>
        </p:nvSpPr>
        <p:spPr>
          <a:xfrm>
            <a:off x="457200" y="3048000"/>
            <a:ext cx="11277600" cy="457200"/>
          </a:xfrm>
          <a:custGeom>
            <a:avLst/>
            <a:gdLst/>
            <a:ahLst/>
            <a:cxnLst/>
            <a:rect l="l" t="t" r="r" b="b"/>
            <a:pathLst>
              <a:path w="11277600" h="4572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38150"/>
                </a:lnTo>
                <a:cubicBezTo>
                  <a:pt x="11277600" y="448671"/>
                  <a:pt x="11269071" y="457200"/>
                  <a:pt x="1125855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1992630" y="32204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推理深度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23648" y="322040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单跳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89128" y="32204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多跳推理</a:t>
            </a:r>
          </a:p>
        </p:txBody>
      </p:sp>
      <p:sp>
        <p:nvSpPr>
          <p:cNvPr id="29" name="Freeform 29"/>
          <p:cNvSpPr/>
          <p:nvPr/>
        </p:nvSpPr>
        <p:spPr>
          <a:xfrm>
            <a:off x="457200" y="3543300"/>
            <a:ext cx="11277600" cy="457200"/>
          </a:xfrm>
          <a:custGeom>
            <a:avLst/>
            <a:gdLst/>
            <a:ahLst/>
            <a:cxnLst/>
            <a:rect l="l" t="t" r="r" b="b"/>
            <a:pathLst>
              <a:path w="11277600" h="4572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38150"/>
                </a:lnTo>
                <a:cubicBezTo>
                  <a:pt x="11277600" y="448671"/>
                  <a:pt x="11269071" y="457200"/>
                  <a:pt x="1125855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1992630" y="37157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可追溯性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93656" y="3715702"/>
            <a:ext cx="166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21582" y="371570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强（图路径可视化）</a:t>
            </a:r>
          </a:p>
        </p:txBody>
      </p:sp>
      <p:sp>
        <p:nvSpPr>
          <p:cNvPr id="33" name="Line 33"/>
          <p:cNvSpPr/>
          <p:nvPr/>
        </p:nvSpPr>
        <p:spPr>
          <a:xfrm>
            <a:off x="4191000" y="25527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4"/>
          <p:cNvSpPr/>
          <p:nvPr/>
        </p:nvSpPr>
        <p:spPr>
          <a:xfrm>
            <a:off x="8382000" y="25527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35"/>
          <p:cNvSpPr/>
          <p:nvPr/>
        </p:nvSpPr>
        <p:spPr>
          <a:xfrm>
            <a:off x="457200" y="4191000"/>
            <a:ext cx="11277600" cy="1143000"/>
          </a:xfrm>
          <a:custGeom>
            <a:avLst/>
            <a:gdLst/>
            <a:ahLst/>
            <a:cxnLst/>
            <a:rect l="l" t="t" r="r" b="b"/>
            <a:pathLst>
              <a:path w="11277600" h="11430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1085850"/>
                </a:lnTo>
                <a:cubicBezTo>
                  <a:pt x="11277600" y="1117413"/>
                  <a:pt x="11252013" y="1143000"/>
                  <a:pt x="11220450" y="1143000"/>
                </a:cubicBezTo>
                <a:lnTo>
                  <a:pt x="57150" y="1143000"/>
                </a:lnTo>
                <a:cubicBezTo>
                  <a:pt x="25587" y="1143000"/>
                  <a:pt x="0" y="1117413"/>
                  <a:pt x="0" y="1085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>
              <a:alpha val="8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ectangle 36"/>
          <p:cNvSpPr/>
          <p:nvPr/>
        </p:nvSpPr>
        <p:spPr>
          <a:xfrm>
            <a:off x="457200" y="4191000"/>
            <a:ext cx="57150" cy="11430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Box 37"/>
          <p:cNvSpPr txBox="1"/>
          <p:nvPr/>
        </p:nvSpPr>
        <p:spPr>
          <a:xfrm>
            <a:off x="710565" y="4344352"/>
            <a:ext cx="23789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企业落地案例：售后服务智能知识库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1518" y="4619149"/>
            <a:ext cx="34831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输入：用户报修描述 检索：维修记录 + 设备图谱 + 配件库存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1518" y="4847749"/>
            <a:ext cx="24040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输出：故障判断 + 派工单草案 + 配件清单</a:t>
            </a:r>
          </a:p>
        </p:txBody>
      </p:sp>
      <p:sp>
        <p:nvSpPr>
          <p:cNvPr id="40" name="Freeform 40"/>
          <p:cNvSpPr/>
          <p:nvPr/>
        </p:nvSpPr>
        <p:spPr>
          <a:xfrm>
            <a:off x="723900" y="5105400"/>
            <a:ext cx="4572000" cy="152400"/>
          </a:xfrm>
          <a:custGeom>
            <a:avLst/>
            <a:gdLst/>
            <a:ahLst/>
            <a:cxnLst/>
            <a:rect l="l" t="t" r="r" b="b"/>
            <a:pathLst>
              <a:path w="4572000" h="1524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76200"/>
                </a:lnTo>
                <a:cubicBezTo>
                  <a:pt x="4572000" y="118284"/>
                  <a:pt x="4537884" y="152400"/>
                  <a:pt x="449580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E4E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41"/>
          <p:cNvSpPr/>
          <p:nvPr/>
        </p:nvSpPr>
        <p:spPr>
          <a:xfrm>
            <a:off x="723900" y="5105400"/>
            <a:ext cx="1524000" cy="152400"/>
          </a:xfrm>
          <a:custGeom>
            <a:avLst/>
            <a:gdLst/>
            <a:ahLst/>
            <a:cxnLst/>
            <a:rect l="l" t="t" r="r" b="b"/>
            <a:pathLst>
              <a:path w="1524000" h="152400">
                <a:moveTo>
                  <a:pt x="76200" y="0"/>
                </a:moveTo>
                <a:lnTo>
                  <a:pt x="1447800" y="0"/>
                </a:lnTo>
                <a:cubicBezTo>
                  <a:pt x="1489884" y="0"/>
                  <a:pt x="1524000" y="34116"/>
                  <a:pt x="1524000" y="76200"/>
                </a:cubicBezTo>
                <a:lnTo>
                  <a:pt x="1524000" y="76200"/>
                </a:lnTo>
                <a:cubicBezTo>
                  <a:pt x="1524000" y="118284"/>
                  <a:pt x="1489884" y="152400"/>
                  <a:pt x="1447800" y="152400"/>
                </a:cubicBezTo>
                <a:lnTo>
                  <a:pt x="76200" y="152400"/>
                </a:lnTo>
                <a:cubicBezTo>
                  <a:pt x="34116" y="152400"/>
                  <a:pt x="0" y="118284"/>
                  <a:pt x="0" y="762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5416868" y="5114449"/>
            <a:ext cx="16424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响应时间：2 小时 → 3 分钟</a:t>
            </a:r>
          </a:p>
        </p:txBody>
      </p:sp>
      <p:sp>
        <p:nvSpPr>
          <p:cNvPr id="43" name="Freeform 43"/>
          <p:cNvSpPr/>
          <p:nvPr/>
        </p:nvSpPr>
        <p:spPr>
          <a:xfrm>
            <a:off x="457200" y="5486400"/>
            <a:ext cx="11277600" cy="533400"/>
          </a:xfrm>
          <a:custGeom>
            <a:avLst/>
            <a:gdLst/>
            <a:ahLst/>
            <a:cxnLst/>
            <a:rect l="l" t="t" r="r" b="b"/>
            <a:pathLst>
              <a:path w="11277600" h="5334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476250"/>
                </a:lnTo>
                <a:cubicBezTo>
                  <a:pt x="11277600" y="507813"/>
                  <a:pt x="11252013" y="533400"/>
                  <a:pt x="112204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4517767" y="5593556"/>
            <a:ext cx="31564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RAG 解决"找得到"，GraphRAG 解决"想得通"。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85275" y="5803106"/>
            <a:ext cx="30214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企业级问答必须可追溯，否则没法上生产。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5315" y="658178"/>
            <a:ext cx="346519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五步法：从需求到上线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2342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让 AI 能力变成可复用的企业资产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2019300" cy="533400"/>
          </a:xfrm>
          <a:custGeom>
            <a:avLst/>
            <a:gdLst/>
            <a:ahLst/>
            <a:cxnLst/>
            <a:rect l="l" t="t" r="r" b="b"/>
            <a:pathLst>
              <a:path w="2019300" h="533400">
                <a:moveTo>
                  <a:pt x="266700" y="0"/>
                </a:moveTo>
                <a:lnTo>
                  <a:pt x="1752600" y="0"/>
                </a:lnTo>
                <a:cubicBezTo>
                  <a:pt x="1899894" y="0"/>
                  <a:pt x="2019300" y="119406"/>
                  <a:pt x="2019300" y="266700"/>
                </a:cubicBezTo>
                <a:lnTo>
                  <a:pt x="2019300" y="266700"/>
                </a:lnTo>
                <a:cubicBezTo>
                  <a:pt x="2019300" y="413994"/>
                  <a:pt x="1899894" y="533400"/>
                  <a:pt x="1752600" y="533400"/>
                </a:cubicBezTo>
                <a:lnTo>
                  <a:pt x="266700" y="533400"/>
                </a:lnTo>
                <a:cubicBezTo>
                  <a:pt x="119406" y="533400"/>
                  <a:pt x="0" y="413994"/>
                  <a:pt x="0" y="266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070577" y="15168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① 需求拆解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366" y="1750695"/>
            <a:ext cx="880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AI 接管节点分析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0032" y="15201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1" name="Freeform 11"/>
          <p:cNvSpPr/>
          <p:nvPr/>
        </p:nvSpPr>
        <p:spPr>
          <a:xfrm>
            <a:off x="2762250" y="1409700"/>
            <a:ext cx="2019300" cy="533400"/>
          </a:xfrm>
          <a:custGeom>
            <a:avLst/>
            <a:gdLst/>
            <a:ahLst/>
            <a:cxnLst/>
            <a:rect l="l" t="t" r="r" b="b"/>
            <a:pathLst>
              <a:path w="2019300" h="533400">
                <a:moveTo>
                  <a:pt x="266700" y="0"/>
                </a:moveTo>
                <a:lnTo>
                  <a:pt x="1752600" y="0"/>
                </a:lnTo>
                <a:cubicBezTo>
                  <a:pt x="1899894" y="0"/>
                  <a:pt x="2019300" y="119406"/>
                  <a:pt x="2019300" y="266700"/>
                </a:cubicBezTo>
                <a:lnTo>
                  <a:pt x="2019300" y="266700"/>
                </a:lnTo>
                <a:cubicBezTo>
                  <a:pt x="2019300" y="413994"/>
                  <a:pt x="1899894" y="533400"/>
                  <a:pt x="1752600" y="533400"/>
                </a:cubicBezTo>
                <a:lnTo>
                  <a:pt x="266700" y="533400"/>
                </a:lnTo>
                <a:cubicBezTo>
                  <a:pt x="119406" y="533400"/>
                  <a:pt x="0" y="413994"/>
                  <a:pt x="0" y="266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375627" y="15168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② 知识沉淀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71409" y="1750695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知识库 + 数据管道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45082" y="15201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5" name="Freeform 15"/>
          <p:cNvSpPr/>
          <p:nvPr/>
        </p:nvSpPr>
        <p:spPr>
          <a:xfrm>
            <a:off x="5067300" y="1409700"/>
            <a:ext cx="2019300" cy="533400"/>
          </a:xfrm>
          <a:custGeom>
            <a:avLst/>
            <a:gdLst/>
            <a:ahLst/>
            <a:cxnLst/>
            <a:rect l="l" t="t" r="r" b="b"/>
            <a:pathLst>
              <a:path w="2019300" h="533400">
                <a:moveTo>
                  <a:pt x="266700" y="0"/>
                </a:moveTo>
                <a:lnTo>
                  <a:pt x="1752600" y="0"/>
                </a:lnTo>
                <a:cubicBezTo>
                  <a:pt x="1899894" y="0"/>
                  <a:pt x="2019300" y="119406"/>
                  <a:pt x="2019300" y="266700"/>
                </a:cubicBezTo>
                <a:lnTo>
                  <a:pt x="2019300" y="266700"/>
                </a:lnTo>
                <a:cubicBezTo>
                  <a:pt x="2019300" y="413994"/>
                  <a:pt x="1899894" y="533400"/>
                  <a:pt x="1752600" y="533400"/>
                </a:cubicBezTo>
                <a:lnTo>
                  <a:pt x="266700" y="533400"/>
                </a:lnTo>
                <a:cubicBezTo>
                  <a:pt x="119406" y="533400"/>
                  <a:pt x="0" y="413994"/>
                  <a:pt x="0" y="266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5680677" y="15168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③ 工具集成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5460" y="17506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API + MCP Server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50132" y="15201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19" name="Freeform 19"/>
          <p:cNvSpPr/>
          <p:nvPr/>
        </p:nvSpPr>
        <p:spPr>
          <a:xfrm>
            <a:off x="7372350" y="1409700"/>
            <a:ext cx="2019300" cy="533400"/>
          </a:xfrm>
          <a:custGeom>
            <a:avLst/>
            <a:gdLst/>
            <a:ahLst/>
            <a:cxnLst/>
            <a:rect l="l" t="t" r="r" b="b"/>
            <a:pathLst>
              <a:path w="2019300" h="533400">
                <a:moveTo>
                  <a:pt x="266700" y="0"/>
                </a:moveTo>
                <a:lnTo>
                  <a:pt x="1752600" y="0"/>
                </a:lnTo>
                <a:cubicBezTo>
                  <a:pt x="1899894" y="0"/>
                  <a:pt x="2019300" y="119406"/>
                  <a:pt x="2019300" y="266700"/>
                </a:cubicBezTo>
                <a:lnTo>
                  <a:pt x="2019300" y="266700"/>
                </a:lnTo>
                <a:cubicBezTo>
                  <a:pt x="2019300" y="413994"/>
                  <a:pt x="1899894" y="533400"/>
                  <a:pt x="1752600" y="533400"/>
                </a:cubicBezTo>
                <a:lnTo>
                  <a:pt x="266700" y="533400"/>
                </a:lnTo>
                <a:cubicBezTo>
                  <a:pt x="119406" y="533400"/>
                  <a:pt x="0" y="413994"/>
                  <a:pt x="0" y="266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7985727" y="15168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④ 验证闭环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81509" y="1750695"/>
            <a:ext cx="1000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评测集 + 复核机制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55182" y="1520190"/>
            <a:ext cx="1777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→</a:t>
            </a:r>
          </a:p>
        </p:txBody>
      </p:sp>
      <p:sp>
        <p:nvSpPr>
          <p:cNvPr id="23" name="Freeform 23"/>
          <p:cNvSpPr/>
          <p:nvPr/>
        </p:nvSpPr>
        <p:spPr>
          <a:xfrm>
            <a:off x="9677400" y="1409700"/>
            <a:ext cx="2057400" cy="533400"/>
          </a:xfrm>
          <a:custGeom>
            <a:avLst/>
            <a:gdLst/>
            <a:ahLst/>
            <a:cxnLst/>
            <a:rect l="l" t="t" r="r" b="b"/>
            <a:pathLst>
              <a:path w="2057400" h="533400">
                <a:moveTo>
                  <a:pt x="266700" y="0"/>
                </a:moveTo>
                <a:lnTo>
                  <a:pt x="1790700" y="0"/>
                </a:lnTo>
                <a:cubicBezTo>
                  <a:pt x="1937994" y="0"/>
                  <a:pt x="2057400" y="119406"/>
                  <a:pt x="2057400" y="266700"/>
                </a:cubicBezTo>
                <a:lnTo>
                  <a:pt x="2057400" y="266700"/>
                </a:lnTo>
                <a:cubicBezTo>
                  <a:pt x="2057400" y="413994"/>
                  <a:pt x="1937994" y="533400"/>
                  <a:pt x="1790700" y="533400"/>
                </a:cubicBezTo>
                <a:lnTo>
                  <a:pt x="266700" y="533400"/>
                </a:lnTo>
                <a:cubicBezTo>
                  <a:pt x="119406" y="533400"/>
                  <a:pt x="0" y="413994"/>
                  <a:pt x="0" y="266700"/>
                </a:cubicBezTo>
                <a:lnTo>
                  <a:pt x="0" y="266700"/>
                </a:lnTo>
                <a:cubicBezTo>
                  <a:pt x="0" y="119406"/>
                  <a:pt x="119406" y="0"/>
                  <a:pt x="2667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10309827" y="151685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⑤ 上线运维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96608" y="1750695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日志 + 回滚 + 优化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7200" y="2133600"/>
            <a:ext cx="11277600" cy="381000"/>
          </a:xfrm>
          <a:custGeom>
            <a:avLst/>
            <a:gdLst/>
            <a:ahLst/>
            <a:cxnLst/>
            <a:rect l="l" t="t" r="r" b="b"/>
            <a:pathLst>
              <a:path w="11277600" h="3810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342900"/>
                </a:lnTo>
                <a:cubicBezTo>
                  <a:pt x="11277600" y="363942"/>
                  <a:pt x="11260542" y="381000"/>
                  <a:pt x="112395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756100" y="22759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步骤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48583" y="22759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关键问题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3092" y="227599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交付物</a:t>
            </a:r>
          </a:p>
        </p:txBody>
      </p:sp>
      <p:sp>
        <p:nvSpPr>
          <p:cNvPr id="30" name="Line 30"/>
          <p:cNvSpPr/>
          <p:nvPr/>
        </p:nvSpPr>
        <p:spPr>
          <a:xfrm>
            <a:off x="3429000" y="21336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1"/>
          <p:cNvSpPr/>
          <p:nvPr/>
        </p:nvSpPr>
        <p:spPr>
          <a:xfrm>
            <a:off x="7620000" y="21336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2"/>
          <p:cNvSpPr/>
          <p:nvPr/>
        </p:nvSpPr>
        <p:spPr>
          <a:xfrm>
            <a:off x="457200" y="25146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3"/>
          <p:cNvSpPr/>
          <p:nvPr/>
        </p:nvSpPr>
        <p:spPr>
          <a:xfrm>
            <a:off x="457200" y="2514600"/>
            <a:ext cx="38100" cy="4953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1535145" y="2706052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① 需求拆解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52234" y="2714149"/>
            <a:ext cx="21635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这个流程有哪些可被 AI 接管的环节？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79776" y="2714149"/>
            <a:ext cx="1480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流程图 + Agent 边界定义</a:t>
            </a:r>
          </a:p>
        </p:txBody>
      </p:sp>
      <p:sp>
        <p:nvSpPr>
          <p:cNvPr id="37" name="Freeform 37"/>
          <p:cNvSpPr/>
          <p:nvPr/>
        </p:nvSpPr>
        <p:spPr>
          <a:xfrm>
            <a:off x="457200" y="30480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38"/>
          <p:cNvSpPr/>
          <p:nvPr/>
        </p:nvSpPr>
        <p:spPr>
          <a:xfrm>
            <a:off x="457200" y="3048000"/>
            <a:ext cx="38100" cy="4953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1535145" y="3239452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② 知识沉淀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31769" y="324754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需要知道哪些业务知识？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78051" y="3247549"/>
            <a:ext cx="1084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知识库 + 数据管道</a:t>
            </a:r>
          </a:p>
        </p:txBody>
      </p:sp>
      <p:sp>
        <p:nvSpPr>
          <p:cNvPr id="42" name="Freeform 42"/>
          <p:cNvSpPr/>
          <p:nvPr/>
        </p:nvSpPr>
        <p:spPr>
          <a:xfrm>
            <a:off x="457200" y="35814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43"/>
          <p:cNvSpPr/>
          <p:nvPr/>
        </p:nvSpPr>
        <p:spPr>
          <a:xfrm>
            <a:off x="457200" y="3581400"/>
            <a:ext cx="38100" cy="4953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1535145" y="3772852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③ 工具集成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61785" y="378094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需要调用哪些系统？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938284" y="3780949"/>
            <a:ext cx="13639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API 清单 + MCP Server</a:t>
            </a:r>
          </a:p>
        </p:txBody>
      </p:sp>
      <p:sp>
        <p:nvSpPr>
          <p:cNvPr id="47" name="Freeform 47"/>
          <p:cNvSpPr/>
          <p:nvPr/>
        </p:nvSpPr>
        <p:spPr>
          <a:xfrm>
            <a:off x="457200" y="41148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ectangle 48"/>
          <p:cNvSpPr/>
          <p:nvPr/>
        </p:nvSpPr>
        <p:spPr>
          <a:xfrm>
            <a:off x="457200" y="4114800"/>
            <a:ext cx="38100" cy="4953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Box 49"/>
          <p:cNvSpPr txBox="1"/>
          <p:nvPr/>
        </p:nvSpPr>
        <p:spPr>
          <a:xfrm>
            <a:off x="1535145" y="4306252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④ 验证闭环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07291" y="4314349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怎么知道 AI 做得对？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948035" y="431434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评测集 + 人工复核机制</a:t>
            </a:r>
          </a:p>
        </p:txBody>
      </p:sp>
      <p:sp>
        <p:nvSpPr>
          <p:cNvPr id="52" name="Freeform 52"/>
          <p:cNvSpPr/>
          <p:nvPr/>
        </p:nvSpPr>
        <p:spPr>
          <a:xfrm>
            <a:off x="457200" y="46482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Rectangle 53"/>
          <p:cNvSpPr/>
          <p:nvPr/>
        </p:nvSpPr>
        <p:spPr>
          <a:xfrm>
            <a:off x="457200" y="4648200"/>
            <a:ext cx="38100" cy="4953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Box 54"/>
          <p:cNvSpPr txBox="1"/>
          <p:nvPr/>
        </p:nvSpPr>
        <p:spPr>
          <a:xfrm>
            <a:off x="1535145" y="4839652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⑤ 上线运维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66561" y="48477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出错了怎么办？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938284" y="4847749"/>
            <a:ext cx="13639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日志 + 回滚 + 持续优化</a:t>
            </a:r>
          </a:p>
        </p:txBody>
      </p:sp>
      <p:sp>
        <p:nvSpPr>
          <p:cNvPr id="57" name="Line 57"/>
          <p:cNvSpPr/>
          <p:nvPr/>
        </p:nvSpPr>
        <p:spPr>
          <a:xfrm>
            <a:off x="3429000" y="25146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Line 58"/>
          <p:cNvSpPr/>
          <p:nvPr/>
        </p:nvSpPr>
        <p:spPr>
          <a:xfrm>
            <a:off x="7620000" y="2514600"/>
            <a:ext cx="9525" cy="2628900"/>
          </a:xfrm>
          <a:custGeom>
            <a:avLst/>
            <a:gdLst/>
            <a:ahLst/>
            <a:cxnLst/>
            <a:rect l="l" t="t" r="r" b="b"/>
            <a:pathLst>
              <a:path w="9525" h="2628900">
                <a:moveTo>
                  <a:pt x="0" y="0"/>
                </a:moveTo>
                <a:lnTo>
                  <a:pt x="0" y="26289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59"/>
          <p:cNvSpPr/>
          <p:nvPr/>
        </p:nvSpPr>
        <p:spPr>
          <a:xfrm>
            <a:off x="457200" y="5295900"/>
            <a:ext cx="11277600" cy="609600"/>
          </a:xfrm>
          <a:custGeom>
            <a:avLst/>
            <a:gdLst/>
            <a:ahLst/>
            <a:cxnLst/>
            <a:rect l="l" t="t" r="r" b="b"/>
            <a:pathLst>
              <a:path w="11277600" h="6096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552450"/>
                </a:lnTo>
                <a:cubicBezTo>
                  <a:pt x="11277600" y="584013"/>
                  <a:pt x="11252013" y="609600"/>
                  <a:pt x="11220450" y="609600"/>
                </a:cubicBezTo>
                <a:lnTo>
                  <a:pt x="57150" y="609600"/>
                </a:lnTo>
                <a:cubicBezTo>
                  <a:pt x="25587" y="609600"/>
                  <a:pt x="0" y="584013"/>
                  <a:pt x="0" y="5524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Rectangle 60"/>
          <p:cNvSpPr/>
          <p:nvPr/>
        </p:nvSpPr>
        <p:spPr>
          <a:xfrm>
            <a:off x="457200" y="5295900"/>
            <a:ext cx="57150" cy="609600"/>
          </a:xfrm>
          <a:prstGeom prst="rect">
            <a:avLst/>
          </a:pr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Box 61"/>
          <p:cNvSpPr txBox="1"/>
          <p:nvPr/>
        </p:nvSpPr>
        <p:spPr>
          <a:xfrm>
            <a:off x="709612" y="542210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关键提醒：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09612" y="5669756"/>
            <a:ext cx="58943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没有评测集的 Agent </a:t>
            </a:r>
            <a:r>
              <a:rPr lang="zh-CN" sz="112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不要上线</a:t>
            </a:r>
            <a:r>
              <a:rPr lang="zh-CN" sz="11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。评测集就是 AI 的单元测试 — 第 ④ 步是整个链路的核心。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5315" y="658178"/>
            <a:ext cx="361821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让 AI 能干，但不能乱干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四类风险与四类对策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11277600" cy="381000"/>
          </a:xfrm>
          <a:custGeom>
            <a:avLst/>
            <a:gdLst/>
            <a:ahLst/>
            <a:cxnLst/>
            <a:rect l="l" t="t" r="r" b="b"/>
            <a:pathLst>
              <a:path w="11277600" h="3810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342900"/>
                </a:lnTo>
                <a:cubicBezTo>
                  <a:pt x="11277600" y="363942"/>
                  <a:pt x="11260542" y="381000"/>
                  <a:pt x="112395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333833" y="15520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风险类型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48583" y="15520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典型场景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85600" y="155209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对策</a:t>
            </a:r>
          </a:p>
        </p:txBody>
      </p:sp>
      <p:sp>
        <p:nvSpPr>
          <p:cNvPr id="11" name="Line 11"/>
          <p:cNvSpPr/>
          <p:nvPr/>
        </p:nvSpPr>
        <p:spPr>
          <a:xfrm>
            <a:off x="2667000" y="14097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2"/>
          <p:cNvSpPr/>
          <p:nvPr/>
        </p:nvSpPr>
        <p:spPr>
          <a:xfrm>
            <a:off x="8001000" y="14097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3"/>
          <p:cNvSpPr/>
          <p:nvPr/>
        </p:nvSpPr>
        <p:spPr>
          <a:xfrm>
            <a:off x="457200" y="17907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552450"/>
                </a:lnTo>
                <a:cubicBezTo>
                  <a:pt x="11277600" y="562971"/>
                  <a:pt x="11269071" y="571500"/>
                  <a:pt x="112585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457200" y="1790700"/>
            <a:ext cx="38100" cy="571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5"/>
          <p:cNvSpPr/>
          <p:nvPr/>
        </p:nvSpPr>
        <p:spPr>
          <a:xfrm>
            <a:off x="457200" y="1790700"/>
            <a:ext cx="2209800" cy="5715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311878" y="19250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幻觉风险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17242" y="2028349"/>
            <a:ext cx="20335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编造不存在的接口 / 数据 / 结论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62285" y="202834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知识库约束 + 输出校验</a:t>
            </a:r>
          </a:p>
        </p:txBody>
      </p:sp>
      <p:sp>
        <p:nvSpPr>
          <p:cNvPr id="19" name="Freeform 19"/>
          <p:cNvSpPr/>
          <p:nvPr/>
        </p:nvSpPr>
        <p:spPr>
          <a:xfrm>
            <a:off x="457200" y="24003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552450"/>
                </a:lnTo>
                <a:cubicBezTo>
                  <a:pt x="11277600" y="562971"/>
                  <a:pt x="11269071" y="571500"/>
                  <a:pt x="112585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20"/>
          <p:cNvSpPr/>
          <p:nvPr/>
        </p:nvSpPr>
        <p:spPr>
          <a:xfrm>
            <a:off x="457200" y="2400300"/>
            <a:ext cx="3810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ectangle 21"/>
          <p:cNvSpPr/>
          <p:nvPr/>
        </p:nvSpPr>
        <p:spPr>
          <a:xfrm>
            <a:off x="457200" y="2400300"/>
            <a:ext cx="2209800" cy="5715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Box 22"/>
          <p:cNvSpPr txBox="1"/>
          <p:nvPr/>
        </p:nvSpPr>
        <p:spPr>
          <a:xfrm>
            <a:off x="1311878" y="25346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权限风险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92001" y="2637949"/>
            <a:ext cx="1883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访问越权数据 / 操作越权系统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7277" y="263794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最小权限原则 + 审计日志</a:t>
            </a:r>
          </a:p>
        </p:txBody>
      </p:sp>
      <p:sp>
        <p:nvSpPr>
          <p:cNvPr id="25" name="Freeform 25"/>
          <p:cNvSpPr/>
          <p:nvPr/>
        </p:nvSpPr>
        <p:spPr>
          <a:xfrm>
            <a:off x="457200" y="30099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552450"/>
                </a:lnTo>
                <a:cubicBezTo>
                  <a:pt x="11277600" y="562971"/>
                  <a:pt x="11269071" y="571500"/>
                  <a:pt x="112585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/>
          <p:nvPr/>
        </p:nvSpPr>
        <p:spPr>
          <a:xfrm>
            <a:off x="457200" y="3009900"/>
            <a:ext cx="38100" cy="5715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ctangle 27"/>
          <p:cNvSpPr/>
          <p:nvPr/>
        </p:nvSpPr>
        <p:spPr>
          <a:xfrm>
            <a:off x="457200" y="3009900"/>
            <a:ext cx="2209800" cy="571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311878" y="31442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数据安全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71536" y="32475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敏感数据进入公网模型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62285" y="324754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本地化部署 + 数据脱敏</a:t>
            </a:r>
          </a:p>
        </p:txBody>
      </p:sp>
      <p:sp>
        <p:nvSpPr>
          <p:cNvPr id="31" name="Freeform 31"/>
          <p:cNvSpPr/>
          <p:nvPr/>
        </p:nvSpPr>
        <p:spPr>
          <a:xfrm>
            <a:off x="457200" y="36195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552450"/>
                </a:lnTo>
                <a:cubicBezTo>
                  <a:pt x="11277600" y="562971"/>
                  <a:pt x="11269071" y="571500"/>
                  <a:pt x="112585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Rectangle 32"/>
          <p:cNvSpPr/>
          <p:nvPr/>
        </p:nvSpPr>
        <p:spPr>
          <a:xfrm>
            <a:off x="457200" y="3619500"/>
            <a:ext cx="38100" cy="5715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3"/>
          <p:cNvSpPr/>
          <p:nvPr/>
        </p:nvSpPr>
        <p:spPr>
          <a:xfrm>
            <a:off x="457200" y="3619500"/>
            <a:ext cx="2209800" cy="571500"/>
          </a:xfrm>
          <a:prstGeom prst="rect">
            <a:avLst/>
          </a:prstGeom>
          <a:solidFill>
            <a:srgbClr val="FFF4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1311878" y="37538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决策风险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96777" y="385714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AI 自动做出关键业务决策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27293" y="385714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人工复核 + 双人审批</a:t>
            </a:r>
          </a:p>
        </p:txBody>
      </p:sp>
      <p:sp>
        <p:nvSpPr>
          <p:cNvPr id="37" name="Line 37"/>
          <p:cNvSpPr/>
          <p:nvPr/>
        </p:nvSpPr>
        <p:spPr>
          <a:xfrm>
            <a:off x="2667000" y="1790700"/>
            <a:ext cx="9525" cy="2400300"/>
          </a:xfrm>
          <a:custGeom>
            <a:avLst/>
            <a:gdLst/>
            <a:ahLst/>
            <a:cxnLst/>
            <a:rect l="l" t="t" r="r" b="b"/>
            <a:pathLst>
              <a:path w="9525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8"/>
          <p:cNvSpPr/>
          <p:nvPr/>
        </p:nvSpPr>
        <p:spPr>
          <a:xfrm>
            <a:off x="8001000" y="1790700"/>
            <a:ext cx="9525" cy="2400300"/>
          </a:xfrm>
          <a:custGeom>
            <a:avLst/>
            <a:gdLst/>
            <a:ahLst/>
            <a:cxnLst/>
            <a:rect l="l" t="t" r="r" b="b"/>
            <a:pathLst>
              <a:path w="9525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442912" y="43553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黄金法则</a:t>
            </a:r>
          </a:p>
        </p:txBody>
      </p:sp>
      <p:sp>
        <p:nvSpPr>
          <p:cNvPr id="40" name="Freeform 40"/>
          <p:cNvSpPr/>
          <p:nvPr/>
        </p:nvSpPr>
        <p:spPr>
          <a:xfrm>
            <a:off x="457200" y="4610100"/>
            <a:ext cx="3600450" cy="685800"/>
          </a:xfrm>
          <a:custGeom>
            <a:avLst/>
            <a:gdLst/>
            <a:ahLst/>
            <a:cxnLst/>
            <a:rect l="l" t="t" r="r" b="b"/>
            <a:pathLst>
              <a:path w="3600450" h="685800">
                <a:moveTo>
                  <a:pt x="38100" y="0"/>
                </a:moveTo>
                <a:lnTo>
                  <a:pt x="3562350" y="0"/>
                </a:lnTo>
                <a:cubicBezTo>
                  <a:pt x="3583392" y="0"/>
                  <a:pt x="3600450" y="17058"/>
                  <a:pt x="3600450" y="38100"/>
                </a:cubicBezTo>
                <a:lnTo>
                  <a:pt x="3600450" y="647700"/>
                </a:lnTo>
                <a:cubicBezTo>
                  <a:pt x="3600450" y="668742"/>
                  <a:pt x="3583392" y="685800"/>
                  <a:pt x="3562350" y="685800"/>
                </a:cubicBezTo>
                <a:lnTo>
                  <a:pt x="38100" y="685800"/>
                </a:lnTo>
                <a:cubicBezTo>
                  <a:pt x="17058" y="685800"/>
                  <a:pt x="0" y="668742"/>
                  <a:pt x="0" y="647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 41"/>
          <p:cNvSpPr/>
          <p:nvPr/>
        </p:nvSpPr>
        <p:spPr>
          <a:xfrm>
            <a:off x="457200" y="4610100"/>
            <a:ext cx="38100" cy="6858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634365" y="4744402"/>
            <a:ext cx="15409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✅ 让 AI 建议，让人决策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5318" y="5000149"/>
            <a:ext cx="1344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AI 输出方案，人类拍板</a:t>
            </a:r>
          </a:p>
        </p:txBody>
      </p:sp>
      <p:sp>
        <p:nvSpPr>
          <p:cNvPr id="44" name="Freeform 44"/>
          <p:cNvSpPr/>
          <p:nvPr/>
        </p:nvSpPr>
        <p:spPr>
          <a:xfrm>
            <a:off x="4305300" y="4610100"/>
            <a:ext cx="3600450" cy="685800"/>
          </a:xfrm>
          <a:custGeom>
            <a:avLst/>
            <a:gdLst/>
            <a:ahLst/>
            <a:cxnLst/>
            <a:rect l="l" t="t" r="r" b="b"/>
            <a:pathLst>
              <a:path w="3600450" h="685800">
                <a:moveTo>
                  <a:pt x="38100" y="0"/>
                </a:moveTo>
                <a:lnTo>
                  <a:pt x="3562350" y="0"/>
                </a:lnTo>
                <a:cubicBezTo>
                  <a:pt x="3583392" y="0"/>
                  <a:pt x="3600450" y="17058"/>
                  <a:pt x="3600450" y="38100"/>
                </a:cubicBezTo>
                <a:lnTo>
                  <a:pt x="3600450" y="647700"/>
                </a:lnTo>
                <a:cubicBezTo>
                  <a:pt x="3600450" y="668742"/>
                  <a:pt x="3583392" y="685800"/>
                  <a:pt x="3562350" y="685800"/>
                </a:cubicBezTo>
                <a:lnTo>
                  <a:pt x="38100" y="685800"/>
                </a:lnTo>
                <a:cubicBezTo>
                  <a:pt x="17058" y="685800"/>
                  <a:pt x="0" y="668742"/>
                  <a:pt x="0" y="647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 45"/>
          <p:cNvSpPr/>
          <p:nvPr/>
        </p:nvSpPr>
        <p:spPr>
          <a:xfrm>
            <a:off x="4305300" y="4610100"/>
            <a:ext cx="38100" cy="6858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4482465" y="4744402"/>
            <a:ext cx="15409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✅ 让 AI 起草，让人签发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483418" y="500014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AI 负责草稿，人负责质量</a:t>
            </a:r>
          </a:p>
        </p:txBody>
      </p:sp>
      <p:sp>
        <p:nvSpPr>
          <p:cNvPr id="48" name="Freeform 48"/>
          <p:cNvSpPr/>
          <p:nvPr/>
        </p:nvSpPr>
        <p:spPr>
          <a:xfrm>
            <a:off x="8153400" y="4610100"/>
            <a:ext cx="3581400" cy="685800"/>
          </a:xfrm>
          <a:custGeom>
            <a:avLst/>
            <a:gdLst/>
            <a:ahLst/>
            <a:cxnLst/>
            <a:rect l="l" t="t" r="r" b="b"/>
            <a:pathLst>
              <a:path w="3581400" h="685800">
                <a:moveTo>
                  <a:pt x="38100" y="0"/>
                </a:moveTo>
                <a:lnTo>
                  <a:pt x="3543300" y="0"/>
                </a:lnTo>
                <a:cubicBezTo>
                  <a:pt x="3564342" y="0"/>
                  <a:pt x="3581400" y="17058"/>
                  <a:pt x="3581400" y="38100"/>
                </a:cubicBezTo>
                <a:lnTo>
                  <a:pt x="3581400" y="647700"/>
                </a:lnTo>
                <a:cubicBezTo>
                  <a:pt x="3581400" y="668742"/>
                  <a:pt x="3564342" y="685800"/>
                  <a:pt x="3543300" y="685800"/>
                </a:cubicBezTo>
                <a:lnTo>
                  <a:pt x="38100" y="685800"/>
                </a:lnTo>
                <a:cubicBezTo>
                  <a:pt x="17058" y="685800"/>
                  <a:pt x="0" y="668742"/>
                  <a:pt x="0" y="647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49"/>
          <p:cNvSpPr/>
          <p:nvPr/>
        </p:nvSpPr>
        <p:spPr>
          <a:xfrm>
            <a:off x="8153400" y="4610100"/>
            <a:ext cx="38100" cy="6858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8330565" y="47444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✅ AI 执行可逆操作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31518" y="50001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不可逆操作必须人工确认</a:t>
            </a:r>
          </a:p>
        </p:txBody>
      </p:sp>
      <p:sp>
        <p:nvSpPr>
          <p:cNvPr id="52" name="Freeform 52"/>
          <p:cNvSpPr/>
          <p:nvPr/>
        </p:nvSpPr>
        <p:spPr>
          <a:xfrm>
            <a:off x="457200" y="54483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457200"/>
                </a:lnTo>
                <a:cubicBezTo>
                  <a:pt x="11277600" y="478242"/>
                  <a:pt x="11260542" y="495300"/>
                  <a:pt x="11239500" y="495300"/>
                </a:cubicBezTo>
                <a:lnTo>
                  <a:pt x="38100" y="495300"/>
                </a:lnTo>
                <a:cubicBezTo>
                  <a:pt x="17058" y="495300"/>
                  <a:pt x="0" y="478242"/>
                  <a:pt x="0" y="4572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Box 53"/>
          <p:cNvSpPr txBox="1"/>
          <p:nvPr/>
        </p:nvSpPr>
        <p:spPr>
          <a:xfrm>
            <a:off x="4447961" y="5582602"/>
            <a:ext cx="32960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一个能落地的 AI 项目：技术占 50%，</a:t>
            </a:r>
            <a:r>
              <a:rPr lang="zh-CN" sz="105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边界设计</a:t>
            </a:r>
            <a:r>
              <a:rPr lang="zh-CN" sz="1050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占 50%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7220" y="674370"/>
            <a:ext cx="39494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AI 原生时代的三种关键角色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2134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未来 5 年最有价值的人才画像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2609850"/>
                </a:lnTo>
                <a:cubicBezTo>
                  <a:pt x="3524250" y="2641413"/>
                  <a:pt x="3498663" y="2667000"/>
                  <a:pt x="3467100" y="2667000"/>
                </a:cubicBezTo>
                <a:lnTo>
                  <a:pt x="57150" y="2667000"/>
                </a:lnTo>
                <a:cubicBezTo>
                  <a:pt x="25587" y="2667000"/>
                  <a:pt x="0" y="2641413"/>
                  <a:pt x="0" y="2609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>
          <a:xfrm>
            <a:off x="457200" y="1409700"/>
            <a:ext cx="3524250" cy="495300"/>
          </a:xfrm>
          <a:custGeom>
            <a:avLst/>
            <a:gdLst/>
            <a:ahLst/>
            <a:cxnLst/>
            <a:rect l="l" t="t" r="r" b="b"/>
            <a:pathLst>
              <a:path w="3524250" h="49530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438150"/>
                </a:lnTo>
                <a:cubicBezTo>
                  <a:pt x="3524250" y="469713"/>
                  <a:pt x="3498663" y="495300"/>
                  <a:pt x="34671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540597" y="15878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业务流程再造师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5569" y="1818799"/>
            <a:ext cx="20075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Business Process Reengineering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25955" y="21917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核心任务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2599" y="2447449"/>
            <a:ext cx="15134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找出哪些环节值得 AI 接管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25955" y="27822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关键能力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2118" y="303799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流程洞察 + 价值评估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8619" y="3228499"/>
            <a:ext cx="12014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ROI 计算 + 变革管理</a:t>
            </a:r>
          </a:p>
        </p:txBody>
      </p:sp>
      <p:sp>
        <p:nvSpPr>
          <p:cNvPr id="16" name="Freeform 16"/>
          <p:cNvSpPr/>
          <p:nvPr/>
        </p:nvSpPr>
        <p:spPr>
          <a:xfrm>
            <a:off x="838200" y="3790950"/>
            <a:ext cx="2667000" cy="190500"/>
          </a:xfrm>
          <a:custGeom>
            <a:avLst/>
            <a:gdLst/>
            <a:ahLst/>
            <a:cxnLst/>
            <a:rect l="l" t="t" r="r" b="b"/>
            <a:pathLst>
              <a:path w="2667000" h="190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95250"/>
                </a:lnTo>
                <a:cubicBezTo>
                  <a:pt x="2667000" y="147855"/>
                  <a:pt x="2624355" y="190500"/>
                  <a:pt x="2571750" y="190500"/>
                </a:cubicBezTo>
                <a:lnTo>
                  <a:pt x="95250" y="190500"/>
                </a:lnTo>
                <a:cubicBezTo>
                  <a:pt x="42645" y="190500"/>
                  <a:pt x="0" y="147855"/>
                  <a:pt x="0" y="9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04AAC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1703832" y="3836670"/>
            <a:ext cx="10309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最懂业务的那个人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33875" y="14097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2609850"/>
                </a:lnTo>
                <a:cubicBezTo>
                  <a:pt x="3524250" y="2641413"/>
                  <a:pt x="3498663" y="2667000"/>
                  <a:pt x="3467100" y="2667000"/>
                </a:cubicBezTo>
                <a:lnTo>
                  <a:pt x="57150" y="2667000"/>
                </a:lnTo>
                <a:cubicBezTo>
                  <a:pt x="25587" y="2667000"/>
                  <a:pt x="0" y="2641413"/>
                  <a:pt x="0" y="2609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9"/>
          <p:cNvSpPr/>
          <p:nvPr/>
        </p:nvSpPr>
        <p:spPr>
          <a:xfrm>
            <a:off x="4333875" y="1409700"/>
            <a:ext cx="3524250" cy="495300"/>
          </a:xfrm>
          <a:custGeom>
            <a:avLst/>
            <a:gdLst/>
            <a:ahLst/>
            <a:cxnLst/>
            <a:rect l="l" t="t" r="r" b="b"/>
            <a:pathLst>
              <a:path w="3524250" h="49530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438150"/>
                </a:lnTo>
                <a:cubicBezTo>
                  <a:pt x="3524250" y="469713"/>
                  <a:pt x="3498663" y="495300"/>
                  <a:pt x="34671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5511784" y="15878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智能体架构师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79805" y="181879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Agent Architect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02630" y="21917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核心任务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45775" y="2447449"/>
            <a:ext cx="1500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设计 Agent 的三要素结构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02630" y="27822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关键能力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3769" y="303799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规划框架选择 + 工具集设计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93569" y="32284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反思机制实现</a:t>
            </a:r>
          </a:p>
        </p:txBody>
      </p:sp>
      <p:sp>
        <p:nvSpPr>
          <p:cNvPr id="27" name="Freeform 27"/>
          <p:cNvSpPr/>
          <p:nvPr/>
        </p:nvSpPr>
        <p:spPr>
          <a:xfrm>
            <a:off x="4714875" y="3790950"/>
            <a:ext cx="2667000" cy="190500"/>
          </a:xfrm>
          <a:custGeom>
            <a:avLst/>
            <a:gdLst/>
            <a:ahLst/>
            <a:cxnLst/>
            <a:rect l="l" t="t" r="r" b="b"/>
            <a:pathLst>
              <a:path w="2667000" h="190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95250"/>
                </a:lnTo>
                <a:cubicBezTo>
                  <a:pt x="2667000" y="147855"/>
                  <a:pt x="2624355" y="190500"/>
                  <a:pt x="2571750" y="190500"/>
                </a:cubicBezTo>
                <a:lnTo>
                  <a:pt x="95250" y="190500"/>
                </a:lnTo>
                <a:cubicBezTo>
                  <a:pt x="42645" y="190500"/>
                  <a:pt x="0" y="147855"/>
                  <a:pt x="0" y="9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AE41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5489146" y="3836670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最懂 AI 技术的那个人</a:t>
            </a:r>
          </a:p>
        </p:txBody>
      </p:sp>
      <p:sp>
        <p:nvSpPr>
          <p:cNvPr id="29" name="Freeform 29"/>
          <p:cNvSpPr/>
          <p:nvPr/>
        </p:nvSpPr>
        <p:spPr>
          <a:xfrm>
            <a:off x="8210550" y="1409700"/>
            <a:ext cx="3524250" cy="2667000"/>
          </a:xfrm>
          <a:custGeom>
            <a:avLst/>
            <a:gdLst/>
            <a:ahLst/>
            <a:cxnLst/>
            <a:rect l="l" t="t" r="r" b="b"/>
            <a:pathLst>
              <a:path w="3524250" h="266700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2609850"/>
                </a:lnTo>
                <a:cubicBezTo>
                  <a:pt x="3524250" y="2641413"/>
                  <a:pt x="3498663" y="2667000"/>
                  <a:pt x="3467100" y="2667000"/>
                </a:cubicBezTo>
                <a:lnTo>
                  <a:pt x="57150" y="2667000"/>
                </a:lnTo>
                <a:cubicBezTo>
                  <a:pt x="25587" y="2667000"/>
                  <a:pt x="0" y="2641413"/>
                  <a:pt x="0" y="2609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30"/>
          <p:cNvSpPr/>
          <p:nvPr/>
        </p:nvSpPr>
        <p:spPr>
          <a:xfrm>
            <a:off x="8210550" y="1409700"/>
            <a:ext cx="3524250" cy="495300"/>
          </a:xfrm>
          <a:custGeom>
            <a:avLst/>
            <a:gdLst/>
            <a:ahLst/>
            <a:cxnLst/>
            <a:rect l="l" t="t" r="r" b="b"/>
            <a:pathLst>
              <a:path w="3524250" h="495300">
                <a:moveTo>
                  <a:pt x="57150" y="0"/>
                </a:moveTo>
                <a:lnTo>
                  <a:pt x="3467100" y="0"/>
                </a:lnTo>
                <a:cubicBezTo>
                  <a:pt x="3498663" y="0"/>
                  <a:pt x="3524250" y="25587"/>
                  <a:pt x="3524250" y="57150"/>
                </a:cubicBezTo>
                <a:lnTo>
                  <a:pt x="3524250" y="438150"/>
                </a:lnTo>
                <a:cubicBezTo>
                  <a:pt x="3524250" y="469713"/>
                  <a:pt x="3498663" y="495300"/>
                  <a:pt x="346710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31"/>
          <p:cNvSpPr txBox="1"/>
          <p:nvPr/>
        </p:nvSpPr>
        <p:spPr>
          <a:xfrm>
            <a:off x="9482971" y="15878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生态调度者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63943" y="1818799"/>
            <a:ext cx="16174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Ecosystem Orchestrator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79305" y="21917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核心任务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30676" y="2447449"/>
            <a:ext cx="18839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选对模型 · 选对工具 · 选对场景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679305" y="27822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关键能力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35452" y="3037999"/>
            <a:ext cx="14744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模型能力图谱 + 成本意识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70244" y="32284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生态动态追踪</a:t>
            </a:r>
          </a:p>
        </p:txBody>
      </p:sp>
      <p:sp>
        <p:nvSpPr>
          <p:cNvPr id="38" name="Freeform 38"/>
          <p:cNvSpPr/>
          <p:nvPr/>
        </p:nvSpPr>
        <p:spPr>
          <a:xfrm>
            <a:off x="8591550" y="3790950"/>
            <a:ext cx="2667000" cy="190500"/>
          </a:xfrm>
          <a:custGeom>
            <a:avLst/>
            <a:gdLst/>
            <a:ahLst/>
            <a:cxnLst/>
            <a:rect l="l" t="t" r="r" b="b"/>
            <a:pathLst>
              <a:path w="2667000" h="190500">
                <a:moveTo>
                  <a:pt x="95250" y="0"/>
                </a:moveTo>
                <a:lnTo>
                  <a:pt x="2571750" y="0"/>
                </a:lnTo>
                <a:cubicBezTo>
                  <a:pt x="2624355" y="0"/>
                  <a:pt x="2667000" y="42645"/>
                  <a:pt x="2667000" y="95250"/>
                </a:cubicBezTo>
                <a:lnTo>
                  <a:pt x="2667000" y="95250"/>
                </a:lnTo>
                <a:cubicBezTo>
                  <a:pt x="2667000" y="147855"/>
                  <a:pt x="2624355" y="190500"/>
                  <a:pt x="2571750" y="190500"/>
                </a:cubicBezTo>
                <a:lnTo>
                  <a:pt x="95250" y="190500"/>
                </a:lnTo>
                <a:cubicBezTo>
                  <a:pt x="42645" y="190500"/>
                  <a:pt x="0" y="147855"/>
                  <a:pt x="0" y="9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7E51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9331166" y="3836670"/>
            <a:ext cx="1283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最懂生态全局的那个人</a:t>
            </a:r>
          </a:p>
        </p:txBody>
      </p:sp>
      <p:sp>
        <p:nvSpPr>
          <p:cNvPr id="40" name="Freeform 40"/>
          <p:cNvSpPr/>
          <p:nvPr/>
        </p:nvSpPr>
        <p:spPr>
          <a:xfrm>
            <a:off x="457200" y="4305300"/>
            <a:ext cx="5334000" cy="685800"/>
          </a:xfrm>
          <a:custGeom>
            <a:avLst/>
            <a:gdLst/>
            <a:ahLst/>
            <a:cxnLst/>
            <a:rect l="l" t="t" r="r" b="b"/>
            <a:pathLst>
              <a:path w="5334000" h="6858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628650"/>
                </a:lnTo>
                <a:cubicBezTo>
                  <a:pt x="5334000" y="660213"/>
                  <a:pt x="5308413" y="685800"/>
                  <a:pt x="5276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41"/>
          <p:cNvSpPr/>
          <p:nvPr/>
        </p:nvSpPr>
        <p:spPr>
          <a:xfrm>
            <a:off x="457200" y="43053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2671715" y="4493895"/>
            <a:ext cx="9049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核心竞争力公式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87177" y="4714399"/>
            <a:ext cx="22740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流程再造 × 技术生态调度 × 智能体架构</a:t>
            </a:r>
          </a:p>
        </p:txBody>
      </p:sp>
      <p:sp>
        <p:nvSpPr>
          <p:cNvPr id="44" name="Freeform 44"/>
          <p:cNvSpPr/>
          <p:nvPr/>
        </p:nvSpPr>
        <p:spPr>
          <a:xfrm>
            <a:off x="6400800" y="4305300"/>
            <a:ext cx="5334000" cy="685800"/>
          </a:xfrm>
          <a:custGeom>
            <a:avLst/>
            <a:gdLst/>
            <a:ahLst/>
            <a:cxnLst/>
            <a:rect l="l" t="t" r="r" b="b"/>
            <a:pathLst>
              <a:path w="5334000" h="6858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628650"/>
                </a:lnTo>
                <a:cubicBezTo>
                  <a:pt x="5334000" y="660213"/>
                  <a:pt x="5308413" y="685800"/>
                  <a:pt x="5276850" y="685800"/>
                </a:cubicBezTo>
                <a:lnTo>
                  <a:pt x="57150" y="685800"/>
                </a:lnTo>
                <a:cubicBezTo>
                  <a:pt x="25587" y="685800"/>
                  <a:pt x="0" y="660213"/>
                  <a:pt x="0" y="628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04AAC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ectangle 45"/>
          <p:cNvSpPr/>
          <p:nvPr/>
        </p:nvSpPr>
        <p:spPr>
          <a:xfrm>
            <a:off x="6400800" y="4305300"/>
            <a:ext cx="38100" cy="6858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Box 46"/>
          <p:cNvSpPr txBox="1"/>
          <p:nvPr/>
        </p:nvSpPr>
        <p:spPr>
          <a:xfrm>
            <a:off x="8741331" y="447484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新效率公式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80496" y="4695349"/>
            <a:ext cx="27746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( 流程洞察 / 复杂度 ) × 生态调度力 × 智能密度</a:t>
            </a:r>
          </a:p>
        </p:txBody>
      </p:sp>
      <p:sp>
        <p:nvSpPr>
          <p:cNvPr id="48" name="Freeform 48"/>
          <p:cNvSpPr/>
          <p:nvPr/>
        </p:nvSpPr>
        <p:spPr>
          <a:xfrm>
            <a:off x="457200" y="51435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457200"/>
                </a:lnTo>
                <a:cubicBezTo>
                  <a:pt x="11277600" y="478242"/>
                  <a:pt x="11260542" y="495300"/>
                  <a:pt x="11239500" y="495300"/>
                </a:cubicBezTo>
                <a:lnTo>
                  <a:pt x="38100" y="495300"/>
                </a:lnTo>
                <a:cubicBezTo>
                  <a:pt x="17058" y="495300"/>
                  <a:pt x="0" y="478242"/>
                  <a:pt x="0" y="4572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8E7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ectangle 49"/>
          <p:cNvSpPr/>
          <p:nvPr/>
        </p:nvSpPr>
        <p:spPr>
          <a:xfrm>
            <a:off x="457200" y="5143500"/>
            <a:ext cx="38100" cy="4953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710565" y="525875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注意是"乘法"，不是"加法"。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10565" y="5449252"/>
            <a:ext cx="48292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任何一项是 0，整体效率就是 0 — 这就是为什么很多 AI 项目投入大、回报低。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542925"/>
            <a:ext cx="12192000" cy="5895975"/>
          </a:xfrm>
          <a:prstGeom prst="rect">
            <a:avLst/>
          </a:pr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45770" y="6570345"/>
            <a:ext cx="17330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A7570"/>
                </a:solidFill>
                <a:latin typeface="Calibri"/>
                <a:ea typeface="Microsoft YaHei"/>
                <a:cs typeface="Calibri"/>
              </a:rPr>
              <a:t>AI Deep Player — DXC Tech Talk</a:t>
            </a:r>
          </a:p>
        </p:txBody>
      </p:sp>
      <p:sp>
        <p:nvSpPr>
          <p:cNvPr id="4" name="Freeform 4"/>
          <p:cNvSpPr/>
          <p:nvPr/>
        </p:nvSpPr>
        <p:spPr>
          <a:xfrm>
            <a:off x="457200" y="6477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19050" y="0"/>
                </a:moveTo>
                <a:lnTo>
                  <a:pt x="38100" y="0"/>
                </a:lnTo>
                <a:cubicBezTo>
                  <a:pt x="48621" y="0"/>
                  <a:pt x="57150" y="8529"/>
                  <a:pt x="57150" y="19050"/>
                </a:cubicBezTo>
                <a:lnTo>
                  <a:pt x="57150" y="438150"/>
                </a:lnTo>
                <a:cubicBezTo>
                  <a:pt x="57150" y="448671"/>
                  <a:pt x="48621" y="457200"/>
                  <a:pt x="38100" y="457200"/>
                </a:cubicBezTo>
                <a:lnTo>
                  <a:pt x="19050" y="457200"/>
                </a:lnTo>
                <a:cubicBezTo>
                  <a:pt x="8529" y="457200"/>
                  <a:pt x="0" y="448671"/>
                  <a:pt x="0" y="438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5"/>
          <p:cNvSpPr txBox="1"/>
          <p:nvPr/>
        </p:nvSpPr>
        <p:spPr>
          <a:xfrm>
            <a:off x="619125" y="690562"/>
            <a:ext cx="50977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0E1020"/>
                </a:solidFill>
                <a:latin typeface="Calibri Light"/>
                <a:ea typeface="Microsoft YaHei"/>
                <a:cs typeface="Calibri Light"/>
              </a:rPr>
              <a:t>从"会用 AI"到"会设计 AI 在哪里工作"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" y="1051560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这是一次思维方式的代际升级</a:t>
            </a:r>
          </a:p>
        </p:txBody>
      </p:sp>
      <p:sp>
        <p:nvSpPr>
          <p:cNvPr id="7" name="Freeform 7"/>
          <p:cNvSpPr/>
          <p:nvPr/>
        </p:nvSpPr>
        <p:spPr>
          <a:xfrm>
            <a:off x="457200" y="14097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533400"/>
                </a:lnTo>
                <a:cubicBezTo>
                  <a:pt x="11277600" y="554442"/>
                  <a:pt x="11260542" y="571500"/>
                  <a:pt x="112395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8"/>
          <p:cNvSpPr/>
          <p:nvPr/>
        </p:nvSpPr>
        <p:spPr>
          <a:xfrm>
            <a:off x="457200" y="1409700"/>
            <a:ext cx="5715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47712" y="1545431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3462" y="1545431"/>
            <a:ext cx="15512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AI 的上限不是模型，是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81462" y="1545431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流程适配度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5368" y="1771174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0C4FF"/>
                </a:solidFill>
                <a:latin typeface="Calibri"/>
                <a:ea typeface="Microsoft YaHei"/>
                <a:cs typeface="Calibri"/>
              </a:rPr>
              <a:t>改流程比换模型的 ROI 高 10 倍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200" y="20574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533400"/>
                </a:lnTo>
                <a:cubicBezTo>
                  <a:pt x="11277600" y="554442"/>
                  <a:pt x="11260542" y="571500"/>
                  <a:pt x="112395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4AAC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/>
          <p:nvPr/>
        </p:nvSpPr>
        <p:spPr>
          <a:xfrm>
            <a:off x="457200" y="2057400"/>
            <a:ext cx="5715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747712" y="2193131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3462" y="2193131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智能体的核心不是聪明，是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57712" y="2193131"/>
            <a:ext cx="13359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规划 + 工具 + 反思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5368" y="2418874"/>
            <a:ext cx="25015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没有反思的 Agent，只是一个会犯错的脚本</a:t>
            </a:r>
          </a:p>
        </p:txBody>
      </p:sp>
      <p:sp>
        <p:nvSpPr>
          <p:cNvPr id="19" name="Freeform 19"/>
          <p:cNvSpPr/>
          <p:nvPr/>
        </p:nvSpPr>
        <p:spPr>
          <a:xfrm>
            <a:off x="457200" y="2705100"/>
            <a:ext cx="11277600" cy="571500"/>
          </a:xfrm>
          <a:custGeom>
            <a:avLst/>
            <a:gdLst/>
            <a:ahLst/>
            <a:cxnLst/>
            <a:rect l="l" t="t" r="r" b="b"/>
            <a:pathLst>
              <a:path w="11277600" h="571500">
                <a:moveTo>
                  <a:pt x="38100" y="0"/>
                </a:moveTo>
                <a:lnTo>
                  <a:pt x="11239500" y="0"/>
                </a:lnTo>
                <a:cubicBezTo>
                  <a:pt x="11260542" y="0"/>
                  <a:pt x="11277600" y="17058"/>
                  <a:pt x="11277600" y="38100"/>
                </a:cubicBezTo>
                <a:lnTo>
                  <a:pt x="11277600" y="533400"/>
                </a:lnTo>
                <a:cubicBezTo>
                  <a:pt x="11277600" y="554442"/>
                  <a:pt x="11260542" y="571500"/>
                  <a:pt x="11239500" y="571500"/>
                </a:cubicBezTo>
                <a:lnTo>
                  <a:pt x="38100" y="571500"/>
                </a:lnTo>
                <a:cubicBezTo>
                  <a:pt x="17058" y="571500"/>
                  <a:pt x="0" y="554442"/>
                  <a:pt x="0" y="533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20"/>
          <p:cNvSpPr/>
          <p:nvPr/>
        </p:nvSpPr>
        <p:spPr>
          <a:xfrm>
            <a:off x="457200" y="2705100"/>
            <a:ext cx="57150" cy="5715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747712" y="2840831"/>
            <a:ext cx="115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3462" y="2840831"/>
            <a:ext cx="23988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真正的竞争力不是会写 Prompt，是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10212" y="2840831"/>
            <a:ext cx="12020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设计 AI 的工作位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5368" y="3066574"/>
            <a:ext cx="26640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Calibri"/>
                <a:ea typeface="Microsoft YaHei"/>
                <a:cs typeface="Calibri"/>
              </a:rPr>
              <a:t>成为流程架构师 / 智能体架构师 / 生态调度者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2912" y="34409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行动建议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7200" y="3695700"/>
            <a:ext cx="11277600" cy="342900"/>
          </a:xfrm>
          <a:custGeom>
            <a:avLst/>
            <a:gdLst/>
            <a:ahLst/>
            <a:cxnLst/>
            <a:rect l="l" t="t" r="r" b="b"/>
            <a:pathLst>
              <a:path w="11277600" h="342900">
                <a:moveTo>
                  <a:pt x="28575" y="0"/>
                </a:moveTo>
                <a:lnTo>
                  <a:pt x="11249025" y="0"/>
                </a:lnTo>
                <a:cubicBezTo>
                  <a:pt x="11264807" y="0"/>
                  <a:pt x="11277600" y="12793"/>
                  <a:pt x="11277600" y="28575"/>
                </a:cubicBezTo>
                <a:lnTo>
                  <a:pt x="11277600" y="314325"/>
                </a:lnTo>
                <a:cubicBezTo>
                  <a:pt x="11277600" y="330107"/>
                  <a:pt x="11264807" y="342900"/>
                  <a:pt x="11249025" y="342900"/>
                </a:cubicBezTo>
                <a:lnTo>
                  <a:pt x="28575" y="342900"/>
                </a:lnTo>
                <a:cubicBezTo>
                  <a:pt x="12793" y="342900"/>
                  <a:pt x="0" y="330107"/>
                  <a:pt x="0" y="3143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940118" y="3819049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优先级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35618" y="3819049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行动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50618" y="381904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Calibri"/>
                <a:ea typeface="Microsoft YaHei"/>
                <a:cs typeface="Calibri"/>
              </a:rPr>
              <a:t>时间投入</a:t>
            </a:r>
          </a:p>
        </p:txBody>
      </p:sp>
      <p:sp>
        <p:nvSpPr>
          <p:cNvPr id="30" name="Line 30"/>
          <p:cNvSpPr/>
          <p:nvPr/>
        </p:nvSpPr>
        <p:spPr>
          <a:xfrm>
            <a:off x="1905000" y="36957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ine 31"/>
          <p:cNvSpPr/>
          <p:nvPr/>
        </p:nvSpPr>
        <p:spPr>
          <a:xfrm>
            <a:off x="8001000" y="36957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4762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32"/>
          <p:cNvSpPr/>
          <p:nvPr/>
        </p:nvSpPr>
        <p:spPr>
          <a:xfrm>
            <a:off x="457200" y="40386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Rectangle 33"/>
          <p:cNvSpPr/>
          <p:nvPr/>
        </p:nvSpPr>
        <p:spPr>
          <a:xfrm>
            <a:off x="457200" y="4038600"/>
            <a:ext cx="38100" cy="495300"/>
          </a:xfrm>
          <a:prstGeom prst="rect">
            <a:avLst/>
          </a:prstGeom>
          <a:solidFill>
            <a:srgbClr val="FFAE4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4"/>
          <p:cNvSpPr txBox="1"/>
          <p:nvPr/>
        </p:nvSpPr>
        <p:spPr>
          <a:xfrm>
            <a:off x="729664" y="4230052"/>
            <a:ext cx="4456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860B"/>
                </a:solidFill>
                <a:latin typeface="Calibri"/>
                <a:ea typeface="Microsoft YaHei"/>
                <a:cs typeface="Calibri"/>
              </a:rPr>
              <a:t>🥇 本月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66039" y="4230052"/>
            <a:ext cx="20499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选一个高频流程，画出 AI 接管点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31140" y="4230052"/>
            <a:ext cx="425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2 小时</a:t>
            </a:r>
          </a:p>
        </p:txBody>
      </p:sp>
      <p:sp>
        <p:nvSpPr>
          <p:cNvPr id="37" name="Freeform 37"/>
          <p:cNvSpPr/>
          <p:nvPr/>
        </p:nvSpPr>
        <p:spPr>
          <a:xfrm>
            <a:off x="457200" y="45720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6F3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38"/>
          <p:cNvSpPr/>
          <p:nvPr/>
        </p:nvSpPr>
        <p:spPr>
          <a:xfrm>
            <a:off x="457200" y="4572000"/>
            <a:ext cx="38100" cy="495300"/>
          </a:xfrm>
          <a:prstGeom prst="rect">
            <a:avLst/>
          </a:prstGeom>
          <a:solidFill>
            <a:srgbClr val="004AA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729664" y="4763452"/>
            <a:ext cx="4456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4AAC"/>
                </a:solidFill>
                <a:latin typeface="Calibri"/>
                <a:ea typeface="Microsoft YaHei"/>
                <a:cs typeface="Calibri"/>
              </a:rPr>
              <a:t>🥈 本季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54025" y="4763452"/>
            <a:ext cx="22739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落地一个端到端 Agent（含评测集）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924139" y="4763452"/>
            <a:ext cx="439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2–4 周</a:t>
            </a:r>
          </a:p>
        </p:txBody>
      </p:sp>
      <p:sp>
        <p:nvSpPr>
          <p:cNvPr id="42" name="Freeform 42"/>
          <p:cNvSpPr/>
          <p:nvPr/>
        </p:nvSpPr>
        <p:spPr>
          <a:xfrm>
            <a:off x="457200" y="5105400"/>
            <a:ext cx="11277600" cy="495300"/>
          </a:xfrm>
          <a:custGeom>
            <a:avLst/>
            <a:gdLst/>
            <a:ahLst/>
            <a:cxnLst/>
            <a:rect l="l" t="t" r="r" b="b"/>
            <a:pathLst>
              <a:path w="11277600" h="495300">
                <a:moveTo>
                  <a:pt x="19050" y="0"/>
                </a:moveTo>
                <a:lnTo>
                  <a:pt x="11258550" y="0"/>
                </a:lnTo>
                <a:cubicBezTo>
                  <a:pt x="11269071" y="0"/>
                  <a:pt x="11277600" y="8529"/>
                  <a:pt x="11277600" y="19050"/>
                </a:cubicBezTo>
                <a:lnTo>
                  <a:pt x="11277600" y="476250"/>
                </a:lnTo>
                <a:cubicBezTo>
                  <a:pt x="11277600" y="486771"/>
                  <a:pt x="11269071" y="495300"/>
                  <a:pt x="11258550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43"/>
          <p:cNvSpPr/>
          <p:nvPr/>
        </p:nvSpPr>
        <p:spPr>
          <a:xfrm>
            <a:off x="457200" y="5105400"/>
            <a:ext cx="38100" cy="495300"/>
          </a:xfrm>
          <a:prstGeom prst="rect">
            <a:avLst/>
          </a:prstGeom>
          <a:solidFill>
            <a:srgbClr val="FF7E51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Box 44"/>
          <p:cNvSpPr txBox="1"/>
          <p:nvPr/>
        </p:nvSpPr>
        <p:spPr>
          <a:xfrm>
            <a:off x="729664" y="5296852"/>
            <a:ext cx="4456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392B"/>
                </a:solidFill>
                <a:latin typeface="Calibri"/>
                <a:ea typeface="Microsoft YaHei"/>
                <a:cs typeface="Calibri"/>
              </a:rPr>
              <a:t>🥉 本年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166039" y="5296852"/>
            <a:ext cx="20499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E1020"/>
                </a:solidFill>
                <a:latin typeface="Calibri"/>
                <a:ea typeface="Microsoft YaHei"/>
                <a:cs typeface="Calibri"/>
              </a:rPr>
              <a:t>推动团队建立 AI 原生工作流标准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990648" y="5296852"/>
            <a:ext cx="3067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Calibri"/>
                <a:ea typeface="Microsoft YaHei"/>
                <a:cs typeface="Calibri"/>
              </a:rPr>
              <a:t>持续</a:t>
            </a:r>
          </a:p>
        </p:txBody>
      </p:sp>
      <p:sp>
        <p:nvSpPr>
          <p:cNvPr id="47" name="Line 47"/>
          <p:cNvSpPr/>
          <p:nvPr/>
        </p:nvSpPr>
        <p:spPr>
          <a:xfrm>
            <a:off x="1905000" y="4038600"/>
            <a:ext cx="9525" cy="1562100"/>
          </a:xfrm>
          <a:custGeom>
            <a:avLst/>
            <a:gdLst/>
            <a:ahLst/>
            <a:cxnLst/>
            <a:rect l="l" t="t" r="r" b="b"/>
            <a:pathLst>
              <a:path w="952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Line 48"/>
          <p:cNvSpPr/>
          <p:nvPr/>
        </p:nvSpPr>
        <p:spPr>
          <a:xfrm>
            <a:off x="8001000" y="4038600"/>
            <a:ext cx="9525" cy="1562100"/>
          </a:xfrm>
          <a:custGeom>
            <a:avLst/>
            <a:gdLst/>
            <a:ahLst/>
            <a:cxnLst/>
            <a:rect l="l" t="t" r="r" b="b"/>
            <a:pathLst>
              <a:path w="952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/>
          <a:ln w="9525">
            <a:solidFill>
              <a:srgbClr val="E8E4E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49"/>
          <p:cNvSpPr/>
          <p:nvPr/>
        </p:nvSpPr>
        <p:spPr>
          <a:xfrm>
            <a:off x="457200" y="5715000"/>
            <a:ext cx="11277600" cy="533400"/>
          </a:xfrm>
          <a:custGeom>
            <a:avLst/>
            <a:gdLst/>
            <a:ahLst/>
            <a:cxnLst/>
            <a:rect l="l" t="t" r="r" b="b"/>
            <a:pathLst>
              <a:path w="11277600" h="533400">
                <a:moveTo>
                  <a:pt x="57150" y="0"/>
                </a:moveTo>
                <a:lnTo>
                  <a:pt x="11220450" y="0"/>
                </a:lnTo>
                <a:cubicBezTo>
                  <a:pt x="11252013" y="0"/>
                  <a:pt x="11277600" y="25587"/>
                  <a:pt x="11277600" y="57150"/>
                </a:cubicBezTo>
                <a:lnTo>
                  <a:pt x="11277600" y="476250"/>
                </a:lnTo>
                <a:cubicBezTo>
                  <a:pt x="11277600" y="507813"/>
                  <a:pt x="11252013" y="533400"/>
                  <a:pt x="11220450" y="533400"/>
                </a:cubicBezTo>
                <a:lnTo>
                  <a:pt x="57150" y="533400"/>
                </a:lnTo>
                <a:cubicBezTo>
                  <a:pt x="25587" y="533400"/>
                  <a:pt x="0" y="507813"/>
                  <a:pt x="0" y="476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E102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Box 50"/>
          <p:cNvSpPr txBox="1"/>
          <p:nvPr/>
        </p:nvSpPr>
        <p:spPr>
          <a:xfrm>
            <a:off x="5106436" y="5805964"/>
            <a:ext cx="197912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未来不属于会用 AI 的人，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32939" y="6015514"/>
            <a:ext cx="332612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AE41"/>
                </a:solidFill>
                <a:latin typeface="Calibri"/>
                <a:ea typeface="Microsoft YaHei"/>
                <a:cs typeface="Calibri"/>
              </a:rPr>
              <a:t>而属于能设计 AI 在哪里、如何工作的人。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003208"/>
      </p:ext>
    </p:extLst>
  </p:cSld>
  <p:clrMapOvr>
    <a:masterClrMapping/>
  </p:clrMapOvr>
</p:sld>
</file>

<file path=ppt/theme/theme1.xml><?xml version="1.0" encoding="utf-8"?>
<a:theme xmlns:a="http://schemas.openxmlformats.org/drawingml/2006/main" name="DXC">
  <a:themeElements>
    <a:clrScheme name="DXC New Brand">
      <a:dk1>
        <a:srgbClr val="0E1020"/>
      </a:dk1>
      <a:lt1>
        <a:sysClr val="window" lastClr="FFFFFF"/>
      </a:lt1>
      <a:dk2>
        <a:srgbClr val="FFC982"/>
      </a:dk2>
      <a:lt2>
        <a:srgbClr val="F6F3F0"/>
      </a:lt2>
      <a:accent1>
        <a:srgbClr val="FFAE41"/>
      </a:accent1>
      <a:accent2>
        <a:srgbClr val="FF7E51"/>
      </a:accent2>
      <a:accent3>
        <a:srgbClr val="D14600"/>
      </a:accent3>
      <a:accent4>
        <a:srgbClr val="004AAC"/>
      </a:accent4>
      <a:accent5>
        <a:srgbClr val="4995FF"/>
      </a:accent5>
      <a:accent6>
        <a:srgbClr val="A1E6FF"/>
      </a:accent6>
      <a:hlink>
        <a:srgbClr val="0E1020"/>
      </a:hlink>
      <a:folHlink>
        <a:srgbClr val="0E102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1600" dirty="0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template" id="{372C5D99-EAAE-4CC8-B45C-CB00246BBD47}" vid="{A1EB6840-CA6C-4955-A547-6EAC3A9AD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93514B828CCB48B02392E14BFF07CD" ma:contentTypeVersion="0" ma:contentTypeDescription="Create a new document." ma:contentTypeScope="" ma:versionID="5a55d2cd0f7ca3f196681850f3d707b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8bc42cdcaa82a2071025144403ece7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B4A852-DCA5-408B-8D0B-862D89A4D6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310B7F-0459-4DAD-B2BA-A0E66AA5F8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298A58B-876F-42E2-BEC0-1193FE4D620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2144</Words>
  <Application>Microsoft Office PowerPoint</Application>
  <PresentationFormat>宽屏</PresentationFormat>
  <Paragraphs>378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GT Standard L Extended</vt:lpstr>
      <vt:lpstr>Inter Regular</vt:lpstr>
      <vt:lpstr>Calibri Light</vt:lpstr>
      <vt:lpstr>Inter</vt:lpstr>
      <vt:lpstr>Inter Bold</vt:lpstr>
      <vt:lpstr>Inter Light</vt:lpstr>
      <vt:lpstr>Inter SemiBold</vt:lpstr>
      <vt:lpstr>Calibri</vt:lpstr>
      <vt:lpstr>Inter Medium</vt:lpstr>
      <vt:lpstr>DXC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Cheng, Lu</dc:creator>
  <cp:lastModifiedBy>Cheng, Lu</cp:lastModifiedBy>
  <cp:revision>2</cp:revision>
  <dcterms:created xsi:type="dcterms:W3CDTF">2026-05-22T06:21:56Z</dcterms:created>
  <dcterms:modified xsi:type="dcterms:W3CDTF">2026-05-25T09:37:01Z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2025-12-09T16:07:32Z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4b7d9dea-3b11-47e8-b915-12305eea8642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  <property fmtid="{D5CDD505-2E9C-101B-9397-08002B2CF9AE}" pid="10" name="ContentTypeId">
    <vt:lpwstr>0x010100B493514B828CCB48B02392E14BFF07CD</vt:lpwstr>
  </property>
</Properties>
</file>